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53"/>
  </p:notesMasterIdLst>
  <p:sldIdLst>
    <p:sldId id="549" r:id="rId2"/>
    <p:sldId id="550" r:id="rId3"/>
    <p:sldId id="551" r:id="rId4"/>
    <p:sldId id="552" r:id="rId5"/>
    <p:sldId id="557" r:id="rId6"/>
    <p:sldId id="558" r:id="rId7"/>
    <p:sldId id="559" r:id="rId8"/>
    <p:sldId id="560" r:id="rId9"/>
    <p:sldId id="561" r:id="rId10"/>
    <p:sldId id="696" r:id="rId11"/>
    <p:sldId id="670" r:id="rId12"/>
    <p:sldId id="671" r:id="rId13"/>
    <p:sldId id="722" r:id="rId14"/>
    <p:sldId id="562" r:id="rId15"/>
    <p:sldId id="563" r:id="rId16"/>
    <p:sldId id="774" r:id="rId17"/>
    <p:sldId id="564" r:id="rId18"/>
    <p:sldId id="565" r:id="rId19"/>
    <p:sldId id="566" r:id="rId20"/>
    <p:sldId id="662" r:id="rId21"/>
    <p:sldId id="663" r:id="rId22"/>
    <p:sldId id="567" r:id="rId23"/>
    <p:sldId id="698" r:id="rId24"/>
    <p:sldId id="697" r:id="rId25"/>
    <p:sldId id="773" r:id="rId26"/>
    <p:sldId id="708" r:id="rId27"/>
    <p:sldId id="568" r:id="rId28"/>
    <p:sldId id="702" r:id="rId29"/>
    <p:sldId id="700" r:id="rId30"/>
    <p:sldId id="699" r:id="rId31"/>
    <p:sldId id="784" r:id="rId32"/>
    <p:sldId id="785" r:id="rId33"/>
    <p:sldId id="664" r:id="rId34"/>
    <p:sldId id="703" r:id="rId35"/>
    <p:sldId id="704" r:id="rId36"/>
    <p:sldId id="705" r:id="rId37"/>
    <p:sldId id="706" r:id="rId38"/>
    <p:sldId id="570" r:id="rId39"/>
    <p:sldId id="571" r:id="rId40"/>
    <p:sldId id="572" r:id="rId41"/>
    <p:sldId id="573" r:id="rId42"/>
    <p:sldId id="672" r:id="rId43"/>
    <p:sldId id="723" r:id="rId44"/>
    <p:sldId id="574" r:id="rId45"/>
    <p:sldId id="575" r:id="rId46"/>
    <p:sldId id="576" r:id="rId47"/>
    <p:sldId id="577" r:id="rId48"/>
    <p:sldId id="665" r:id="rId49"/>
    <p:sldId id="578" r:id="rId50"/>
    <p:sldId id="579" r:id="rId51"/>
    <p:sldId id="666" r:id="rId52"/>
    <p:sldId id="580" r:id="rId53"/>
    <p:sldId id="581" r:id="rId54"/>
    <p:sldId id="582" r:id="rId55"/>
    <p:sldId id="583" r:id="rId56"/>
    <p:sldId id="716" r:id="rId57"/>
    <p:sldId id="712" r:id="rId58"/>
    <p:sldId id="707" r:id="rId59"/>
    <p:sldId id="674" r:id="rId60"/>
    <p:sldId id="675" r:id="rId61"/>
    <p:sldId id="724" r:id="rId62"/>
    <p:sldId id="586" r:id="rId63"/>
    <p:sldId id="587" r:id="rId64"/>
    <p:sldId id="786" r:id="rId65"/>
    <p:sldId id="787" r:id="rId66"/>
    <p:sldId id="788" r:id="rId67"/>
    <p:sldId id="789" r:id="rId68"/>
    <p:sldId id="588" r:id="rId69"/>
    <p:sldId id="589" r:id="rId70"/>
    <p:sldId id="590" r:id="rId71"/>
    <p:sldId id="591" r:id="rId72"/>
    <p:sldId id="592" r:id="rId73"/>
    <p:sldId id="593" r:id="rId74"/>
    <p:sldId id="594" r:id="rId75"/>
    <p:sldId id="595" r:id="rId76"/>
    <p:sldId id="596" r:id="rId77"/>
    <p:sldId id="597" r:id="rId78"/>
    <p:sldId id="676" r:id="rId79"/>
    <p:sldId id="679" r:id="rId80"/>
    <p:sldId id="680" r:id="rId81"/>
    <p:sldId id="749" r:id="rId82"/>
    <p:sldId id="750" r:id="rId83"/>
    <p:sldId id="584" r:id="rId84"/>
    <p:sldId id="725" r:id="rId85"/>
    <p:sldId id="598" r:id="rId86"/>
    <p:sldId id="599" r:id="rId87"/>
    <p:sldId id="600" r:id="rId88"/>
    <p:sldId id="717" r:id="rId89"/>
    <p:sldId id="601" r:id="rId90"/>
    <p:sldId id="754" r:id="rId91"/>
    <p:sldId id="602" r:id="rId92"/>
    <p:sldId id="603" r:id="rId93"/>
    <p:sldId id="720" r:id="rId94"/>
    <p:sldId id="718" r:id="rId95"/>
    <p:sldId id="719" r:id="rId96"/>
    <p:sldId id="605" r:id="rId97"/>
    <p:sldId id="721" r:id="rId98"/>
    <p:sldId id="606" r:id="rId99"/>
    <p:sldId id="607" r:id="rId100"/>
    <p:sldId id="608" r:id="rId101"/>
    <p:sldId id="609" r:id="rId102"/>
    <p:sldId id="610" r:id="rId103"/>
    <p:sldId id="755" r:id="rId104"/>
    <p:sldId id="756" r:id="rId105"/>
    <p:sldId id="757" r:id="rId106"/>
    <p:sldId id="681" r:id="rId107"/>
    <p:sldId id="726" r:id="rId108"/>
    <p:sldId id="775" r:id="rId109"/>
    <p:sldId id="776" r:id="rId110"/>
    <p:sldId id="777" r:id="rId111"/>
    <p:sldId id="778" r:id="rId112"/>
    <p:sldId id="779" r:id="rId113"/>
    <p:sldId id="780" r:id="rId114"/>
    <p:sldId id="781" r:id="rId115"/>
    <p:sldId id="782" r:id="rId116"/>
    <p:sldId id="783" r:id="rId117"/>
    <p:sldId id="614" r:id="rId118"/>
    <p:sldId id="615" r:id="rId119"/>
    <p:sldId id="667" r:id="rId120"/>
    <p:sldId id="668" r:id="rId121"/>
    <p:sldId id="758" r:id="rId122"/>
    <p:sldId id="759" r:id="rId123"/>
    <p:sldId id="760" r:id="rId124"/>
    <p:sldId id="761" r:id="rId125"/>
    <p:sldId id="616" r:id="rId126"/>
    <p:sldId id="617" r:id="rId127"/>
    <p:sldId id="669" r:id="rId128"/>
    <p:sldId id="762" r:id="rId129"/>
    <p:sldId id="622" r:id="rId130"/>
    <p:sldId id="627" r:id="rId131"/>
    <p:sldId id="623" r:id="rId132"/>
    <p:sldId id="763" r:id="rId133"/>
    <p:sldId id="630" r:id="rId134"/>
    <p:sldId id="764" r:id="rId135"/>
    <p:sldId id="673" r:id="rId136"/>
    <p:sldId id="765" r:id="rId137"/>
    <p:sldId id="766" r:id="rId138"/>
    <p:sldId id="767" r:id="rId139"/>
    <p:sldId id="768" r:id="rId140"/>
    <p:sldId id="620" r:id="rId141"/>
    <p:sldId id="621" r:id="rId142"/>
    <p:sldId id="769" r:id="rId143"/>
    <p:sldId id="770" r:id="rId144"/>
    <p:sldId id="727" r:id="rId145"/>
    <p:sldId id="771" r:id="rId146"/>
    <p:sldId id="633" r:id="rId147"/>
    <p:sldId id="692" r:id="rId148"/>
    <p:sldId id="693" r:id="rId149"/>
    <p:sldId id="694" r:id="rId150"/>
    <p:sldId id="688" r:id="rId151"/>
    <p:sldId id="640" r:id="rId15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0651C3A-4460-11DB-9652-00E08161165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779" autoAdjust="0"/>
    <p:restoredTop sz="94660"/>
  </p:normalViewPr>
  <p:slideViewPr>
    <p:cSldViewPr snapToGrid="0">
      <p:cViewPr varScale="1">
        <p:scale>
          <a:sx n="92" d="100"/>
          <a:sy n="92" d="100"/>
        </p:scale>
        <p:origin x="165" y="4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viewProps" Target="viewProps.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theme" Target="theme/theme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notesMaster" Target="notesMasters/notesMaster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presProps" Target="presProps.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A3E7387-B9CE-47B0-A1F5-908C80A0802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19389E30-281F-43E0-8C38-DF21E37E59BD}">
      <dgm:prSet phldrT="[Text]"/>
      <dgm:spPr/>
      <dgm:t>
        <a:bodyPr/>
        <a:lstStyle/>
        <a:p>
          <a:r>
            <a:rPr lang="en-US" dirty="0"/>
            <a:t>SINGLE VALUED ATTRIBUTE</a:t>
          </a:r>
          <a:endParaRPr lang="en-IN" dirty="0"/>
        </a:p>
      </dgm:t>
    </dgm:pt>
    <dgm:pt modelId="{9036633E-D620-48CD-9B29-A2477628AE3F}" type="parTrans" cxnId="{04F5CB17-23F3-46E4-B0C4-E8C8F8DE6756}">
      <dgm:prSet/>
      <dgm:spPr/>
      <dgm:t>
        <a:bodyPr/>
        <a:lstStyle/>
        <a:p>
          <a:endParaRPr lang="en-IN"/>
        </a:p>
      </dgm:t>
    </dgm:pt>
    <dgm:pt modelId="{57FBE43F-DC04-4868-A946-71C07D8853FC}" type="sibTrans" cxnId="{04F5CB17-23F3-46E4-B0C4-E8C8F8DE6756}">
      <dgm:prSet/>
      <dgm:spPr/>
      <dgm:t>
        <a:bodyPr/>
        <a:lstStyle/>
        <a:p>
          <a:endParaRPr lang="en-IN"/>
        </a:p>
      </dgm:t>
    </dgm:pt>
    <dgm:pt modelId="{1F534DBA-1358-4502-BC2E-C8BC39E9151B}">
      <dgm:prSet phldrT="[Text]"/>
      <dgm:spPr/>
      <dgm:t>
        <a:bodyPr/>
        <a:lstStyle/>
        <a:p>
          <a:r>
            <a:rPr lang="en-US" dirty="0"/>
            <a:t>MULTI VALUED ATTRIBUTE</a:t>
          </a:r>
          <a:endParaRPr lang="en-IN" dirty="0"/>
        </a:p>
      </dgm:t>
    </dgm:pt>
    <dgm:pt modelId="{4DBE2690-77CA-494F-AA59-74DDAD0120F3}" type="parTrans" cxnId="{2C98AD60-A7C3-48DB-B37D-0BD7F8FCFBF6}">
      <dgm:prSet/>
      <dgm:spPr/>
      <dgm:t>
        <a:bodyPr/>
        <a:lstStyle/>
        <a:p>
          <a:endParaRPr lang="en-IN"/>
        </a:p>
      </dgm:t>
    </dgm:pt>
    <dgm:pt modelId="{53325254-6E01-480D-8B22-8EFD366DAAA0}" type="sibTrans" cxnId="{2C98AD60-A7C3-48DB-B37D-0BD7F8FCFBF6}">
      <dgm:prSet/>
      <dgm:spPr/>
      <dgm:t>
        <a:bodyPr/>
        <a:lstStyle/>
        <a:p>
          <a:endParaRPr lang="en-IN"/>
        </a:p>
      </dgm:t>
    </dgm:pt>
    <dgm:pt modelId="{3117CBB5-C04C-4C08-98FC-87776C768F78}">
      <dgm:prSet phldrT="[Text]"/>
      <dgm:spPr/>
      <dgm:t>
        <a:bodyPr/>
        <a:lstStyle/>
        <a:p>
          <a:r>
            <a:rPr lang="en-US" dirty="0"/>
            <a:t>Attribute having set of values</a:t>
          </a:r>
          <a:endParaRPr lang="en-IN" dirty="0"/>
        </a:p>
      </dgm:t>
    </dgm:pt>
    <dgm:pt modelId="{F7949202-2F0C-4096-AA26-66797B36FDB7}" type="parTrans" cxnId="{62474D63-2B76-4B91-8163-B718B3D66E5E}">
      <dgm:prSet/>
      <dgm:spPr/>
      <dgm:t>
        <a:bodyPr/>
        <a:lstStyle/>
        <a:p>
          <a:endParaRPr lang="en-IN"/>
        </a:p>
      </dgm:t>
    </dgm:pt>
    <dgm:pt modelId="{FDBA0AFA-CFA4-4C46-9BE8-2BFB00FC6C96}" type="sibTrans" cxnId="{62474D63-2B76-4B91-8163-B718B3D66E5E}">
      <dgm:prSet/>
      <dgm:spPr/>
      <dgm:t>
        <a:bodyPr/>
        <a:lstStyle/>
        <a:p>
          <a:endParaRPr lang="en-IN"/>
        </a:p>
      </dgm:t>
    </dgm:pt>
    <dgm:pt modelId="{CDD0BC96-3714-482B-B437-29F86587022F}">
      <dgm:prSet/>
      <dgm:spPr/>
      <dgm:t>
        <a:bodyPr/>
        <a:lstStyle/>
        <a:p>
          <a:r>
            <a:rPr lang="en-US" dirty="0"/>
            <a:t>Attributes having single value for particular entity.</a:t>
          </a:r>
          <a:endParaRPr lang="en-IN" dirty="0"/>
        </a:p>
      </dgm:t>
    </dgm:pt>
    <dgm:pt modelId="{4A6ED046-FD6A-440C-955B-4F9C8613593D}" type="parTrans" cxnId="{18589CB0-679E-40E1-B981-27D7E3BFBDB4}">
      <dgm:prSet/>
      <dgm:spPr/>
      <dgm:t>
        <a:bodyPr/>
        <a:lstStyle/>
        <a:p>
          <a:endParaRPr lang="en-IN"/>
        </a:p>
      </dgm:t>
    </dgm:pt>
    <dgm:pt modelId="{C79EC3BA-D7A4-4C40-89EB-ACB52F2C6861}" type="sibTrans" cxnId="{18589CB0-679E-40E1-B981-27D7E3BFBDB4}">
      <dgm:prSet/>
      <dgm:spPr/>
      <dgm:t>
        <a:bodyPr/>
        <a:lstStyle/>
        <a:p>
          <a:endParaRPr lang="en-IN"/>
        </a:p>
      </dgm:t>
    </dgm:pt>
    <dgm:pt modelId="{2EFA1AD0-DC1D-44B9-B94F-6E364A7B5C1A}">
      <dgm:prSet/>
      <dgm:spPr/>
      <dgm:t>
        <a:bodyPr/>
        <a:lstStyle/>
        <a:p>
          <a:r>
            <a:rPr lang="en-US"/>
            <a:t>Ex - Age</a:t>
          </a:r>
          <a:endParaRPr lang="en-IN"/>
        </a:p>
      </dgm:t>
    </dgm:pt>
    <dgm:pt modelId="{DC89C14A-3447-496B-A20F-F90761462D55}" type="parTrans" cxnId="{2509F23F-99D9-4525-BC1E-E50BC826A2FC}">
      <dgm:prSet/>
      <dgm:spPr/>
      <dgm:t>
        <a:bodyPr/>
        <a:lstStyle/>
        <a:p>
          <a:endParaRPr lang="en-IN"/>
        </a:p>
      </dgm:t>
    </dgm:pt>
    <dgm:pt modelId="{AAC51E4E-C5DA-44FF-9E1B-D08F350BB5B5}" type="sibTrans" cxnId="{2509F23F-99D9-4525-BC1E-E50BC826A2FC}">
      <dgm:prSet/>
      <dgm:spPr/>
      <dgm:t>
        <a:bodyPr/>
        <a:lstStyle/>
        <a:p>
          <a:endParaRPr lang="en-IN"/>
        </a:p>
      </dgm:t>
    </dgm:pt>
    <dgm:pt modelId="{5D3D074E-CA17-408C-926C-22D409407547}">
      <dgm:prSet/>
      <dgm:spPr/>
      <dgm:t>
        <a:bodyPr/>
        <a:lstStyle/>
        <a:p>
          <a:r>
            <a:rPr lang="en-US" dirty="0"/>
            <a:t>Denoted by double circled oval</a:t>
          </a:r>
          <a:endParaRPr lang="en-IN" dirty="0"/>
        </a:p>
      </dgm:t>
    </dgm:pt>
    <dgm:pt modelId="{BF703A40-BD30-4445-A785-D254A22CE0C4}" type="parTrans" cxnId="{6DCE22F3-7637-4BB6-8680-CA6C451C72D2}">
      <dgm:prSet/>
      <dgm:spPr/>
      <dgm:t>
        <a:bodyPr/>
        <a:lstStyle/>
        <a:p>
          <a:endParaRPr lang="en-IN"/>
        </a:p>
      </dgm:t>
    </dgm:pt>
    <dgm:pt modelId="{BA39479C-26B2-422F-8D06-02972C12926B}" type="sibTrans" cxnId="{6DCE22F3-7637-4BB6-8680-CA6C451C72D2}">
      <dgm:prSet/>
      <dgm:spPr/>
      <dgm:t>
        <a:bodyPr/>
        <a:lstStyle/>
        <a:p>
          <a:endParaRPr lang="en-IN"/>
        </a:p>
      </dgm:t>
    </dgm:pt>
    <dgm:pt modelId="{A1504251-5DE5-424B-9D7E-3096CEB85C5C}">
      <dgm:prSet/>
      <dgm:spPr/>
      <dgm:t>
        <a:bodyPr/>
        <a:lstStyle/>
        <a:p>
          <a:r>
            <a:rPr lang="en-US" dirty="0"/>
            <a:t>Ex: Phone-number, College- degree</a:t>
          </a:r>
          <a:endParaRPr lang="en-IN" dirty="0"/>
        </a:p>
      </dgm:t>
    </dgm:pt>
    <dgm:pt modelId="{43B4AAF7-7EC6-49A3-B0B2-B6F46FCDE401}" type="parTrans" cxnId="{273914B3-B740-42B7-AF5D-E19ADA12BB69}">
      <dgm:prSet/>
      <dgm:spPr/>
      <dgm:t>
        <a:bodyPr/>
        <a:lstStyle/>
        <a:p>
          <a:endParaRPr lang="en-IN"/>
        </a:p>
      </dgm:t>
    </dgm:pt>
    <dgm:pt modelId="{35A9B0B7-ABB0-4794-9331-56040F64999E}" type="sibTrans" cxnId="{273914B3-B740-42B7-AF5D-E19ADA12BB69}">
      <dgm:prSet/>
      <dgm:spPr/>
      <dgm:t>
        <a:bodyPr/>
        <a:lstStyle/>
        <a:p>
          <a:endParaRPr lang="en-IN"/>
        </a:p>
      </dgm:t>
    </dgm:pt>
    <dgm:pt modelId="{43B814EA-50BF-4775-86AA-81894B29856A}" type="pres">
      <dgm:prSet presAssocID="{5A3E7387-B9CE-47B0-A1F5-908C80A08023}" presName="Name0" presStyleCnt="0">
        <dgm:presLayoutVars>
          <dgm:dir/>
          <dgm:animLvl val="lvl"/>
          <dgm:resizeHandles val="exact"/>
        </dgm:presLayoutVars>
      </dgm:prSet>
      <dgm:spPr/>
      <dgm:t>
        <a:bodyPr/>
        <a:lstStyle/>
        <a:p>
          <a:endParaRPr lang="en-IN"/>
        </a:p>
      </dgm:t>
    </dgm:pt>
    <dgm:pt modelId="{10C8E411-0A15-400A-A015-8EA3191B867D}" type="pres">
      <dgm:prSet presAssocID="{19389E30-281F-43E0-8C38-DF21E37E59BD}" presName="composite" presStyleCnt="0"/>
      <dgm:spPr/>
    </dgm:pt>
    <dgm:pt modelId="{598208FB-56D1-4FE6-B1AC-002E37A34C47}" type="pres">
      <dgm:prSet presAssocID="{19389E30-281F-43E0-8C38-DF21E37E59BD}" presName="parTx" presStyleLbl="alignNode1" presStyleIdx="0" presStyleCnt="2">
        <dgm:presLayoutVars>
          <dgm:chMax val="0"/>
          <dgm:chPref val="0"/>
          <dgm:bulletEnabled val="1"/>
        </dgm:presLayoutVars>
      </dgm:prSet>
      <dgm:spPr/>
      <dgm:t>
        <a:bodyPr/>
        <a:lstStyle/>
        <a:p>
          <a:endParaRPr lang="en-IN"/>
        </a:p>
      </dgm:t>
    </dgm:pt>
    <dgm:pt modelId="{A80D1B8C-4F30-4C41-8548-8894A7FAF150}" type="pres">
      <dgm:prSet presAssocID="{19389E30-281F-43E0-8C38-DF21E37E59BD}" presName="desTx" presStyleLbl="alignAccFollowNode1" presStyleIdx="0" presStyleCnt="2">
        <dgm:presLayoutVars>
          <dgm:bulletEnabled val="1"/>
        </dgm:presLayoutVars>
      </dgm:prSet>
      <dgm:spPr/>
      <dgm:t>
        <a:bodyPr/>
        <a:lstStyle/>
        <a:p>
          <a:endParaRPr lang="en-IN"/>
        </a:p>
      </dgm:t>
    </dgm:pt>
    <dgm:pt modelId="{7F51039C-05DA-4520-B1B4-132AC4DDDE31}" type="pres">
      <dgm:prSet presAssocID="{57FBE43F-DC04-4868-A946-71C07D8853FC}" presName="space" presStyleCnt="0"/>
      <dgm:spPr/>
    </dgm:pt>
    <dgm:pt modelId="{8B8B07E8-CF9E-4DEA-9EA2-47E5971C0213}" type="pres">
      <dgm:prSet presAssocID="{1F534DBA-1358-4502-BC2E-C8BC39E9151B}" presName="composite" presStyleCnt="0"/>
      <dgm:spPr/>
    </dgm:pt>
    <dgm:pt modelId="{42F4E44B-5A24-4722-992F-8339B28B6402}" type="pres">
      <dgm:prSet presAssocID="{1F534DBA-1358-4502-BC2E-C8BC39E9151B}" presName="parTx" presStyleLbl="alignNode1" presStyleIdx="1" presStyleCnt="2">
        <dgm:presLayoutVars>
          <dgm:chMax val="0"/>
          <dgm:chPref val="0"/>
          <dgm:bulletEnabled val="1"/>
        </dgm:presLayoutVars>
      </dgm:prSet>
      <dgm:spPr/>
      <dgm:t>
        <a:bodyPr/>
        <a:lstStyle/>
        <a:p>
          <a:endParaRPr lang="en-IN"/>
        </a:p>
      </dgm:t>
    </dgm:pt>
    <dgm:pt modelId="{7D810B9E-CBC4-4E15-8B6D-396C7B356201}" type="pres">
      <dgm:prSet presAssocID="{1F534DBA-1358-4502-BC2E-C8BC39E9151B}" presName="desTx" presStyleLbl="alignAccFollowNode1" presStyleIdx="1" presStyleCnt="2">
        <dgm:presLayoutVars>
          <dgm:bulletEnabled val="1"/>
        </dgm:presLayoutVars>
      </dgm:prSet>
      <dgm:spPr/>
      <dgm:t>
        <a:bodyPr/>
        <a:lstStyle/>
        <a:p>
          <a:endParaRPr lang="en-IN"/>
        </a:p>
      </dgm:t>
    </dgm:pt>
  </dgm:ptLst>
  <dgm:cxnLst>
    <dgm:cxn modelId="{62474D63-2B76-4B91-8163-B718B3D66E5E}" srcId="{1F534DBA-1358-4502-BC2E-C8BC39E9151B}" destId="{3117CBB5-C04C-4C08-98FC-87776C768F78}" srcOrd="0" destOrd="0" parTransId="{F7949202-2F0C-4096-AA26-66797B36FDB7}" sibTransId="{FDBA0AFA-CFA4-4C46-9BE8-2BFB00FC6C96}"/>
    <dgm:cxn modelId="{04F5CB17-23F3-46E4-B0C4-E8C8F8DE6756}" srcId="{5A3E7387-B9CE-47B0-A1F5-908C80A08023}" destId="{19389E30-281F-43E0-8C38-DF21E37E59BD}" srcOrd="0" destOrd="0" parTransId="{9036633E-D620-48CD-9B29-A2477628AE3F}" sibTransId="{57FBE43F-DC04-4868-A946-71C07D8853FC}"/>
    <dgm:cxn modelId="{2C98AD60-A7C3-48DB-B37D-0BD7F8FCFBF6}" srcId="{5A3E7387-B9CE-47B0-A1F5-908C80A08023}" destId="{1F534DBA-1358-4502-BC2E-C8BC39E9151B}" srcOrd="1" destOrd="0" parTransId="{4DBE2690-77CA-494F-AA59-74DDAD0120F3}" sibTransId="{53325254-6E01-480D-8B22-8EFD366DAAA0}"/>
    <dgm:cxn modelId="{D5C2A007-6E01-4DEE-B425-4F2065534BE0}" type="presOf" srcId="{2EFA1AD0-DC1D-44B9-B94F-6E364A7B5C1A}" destId="{A80D1B8C-4F30-4C41-8548-8894A7FAF150}" srcOrd="0" destOrd="1" presId="urn:microsoft.com/office/officeart/2005/8/layout/hList1"/>
    <dgm:cxn modelId="{2509F23F-99D9-4525-BC1E-E50BC826A2FC}" srcId="{19389E30-281F-43E0-8C38-DF21E37E59BD}" destId="{2EFA1AD0-DC1D-44B9-B94F-6E364A7B5C1A}" srcOrd="1" destOrd="0" parTransId="{DC89C14A-3447-496B-A20F-F90761462D55}" sibTransId="{AAC51E4E-C5DA-44FF-9E1B-D08F350BB5B5}"/>
    <dgm:cxn modelId="{5AF66679-466C-4FBB-8CCE-D4016184BD3F}" type="presOf" srcId="{19389E30-281F-43E0-8C38-DF21E37E59BD}" destId="{598208FB-56D1-4FE6-B1AC-002E37A34C47}" srcOrd="0" destOrd="0" presId="urn:microsoft.com/office/officeart/2005/8/layout/hList1"/>
    <dgm:cxn modelId="{273914B3-B740-42B7-AF5D-E19ADA12BB69}" srcId="{1F534DBA-1358-4502-BC2E-C8BC39E9151B}" destId="{A1504251-5DE5-424B-9D7E-3096CEB85C5C}" srcOrd="2" destOrd="0" parTransId="{43B4AAF7-7EC6-49A3-B0B2-B6F46FCDE401}" sibTransId="{35A9B0B7-ABB0-4794-9331-56040F64999E}"/>
    <dgm:cxn modelId="{7CEEAF3C-F165-4B34-8228-ECC5F6E79EFF}" type="presOf" srcId="{1F534DBA-1358-4502-BC2E-C8BC39E9151B}" destId="{42F4E44B-5A24-4722-992F-8339B28B6402}" srcOrd="0" destOrd="0" presId="urn:microsoft.com/office/officeart/2005/8/layout/hList1"/>
    <dgm:cxn modelId="{46108B95-CE30-47F4-8F55-5F6381D07102}" type="presOf" srcId="{A1504251-5DE5-424B-9D7E-3096CEB85C5C}" destId="{7D810B9E-CBC4-4E15-8B6D-396C7B356201}" srcOrd="0" destOrd="2" presId="urn:microsoft.com/office/officeart/2005/8/layout/hList1"/>
    <dgm:cxn modelId="{AF887B2F-9123-4FBE-8EE0-728C644779F4}" type="presOf" srcId="{3117CBB5-C04C-4C08-98FC-87776C768F78}" destId="{7D810B9E-CBC4-4E15-8B6D-396C7B356201}" srcOrd="0" destOrd="0" presId="urn:microsoft.com/office/officeart/2005/8/layout/hList1"/>
    <dgm:cxn modelId="{5B12BC17-710D-4B70-89F1-30701F9C0E91}" type="presOf" srcId="{5D3D074E-CA17-408C-926C-22D409407547}" destId="{7D810B9E-CBC4-4E15-8B6D-396C7B356201}" srcOrd="0" destOrd="1" presId="urn:microsoft.com/office/officeart/2005/8/layout/hList1"/>
    <dgm:cxn modelId="{18589CB0-679E-40E1-B981-27D7E3BFBDB4}" srcId="{19389E30-281F-43E0-8C38-DF21E37E59BD}" destId="{CDD0BC96-3714-482B-B437-29F86587022F}" srcOrd="0" destOrd="0" parTransId="{4A6ED046-FD6A-440C-955B-4F9C8613593D}" sibTransId="{C79EC3BA-D7A4-4C40-89EB-ACB52F2C6861}"/>
    <dgm:cxn modelId="{0873D20B-F1F5-4481-9F7B-8C7D17DFD344}" type="presOf" srcId="{5A3E7387-B9CE-47B0-A1F5-908C80A08023}" destId="{43B814EA-50BF-4775-86AA-81894B29856A}" srcOrd="0" destOrd="0" presId="urn:microsoft.com/office/officeart/2005/8/layout/hList1"/>
    <dgm:cxn modelId="{B4145B75-E4E6-43A0-9C47-18B5E6BE68D4}" type="presOf" srcId="{CDD0BC96-3714-482B-B437-29F86587022F}" destId="{A80D1B8C-4F30-4C41-8548-8894A7FAF150}" srcOrd="0" destOrd="0" presId="urn:microsoft.com/office/officeart/2005/8/layout/hList1"/>
    <dgm:cxn modelId="{6DCE22F3-7637-4BB6-8680-CA6C451C72D2}" srcId="{1F534DBA-1358-4502-BC2E-C8BC39E9151B}" destId="{5D3D074E-CA17-408C-926C-22D409407547}" srcOrd="1" destOrd="0" parTransId="{BF703A40-BD30-4445-A785-D254A22CE0C4}" sibTransId="{BA39479C-26B2-422F-8D06-02972C12926B}"/>
    <dgm:cxn modelId="{7E0C5128-41F4-4C42-83F1-2462F9BFE9D3}" type="presParOf" srcId="{43B814EA-50BF-4775-86AA-81894B29856A}" destId="{10C8E411-0A15-400A-A015-8EA3191B867D}" srcOrd="0" destOrd="0" presId="urn:microsoft.com/office/officeart/2005/8/layout/hList1"/>
    <dgm:cxn modelId="{952EA377-992D-4B85-8DE0-AF126512B6AC}" type="presParOf" srcId="{10C8E411-0A15-400A-A015-8EA3191B867D}" destId="{598208FB-56D1-4FE6-B1AC-002E37A34C47}" srcOrd="0" destOrd="0" presId="urn:microsoft.com/office/officeart/2005/8/layout/hList1"/>
    <dgm:cxn modelId="{D158C3CA-2812-4868-AB10-A4955E8DFBC7}" type="presParOf" srcId="{10C8E411-0A15-400A-A015-8EA3191B867D}" destId="{A80D1B8C-4F30-4C41-8548-8894A7FAF150}" srcOrd="1" destOrd="0" presId="urn:microsoft.com/office/officeart/2005/8/layout/hList1"/>
    <dgm:cxn modelId="{FDBB33ED-093A-49A5-8DE6-2B8E60E7789A}" type="presParOf" srcId="{43B814EA-50BF-4775-86AA-81894B29856A}" destId="{7F51039C-05DA-4520-B1B4-132AC4DDDE31}" srcOrd="1" destOrd="0" presId="urn:microsoft.com/office/officeart/2005/8/layout/hList1"/>
    <dgm:cxn modelId="{C293B7AC-7595-43D4-AE87-5EFB7A9C5082}" type="presParOf" srcId="{43B814EA-50BF-4775-86AA-81894B29856A}" destId="{8B8B07E8-CF9E-4DEA-9EA2-47E5971C0213}" srcOrd="2" destOrd="0" presId="urn:microsoft.com/office/officeart/2005/8/layout/hList1"/>
    <dgm:cxn modelId="{BD0F98CB-82DC-4FA2-9B74-0C88D41B7BB1}" type="presParOf" srcId="{8B8B07E8-CF9E-4DEA-9EA2-47E5971C0213}" destId="{42F4E44B-5A24-4722-992F-8339B28B6402}" srcOrd="0" destOrd="0" presId="urn:microsoft.com/office/officeart/2005/8/layout/hList1"/>
    <dgm:cxn modelId="{0A65988A-AA69-4E5B-9258-7007CA3FAE76}" type="presParOf" srcId="{8B8B07E8-CF9E-4DEA-9EA2-47E5971C0213}" destId="{7D810B9E-CBC4-4E15-8B6D-396C7B356201}"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3A4F164-8F8A-4D0B-AE96-AA476FA3BC2D}"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507456AF-78F1-4C8C-A981-4DEDE3B96B1F}">
      <dgm:prSet phldrT="[Text]"/>
      <dgm:spPr/>
      <dgm:t>
        <a:bodyPr/>
        <a:lstStyle/>
        <a:p>
          <a:r>
            <a:rPr lang="en-US" dirty="0"/>
            <a:t>DERIVED ATTRIBUTE</a:t>
          </a:r>
          <a:endParaRPr lang="en-IN" dirty="0"/>
        </a:p>
      </dgm:t>
    </dgm:pt>
    <dgm:pt modelId="{D56073CB-0A2D-4AEA-87CA-12977FF0CAA2}" type="parTrans" cxnId="{47849814-DC57-4251-9D16-0DA9CDA94A14}">
      <dgm:prSet/>
      <dgm:spPr/>
      <dgm:t>
        <a:bodyPr/>
        <a:lstStyle/>
        <a:p>
          <a:endParaRPr lang="en-IN"/>
        </a:p>
      </dgm:t>
    </dgm:pt>
    <dgm:pt modelId="{A3903DFC-98FE-40AE-99A1-1FD44558A49B}" type="sibTrans" cxnId="{47849814-DC57-4251-9D16-0DA9CDA94A14}">
      <dgm:prSet/>
      <dgm:spPr/>
      <dgm:t>
        <a:bodyPr/>
        <a:lstStyle/>
        <a:p>
          <a:endParaRPr lang="en-IN"/>
        </a:p>
      </dgm:t>
    </dgm:pt>
    <dgm:pt modelId="{1450CB70-C1D5-4AA5-B86C-F837CF65E320}">
      <dgm:prSet phldrT="[Text]"/>
      <dgm:spPr/>
      <dgm:t>
        <a:bodyPr/>
        <a:lstStyle/>
        <a:p>
          <a:r>
            <a:rPr lang="en-US" dirty="0"/>
            <a:t>Attribute values are derived from another attribute.</a:t>
          </a:r>
          <a:endParaRPr lang="en-IN" dirty="0"/>
        </a:p>
      </dgm:t>
    </dgm:pt>
    <dgm:pt modelId="{206F8344-8252-401B-9FF6-CD404A00B4E7}" type="parTrans" cxnId="{8BAFE8C6-6009-4BDF-AAF9-51BCD33D6609}">
      <dgm:prSet/>
      <dgm:spPr/>
      <dgm:t>
        <a:bodyPr/>
        <a:lstStyle/>
        <a:p>
          <a:endParaRPr lang="en-IN"/>
        </a:p>
      </dgm:t>
    </dgm:pt>
    <dgm:pt modelId="{17B7237C-F2A5-4454-9612-D428F5991EB3}" type="sibTrans" cxnId="{8BAFE8C6-6009-4BDF-AAF9-51BCD33D6609}">
      <dgm:prSet/>
      <dgm:spPr/>
      <dgm:t>
        <a:bodyPr/>
        <a:lstStyle/>
        <a:p>
          <a:endParaRPr lang="en-IN"/>
        </a:p>
      </dgm:t>
    </dgm:pt>
    <dgm:pt modelId="{0455F064-9BCB-4CB9-A604-CC74C8487FA6}">
      <dgm:prSet phldrT="[Text]"/>
      <dgm:spPr/>
      <dgm:t>
        <a:bodyPr/>
        <a:lstStyle/>
        <a:p>
          <a:r>
            <a:rPr lang="en-US" dirty="0"/>
            <a:t>STORED ATTRIBUTE</a:t>
          </a:r>
          <a:endParaRPr lang="en-IN" dirty="0"/>
        </a:p>
      </dgm:t>
    </dgm:pt>
    <dgm:pt modelId="{08DBDE18-E935-40DB-B9A6-16435C574D42}" type="parTrans" cxnId="{5BDD53C0-2A0D-4EBE-93D8-E67C84117521}">
      <dgm:prSet/>
      <dgm:spPr/>
      <dgm:t>
        <a:bodyPr/>
        <a:lstStyle/>
        <a:p>
          <a:endParaRPr lang="en-IN"/>
        </a:p>
      </dgm:t>
    </dgm:pt>
    <dgm:pt modelId="{E8AFD9AB-45D4-4DB0-9A71-13AAE3081A13}" type="sibTrans" cxnId="{5BDD53C0-2A0D-4EBE-93D8-E67C84117521}">
      <dgm:prSet/>
      <dgm:spPr/>
      <dgm:t>
        <a:bodyPr/>
        <a:lstStyle/>
        <a:p>
          <a:endParaRPr lang="en-IN"/>
        </a:p>
      </dgm:t>
    </dgm:pt>
    <dgm:pt modelId="{C3B7D063-A55F-459B-A1AF-FA311567E2FC}">
      <dgm:prSet phldrT="[Text]"/>
      <dgm:spPr/>
      <dgm:t>
        <a:bodyPr/>
        <a:lstStyle/>
        <a:p>
          <a:r>
            <a:rPr lang="en-US" dirty="0"/>
            <a:t>Attributes from which the values of other attributes are derived</a:t>
          </a:r>
          <a:endParaRPr lang="en-IN" dirty="0"/>
        </a:p>
      </dgm:t>
    </dgm:pt>
    <dgm:pt modelId="{D8D329DC-F6CD-4239-B091-087BA70D5E37}" type="parTrans" cxnId="{4518D05A-79D9-4BC3-85A4-44A473284D41}">
      <dgm:prSet/>
      <dgm:spPr/>
      <dgm:t>
        <a:bodyPr/>
        <a:lstStyle/>
        <a:p>
          <a:endParaRPr lang="en-IN"/>
        </a:p>
      </dgm:t>
    </dgm:pt>
    <dgm:pt modelId="{802B77AF-9E0C-4E02-8EC7-46841711D66D}" type="sibTrans" cxnId="{4518D05A-79D9-4BC3-85A4-44A473284D41}">
      <dgm:prSet/>
      <dgm:spPr/>
      <dgm:t>
        <a:bodyPr/>
        <a:lstStyle/>
        <a:p>
          <a:endParaRPr lang="en-IN"/>
        </a:p>
      </dgm:t>
    </dgm:pt>
    <dgm:pt modelId="{3E8DD659-10A8-4221-86D4-0449495E13B6}">
      <dgm:prSet/>
      <dgm:spPr/>
      <dgm:t>
        <a:bodyPr/>
        <a:lstStyle/>
        <a:p>
          <a:r>
            <a:rPr lang="en-US" dirty="0"/>
            <a:t>Denoted by dotted oval</a:t>
          </a:r>
          <a:endParaRPr lang="en-IN" dirty="0"/>
        </a:p>
      </dgm:t>
    </dgm:pt>
    <dgm:pt modelId="{4A506071-8346-42A4-81F2-A712BC3610A3}" type="parTrans" cxnId="{E1DFF835-B280-450E-9F13-9F96662F956B}">
      <dgm:prSet/>
      <dgm:spPr/>
      <dgm:t>
        <a:bodyPr/>
        <a:lstStyle/>
        <a:p>
          <a:endParaRPr lang="en-IN"/>
        </a:p>
      </dgm:t>
    </dgm:pt>
    <dgm:pt modelId="{3640EBDF-337B-4700-BDDF-65E7824F1E02}" type="sibTrans" cxnId="{E1DFF835-B280-450E-9F13-9F96662F956B}">
      <dgm:prSet/>
      <dgm:spPr/>
      <dgm:t>
        <a:bodyPr/>
        <a:lstStyle/>
        <a:p>
          <a:endParaRPr lang="en-IN"/>
        </a:p>
      </dgm:t>
    </dgm:pt>
    <dgm:pt modelId="{BE0EA9F0-2DDB-46F1-B0E6-051360CDEF05}">
      <dgm:prSet/>
      <dgm:spPr/>
      <dgm:t>
        <a:bodyPr/>
        <a:lstStyle/>
        <a:p>
          <a:r>
            <a:rPr lang="en-US" dirty="0"/>
            <a:t>Ex - Age</a:t>
          </a:r>
          <a:endParaRPr lang="en-IN" dirty="0"/>
        </a:p>
      </dgm:t>
    </dgm:pt>
    <dgm:pt modelId="{3761D072-F498-43F9-894D-B401A9ED0259}" type="parTrans" cxnId="{C57EB1FF-323C-43E1-80AC-29FE323E5E06}">
      <dgm:prSet/>
      <dgm:spPr/>
      <dgm:t>
        <a:bodyPr/>
        <a:lstStyle/>
        <a:p>
          <a:endParaRPr lang="en-IN"/>
        </a:p>
      </dgm:t>
    </dgm:pt>
    <dgm:pt modelId="{621787AC-5FFC-403D-9ECE-7997524814EB}" type="sibTrans" cxnId="{C57EB1FF-323C-43E1-80AC-29FE323E5E06}">
      <dgm:prSet/>
      <dgm:spPr/>
      <dgm:t>
        <a:bodyPr/>
        <a:lstStyle/>
        <a:p>
          <a:endParaRPr lang="en-IN"/>
        </a:p>
      </dgm:t>
    </dgm:pt>
    <dgm:pt modelId="{8F2AE562-726F-4B8F-BB7A-EA1453B2C87A}">
      <dgm:prSet/>
      <dgm:spPr/>
      <dgm:t>
        <a:bodyPr/>
        <a:lstStyle/>
        <a:p>
          <a:r>
            <a:rPr lang="en-US" dirty="0"/>
            <a:t>Ex: </a:t>
          </a:r>
          <a:r>
            <a:rPr lang="en-US" dirty="0" err="1"/>
            <a:t>Bdate</a:t>
          </a:r>
          <a:endParaRPr lang="en-IN" dirty="0"/>
        </a:p>
      </dgm:t>
    </dgm:pt>
    <dgm:pt modelId="{462E8BF6-FF81-47A9-99B6-EE017CCEB73D}" type="parTrans" cxnId="{F9161F27-FA84-40AE-B7F2-DE05EEA1CAC6}">
      <dgm:prSet/>
      <dgm:spPr/>
      <dgm:t>
        <a:bodyPr/>
        <a:lstStyle/>
        <a:p>
          <a:endParaRPr lang="en-IN"/>
        </a:p>
      </dgm:t>
    </dgm:pt>
    <dgm:pt modelId="{34713DE2-2516-4B34-8499-B4873A7011E7}" type="sibTrans" cxnId="{F9161F27-FA84-40AE-B7F2-DE05EEA1CAC6}">
      <dgm:prSet/>
      <dgm:spPr/>
      <dgm:t>
        <a:bodyPr/>
        <a:lstStyle/>
        <a:p>
          <a:endParaRPr lang="en-IN"/>
        </a:p>
      </dgm:t>
    </dgm:pt>
    <dgm:pt modelId="{057CAC1F-D8BF-4F30-9CBE-BF09F72EDC6E}" type="pres">
      <dgm:prSet presAssocID="{13A4F164-8F8A-4D0B-AE96-AA476FA3BC2D}" presName="Name0" presStyleCnt="0">
        <dgm:presLayoutVars>
          <dgm:dir/>
          <dgm:animLvl val="lvl"/>
          <dgm:resizeHandles val="exact"/>
        </dgm:presLayoutVars>
      </dgm:prSet>
      <dgm:spPr/>
      <dgm:t>
        <a:bodyPr/>
        <a:lstStyle/>
        <a:p>
          <a:endParaRPr lang="en-IN"/>
        </a:p>
      </dgm:t>
    </dgm:pt>
    <dgm:pt modelId="{0878F9D1-EF67-4CAC-A777-975F21A3E36E}" type="pres">
      <dgm:prSet presAssocID="{507456AF-78F1-4C8C-A981-4DEDE3B96B1F}" presName="composite" presStyleCnt="0"/>
      <dgm:spPr/>
    </dgm:pt>
    <dgm:pt modelId="{35B89E89-B7B5-4028-A50C-B564708FB8F3}" type="pres">
      <dgm:prSet presAssocID="{507456AF-78F1-4C8C-A981-4DEDE3B96B1F}" presName="parTx" presStyleLbl="alignNode1" presStyleIdx="0" presStyleCnt="2">
        <dgm:presLayoutVars>
          <dgm:chMax val="0"/>
          <dgm:chPref val="0"/>
          <dgm:bulletEnabled val="1"/>
        </dgm:presLayoutVars>
      </dgm:prSet>
      <dgm:spPr/>
      <dgm:t>
        <a:bodyPr/>
        <a:lstStyle/>
        <a:p>
          <a:endParaRPr lang="en-IN"/>
        </a:p>
      </dgm:t>
    </dgm:pt>
    <dgm:pt modelId="{E2C8989D-CFFE-491D-90C5-4EC942E2826F}" type="pres">
      <dgm:prSet presAssocID="{507456AF-78F1-4C8C-A981-4DEDE3B96B1F}" presName="desTx" presStyleLbl="alignAccFollowNode1" presStyleIdx="0" presStyleCnt="2">
        <dgm:presLayoutVars>
          <dgm:bulletEnabled val="1"/>
        </dgm:presLayoutVars>
      </dgm:prSet>
      <dgm:spPr/>
      <dgm:t>
        <a:bodyPr/>
        <a:lstStyle/>
        <a:p>
          <a:endParaRPr lang="en-IN"/>
        </a:p>
      </dgm:t>
    </dgm:pt>
    <dgm:pt modelId="{D2A50F3B-EFB1-4741-9736-963AF1996D9F}" type="pres">
      <dgm:prSet presAssocID="{A3903DFC-98FE-40AE-99A1-1FD44558A49B}" presName="space" presStyleCnt="0"/>
      <dgm:spPr/>
    </dgm:pt>
    <dgm:pt modelId="{27A2703B-791E-4930-A421-FE7CD9EF482E}" type="pres">
      <dgm:prSet presAssocID="{0455F064-9BCB-4CB9-A604-CC74C8487FA6}" presName="composite" presStyleCnt="0"/>
      <dgm:spPr/>
    </dgm:pt>
    <dgm:pt modelId="{74DCCFE2-EBC3-45E1-AA70-692B8892935A}" type="pres">
      <dgm:prSet presAssocID="{0455F064-9BCB-4CB9-A604-CC74C8487FA6}" presName="parTx" presStyleLbl="alignNode1" presStyleIdx="1" presStyleCnt="2">
        <dgm:presLayoutVars>
          <dgm:chMax val="0"/>
          <dgm:chPref val="0"/>
          <dgm:bulletEnabled val="1"/>
        </dgm:presLayoutVars>
      </dgm:prSet>
      <dgm:spPr/>
      <dgm:t>
        <a:bodyPr/>
        <a:lstStyle/>
        <a:p>
          <a:endParaRPr lang="en-IN"/>
        </a:p>
      </dgm:t>
    </dgm:pt>
    <dgm:pt modelId="{A5313958-99AF-4979-B6AF-B2C37FD8DBF4}" type="pres">
      <dgm:prSet presAssocID="{0455F064-9BCB-4CB9-A604-CC74C8487FA6}" presName="desTx" presStyleLbl="alignAccFollowNode1" presStyleIdx="1" presStyleCnt="2">
        <dgm:presLayoutVars>
          <dgm:bulletEnabled val="1"/>
        </dgm:presLayoutVars>
      </dgm:prSet>
      <dgm:spPr/>
      <dgm:t>
        <a:bodyPr/>
        <a:lstStyle/>
        <a:p>
          <a:endParaRPr lang="en-IN"/>
        </a:p>
      </dgm:t>
    </dgm:pt>
  </dgm:ptLst>
  <dgm:cxnLst>
    <dgm:cxn modelId="{31E1E882-CB71-46BD-9EEC-F2F9FDE1DA6B}" type="presOf" srcId="{C3B7D063-A55F-459B-A1AF-FA311567E2FC}" destId="{A5313958-99AF-4979-B6AF-B2C37FD8DBF4}" srcOrd="0" destOrd="0" presId="urn:microsoft.com/office/officeart/2005/8/layout/hList1"/>
    <dgm:cxn modelId="{3F0FEE14-7712-49C4-A614-3B343EBDA642}" type="presOf" srcId="{13A4F164-8F8A-4D0B-AE96-AA476FA3BC2D}" destId="{057CAC1F-D8BF-4F30-9CBE-BF09F72EDC6E}" srcOrd="0" destOrd="0" presId="urn:microsoft.com/office/officeart/2005/8/layout/hList1"/>
    <dgm:cxn modelId="{F9161F27-FA84-40AE-B7F2-DE05EEA1CAC6}" srcId="{0455F064-9BCB-4CB9-A604-CC74C8487FA6}" destId="{8F2AE562-726F-4B8F-BB7A-EA1453B2C87A}" srcOrd="1" destOrd="0" parTransId="{462E8BF6-FF81-47A9-99B6-EE017CCEB73D}" sibTransId="{34713DE2-2516-4B34-8499-B4873A7011E7}"/>
    <dgm:cxn modelId="{8BAFE8C6-6009-4BDF-AAF9-51BCD33D6609}" srcId="{507456AF-78F1-4C8C-A981-4DEDE3B96B1F}" destId="{1450CB70-C1D5-4AA5-B86C-F837CF65E320}" srcOrd="0" destOrd="0" parTransId="{206F8344-8252-401B-9FF6-CD404A00B4E7}" sibTransId="{17B7237C-F2A5-4454-9612-D428F5991EB3}"/>
    <dgm:cxn modelId="{5BDD53C0-2A0D-4EBE-93D8-E67C84117521}" srcId="{13A4F164-8F8A-4D0B-AE96-AA476FA3BC2D}" destId="{0455F064-9BCB-4CB9-A604-CC74C8487FA6}" srcOrd="1" destOrd="0" parTransId="{08DBDE18-E935-40DB-B9A6-16435C574D42}" sibTransId="{E8AFD9AB-45D4-4DB0-9A71-13AAE3081A13}"/>
    <dgm:cxn modelId="{92944FEA-E97D-43C3-ACFB-A529F67AA9C6}" type="presOf" srcId="{BE0EA9F0-2DDB-46F1-B0E6-051360CDEF05}" destId="{E2C8989D-CFFE-491D-90C5-4EC942E2826F}" srcOrd="0" destOrd="2" presId="urn:microsoft.com/office/officeart/2005/8/layout/hList1"/>
    <dgm:cxn modelId="{47849814-DC57-4251-9D16-0DA9CDA94A14}" srcId="{13A4F164-8F8A-4D0B-AE96-AA476FA3BC2D}" destId="{507456AF-78F1-4C8C-A981-4DEDE3B96B1F}" srcOrd="0" destOrd="0" parTransId="{D56073CB-0A2D-4AEA-87CA-12977FF0CAA2}" sibTransId="{A3903DFC-98FE-40AE-99A1-1FD44558A49B}"/>
    <dgm:cxn modelId="{8C436C0F-9F04-4318-9BA1-1D054202795E}" type="presOf" srcId="{1450CB70-C1D5-4AA5-B86C-F837CF65E320}" destId="{E2C8989D-CFFE-491D-90C5-4EC942E2826F}" srcOrd="0" destOrd="0" presId="urn:microsoft.com/office/officeart/2005/8/layout/hList1"/>
    <dgm:cxn modelId="{C0937A0A-C590-4D9A-A915-E69725BEF105}" type="presOf" srcId="{3E8DD659-10A8-4221-86D4-0449495E13B6}" destId="{E2C8989D-CFFE-491D-90C5-4EC942E2826F}" srcOrd="0" destOrd="1" presId="urn:microsoft.com/office/officeart/2005/8/layout/hList1"/>
    <dgm:cxn modelId="{2DE65CA3-9C8E-4020-85F3-9573BB4AD283}" type="presOf" srcId="{0455F064-9BCB-4CB9-A604-CC74C8487FA6}" destId="{74DCCFE2-EBC3-45E1-AA70-692B8892935A}" srcOrd="0" destOrd="0" presId="urn:microsoft.com/office/officeart/2005/8/layout/hList1"/>
    <dgm:cxn modelId="{335B4679-354C-4CD3-B4F6-B97A77079C53}" type="presOf" srcId="{8F2AE562-726F-4B8F-BB7A-EA1453B2C87A}" destId="{A5313958-99AF-4979-B6AF-B2C37FD8DBF4}" srcOrd="0" destOrd="1" presId="urn:microsoft.com/office/officeart/2005/8/layout/hList1"/>
    <dgm:cxn modelId="{E1DFF835-B280-450E-9F13-9F96662F956B}" srcId="{507456AF-78F1-4C8C-A981-4DEDE3B96B1F}" destId="{3E8DD659-10A8-4221-86D4-0449495E13B6}" srcOrd="1" destOrd="0" parTransId="{4A506071-8346-42A4-81F2-A712BC3610A3}" sibTransId="{3640EBDF-337B-4700-BDDF-65E7824F1E02}"/>
    <dgm:cxn modelId="{C2D13EE1-FA5A-4D0A-A560-EBD10038FC99}" type="presOf" srcId="{507456AF-78F1-4C8C-A981-4DEDE3B96B1F}" destId="{35B89E89-B7B5-4028-A50C-B564708FB8F3}" srcOrd="0" destOrd="0" presId="urn:microsoft.com/office/officeart/2005/8/layout/hList1"/>
    <dgm:cxn modelId="{C57EB1FF-323C-43E1-80AC-29FE323E5E06}" srcId="{507456AF-78F1-4C8C-A981-4DEDE3B96B1F}" destId="{BE0EA9F0-2DDB-46F1-B0E6-051360CDEF05}" srcOrd="2" destOrd="0" parTransId="{3761D072-F498-43F9-894D-B401A9ED0259}" sibTransId="{621787AC-5FFC-403D-9ECE-7997524814EB}"/>
    <dgm:cxn modelId="{4518D05A-79D9-4BC3-85A4-44A473284D41}" srcId="{0455F064-9BCB-4CB9-A604-CC74C8487FA6}" destId="{C3B7D063-A55F-459B-A1AF-FA311567E2FC}" srcOrd="0" destOrd="0" parTransId="{D8D329DC-F6CD-4239-B091-087BA70D5E37}" sibTransId="{802B77AF-9E0C-4E02-8EC7-46841711D66D}"/>
    <dgm:cxn modelId="{8D52B4D9-D1A7-4E2B-A9B9-E17AA6721A77}" type="presParOf" srcId="{057CAC1F-D8BF-4F30-9CBE-BF09F72EDC6E}" destId="{0878F9D1-EF67-4CAC-A777-975F21A3E36E}" srcOrd="0" destOrd="0" presId="urn:microsoft.com/office/officeart/2005/8/layout/hList1"/>
    <dgm:cxn modelId="{04B5C8CF-60A4-4FB7-B3F5-D80CAD201B9A}" type="presParOf" srcId="{0878F9D1-EF67-4CAC-A777-975F21A3E36E}" destId="{35B89E89-B7B5-4028-A50C-B564708FB8F3}" srcOrd="0" destOrd="0" presId="urn:microsoft.com/office/officeart/2005/8/layout/hList1"/>
    <dgm:cxn modelId="{1C97352D-9B79-4CF6-A78A-0779FB8E7407}" type="presParOf" srcId="{0878F9D1-EF67-4CAC-A777-975F21A3E36E}" destId="{E2C8989D-CFFE-491D-90C5-4EC942E2826F}" srcOrd="1" destOrd="0" presId="urn:microsoft.com/office/officeart/2005/8/layout/hList1"/>
    <dgm:cxn modelId="{B7B073F8-FF47-4B03-B008-B6D2F975CD4F}" type="presParOf" srcId="{057CAC1F-D8BF-4F30-9CBE-BF09F72EDC6E}" destId="{D2A50F3B-EFB1-4741-9736-963AF1996D9F}" srcOrd="1" destOrd="0" presId="urn:microsoft.com/office/officeart/2005/8/layout/hList1"/>
    <dgm:cxn modelId="{BC65EC7B-F839-4BB8-8957-69FAD4BDEBEF}" type="presParOf" srcId="{057CAC1F-D8BF-4F30-9CBE-BF09F72EDC6E}" destId="{27A2703B-791E-4930-A421-FE7CD9EF482E}" srcOrd="2" destOrd="0" presId="urn:microsoft.com/office/officeart/2005/8/layout/hList1"/>
    <dgm:cxn modelId="{1BFC5410-A404-4ABF-91F3-478B5413C83C}" type="presParOf" srcId="{27A2703B-791E-4930-A421-FE7CD9EF482E}" destId="{74DCCFE2-EBC3-45E1-AA70-692B8892935A}" srcOrd="0" destOrd="0" presId="urn:microsoft.com/office/officeart/2005/8/layout/hList1"/>
    <dgm:cxn modelId="{3B4351A2-82BB-4E9C-B3D9-DF40FF80AF82}" type="presParOf" srcId="{27A2703B-791E-4930-A421-FE7CD9EF482E}" destId="{A5313958-99AF-4979-B6AF-B2C37FD8DBF4}"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xmlns="" id="{045838F4-FDA5-412B-A58E-D99DF493219C}"/>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pitchFamily="34" charset="0"/>
                <a:cs typeface="Arial" pitchFamily="34" charset="0"/>
              </a:defRPr>
            </a:lvl1pPr>
          </a:lstStyle>
          <a:p>
            <a:pPr>
              <a:defRPr/>
            </a:pPr>
            <a:endParaRPr lang="en-IN"/>
          </a:p>
        </p:txBody>
      </p:sp>
      <p:sp>
        <p:nvSpPr>
          <p:cNvPr id="3" name="Date Placeholder 2">
            <a:extLst>
              <a:ext uri="{FF2B5EF4-FFF2-40B4-BE49-F238E27FC236}">
                <a16:creationId xmlns:a16="http://schemas.microsoft.com/office/drawing/2014/main" xmlns="" id="{DDBEA769-B20C-4B7D-9E84-53BFFCF60B82}"/>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pitchFamily="34" charset="0"/>
                <a:cs typeface="Arial" pitchFamily="34" charset="0"/>
              </a:defRPr>
            </a:lvl1pPr>
          </a:lstStyle>
          <a:p>
            <a:pPr>
              <a:defRPr/>
            </a:pPr>
            <a:fld id="{A0B179D4-5CCA-4168-A0CE-D82076FB5B85}" type="datetimeFigureOut">
              <a:rPr lang="en-IN"/>
              <a:pPr>
                <a:defRPr/>
              </a:pPr>
              <a:t>07-03-2025</a:t>
            </a:fld>
            <a:endParaRPr lang="en-IN"/>
          </a:p>
        </p:txBody>
      </p:sp>
      <p:sp>
        <p:nvSpPr>
          <p:cNvPr id="4" name="Slide Image Placeholder 3">
            <a:extLst>
              <a:ext uri="{FF2B5EF4-FFF2-40B4-BE49-F238E27FC236}">
                <a16:creationId xmlns:a16="http://schemas.microsoft.com/office/drawing/2014/main" xmlns="" id="{81C01B0C-B1B7-4F7A-82D1-3E7DD44DC656}"/>
              </a:ext>
            </a:extLst>
          </p:cNvPr>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xmlns="" id="{DF67517A-C6C0-4F7D-956C-443A2EE41C02}"/>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xmlns="" id="{ABFD81DB-A734-4F51-B667-F46C14BF34CD}"/>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pitchFamily="34" charset="0"/>
                <a:cs typeface="Arial" pitchFamily="34" charset="0"/>
              </a:defRPr>
            </a:lvl1pPr>
          </a:lstStyle>
          <a:p>
            <a:pPr>
              <a:defRPr/>
            </a:pPr>
            <a:endParaRPr lang="en-IN"/>
          </a:p>
        </p:txBody>
      </p:sp>
      <p:sp>
        <p:nvSpPr>
          <p:cNvPr id="7" name="Slide Number Placeholder 6">
            <a:extLst>
              <a:ext uri="{FF2B5EF4-FFF2-40B4-BE49-F238E27FC236}">
                <a16:creationId xmlns:a16="http://schemas.microsoft.com/office/drawing/2014/main" xmlns="" id="{2E4A5585-CC61-4337-905E-F0E6D2E3F8B5}"/>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5044C844-5D90-498C-910D-0D49F4D51030}" type="slidenum">
              <a:rPr lang="en-IN" altLang="en-US"/>
              <a:pPr>
                <a:defRPr/>
              </a:pPr>
              <a:t>‹#›</a:t>
            </a:fld>
            <a:endParaRPr lang="en-IN" altLang="en-US"/>
          </a:p>
        </p:txBody>
      </p:sp>
    </p:spTree>
    <p:extLst>
      <p:ext uri="{BB962C8B-B14F-4D97-AF65-F5344CB8AC3E}">
        <p14:creationId xmlns:p14="http://schemas.microsoft.com/office/powerpoint/2010/main" val="296614470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BE2C0DAC-C447-4766-BCC2-1418A41256E4}" type="slidenum">
              <a:rPr lang="en-CA" sz="1200">
                <a:latin typeface="Tahoma" panose="020B0604030504040204" pitchFamily="34" charset="0"/>
              </a:rPr>
              <a:pPr eaLnBrk="1" hangingPunct="1"/>
              <a:t>64</a:t>
            </a:fld>
            <a:endParaRPr lang="en-CA" sz="1200">
              <a:latin typeface="Tahoma" panose="020B0604030504040204" pitchFamily="34" charset="0"/>
            </a:endParaRPr>
          </a:p>
        </p:txBody>
      </p:sp>
      <p:sp>
        <p:nvSpPr>
          <p:cNvPr id="76803" name="Rectangle 2"/>
          <p:cNvSpPr>
            <a:spLocks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anose="020B0604020202020204" pitchFamily="34" charset="0"/>
            </a:endParaRPr>
          </a:p>
        </p:txBody>
      </p:sp>
    </p:spTree>
    <p:extLst>
      <p:ext uri="{BB962C8B-B14F-4D97-AF65-F5344CB8AC3E}">
        <p14:creationId xmlns:p14="http://schemas.microsoft.com/office/powerpoint/2010/main" val="10063956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0C081FF4-A6E4-4D46-8B4C-E7FABBAC37A7}" type="slidenum">
              <a:rPr lang="en-CA" sz="1200">
                <a:latin typeface="Tahoma" panose="020B0604030504040204" pitchFamily="34" charset="0"/>
              </a:rPr>
              <a:pPr eaLnBrk="1" hangingPunct="1"/>
              <a:t>65</a:t>
            </a:fld>
            <a:endParaRPr lang="en-CA" sz="1200">
              <a:latin typeface="Tahoma" panose="020B0604030504040204" pitchFamily="34" charset="0"/>
            </a:endParaRPr>
          </a:p>
        </p:txBody>
      </p:sp>
      <p:sp>
        <p:nvSpPr>
          <p:cNvPr id="77827" name="Rectangle 2"/>
          <p:cNvSpPr>
            <a:spLocks noChangeArrowheads="1" noTextEdit="1"/>
          </p:cNvSpPr>
          <p:nvPr>
            <p:ph type="sldImg"/>
          </p:nvPr>
        </p:nvSpPr>
        <p:spPr>
          <a:ln/>
        </p:spPr>
      </p:sp>
      <p:sp>
        <p:nvSpPr>
          <p:cNvPr id="778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anose="020B0604020202020204" pitchFamily="34" charset="0"/>
            </a:endParaRPr>
          </a:p>
        </p:txBody>
      </p:sp>
    </p:spTree>
    <p:extLst>
      <p:ext uri="{BB962C8B-B14F-4D97-AF65-F5344CB8AC3E}">
        <p14:creationId xmlns:p14="http://schemas.microsoft.com/office/powerpoint/2010/main" val="22488477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04AE80C7-A05C-4393-9D35-0D011E18F16F}" type="slidenum">
              <a:rPr lang="en-CA" sz="1200">
                <a:latin typeface="Tahoma" panose="020B0604030504040204" pitchFamily="34" charset="0"/>
              </a:rPr>
              <a:pPr eaLnBrk="1" hangingPunct="1"/>
              <a:t>66</a:t>
            </a:fld>
            <a:endParaRPr lang="en-CA" sz="1200">
              <a:latin typeface="Tahoma" panose="020B0604030504040204" pitchFamily="34" charset="0"/>
            </a:endParaRPr>
          </a:p>
        </p:txBody>
      </p:sp>
      <p:sp>
        <p:nvSpPr>
          <p:cNvPr id="78851" name="Rectangle 2"/>
          <p:cNvSpPr>
            <a:spLocks noChangeArrowheads="1" noTextEdit="1"/>
          </p:cNvSpPr>
          <p:nvPr>
            <p:ph type="sldImg"/>
          </p:nvPr>
        </p:nvSpPr>
        <p:spPr>
          <a:ln/>
        </p:spPr>
      </p:sp>
      <p:sp>
        <p:nvSpPr>
          <p:cNvPr id="788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anose="020B0604020202020204" pitchFamily="34" charset="0"/>
            </a:endParaRPr>
          </a:p>
        </p:txBody>
      </p:sp>
    </p:spTree>
    <p:extLst>
      <p:ext uri="{BB962C8B-B14F-4D97-AF65-F5344CB8AC3E}">
        <p14:creationId xmlns:p14="http://schemas.microsoft.com/office/powerpoint/2010/main" val="374308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fld id="{AC6C815E-F533-498A-99E1-B00E7DC09A08}" type="slidenum">
              <a:rPr lang="en-CA" sz="1200">
                <a:latin typeface="Tahoma" panose="020B0604030504040204" pitchFamily="34" charset="0"/>
              </a:rPr>
              <a:pPr eaLnBrk="1" hangingPunct="1"/>
              <a:t>67</a:t>
            </a:fld>
            <a:endParaRPr lang="en-CA" sz="1200">
              <a:latin typeface="Tahoma" panose="020B0604030504040204" pitchFamily="34" charset="0"/>
            </a:endParaRPr>
          </a:p>
        </p:txBody>
      </p:sp>
      <p:sp>
        <p:nvSpPr>
          <p:cNvPr id="79875" name="Rectangle 2"/>
          <p:cNvSpPr>
            <a:spLocks noChangeArrowheads="1" noTextEdit="1"/>
          </p:cNvSpPr>
          <p:nvPr>
            <p:ph type="sldImg"/>
          </p:nvPr>
        </p:nvSpPr>
        <p:spPr>
          <a:ln/>
        </p:spPr>
      </p:sp>
      <p:sp>
        <p:nvSpPr>
          <p:cNvPr id="7987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smtClean="0">
              <a:latin typeface="Arial" panose="020B0604020202020204" pitchFamily="34" charset="0"/>
            </a:endParaRPr>
          </a:p>
        </p:txBody>
      </p:sp>
    </p:spTree>
    <p:extLst>
      <p:ext uri="{BB962C8B-B14F-4D97-AF65-F5344CB8AC3E}">
        <p14:creationId xmlns:p14="http://schemas.microsoft.com/office/powerpoint/2010/main" val="152436926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819BE28-DBCB-42A1-AA38-EF2BC7A16A0C}" type="slidenum">
              <a:rPr lang="en-IN" smtClean="0"/>
              <a:t>127</a:t>
            </a:fld>
            <a:endParaRPr lang="en-IN"/>
          </a:p>
        </p:txBody>
      </p:sp>
    </p:spTree>
    <p:extLst>
      <p:ext uri="{BB962C8B-B14F-4D97-AF65-F5344CB8AC3E}">
        <p14:creationId xmlns:p14="http://schemas.microsoft.com/office/powerpoint/2010/main" val="31684156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xmlns="" id="{C33D0518-9765-4378-B955-0864D92744C0}"/>
              </a:ext>
            </a:extLst>
          </p:cNvPr>
          <p:cNvSpPr>
            <a:spLocks noGrp="1"/>
          </p:cNvSpPr>
          <p:nvPr>
            <p:ph type="dt" sz="half" idx="10"/>
          </p:nvPr>
        </p:nvSpPr>
        <p:spPr/>
        <p:txBody>
          <a:bodyPr/>
          <a:lstStyle>
            <a:lvl1pPr>
              <a:defRPr/>
            </a:lvl1pPr>
          </a:lstStyle>
          <a:p>
            <a:pPr>
              <a:defRPr/>
            </a:pPr>
            <a:fld id="{5BB98227-13E3-4C22-B8AA-13782C7D99C9}" type="datetimeFigureOut">
              <a:rPr lang="en-US"/>
              <a:pPr>
                <a:defRPr/>
              </a:pPr>
              <a:t>3/7/2025</a:t>
            </a:fld>
            <a:endParaRPr lang="en-US"/>
          </a:p>
        </p:txBody>
      </p:sp>
      <p:sp>
        <p:nvSpPr>
          <p:cNvPr id="5" name="Footer Placeholder 4">
            <a:extLst>
              <a:ext uri="{FF2B5EF4-FFF2-40B4-BE49-F238E27FC236}">
                <a16:creationId xmlns:a16="http://schemas.microsoft.com/office/drawing/2014/main" xmlns="" id="{B52F6AB2-69AA-432A-B40A-6433FF955AF2}"/>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6277634A-10E8-462C-B1DA-548B370A0684}"/>
              </a:ext>
            </a:extLst>
          </p:cNvPr>
          <p:cNvSpPr>
            <a:spLocks noGrp="1"/>
          </p:cNvSpPr>
          <p:nvPr>
            <p:ph type="sldNum" sz="quarter" idx="12"/>
          </p:nvPr>
        </p:nvSpPr>
        <p:spPr/>
        <p:txBody>
          <a:bodyPr/>
          <a:lstStyle>
            <a:lvl1pPr>
              <a:defRPr/>
            </a:lvl1pPr>
          </a:lstStyle>
          <a:p>
            <a:pPr>
              <a:defRPr/>
            </a:pPr>
            <a:fld id="{39D95C89-610F-4152-9D44-25A65615AEB3}" type="slidenum">
              <a:rPr lang="en-US" altLang="en-US"/>
              <a:pPr>
                <a:defRPr/>
              </a:pPr>
              <a:t>‹#›</a:t>
            </a:fld>
            <a:endParaRPr lang="en-US" altLang="en-US"/>
          </a:p>
        </p:txBody>
      </p:sp>
    </p:spTree>
    <p:extLst>
      <p:ext uri="{BB962C8B-B14F-4D97-AF65-F5344CB8AC3E}">
        <p14:creationId xmlns:p14="http://schemas.microsoft.com/office/powerpoint/2010/main" val="17455081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25AFD595-533C-4AD6-B710-4257A5918A94}"/>
              </a:ext>
            </a:extLst>
          </p:cNvPr>
          <p:cNvSpPr>
            <a:spLocks noGrp="1"/>
          </p:cNvSpPr>
          <p:nvPr>
            <p:ph type="dt" sz="half" idx="10"/>
          </p:nvPr>
        </p:nvSpPr>
        <p:spPr/>
        <p:txBody>
          <a:bodyPr/>
          <a:lstStyle>
            <a:lvl1pPr>
              <a:defRPr/>
            </a:lvl1pPr>
          </a:lstStyle>
          <a:p>
            <a:pPr>
              <a:defRPr/>
            </a:pPr>
            <a:fld id="{3096DD5A-3BEE-4AC0-B5E4-3792BAD2D739}" type="datetimeFigureOut">
              <a:rPr lang="en-US"/>
              <a:pPr>
                <a:defRPr/>
              </a:pPr>
              <a:t>3/7/2025</a:t>
            </a:fld>
            <a:endParaRPr lang="en-US"/>
          </a:p>
        </p:txBody>
      </p:sp>
      <p:sp>
        <p:nvSpPr>
          <p:cNvPr id="5" name="Footer Placeholder 4">
            <a:extLst>
              <a:ext uri="{FF2B5EF4-FFF2-40B4-BE49-F238E27FC236}">
                <a16:creationId xmlns:a16="http://schemas.microsoft.com/office/drawing/2014/main" xmlns="" id="{4C8FF0C0-94C1-4DCA-BB77-A07A416FF22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7E861E3B-D096-42F9-B6CB-03D6BC42095B}"/>
              </a:ext>
            </a:extLst>
          </p:cNvPr>
          <p:cNvSpPr>
            <a:spLocks noGrp="1"/>
          </p:cNvSpPr>
          <p:nvPr>
            <p:ph type="sldNum" sz="quarter" idx="12"/>
          </p:nvPr>
        </p:nvSpPr>
        <p:spPr/>
        <p:txBody>
          <a:bodyPr/>
          <a:lstStyle>
            <a:lvl1pPr>
              <a:defRPr/>
            </a:lvl1pPr>
          </a:lstStyle>
          <a:p>
            <a:pPr>
              <a:defRPr/>
            </a:pPr>
            <a:fld id="{3BE877B9-A288-4F4E-90CC-4CE60548755C}" type="slidenum">
              <a:rPr lang="en-US" altLang="en-US"/>
              <a:pPr>
                <a:defRPr/>
              </a:pPr>
              <a:t>‹#›</a:t>
            </a:fld>
            <a:endParaRPr lang="en-US" altLang="en-US"/>
          </a:p>
        </p:txBody>
      </p:sp>
    </p:spTree>
    <p:extLst>
      <p:ext uri="{BB962C8B-B14F-4D97-AF65-F5344CB8AC3E}">
        <p14:creationId xmlns:p14="http://schemas.microsoft.com/office/powerpoint/2010/main" val="3483697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088CD2E9-A3F9-41B9-8614-73A14B8550F0}"/>
              </a:ext>
            </a:extLst>
          </p:cNvPr>
          <p:cNvSpPr>
            <a:spLocks noGrp="1"/>
          </p:cNvSpPr>
          <p:nvPr>
            <p:ph type="dt" sz="half" idx="10"/>
          </p:nvPr>
        </p:nvSpPr>
        <p:spPr/>
        <p:txBody>
          <a:bodyPr/>
          <a:lstStyle>
            <a:lvl1pPr>
              <a:defRPr/>
            </a:lvl1pPr>
          </a:lstStyle>
          <a:p>
            <a:pPr>
              <a:defRPr/>
            </a:pPr>
            <a:fld id="{D8BA3DE3-65D4-4D0E-B322-521DD838BD8B}" type="datetimeFigureOut">
              <a:rPr lang="en-US"/>
              <a:pPr>
                <a:defRPr/>
              </a:pPr>
              <a:t>3/7/2025</a:t>
            </a:fld>
            <a:endParaRPr lang="en-US"/>
          </a:p>
        </p:txBody>
      </p:sp>
      <p:sp>
        <p:nvSpPr>
          <p:cNvPr id="5" name="Footer Placeholder 4">
            <a:extLst>
              <a:ext uri="{FF2B5EF4-FFF2-40B4-BE49-F238E27FC236}">
                <a16:creationId xmlns:a16="http://schemas.microsoft.com/office/drawing/2014/main" xmlns="" id="{403836EE-4490-4879-BF85-416FF4E07BA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975CCDD5-92D5-4E6A-AF93-0DC8197BA7DA}"/>
              </a:ext>
            </a:extLst>
          </p:cNvPr>
          <p:cNvSpPr>
            <a:spLocks noGrp="1"/>
          </p:cNvSpPr>
          <p:nvPr>
            <p:ph type="sldNum" sz="quarter" idx="12"/>
          </p:nvPr>
        </p:nvSpPr>
        <p:spPr/>
        <p:txBody>
          <a:bodyPr/>
          <a:lstStyle>
            <a:lvl1pPr>
              <a:defRPr/>
            </a:lvl1pPr>
          </a:lstStyle>
          <a:p>
            <a:pPr>
              <a:defRPr/>
            </a:pPr>
            <a:fld id="{3447A1D8-CEA0-4A3F-B9F7-FC896354E541}" type="slidenum">
              <a:rPr lang="en-US" altLang="en-US"/>
              <a:pPr>
                <a:defRPr/>
              </a:pPr>
              <a:t>‹#›</a:t>
            </a:fld>
            <a:endParaRPr lang="en-US" altLang="en-US"/>
          </a:p>
        </p:txBody>
      </p:sp>
    </p:spTree>
    <p:extLst>
      <p:ext uri="{BB962C8B-B14F-4D97-AF65-F5344CB8AC3E}">
        <p14:creationId xmlns:p14="http://schemas.microsoft.com/office/powerpoint/2010/main" val="40025082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xmlns="" id="{8C43DB37-6E69-45D8-BF27-FF66E027E1E4}"/>
              </a:ext>
            </a:extLst>
          </p:cNvPr>
          <p:cNvSpPr>
            <a:spLocks noGrp="1"/>
          </p:cNvSpPr>
          <p:nvPr>
            <p:ph type="dt" sz="half" idx="10"/>
          </p:nvPr>
        </p:nvSpPr>
        <p:spPr/>
        <p:txBody>
          <a:bodyPr/>
          <a:lstStyle>
            <a:lvl1pPr>
              <a:defRPr/>
            </a:lvl1pPr>
          </a:lstStyle>
          <a:p>
            <a:pPr>
              <a:defRPr/>
            </a:pPr>
            <a:fld id="{EDC2C576-18B8-4429-B7F1-2AF86D263938}" type="datetimeFigureOut">
              <a:rPr lang="en-US"/>
              <a:pPr>
                <a:defRPr/>
              </a:pPr>
              <a:t>3/7/2025</a:t>
            </a:fld>
            <a:endParaRPr lang="en-US"/>
          </a:p>
        </p:txBody>
      </p:sp>
      <p:sp>
        <p:nvSpPr>
          <p:cNvPr id="6" name="Footer Placeholder 4">
            <a:extLst>
              <a:ext uri="{FF2B5EF4-FFF2-40B4-BE49-F238E27FC236}">
                <a16:creationId xmlns:a16="http://schemas.microsoft.com/office/drawing/2014/main" xmlns="" id="{D0EF5D1D-E939-4C73-859D-7F2EEDE132A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267EFC33-2CC8-4B6F-8CF4-12EA5B864A69}"/>
              </a:ext>
            </a:extLst>
          </p:cNvPr>
          <p:cNvSpPr>
            <a:spLocks noGrp="1"/>
          </p:cNvSpPr>
          <p:nvPr>
            <p:ph type="sldNum" sz="quarter" idx="12"/>
          </p:nvPr>
        </p:nvSpPr>
        <p:spPr/>
        <p:txBody>
          <a:bodyPr/>
          <a:lstStyle>
            <a:lvl1pPr>
              <a:defRPr/>
            </a:lvl1pPr>
          </a:lstStyle>
          <a:p>
            <a:pPr>
              <a:defRPr/>
            </a:pPr>
            <a:fld id="{A217B901-3BF3-4138-AF3C-59C7FC78F308}" type="slidenum">
              <a:rPr lang="en-US" altLang="en-US"/>
              <a:pPr>
                <a:defRPr/>
              </a:pPr>
              <a:t>‹#›</a:t>
            </a:fld>
            <a:endParaRPr lang="en-US" altLang="en-US"/>
          </a:p>
        </p:txBody>
      </p:sp>
    </p:spTree>
    <p:extLst>
      <p:ext uri="{BB962C8B-B14F-4D97-AF65-F5344CB8AC3E}">
        <p14:creationId xmlns:p14="http://schemas.microsoft.com/office/powerpoint/2010/main" val="13356402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xmlns="" id="{54CEFBBF-D417-434F-B5E0-C8502172BAF4}"/>
              </a:ext>
            </a:extLst>
          </p:cNvPr>
          <p:cNvSpPr>
            <a:spLocks noGrp="1"/>
          </p:cNvSpPr>
          <p:nvPr>
            <p:ph type="dt" sz="half" idx="10"/>
          </p:nvPr>
        </p:nvSpPr>
        <p:spPr/>
        <p:txBody>
          <a:bodyPr/>
          <a:lstStyle>
            <a:lvl1pPr>
              <a:defRPr/>
            </a:lvl1pPr>
          </a:lstStyle>
          <a:p>
            <a:pPr>
              <a:defRPr/>
            </a:pPr>
            <a:fld id="{A1DBEC4C-9A02-4551-B2D9-CACE9B98262A}" type="datetimeFigureOut">
              <a:rPr lang="en-US"/>
              <a:pPr>
                <a:defRPr/>
              </a:pPr>
              <a:t>3/7/2025</a:t>
            </a:fld>
            <a:endParaRPr lang="en-US"/>
          </a:p>
        </p:txBody>
      </p:sp>
      <p:sp>
        <p:nvSpPr>
          <p:cNvPr id="8" name="Footer Placeholder 4">
            <a:extLst>
              <a:ext uri="{FF2B5EF4-FFF2-40B4-BE49-F238E27FC236}">
                <a16:creationId xmlns:a16="http://schemas.microsoft.com/office/drawing/2014/main" xmlns="" id="{D4369888-DEAA-44C8-9B8B-1959BBBC6C4A}"/>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xmlns="" id="{15CAFD43-CD12-4B40-B085-547E89D39392}"/>
              </a:ext>
            </a:extLst>
          </p:cNvPr>
          <p:cNvSpPr>
            <a:spLocks noGrp="1"/>
          </p:cNvSpPr>
          <p:nvPr>
            <p:ph type="sldNum" sz="quarter" idx="12"/>
          </p:nvPr>
        </p:nvSpPr>
        <p:spPr/>
        <p:txBody>
          <a:bodyPr/>
          <a:lstStyle>
            <a:lvl1pPr>
              <a:defRPr/>
            </a:lvl1pPr>
          </a:lstStyle>
          <a:p>
            <a:pPr>
              <a:defRPr/>
            </a:pPr>
            <a:fld id="{1B998F6F-2320-488B-8CC4-3EB26B9115B7}" type="slidenum">
              <a:rPr lang="en-US" altLang="en-US"/>
              <a:pPr>
                <a:defRPr/>
              </a:pPr>
              <a:t>‹#›</a:t>
            </a:fld>
            <a:endParaRPr lang="en-US" altLang="en-US"/>
          </a:p>
        </p:txBody>
      </p:sp>
    </p:spTree>
    <p:extLst>
      <p:ext uri="{BB962C8B-B14F-4D97-AF65-F5344CB8AC3E}">
        <p14:creationId xmlns:p14="http://schemas.microsoft.com/office/powerpoint/2010/main" val="351834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xmlns="" id="{5DD4EF88-8430-4739-B8F2-8815A36F619B}"/>
              </a:ext>
            </a:extLst>
          </p:cNvPr>
          <p:cNvSpPr>
            <a:spLocks noGrp="1"/>
          </p:cNvSpPr>
          <p:nvPr>
            <p:ph type="dt" sz="half" idx="10"/>
          </p:nvPr>
        </p:nvSpPr>
        <p:spPr/>
        <p:txBody>
          <a:bodyPr/>
          <a:lstStyle>
            <a:lvl1pPr>
              <a:defRPr/>
            </a:lvl1pPr>
          </a:lstStyle>
          <a:p>
            <a:pPr>
              <a:defRPr/>
            </a:pPr>
            <a:fld id="{6F912805-5744-4478-9CDB-0A9CF6C6B372}" type="datetimeFigureOut">
              <a:rPr lang="en-US"/>
              <a:pPr>
                <a:defRPr/>
              </a:pPr>
              <a:t>3/7/2025</a:t>
            </a:fld>
            <a:endParaRPr lang="en-US"/>
          </a:p>
        </p:txBody>
      </p:sp>
      <p:sp>
        <p:nvSpPr>
          <p:cNvPr id="4" name="Footer Placeholder 4">
            <a:extLst>
              <a:ext uri="{FF2B5EF4-FFF2-40B4-BE49-F238E27FC236}">
                <a16:creationId xmlns:a16="http://schemas.microsoft.com/office/drawing/2014/main" xmlns="" id="{E2069101-965E-42A7-A587-3708D1B1932B}"/>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xmlns="" id="{08C1F3E5-13E1-4A36-A65D-35A515E776F8}"/>
              </a:ext>
            </a:extLst>
          </p:cNvPr>
          <p:cNvSpPr>
            <a:spLocks noGrp="1"/>
          </p:cNvSpPr>
          <p:nvPr>
            <p:ph type="sldNum" sz="quarter" idx="12"/>
          </p:nvPr>
        </p:nvSpPr>
        <p:spPr/>
        <p:txBody>
          <a:bodyPr/>
          <a:lstStyle>
            <a:lvl1pPr>
              <a:defRPr/>
            </a:lvl1pPr>
          </a:lstStyle>
          <a:p>
            <a:pPr>
              <a:defRPr/>
            </a:pPr>
            <a:fld id="{36FCA7C9-A3C3-4077-B056-F837EBA70FF4}" type="slidenum">
              <a:rPr lang="en-US" altLang="en-US"/>
              <a:pPr>
                <a:defRPr/>
              </a:pPr>
              <a:t>‹#›</a:t>
            </a:fld>
            <a:endParaRPr lang="en-US" altLang="en-US"/>
          </a:p>
        </p:txBody>
      </p:sp>
    </p:spTree>
    <p:extLst>
      <p:ext uri="{BB962C8B-B14F-4D97-AF65-F5344CB8AC3E}">
        <p14:creationId xmlns:p14="http://schemas.microsoft.com/office/powerpoint/2010/main" val="1928835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xmlns="" id="{F41A4F44-AC55-4AD2-B21E-75F2B2B6205A}"/>
              </a:ext>
            </a:extLst>
          </p:cNvPr>
          <p:cNvSpPr>
            <a:spLocks noGrp="1"/>
          </p:cNvSpPr>
          <p:nvPr>
            <p:ph type="dt" sz="half" idx="10"/>
          </p:nvPr>
        </p:nvSpPr>
        <p:spPr/>
        <p:txBody>
          <a:bodyPr/>
          <a:lstStyle>
            <a:lvl1pPr>
              <a:defRPr/>
            </a:lvl1pPr>
          </a:lstStyle>
          <a:p>
            <a:pPr>
              <a:defRPr/>
            </a:pPr>
            <a:fld id="{4376C2C1-9CFE-4F5C-B63B-ECA86CC6D479}" type="datetimeFigureOut">
              <a:rPr lang="en-US"/>
              <a:pPr>
                <a:defRPr/>
              </a:pPr>
              <a:t>3/7/2025</a:t>
            </a:fld>
            <a:endParaRPr lang="en-US"/>
          </a:p>
        </p:txBody>
      </p:sp>
      <p:sp>
        <p:nvSpPr>
          <p:cNvPr id="3" name="Footer Placeholder 4">
            <a:extLst>
              <a:ext uri="{FF2B5EF4-FFF2-40B4-BE49-F238E27FC236}">
                <a16:creationId xmlns:a16="http://schemas.microsoft.com/office/drawing/2014/main" xmlns="" id="{AD284E82-9CC9-4D50-A83F-E4CC86B7B2CB}"/>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xmlns="" id="{F44006A1-1FA3-4271-AB7C-6D126B333145}"/>
              </a:ext>
            </a:extLst>
          </p:cNvPr>
          <p:cNvSpPr>
            <a:spLocks noGrp="1"/>
          </p:cNvSpPr>
          <p:nvPr>
            <p:ph type="sldNum" sz="quarter" idx="12"/>
          </p:nvPr>
        </p:nvSpPr>
        <p:spPr/>
        <p:txBody>
          <a:bodyPr/>
          <a:lstStyle>
            <a:lvl1pPr>
              <a:defRPr/>
            </a:lvl1pPr>
          </a:lstStyle>
          <a:p>
            <a:pPr>
              <a:defRPr/>
            </a:pPr>
            <a:fld id="{9BD9883B-AD56-494F-AE5B-76BBBD271B3C}" type="slidenum">
              <a:rPr lang="en-US" altLang="en-US"/>
              <a:pPr>
                <a:defRPr/>
              </a:pPr>
              <a:t>‹#›</a:t>
            </a:fld>
            <a:endParaRPr lang="en-US" altLang="en-US"/>
          </a:p>
        </p:txBody>
      </p:sp>
    </p:spTree>
    <p:extLst>
      <p:ext uri="{BB962C8B-B14F-4D97-AF65-F5344CB8AC3E}">
        <p14:creationId xmlns:p14="http://schemas.microsoft.com/office/powerpoint/2010/main" val="1144045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xmlns="" id="{EC56DC24-DB24-4749-B274-0FDEE11B8200}"/>
              </a:ext>
            </a:extLst>
          </p:cNvPr>
          <p:cNvSpPr>
            <a:spLocks noGrp="1"/>
          </p:cNvSpPr>
          <p:nvPr>
            <p:ph type="dt" sz="half" idx="10"/>
          </p:nvPr>
        </p:nvSpPr>
        <p:spPr/>
        <p:txBody>
          <a:bodyPr/>
          <a:lstStyle>
            <a:lvl1pPr>
              <a:defRPr/>
            </a:lvl1pPr>
          </a:lstStyle>
          <a:p>
            <a:pPr>
              <a:defRPr/>
            </a:pPr>
            <a:fld id="{67DF6BE6-6D93-48A1-AB95-7FDB678150DE}" type="datetimeFigureOut">
              <a:rPr lang="en-US"/>
              <a:pPr>
                <a:defRPr/>
              </a:pPr>
              <a:t>3/7/2025</a:t>
            </a:fld>
            <a:endParaRPr lang="en-US"/>
          </a:p>
        </p:txBody>
      </p:sp>
      <p:sp>
        <p:nvSpPr>
          <p:cNvPr id="6" name="Footer Placeholder 4">
            <a:extLst>
              <a:ext uri="{FF2B5EF4-FFF2-40B4-BE49-F238E27FC236}">
                <a16:creationId xmlns:a16="http://schemas.microsoft.com/office/drawing/2014/main" xmlns="" id="{DF2D410C-B092-4B80-9C85-6F5656277169}"/>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F34C2FA4-940E-4F2D-93E4-E40573B05CDB}"/>
              </a:ext>
            </a:extLst>
          </p:cNvPr>
          <p:cNvSpPr>
            <a:spLocks noGrp="1"/>
          </p:cNvSpPr>
          <p:nvPr>
            <p:ph type="sldNum" sz="quarter" idx="12"/>
          </p:nvPr>
        </p:nvSpPr>
        <p:spPr/>
        <p:txBody>
          <a:bodyPr/>
          <a:lstStyle>
            <a:lvl1pPr>
              <a:defRPr/>
            </a:lvl1pPr>
          </a:lstStyle>
          <a:p>
            <a:pPr>
              <a:defRPr/>
            </a:pPr>
            <a:fld id="{7F975BA9-2177-4D29-AB26-9987D423F3DA}" type="slidenum">
              <a:rPr lang="en-US" altLang="en-US"/>
              <a:pPr>
                <a:defRPr/>
              </a:pPr>
              <a:t>‹#›</a:t>
            </a:fld>
            <a:endParaRPr lang="en-US" altLang="en-US"/>
          </a:p>
        </p:txBody>
      </p:sp>
    </p:spTree>
    <p:extLst>
      <p:ext uri="{BB962C8B-B14F-4D97-AF65-F5344CB8AC3E}">
        <p14:creationId xmlns:p14="http://schemas.microsoft.com/office/powerpoint/2010/main" val="11995073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3">
            <a:extLst>
              <a:ext uri="{FF2B5EF4-FFF2-40B4-BE49-F238E27FC236}">
                <a16:creationId xmlns:a16="http://schemas.microsoft.com/office/drawing/2014/main" xmlns="" id="{55FDABFA-4C3D-4C12-8084-B1722206FEBE}"/>
              </a:ext>
            </a:extLst>
          </p:cNvPr>
          <p:cNvSpPr>
            <a:spLocks noGrp="1"/>
          </p:cNvSpPr>
          <p:nvPr>
            <p:ph type="dt" sz="half" idx="10"/>
          </p:nvPr>
        </p:nvSpPr>
        <p:spPr/>
        <p:txBody>
          <a:bodyPr/>
          <a:lstStyle>
            <a:lvl1pPr>
              <a:defRPr/>
            </a:lvl1pPr>
          </a:lstStyle>
          <a:p>
            <a:pPr>
              <a:defRPr/>
            </a:pPr>
            <a:fld id="{8B51FB73-E8F8-4001-8ADE-0759BD66CEBA}" type="datetimeFigureOut">
              <a:rPr lang="en-US"/>
              <a:pPr>
                <a:defRPr/>
              </a:pPr>
              <a:t>3/7/2025</a:t>
            </a:fld>
            <a:endParaRPr lang="en-US"/>
          </a:p>
        </p:txBody>
      </p:sp>
      <p:sp>
        <p:nvSpPr>
          <p:cNvPr id="6" name="Footer Placeholder 4">
            <a:extLst>
              <a:ext uri="{FF2B5EF4-FFF2-40B4-BE49-F238E27FC236}">
                <a16:creationId xmlns:a16="http://schemas.microsoft.com/office/drawing/2014/main" xmlns="" id="{FEE1AE13-3A70-4798-906F-6BA93E208DD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xmlns="" id="{FB370F9E-65D2-4EBD-B19D-2B3C7FE3D5DC}"/>
              </a:ext>
            </a:extLst>
          </p:cNvPr>
          <p:cNvSpPr>
            <a:spLocks noGrp="1"/>
          </p:cNvSpPr>
          <p:nvPr>
            <p:ph type="sldNum" sz="quarter" idx="12"/>
          </p:nvPr>
        </p:nvSpPr>
        <p:spPr/>
        <p:txBody>
          <a:bodyPr/>
          <a:lstStyle>
            <a:lvl1pPr>
              <a:defRPr/>
            </a:lvl1pPr>
          </a:lstStyle>
          <a:p>
            <a:pPr>
              <a:defRPr/>
            </a:pPr>
            <a:fld id="{9EF522AE-F8D5-4051-97E6-787CCC258A5A}" type="slidenum">
              <a:rPr lang="en-US" altLang="en-US"/>
              <a:pPr>
                <a:defRPr/>
              </a:pPr>
              <a:t>‹#›</a:t>
            </a:fld>
            <a:endParaRPr lang="en-US" altLang="en-US"/>
          </a:p>
        </p:txBody>
      </p:sp>
    </p:spTree>
    <p:extLst>
      <p:ext uri="{BB962C8B-B14F-4D97-AF65-F5344CB8AC3E}">
        <p14:creationId xmlns:p14="http://schemas.microsoft.com/office/powerpoint/2010/main" val="2055628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C78A1226-360C-4041-B5E9-92E7659FB511}"/>
              </a:ext>
            </a:extLst>
          </p:cNvPr>
          <p:cNvSpPr>
            <a:spLocks noGrp="1"/>
          </p:cNvSpPr>
          <p:nvPr>
            <p:ph type="dt" sz="half" idx="10"/>
          </p:nvPr>
        </p:nvSpPr>
        <p:spPr/>
        <p:txBody>
          <a:bodyPr/>
          <a:lstStyle>
            <a:lvl1pPr>
              <a:defRPr/>
            </a:lvl1pPr>
          </a:lstStyle>
          <a:p>
            <a:pPr>
              <a:defRPr/>
            </a:pPr>
            <a:fld id="{0432A8D6-53EB-41CE-A031-8430E7E65BF1}" type="datetimeFigureOut">
              <a:rPr lang="en-US"/>
              <a:pPr>
                <a:defRPr/>
              </a:pPr>
              <a:t>3/7/2025</a:t>
            </a:fld>
            <a:endParaRPr lang="en-US"/>
          </a:p>
        </p:txBody>
      </p:sp>
      <p:sp>
        <p:nvSpPr>
          <p:cNvPr id="5" name="Footer Placeholder 4">
            <a:extLst>
              <a:ext uri="{FF2B5EF4-FFF2-40B4-BE49-F238E27FC236}">
                <a16:creationId xmlns:a16="http://schemas.microsoft.com/office/drawing/2014/main" xmlns="" id="{D68649C7-7881-405E-8740-B3331B5CF371}"/>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43802B52-B185-4AC9-AD41-BCA6CCB2C853}"/>
              </a:ext>
            </a:extLst>
          </p:cNvPr>
          <p:cNvSpPr>
            <a:spLocks noGrp="1"/>
          </p:cNvSpPr>
          <p:nvPr>
            <p:ph type="sldNum" sz="quarter" idx="12"/>
          </p:nvPr>
        </p:nvSpPr>
        <p:spPr/>
        <p:txBody>
          <a:bodyPr/>
          <a:lstStyle>
            <a:lvl1pPr>
              <a:defRPr/>
            </a:lvl1pPr>
          </a:lstStyle>
          <a:p>
            <a:pPr>
              <a:defRPr/>
            </a:pPr>
            <a:fld id="{5FD276FA-E639-44F5-A9DC-482B71B018AA}" type="slidenum">
              <a:rPr lang="en-US" altLang="en-US"/>
              <a:pPr>
                <a:defRPr/>
              </a:pPr>
              <a:t>‹#›</a:t>
            </a:fld>
            <a:endParaRPr lang="en-US" altLang="en-US"/>
          </a:p>
        </p:txBody>
      </p:sp>
    </p:spTree>
    <p:extLst>
      <p:ext uri="{BB962C8B-B14F-4D97-AF65-F5344CB8AC3E}">
        <p14:creationId xmlns:p14="http://schemas.microsoft.com/office/powerpoint/2010/main" val="10433198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xmlns="" id="{AFB8D665-D318-4C70-8A9A-DE8336D28F31}"/>
              </a:ext>
            </a:extLst>
          </p:cNvPr>
          <p:cNvSpPr>
            <a:spLocks noGrp="1"/>
          </p:cNvSpPr>
          <p:nvPr>
            <p:ph type="dt" sz="half" idx="10"/>
          </p:nvPr>
        </p:nvSpPr>
        <p:spPr/>
        <p:txBody>
          <a:bodyPr/>
          <a:lstStyle>
            <a:lvl1pPr>
              <a:defRPr/>
            </a:lvl1pPr>
          </a:lstStyle>
          <a:p>
            <a:pPr>
              <a:defRPr/>
            </a:pPr>
            <a:fld id="{AB3FBCAB-FDFD-4860-9E3A-D0A4D52A2167}" type="datetimeFigureOut">
              <a:rPr lang="en-US"/>
              <a:pPr>
                <a:defRPr/>
              </a:pPr>
              <a:t>3/7/2025</a:t>
            </a:fld>
            <a:endParaRPr lang="en-US"/>
          </a:p>
        </p:txBody>
      </p:sp>
      <p:sp>
        <p:nvSpPr>
          <p:cNvPr id="5" name="Footer Placeholder 4">
            <a:extLst>
              <a:ext uri="{FF2B5EF4-FFF2-40B4-BE49-F238E27FC236}">
                <a16:creationId xmlns:a16="http://schemas.microsoft.com/office/drawing/2014/main" xmlns="" id="{00B855CA-59E0-4606-BA38-2AD7553DFDAE}"/>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xmlns="" id="{F6E2A4D6-8E4F-469C-8802-F1F7FECFF709}"/>
              </a:ext>
            </a:extLst>
          </p:cNvPr>
          <p:cNvSpPr>
            <a:spLocks noGrp="1"/>
          </p:cNvSpPr>
          <p:nvPr>
            <p:ph type="sldNum" sz="quarter" idx="12"/>
          </p:nvPr>
        </p:nvSpPr>
        <p:spPr/>
        <p:txBody>
          <a:bodyPr/>
          <a:lstStyle>
            <a:lvl1pPr>
              <a:defRPr/>
            </a:lvl1pPr>
          </a:lstStyle>
          <a:p>
            <a:pPr>
              <a:defRPr/>
            </a:pPr>
            <a:fld id="{3CF06156-43D4-4F49-96BA-2EBF7D2DE1F4}" type="slidenum">
              <a:rPr lang="en-US" altLang="en-US"/>
              <a:pPr>
                <a:defRPr/>
              </a:pPr>
              <a:t>‹#›</a:t>
            </a:fld>
            <a:endParaRPr lang="en-US" altLang="en-US"/>
          </a:p>
        </p:txBody>
      </p:sp>
    </p:spTree>
    <p:extLst>
      <p:ext uri="{BB962C8B-B14F-4D97-AF65-F5344CB8AC3E}">
        <p14:creationId xmlns:p14="http://schemas.microsoft.com/office/powerpoint/2010/main" val="33227202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xmlns="" id="{F93F7146-B0AB-4AB5-B41E-8C67B9D5E92E}"/>
              </a:ext>
            </a:extLst>
          </p:cNvPr>
          <p:cNvCxnSpPr/>
          <p:nvPr userDrawn="1"/>
        </p:nvCxnSpPr>
        <p:spPr>
          <a:xfrm flipH="1">
            <a:off x="2057400" y="6492875"/>
            <a:ext cx="953928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3" name="Rectangle 2">
            <a:extLst>
              <a:ext uri="{FF2B5EF4-FFF2-40B4-BE49-F238E27FC236}">
                <a16:creationId xmlns:a16="http://schemas.microsoft.com/office/drawing/2014/main" xmlns="" id="{E9073DF4-8915-46B0-88F5-161C6A6F25BE}"/>
              </a:ext>
            </a:extLst>
          </p:cNvPr>
          <p:cNvSpPr/>
          <p:nvPr userDrawn="1"/>
        </p:nvSpPr>
        <p:spPr>
          <a:xfrm>
            <a:off x="0" y="0"/>
            <a:ext cx="12192000" cy="66675"/>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4" name="Freeform 6">
            <a:extLst>
              <a:ext uri="{FF2B5EF4-FFF2-40B4-BE49-F238E27FC236}">
                <a16:creationId xmlns:a16="http://schemas.microsoft.com/office/drawing/2014/main" xmlns="" id="{E3D4BFD5-CED4-4ECB-9AE1-A955EC5691A4}"/>
              </a:ext>
            </a:extLst>
          </p:cNvPr>
          <p:cNvSpPr>
            <a:spLocks noChangeAspect="1"/>
          </p:cNvSpPr>
          <p:nvPr userDrawn="1"/>
        </p:nvSpPr>
        <p:spPr bwMode="auto">
          <a:xfrm>
            <a:off x="0" y="190500"/>
            <a:ext cx="779463"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5" name="Freeform 14">
            <a:extLst>
              <a:ext uri="{FF2B5EF4-FFF2-40B4-BE49-F238E27FC236}">
                <a16:creationId xmlns:a16="http://schemas.microsoft.com/office/drawing/2014/main" xmlns="" id="{F1FA83EA-1754-4FAD-949E-238FC4D31502}"/>
              </a:ext>
            </a:extLst>
          </p:cNvPr>
          <p:cNvSpPr>
            <a:spLocks/>
          </p:cNvSpPr>
          <p:nvPr userDrawn="1"/>
        </p:nvSpPr>
        <p:spPr bwMode="auto">
          <a:xfrm>
            <a:off x="574675" y="190500"/>
            <a:ext cx="679450"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a:latin typeface="+mn-lt"/>
              <a:cs typeface="+mn-cs"/>
            </a:endParaRPr>
          </a:p>
        </p:txBody>
      </p:sp>
      <p:sp>
        <p:nvSpPr>
          <p:cNvPr id="6" name="Freeform 6">
            <a:extLst>
              <a:ext uri="{FF2B5EF4-FFF2-40B4-BE49-F238E27FC236}">
                <a16:creationId xmlns:a16="http://schemas.microsoft.com/office/drawing/2014/main" xmlns="" id="{2C0B22EB-32CB-427D-9492-51487CEFBF21}"/>
              </a:ext>
            </a:extLst>
          </p:cNvPr>
          <p:cNvSpPr>
            <a:spLocks noChangeAspect="1"/>
          </p:cNvSpPr>
          <p:nvPr userDrawn="1"/>
        </p:nvSpPr>
        <p:spPr bwMode="auto">
          <a:xfrm>
            <a:off x="11596688" y="6483350"/>
            <a:ext cx="615950"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 name="Slide Number Placeholder 5">
            <a:extLst>
              <a:ext uri="{FF2B5EF4-FFF2-40B4-BE49-F238E27FC236}">
                <a16:creationId xmlns:a16="http://schemas.microsoft.com/office/drawing/2014/main" xmlns="" id="{A96C43A2-8DE1-47C4-BC40-FB7152CADC22}"/>
              </a:ext>
            </a:extLst>
          </p:cNvPr>
          <p:cNvSpPr txBox="1">
            <a:spLocks/>
          </p:cNvSpPr>
          <p:nvPr userDrawn="1"/>
        </p:nvSpPr>
        <p:spPr bwMode="auto">
          <a:xfrm>
            <a:off x="11622088" y="6530975"/>
            <a:ext cx="406400" cy="365125"/>
          </a:xfrm>
          <a:prstGeom prst="rect">
            <a:avLst/>
          </a:prstGeom>
          <a:noFill/>
          <a:ln>
            <a:noFill/>
          </a:ln>
        </p:spPr>
        <p:txBody>
          <a:bodyPr/>
          <a:lstStyle>
            <a:lvl1pPr defTabSz="912813">
              <a:defRPr>
                <a:solidFill>
                  <a:schemeClr val="tx1"/>
                </a:solidFill>
                <a:latin typeface="Arial" panose="020B0604020202020204" pitchFamily="34" charset="0"/>
                <a:cs typeface="Arial" panose="020B0604020202020204" pitchFamily="34" charset="0"/>
              </a:defRPr>
            </a:lvl1pPr>
            <a:lvl2pPr marL="742950" indent="-285750" defTabSz="912813">
              <a:defRPr>
                <a:solidFill>
                  <a:schemeClr val="tx1"/>
                </a:solidFill>
                <a:latin typeface="Arial" panose="020B0604020202020204" pitchFamily="34" charset="0"/>
                <a:cs typeface="Arial" panose="020B0604020202020204" pitchFamily="34" charset="0"/>
              </a:defRPr>
            </a:lvl2pPr>
            <a:lvl3pPr marL="1143000" indent="-228600" defTabSz="912813">
              <a:defRPr>
                <a:solidFill>
                  <a:schemeClr val="tx1"/>
                </a:solidFill>
                <a:latin typeface="Arial" panose="020B0604020202020204" pitchFamily="34" charset="0"/>
                <a:cs typeface="Arial" panose="020B0604020202020204" pitchFamily="34" charset="0"/>
              </a:defRPr>
            </a:lvl3pPr>
            <a:lvl4pPr marL="1600200" indent="-228600" defTabSz="912813">
              <a:defRPr>
                <a:solidFill>
                  <a:schemeClr val="tx1"/>
                </a:solidFill>
                <a:latin typeface="Arial" panose="020B0604020202020204" pitchFamily="34" charset="0"/>
                <a:cs typeface="Arial" panose="020B0604020202020204" pitchFamily="34" charset="0"/>
              </a:defRPr>
            </a:lvl4pPr>
            <a:lvl5pPr marL="2057400" indent="-228600" defTabSz="912813">
              <a:defRPr>
                <a:solidFill>
                  <a:schemeClr val="tx1"/>
                </a:solidFill>
                <a:latin typeface="Arial" panose="020B0604020202020204" pitchFamily="34" charset="0"/>
                <a:cs typeface="Arial" panose="020B0604020202020204" pitchFamily="34" charset="0"/>
              </a:defRPr>
            </a:lvl5pPr>
            <a:lvl6pPr marL="25146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defTabSz="912813"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defRPr/>
            </a:pPr>
            <a:fld id="{60EC9D3B-DB9D-4284-A2C4-FBB1DF63E578}" type="slidenum">
              <a:rPr lang="en-US" altLang="en-US" sz="1300" smtClean="0">
                <a:solidFill>
                  <a:schemeClr val="bg1"/>
                </a:solidFill>
                <a:latin typeface="Calibri" panose="020F0502020204030204" pitchFamily="34" charset="0"/>
              </a:rPr>
              <a:pPr algn="ctr" eaLnBrk="1" hangingPunct="1">
                <a:defRPr/>
              </a:pPr>
              <a:t>‹#›</a:t>
            </a:fld>
            <a:endParaRPr lang="en-US" altLang="en-US" sz="1300">
              <a:solidFill>
                <a:schemeClr val="bg1"/>
              </a:solidFill>
              <a:latin typeface="Calibri" panose="020F0502020204030204" pitchFamily="34" charset="0"/>
            </a:endParaRPr>
          </a:p>
        </p:txBody>
      </p:sp>
      <p:pic>
        <p:nvPicPr>
          <p:cNvPr id="8" name="Picture 12">
            <a:extLst>
              <a:ext uri="{FF2B5EF4-FFF2-40B4-BE49-F238E27FC236}">
                <a16:creationId xmlns:a16="http://schemas.microsoft.com/office/drawing/2014/main" xmlns="" id="{F2A679DE-1D8A-4665-8A18-DD6FE8CDD50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85738" y="6096000"/>
            <a:ext cx="1803400" cy="588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2695243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xmlns="" id="{885A3EEB-9F67-4616-9CB4-DE3E5BC48805}"/>
              </a:ext>
            </a:extLst>
          </p:cNvPr>
          <p:cNvCxnSpPr/>
          <p:nvPr userDrawn="1"/>
        </p:nvCxnSpPr>
        <p:spPr>
          <a:xfrm flipH="1">
            <a:off x="2057400" y="6492875"/>
            <a:ext cx="953928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5" name="Rectangle 4">
            <a:extLst>
              <a:ext uri="{FF2B5EF4-FFF2-40B4-BE49-F238E27FC236}">
                <a16:creationId xmlns:a16="http://schemas.microsoft.com/office/drawing/2014/main" xmlns="" id="{39BFE8E9-BA54-43D5-A021-4860D40C63BD}"/>
              </a:ext>
            </a:extLst>
          </p:cNvPr>
          <p:cNvSpPr/>
          <p:nvPr userDrawn="1"/>
        </p:nvSpPr>
        <p:spPr>
          <a:xfrm>
            <a:off x="0" y="0"/>
            <a:ext cx="12192000" cy="66675"/>
          </a:xfrm>
          <a:prstGeom prst="rect">
            <a:avLst/>
          </a:prstGeom>
          <a:solidFill>
            <a:srgbClr val="C43727"/>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6" name="Freeform 6">
            <a:extLst>
              <a:ext uri="{FF2B5EF4-FFF2-40B4-BE49-F238E27FC236}">
                <a16:creationId xmlns:a16="http://schemas.microsoft.com/office/drawing/2014/main" xmlns="" id="{E883F232-1368-4FC6-BC45-01FCCAE45D49}"/>
              </a:ext>
            </a:extLst>
          </p:cNvPr>
          <p:cNvSpPr>
            <a:spLocks noChangeAspect="1"/>
          </p:cNvSpPr>
          <p:nvPr userDrawn="1"/>
        </p:nvSpPr>
        <p:spPr bwMode="auto">
          <a:xfrm>
            <a:off x="0" y="190500"/>
            <a:ext cx="779463" cy="4762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7" name="Freeform 14">
            <a:extLst>
              <a:ext uri="{FF2B5EF4-FFF2-40B4-BE49-F238E27FC236}">
                <a16:creationId xmlns:a16="http://schemas.microsoft.com/office/drawing/2014/main" xmlns="" id="{8803683D-46F2-404D-B11C-BBB062F2CF95}"/>
              </a:ext>
            </a:extLst>
          </p:cNvPr>
          <p:cNvSpPr>
            <a:spLocks/>
          </p:cNvSpPr>
          <p:nvPr userDrawn="1"/>
        </p:nvSpPr>
        <p:spPr bwMode="auto">
          <a:xfrm>
            <a:off x="574675" y="190500"/>
            <a:ext cx="679450" cy="609600"/>
          </a:xfrm>
          <a:custGeom>
            <a:avLst/>
            <a:gdLst>
              <a:gd name="T0" fmla="*/ 158 w 553"/>
              <a:gd name="T1" fmla="*/ 0 h 496"/>
              <a:gd name="T2" fmla="*/ 0 w 553"/>
              <a:gd name="T3" fmla="*/ 0 h 496"/>
              <a:gd name="T4" fmla="*/ 395 w 553"/>
              <a:gd name="T5" fmla="*/ 496 h 496"/>
              <a:gd name="T6" fmla="*/ 553 w 553"/>
              <a:gd name="T7" fmla="*/ 496 h 496"/>
              <a:gd name="T8" fmla="*/ 158 w 553"/>
              <a:gd name="T9" fmla="*/ 0 h 496"/>
            </a:gdLst>
            <a:ahLst/>
            <a:cxnLst>
              <a:cxn ang="0">
                <a:pos x="T0" y="T1"/>
              </a:cxn>
              <a:cxn ang="0">
                <a:pos x="T2" y="T3"/>
              </a:cxn>
              <a:cxn ang="0">
                <a:pos x="T4" y="T5"/>
              </a:cxn>
              <a:cxn ang="0">
                <a:pos x="T6" y="T7"/>
              </a:cxn>
              <a:cxn ang="0">
                <a:pos x="T8" y="T9"/>
              </a:cxn>
            </a:cxnLst>
            <a:rect l="0" t="0" r="r" b="b"/>
            <a:pathLst>
              <a:path w="553" h="496">
                <a:moveTo>
                  <a:pt x="158" y="0"/>
                </a:moveTo>
                <a:lnTo>
                  <a:pt x="0" y="0"/>
                </a:lnTo>
                <a:lnTo>
                  <a:pt x="395" y="496"/>
                </a:lnTo>
                <a:lnTo>
                  <a:pt x="553" y="496"/>
                </a:lnTo>
                <a:lnTo>
                  <a:pt x="158" y="0"/>
                </a:lnTo>
                <a:close/>
              </a:path>
            </a:pathLst>
          </a:custGeom>
          <a:solidFill>
            <a:schemeClr val="bg1">
              <a:lumMod val="50000"/>
              <a:alpha val="40000"/>
            </a:schemeClr>
          </a:solidFill>
          <a:ln>
            <a:noFill/>
          </a:ln>
        </p:spPr>
        <p:txBody>
          <a:bodyPr/>
          <a:lstStyle/>
          <a:p>
            <a:pPr eaLnBrk="1" fontAlgn="auto" hangingPunct="1">
              <a:spcBef>
                <a:spcPts val="0"/>
              </a:spcBef>
              <a:spcAft>
                <a:spcPts val="0"/>
              </a:spcAft>
              <a:defRPr/>
            </a:pPr>
            <a:endParaRPr lang="en-IN">
              <a:latin typeface="+mn-lt"/>
              <a:cs typeface="+mn-cs"/>
            </a:endParaRPr>
          </a:p>
        </p:txBody>
      </p:sp>
      <p:sp>
        <p:nvSpPr>
          <p:cNvPr id="8" name="Freeform 6">
            <a:extLst>
              <a:ext uri="{FF2B5EF4-FFF2-40B4-BE49-F238E27FC236}">
                <a16:creationId xmlns:a16="http://schemas.microsoft.com/office/drawing/2014/main" xmlns="" id="{B8F5DFC2-DE9A-49BE-844E-73E8C62787CD}"/>
              </a:ext>
            </a:extLst>
          </p:cNvPr>
          <p:cNvSpPr>
            <a:spLocks noChangeAspect="1"/>
          </p:cNvSpPr>
          <p:nvPr userDrawn="1"/>
        </p:nvSpPr>
        <p:spPr bwMode="auto">
          <a:xfrm>
            <a:off x="11596688" y="6483350"/>
            <a:ext cx="615950" cy="374650"/>
          </a:xfrm>
          <a:custGeom>
            <a:avLst/>
            <a:gdLst>
              <a:gd name="T0" fmla="*/ 2147483646 w 708"/>
              <a:gd name="T1" fmla="*/ 0 h 432"/>
              <a:gd name="T2" fmla="*/ 0 w 708"/>
              <a:gd name="T3" fmla="*/ 0 h 432"/>
              <a:gd name="T4" fmla="*/ 0 w 708"/>
              <a:gd name="T5" fmla="*/ 2147483646 h 432"/>
              <a:gd name="T6" fmla="*/ 0 w 708"/>
              <a:gd name="T7" fmla="*/ 2147483646 h 432"/>
              <a:gd name="T8" fmla="*/ 2147483646 w 708"/>
              <a:gd name="T9" fmla="*/ 2147483646 h 432"/>
              <a:gd name="T10" fmla="*/ 2147483646 w 708"/>
              <a:gd name="T11" fmla="*/ 0 h 432"/>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708" h="432">
                <a:moveTo>
                  <a:pt x="381" y="0"/>
                </a:moveTo>
                <a:lnTo>
                  <a:pt x="0" y="0"/>
                </a:lnTo>
                <a:lnTo>
                  <a:pt x="0" y="379"/>
                </a:lnTo>
                <a:lnTo>
                  <a:pt x="0" y="432"/>
                </a:lnTo>
                <a:lnTo>
                  <a:pt x="708" y="432"/>
                </a:lnTo>
                <a:lnTo>
                  <a:pt x="381" y="0"/>
                </a:lnTo>
                <a:close/>
              </a:path>
            </a:pathLst>
          </a:custGeom>
          <a:solidFill>
            <a:srgbClr val="F18B1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IN"/>
          </a:p>
        </p:txBody>
      </p:sp>
      <p:sp>
        <p:nvSpPr>
          <p:cNvPr id="9" name="Slide Number Placeholder 5">
            <a:extLst>
              <a:ext uri="{FF2B5EF4-FFF2-40B4-BE49-F238E27FC236}">
                <a16:creationId xmlns:a16="http://schemas.microsoft.com/office/drawing/2014/main" xmlns="" id="{6FA34E22-890B-460F-AB30-33E356C74B97}"/>
              </a:ext>
            </a:extLst>
          </p:cNvPr>
          <p:cNvSpPr txBox="1">
            <a:spLocks/>
          </p:cNvSpPr>
          <p:nvPr userDrawn="1"/>
        </p:nvSpPr>
        <p:spPr>
          <a:xfrm>
            <a:off x="11622088" y="6530975"/>
            <a:ext cx="406400" cy="365125"/>
          </a:xfrm>
          <a:prstGeom prst="rect">
            <a:avLst/>
          </a:prstGeom>
        </p:spPr>
        <p:txBody>
          <a:bodyPr/>
          <a:lstStyle>
            <a:lvl1pPr defTabSz="912813">
              <a:defRPr>
                <a:solidFill>
                  <a:schemeClr val="tx1"/>
                </a:solidFill>
                <a:latin typeface="Calibri" panose="020F0502020204030204" pitchFamily="34" charset="0"/>
              </a:defRPr>
            </a:lvl1pPr>
            <a:lvl2pPr marL="742950" indent="-285750" defTabSz="912813">
              <a:defRPr>
                <a:solidFill>
                  <a:schemeClr val="tx1"/>
                </a:solidFill>
                <a:latin typeface="Calibri" panose="020F0502020204030204" pitchFamily="34" charset="0"/>
              </a:defRPr>
            </a:lvl2pPr>
            <a:lvl3pPr marL="1143000" indent="-228600" defTabSz="912813">
              <a:defRPr>
                <a:solidFill>
                  <a:schemeClr val="tx1"/>
                </a:solidFill>
                <a:latin typeface="Calibri" panose="020F0502020204030204" pitchFamily="34" charset="0"/>
              </a:defRPr>
            </a:lvl3pPr>
            <a:lvl4pPr marL="1600200" indent="-228600" defTabSz="912813">
              <a:defRPr>
                <a:solidFill>
                  <a:schemeClr val="tx1"/>
                </a:solidFill>
                <a:latin typeface="Calibri" panose="020F0502020204030204" pitchFamily="34" charset="0"/>
              </a:defRPr>
            </a:lvl4pPr>
            <a:lvl5pPr marL="2057400" indent="-228600" defTabSz="912813">
              <a:defRPr>
                <a:solidFill>
                  <a:schemeClr val="tx1"/>
                </a:solidFill>
                <a:latin typeface="Calibri" panose="020F0502020204030204" pitchFamily="34" charset="0"/>
              </a:defRPr>
            </a:lvl5pPr>
            <a:lvl6pPr marL="2514600" indent="-228600" defTabSz="912813" fontAlgn="base">
              <a:spcBef>
                <a:spcPct val="0"/>
              </a:spcBef>
              <a:spcAft>
                <a:spcPct val="0"/>
              </a:spcAft>
              <a:defRPr>
                <a:solidFill>
                  <a:schemeClr val="tx1"/>
                </a:solidFill>
                <a:latin typeface="Calibri" panose="020F0502020204030204" pitchFamily="34" charset="0"/>
              </a:defRPr>
            </a:lvl6pPr>
            <a:lvl7pPr marL="2971800" indent="-228600" defTabSz="912813" fontAlgn="base">
              <a:spcBef>
                <a:spcPct val="0"/>
              </a:spcBef>
              <a:spcAft>
                <a:spcPct val="0"/>
              </a:spcAft>
              <a:defRPr>
                <a:solidFill>
                  <a:schemeClr val="tx1"/>
                </a:solidFill>
                <a:latin typeface="Calibri" panose="020F0502020204030204" pitchFamily="34" charset="0"/>
              </a:defRPr>
            </a:lvl7pPr>
            <a:lvl8pPr marL="3429000" indent="-228600" defTabSz="912813" fontAlgn="base">
              <a:spcBef>
                <a:spcPct val="0"/>
              </a:spcBef>
              <a:spcAft>
                <a:spcPct val="0"/>
              </a:spcAft>
              <a:defRPr>
                <a:solidFill>
                  <a:schemeClr val="tx1"/>
                </a:solidFill>
                <a:latin typeface="Calibri" panose="020F0502020204030204" pitchFamily="34" charset="0"/>
              </a:defRPr>
            </a:lvl8pPr>
            <a:lvl9pPr marL="3886200" indent="-228600" defTabSz="912813" fontAlgn="base">
              <a:spcBef>
                <a:spcPct val="0"/>
              </a:spcBef>
              <a:spcAft>
                <a:spcPct val="0"/>
              </a:spcAft>
              <a:defRPr>
                <a:solidFill>
                  <a:schemeClr val="tx1"/>
                </a:solidFill>
                <a:latin typeface="Calibri" panose="020F0502020204030204" pitchFamily="34" charset="0"/>
              </a:defRPr>
            </a:lvl9pPr>
          </a:lstStyle>
          <a:p>
            <a:pPr algn="ctr" eaLnBrk="1" hangingPunct="1">
              <a:defRPr/>
            </a:pPr>
            <a:fld id="{54803C81-6DA8-434F-BD45-E00C6704904E}" type="slidenum">
              <a:rPr lang="en-US" altLang="en-US" sz="1300" smtClean="0">
                <a:solidFill>
                  <a:schemeClr val="bg1"/>
                </a:solidFill>
              </a:rPr>
              <a:pPr algn="ctr" eaLnBrk="1" hangingPunct="1">
                <a:defRPr/>
              </a:pPr>
              <a:t>‹#›</a:t>
            </a:fld>
            <a:endParaRPr lang="en-US" altLang="en-US" sz="1300">
              <a:solidFill>
                <a:schemeClr val="bg1"/>
              </a:solidFill>
            </a:endParaRPr>
          </a:p>
        </p:txBody>
      </p:sp>
      <p:sp>
        <p:nvSpPr>
          <p:cNvPr id="10" name="Rectangle 15">
            <a:extLst>
              <a:ext uri="{FF2B5EF4-FFF2-40B4-BE49-F238E27FC236}">
                <a16:creationId xmlns:a16="http://schemas.microsoft.com/office/drawing/2014/main" xmlns="" id="{8A26C2A8-454C-4E7C-885D-09685D66258E}"/>
              </a:ext>
            </a:extLst>
          </p:cNvPr>
          <p:cNvSpPr>
            <a:spLocks noChangeArrowheads="1"/>
          </p:cNvSpPr>
          <p:nvPr userDrawn="1"/>
        </p:nvSpPr>
        <p:spPr bwMode="auto">
          <a:xfrm>
            <a:off x="2484438" y="6581775"/>
            <a:ext cx="8932862" cy="276225"/>
          </a:xfrm>
          <a:prstGeom prst="rect">
            <a:avLst/>
          </a:prstGeom>
          <a:noFill/>
          <a:ln>
            <a:noFill/>
          </a:ln>
        </p:spPr>
        <p:txBody>
          <a:bodyPr anchor="ctr">
            <a:spAutoFit/>
          </a:bodyPr>
          <a:lstStyle>
            <a:lvl1pPr>
              <a:defRPr>
                <a:solidFill>
                  <a:schemeClr val="tx1"/>
                </a:solidFill>
                <a:latin typeface="Calibri" panose="020F0502020204030204" pitchFamily="34" charset="0"/>
              </a:defRPr>
            </a:lvl1pPr>
            <a:lvl2pPr marL="742950" indent="-285750">
              <a:defRPr>
                <a:solidFill>
                  <a:schemeClr val="tx1"/>
                </a:solidFill>
                <a:latin typeface="Calibri" panose="020F0502020204030204" pitchFamily="34" charset="0"/>
              </a:defRPr>
            </a:lvl2pPr>
            <a:lvl3pPr marL="1143000" indent="-228600">
              <a:defRPr>
                <a:solidFill>
                  <a:schemeClr val="tx1"/>
                </a:solidFill>
                <a:latin typeface="Calibri" panose="020F0502020204030204" pitchFamily="34" charset="0"/>
              </a:defRPr>
            </a:lvl3pPr>
            <a:lvl4pPr marL="1600200" indent="-228600">
              <a:defRPr>
                <a:solidFill>
                  <a:schemeClr val="tx1"/>
                </a:solidFill>
                <a:latin typeface="Calibri" panose="020F0502020204030204" pitchFamily="34" charset="0"/>
              </a:defRPr>
            </a:lvl4pPr>
            <a:lvl5pPr marL="2057400" indent="-228600">
              <a:defRPr>
                <a:solidFill>
                  <a:schemeClr val="tx1"/>
                </a:solidFill>
                <a:latin typeface="Calibri" panose="020F0502020204030204" pitchFamily="34" charset="0"/>
              </a:defRPr>
            </a:lvl5pPr>
            <a:lvl6pPr marL="2514600" indent="-228600" fontAlgn="base">
              <a:spcBef>
                <a:spcPct val="0"/>
              </a:spcBef>
              <a:spcAft>
                <a:spcPct val="0"/>
              </a:spcAft>
              <a:defRPr>
                <a:solidFill>
                  <a:schemeClr val="tx1"/>
                </a:solidFill>
                <a:latin typeface="Calibri" panose="020F0502020204030204" pitchFamily="34" charset="0"/>
              </a:defRPr>
            </a:lvl6pPr>
            <a:lvl7pPr marL="2971800" indent="-228600" fontAlgn="base">
              <a:spcBef>
                <a:spcPct val="0"/>
              </a:spcBef>
              <a:spcAft>
                <a:spcPct val="0"/>
              </a:spcAft>
              <a:defRPr>
                <a:solidFill>
                  <a:schemeClr val="tx1"/>
                </a:solidFill>
                <a:latin typeface="Calibri" panose="020F0502020204030204" pitchFamily="34" charset="0"/>
              </a:defRPr>
            </a:lvl7pPr>
            <a:lvl8pPr marL="3429000" indent="-228600" fontAlgn="base">
              <a:spcBef>
                <a:spcPct val="0"/>
              </a:spcBef>
              <a:spcAft>
                <a:spcPct val="0"/>
              </a:spcAft>
              <a:defRPr>
                <a:solidFill>
                  <a:schemeClr val="tx1"/>
                </a:solidFill>
                <a:latin typeface="Calibri" panose="020F0502020204030204" pitchFamily="34" charset="0"/>
              </a:defRPr>
            </a:lvl8pPr>
            <a:lvl9pPr marL="3886200" indent="-228600" fontAlgn="base">
              <a:spcBef>
                <a:spcPct val="0"/>
              </a:spcBef>
              <a:spcAft>
                <a:spcPct val="0"/>
              </a:spcAft>
              <a:defRPr>
                <a:solidFill>
                  <a:schemeClr val="tx1"/>
                </a:solidFill>
                <a:latin typeface="Calibri" panose="020F0502020204030204" pitchFamily="34" charset="0"/>
              </a:defRPr>
            </a:lvl9pPr>
          </a:lstStyle>
          <a:p>
            <a:pPr algn="ctr">
              <a:defRPr/>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1" name="Picture 1">
            <a:extLst>
              <a:ext uri="{FF2B5EF4-FFF2-40B4-BE49-F238E27FC236}">
                <a16:creationId xmlns:a16="http://schemas.microsoft.com/office/drawing/2014/main" xmlns="" id="{EE8E11B9-E81A-46CF-86DE-9568BF627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Title 1"/>
          <p:cNvSpPr>
            <a:spLocks noGrp="1"/>
          </p:cNvSpPr>
          <p:nvPr>
            <p:ph type="title"/>
          </p:nvPr>
        </p:nvSpPr>
        <p:spPr>
          <a:xfrm>
            <a:off x="838200" y="365125"/>
            <a:ext cx="10515600" cy="1325563"/>
          </a:xfrm>
        </p:spPr>
        <p:txBody>
          <a:bodyPr/>
          <a:lstStyle/>
          <a:p>
            <a:r>
              <a:rPr lang="en-US"/>
              <a:t>Click to edit Master title style</a:t>
            </a:r>
          </a:p>
        </p:txBody>
      </p:sp>
      <p:sp>
        <p:nvSpPr>
          <p:cNvPr id="13" name="Content Placeholder 2"/>
          <p:cNvSpPr>
            <a:spLocks noGrp="1"/>
          </p:cNvSpPr>
          <p:nvPr>
            <p:ph idx="1"/>
          </p:nvPr>
        </p:nvSpPr>
        <p:spPr>
          <a:xfrm>
            <a:off x="838200" y="1825625"/>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945880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xmlns="" id="{59D7BF85-45A8-4739-85C0-F4D0CDEA3538}"/>
              </a:ext>
            </a:extLst>
          </p:cNvPr>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xmlns="" id="{C47EC5F1-5FB1-43CC-922B-3458ED039A75}"/>
              </a:ext>
            </a:extLst>
          </p:cNvPr>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xmlns="" id="{003CD19F-28C6-44AF-BE4A-E7E6331593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EB260AA7-3C8F-40A4-B9C3-451FDCDD0459}" type="datetimeFigureOut">
              <a:rPr lang="en-US"/>
              <a:pPr>
                <a:defRPr/>
              </a:pPr>
              <a:t>3/7/2025</a:t>
            </a:fld>
            <a:endParaRPr lang="en-US"/>
          </a:p>
        </p:txBody>
      </p:sp>
      <p:sp>
        <p:nvSpPr>
          <p:cNvPr id="5" name="Footer Placeholder 4">
            <a:extLst>
              <a:ext uri="{FF2B5EF4-FFF2-40B4-BE49-F238E27FC236}">
                <a16:creationId xmlns:a16="http://schemas.microsoft.com/office/drawing/2014/main" xmlns="" id="{6AA80EDF-6B3C-44BA-8D78-16187BABDD1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xmlns="" id="{EFA79FCC-7BBA-4E6F-BBBA-10C427ECA939}"/>
              </a:ext>
            </a:extLst>
          </p:cNvPr>
          <p:cNvSpPr>
            <a:spLocks noGrp="1"/>
          </p:cNvSpPr>
          <p:nvPr>
            <p:ph type="sldNum" sz="quarter" idx="4"/>
          </p:nvPr>
        </p:nvSpPr>
        <p:spPr>
          <a:xfrm>
            <a:off x="8610600" y="6356350"/>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latin typeface="Calibri" panose="020F0502020204030204" pitchFamily="34" charset="0"/>
              </a:defRPr>
            </a:lvl1pPr>
          </a:lstStyle>
          <a:p>
            <a:pPr>
              <a:defRPr/>
            </a:pPr>
            <a:fld id="{EF8D530A-E926-425C-81D5-F626618C799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4169" r:id="rId1"/>
    <p:sldLayoutId id="2147484170" r:id="rId2"/>
    <p:sldLayoutId id="2147484171" r:id="rId3"/>
    <p:sldLayoutId id="2147484172" r:id="rId4"/>
    <p:sldLayoutId id="2147484173" r:id="rId5"/>
    <p:sldLayoutId id="2147484174" r:id="rId6"/>
    <p:sldLayoutId id="2147484175" r:id="rId7"/>
    <p:sldLayoutId id="2147484176" r:id="rId8"/>
    <p:sldLayoutId id="2147484177" r:id="rId9"/>
    <p:sldLayoutId id="2147484178" r:id="rId10"/>
    <p:sldLayoutId id="2147484179" r:id="rId11"/>
    <p:sldLayoutId id="2147484180" r:id="rId12"/>
    <p:sldLayoutId id="2147484181" r:id="rId13"/>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itchFamily="34" charset="0"/>
        </a:defRPr>
      </a:lvl2pPr>
      <a:lvl3pPr algn="l" rtl="0" eaLnBrk="0" fontAlgn="base" hangingPunct="0">
        <a:lnSpc>
          <a:spcPct val="90000"/>
        </a:lnSpc>
        <a:spcBef>
          <a:spcPct val="0"/>
        </a:spcBef>
        <a:spcAft>
          <a:spcPct val="0"/>
        </a:spcAft>
        <a:defRPr sz="4400">
          <a:solidFill>
            <a:schemeClr val="tx1"/>
          </a:solidFill>
          <a:latin typeface="Calibri Light" pitchFamily="34" charset="0"/>
        </a:defRPr>
      </a:lvl3pPr>
      <a:lvl4pPr algn="l" rtl="0" eaLnBrk="0" fontAlgn="base" hangingPunct="0">
        <a:lnSpc>
          <a:spcPct val="90000"/>
        </a:lnSpc>
        <a:spcBef>
          <a:spcPct val="0"/>
        </a:spcBef>
        <a:spcAft>
          <a:spcPct val="0"/>
        </a:spcAft>
        <a:defRPr sz="4400">
          <a:solidFill>
            <a:schemeClr val="tx1"/>
          </a:solidFill>
          <a:latin typeface="Calibri Light" pitchFamily="34" charset="0"/>
        </a:defRPr>
      </a:lvl4pPr>
      <a:lvl5pPr algn="l" rtl="0" eaLnBrk="0" fontAlgn="base" hangingPunct="0">
        <a:lnSpc>
          <a:spcPct val="90000"/>
        </a:lnSpc>
        <a:spcBef>
          <a:spcPct val="0"/>
        </a:spcBef>
        <a:spcAft>
          <a:spcPct val="0"/>
        </a:spcAft>
        <a:defRPr sz="4400">
          <a:solidFill>
            <a:schemeClr val="tx1"/>
          </a:solidFill>
          <a:latin typeface="Calibri Light" pitchFamily="34" charset="0"/>
        </a:defRPr>
      </a:lvl5pPr>
      <a:lvl6pPr marL="457200" algn="l" rtl="0" fontAlgn="base">
        <a:lnSpc>
          <a:spcPct val="90000"/>
        </a:lnSpc>
        <a:spcBef>
          <a:spcPct val="0"/>
        </a:spcBef>
        <a:spcAft>
          <a:spcPct val="0"/>
        </a:spcAft>
        <a:defRPr sz="4400">
          <a:solidFill>
            <a:schemeClr val="tx1"/>
          </a:solidFill>
          <a:latin typeface="Calibri Light" pitchFamily="34" charset="0"/>
        </a:defRPr>
      </a:lvl6pPr>
      <a:lvl7pPr marL="914400" algn="l" rtl="0" fontAlgn="base">
        <a:lnSpc>
          <a:spcPct val="90000"/>
        </a:lnSpc>
        <a:spcBef>
          <a:spcPct val="0"/>
        </a:spcBef>
        <a:spcAft>
          <a:spcPct val="0"/>
        </a:spcAft>
        <a:defRPr sz="4400">
          <a:solidFill>
            <a:schemeClr val="tx1"/>
          </a:solidFill>
          <a:latin typeface="Calibri Light" pitchFamily="34" charset="0"/>
        </a:defRPr>
      </a:lvl7pPr>
      <a:lvl8pPr marL="1371600" algn="l" rtl="0" fontAlgn="base">
        <a:lnSpc>
          <a:spcPct val="90000"/>
        </a:lnSpc>
        <a:spcBef>
          <a:spcPct val="0"/>
        </a:spcBef>
        <a:spcAft>
          <a:spcPct val="0"/>
        </a:spcAft>
        <a:defRPr sz="4400">
          <a:solidFill>
            <a:schemeClr val="tx1"/>
          </a:solidFill>
          <a:latin typeface="Calibri Light" pitchFamily="34" charset="0"/>
        </a:defRPr>
      </a:lvl8pPr>
      <a:lvl9pPr marL="1828800" algn="l" rtl="0" fontAlgn="base">
        <a:lnSpc>
          <a:spcPct val="90000"/>
        </a:lnSpc>
        <a:spcBef>
          <a:spcPct val="0"/>
        </a:spcBef>
        <a:spcAft>
          <a:spcPct val="0"/>
        </a:spcAft>
        <a:defRPr sz="4400">
          <a:solidFill>
            <a:schemeClr val="tx1"/>
          </a:solidFill>
          <a:latin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hyperlink" Target="https://www.csub.edu/~ychoi2/MIS%20300/300Lecture/4LTR_MIS6_Ch03.ppt" TargetMode="External"/><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hyperlink" Target="https://www.slideshare.net/ravi_LCET/relational-database-management-system-rdbms-i" TargetMode="External"/><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10.jpeg"/></Relationships>
</file>

<file path=ppt/slides/_rels/slide24.xml.rels><?xml version="1.0" encoding="UTF-8" standalone="yes"?>
<Relationships xmlns="http://schemas.openxmlformats.org/package/2006/relationships"><Relationship Id="rId3" Type="http://schemas.openxmlformats.org/officeDocument/2006/relationships/hyperlink" Target="https://www.slideshare.net/ravi_LCET/relational-database-management-system-rdbms-i" TargetMode="External"/><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1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13.jpeg"/></Relationships>
</file>

<file path=ppt/slides/_rels/slide2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3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5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hyperlink" Target="https://www.slideshare.net/shubhamdwivedi3939/dbms-architecture" TargetMode="External"/><Relationship Id="rId7"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 Id="rId9" Type="http://schemas.openxmlformats.org/officeDocument/2006/relationships/image" Target="../media/image22.png"/></Relationships>
</file>

<file path=ppt/slides/_rels/slide5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1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13.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1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13.xml"/></Relationships>
</file>

<file path=ppt/slides/_rels/slide135.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9.jpg"/><Relationship Id="rId1" Type="http://schemas.openxmlformats.org/officeDocument/2006/relationships/slideLayout" Target="../slideLayouts/slideLayout13.xml"/></Relationships>
</file>

<file path=ppt/slides/_rels/slide136.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37.jpg"/><Relationship Id="rId1" Type="http://schemas.openxmlformats.org/officeDocument/2006/relationships/slideLayout" Target="../slideLayouts/slideLayout13.xml"/></Relationships>
</file>

<file path=ppt/slides/_rels/slide137.xml.rels><?xml version="1.0" encoding="UTF-8" standalone="yes"?>
<Relationships xmlns="http://schemas.openxmlformats.org/package/2006/relationships"><Relationship Id="rId3" Type="http://schemas.openxmlformats.org/officeDocument/2006/relationships/image" Target="../media/image39.jpg"/><Relationship Id="rId2" Type="http://schemas.openxmlformats.org/officeDocument/2006/relationships/image" Target="../media/image37.jpg"/><Relationship Id="rId1" Type="http://schemas.openxmlformats.org/officeDocument/2006/relationships/slideLayout" Target="../slideLayouts/slideLayout13.xml"/></Relationships>
</file>

<file path=ppt/slides/_rels/slide138.xml.rels><?xml version="1.0" encoding="UTF-8" standalone="yes"?>
<Relationships xmlns="http://schemas.openxmlformats.org/package/2006/relationships"><Relationship Id="rId2" Type="http://schemas.openxmlformats.org/officeDocument/2006/relationships/image" Target="../media/image38.jpg"/><Relationship Id="rId1" Type="http://schemas.openxmlformats.org/officeDocument/2006/relationships/slideLayout" Target="../slideLayouts/slideLayout13.xml"/></Relationships>
</file>

<file path=ppt/slides/_rels/slide139.xml.rels><?xml version="1.0" encoding="UTF-8" standalone="yes"?>
<Relationships xmlns="http://schemas.openxmlformats.org/package/2006/relationships"><Relationship Id="rId3" Type="http://schemas.openxmlformats.org/officeDocument/2006/relationships/image" Target="../media/image38.jpg"/><Relationship Id="rId2" Type="http://schemas.openxmlformats.org/officeDocument/2006/relationships/image" Target="../media/image40.jpg"/><Relationship Id="rId1" Type="http://schemas.openxmlformats.org/officeDocument/2006/relationships/slideLayout" Target="../slideLayouts/slideLayout13.xml"/></Relationships>
</file>

<file path=ppt/slides/_rels/slide14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3" Type="http://schemas.openxmlformats.org/officeDocument/2006/relationships/hyperlink" Target="http://www.infocobuild.com/education/audio-video-courses/computer-science/DatabaseManagementSystem-IIT-Kharagpur/lecture-14.html" TargetMode="External"/><Relationship Id="rId7" Type="http://schemas.openxmlformats.org/officeDocument/2006/relationships/hyperlink" Target="https://www.lucidchart.com/pages/templates/er-diagram" TargetMode="External"/><Relationship Id="rId2" Type="http://schemas.openxmlformats.org/officeDocument/2006/relationships/image" Target="../media/image2.png"/><Relationship Id="rId1" Type="http://schemas.openxmlformats.org/officeDocument/2006/relationships/slideLayout" Target="../slideLayouts/slideLayout12.xml"/><Relationship Id="rId6" Type="http://schemas.openxmlformats.org/officeDocument/2006/relationships/hyperlink" Target="http://www.rebellionrider.com/category/pl-sql/" TargetMode="External"/><Relationship Id="rId5" Type="http://schemas.openxmlformats.org/officeDocument/2006/relationships/hyperlink" Target="http://vlabs.iitkgp.ernet.in/se/4/simulation/" TargetMode="External"/><Relationship Id="rId4" Type="http://schemas.openxmlformats.org/officeDocument/2006/relationships/hyperlink" Target="https://dsf.berkeley.edu/papers/fntdb07-architecture.pdf" TargetMode="External"/></Relationships>
</file>

<file path=ppt/slides/_rels/slide15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15">
            <a:extLst>
              <a:ext uri="{FF2B5EF4-FFF2-40B4-BE49-F238E27FC236}">
                <a16:creationId xmlns:a16="http://schemas.microsoft.com/office/drawing/2014/main" xmlns="" id="{9DFB90C1-AE91-427C-8A28-0F125F9E86D3}"/>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4099" name="Picture 1">
            <a:extLst>
              <a:ext uri="{FF2B5EF4-FFF2-40B4-BE49-F238E27FC236}">
                <a16:creationId xmlns:a16="http://schemas.microsoft.com/office/drawing/2014/main" xmlns="" id="{F5739CA7-C40B-4108-8B7A-1612439A0A4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 name="Title 3">
            <a:extLst>
              <a:ext uri="{FF2B5EF4-FFF2-40B4-BE49-F238E27FC236}">
                <a16:creationId xmlns:a16="http://schemas.microsoft.com/office/drawing/2014/main" xmlns="" id="{20E2DDDF-0BBF-4576-870C-AEEA5445873C}"/>
              </a:ext>
            </a:extLst>
          </p:cNvPr>
          <p:cNvSpPr txBox="1">
            <a:spLocks/>
          </p:cNvSpPr>
          <p:nvPr/>
        </p:nvSpPr>
        <p:spPr>
          <a:xfrm>
            <a:off x="463550" y="852488"/>
            <a:ext cx="11353800" cy="4862512"/>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defRPr/>
            </a:pPr>
            <a:endParaRPr lang="en-US" sz="5400" b="1" cap="all" dirty="0">
              <a:ln w="9000" cmpd="sng">
                <a:solidFill>
                  <a:schemeClr val="accent4">
                    <a:shade val="50000"/>
                    <a:satMod val="120000"/>
                  </a:schemeClr>
                </a:solidFill>
                <a:prstDash val="solid"/>
              </a:ln>
              <a:gradFill>
                <a:gsLst>
                  <a:gs pos="0">
                    <a:schemeClr val="accent4">
                      <a:shade val="20000"/>
                      <a:satMod val="245000"/>
                    </a:schemeClr>
                  </a:gs>
                  <a:gs pos="43000">
                    <a:schemeClr val="accent4">
                      <a:satMod val="255000"/>
                    </a:schemeClr>
                  </a:gs>
                  <a:gs pos="48000">
                    <a:schemeClr val="accent4">
                      <a:shade val="85000"/>
                      <a:satMod val="255000"/>
                    </a:schemeClr>
                  </a:gs>
                  <a:gs pos="100000">
                    <a:schemeClr val="accent4">
                      <a:shade val="20000"/>
                      <a:satMod val="245000"/>
                    </a:schemeClr>
                  </a:gs>
                </a:gsLst>
                <a:lin ang="5400000"/>
              </a:gradFill>
              <a:effectLst>
                <a:reflection blurRad="12700" stA="28000" endPos="45000" dist="1000" dir="5400000" sy="-100000" algn="bl" rotWithShape="0"/>
              </a:effectLst>
            </a:endParaRPr>
          </a:p>
        </p:txBody>
      </p:sp>
      <p:sp>
        <p:nvSpPr>
          <p:cNvPr id="4101" name="Rectangle 1">
            <a:extLst>
              <a:ext uri="{FF2B5EF4-FFF2-40B4-BE49-F238E27FC236}">
                <a16:creationId xmlns:a16="http://schemas.microsoft.com/office/drawing/2014/main" xmlns="" id="{CE10A55D-A554-46A6-A0CD-55637E04B9B8}"/>
              </a:ext>
            </a:extLst>
          </p:cNvPr>
          <p:cNvSpPr>
            <a:spLocks noChangeArrowheads="1"/>
          </p:cNvSpPr>
          <p:nvPr/>
        </p:nvSpPr>
        <p:spPr bwMode="auto">
          <a:xfrm>
            <a:off x="2484438" y="1274737"/>
            <a:ext cx="6554787" cy="34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sz="2400" b="1" dirty="0">
                <a:latin typeface="Times New Roman" panose="02020603050405020304" pitchFamily="18" charset="0"/>
                <a:cs typeface="Times New Roman" panose="02020603050405020304" pitchFamily="18" charset="0"/>
              </a:rPr>
              <a:t>Subject Name:   Database Management Systems</a:t>
            </a:r>
          </a:p>
          <a:p>
            <a:pPr eaLnBrk="1" hangingPunct="1">
              <a:lnSpc>
                <a:spcPct val="100000"/>
              </a:lnSpc>
              <a:spcBef>
                <a:spcPct val="0"/>
              </a:spcBef>
              <a:buFontTx/>
              <a:buNone/>
            </a:pPr>
            <a:endParaRPr lang="en-US" altLang="en-US" sz="2400" b="1"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r>
              <a:rPr lang="en-US" altLang="en-US" sz="2400" b="1" dirty="0">
                <a:latin typeface="Times New Roman" panose="02020603050405020304" pitchFamily="18" charset="0"/>
                <a:cs typeface="Times New Roman" panose="02020603050405020304" pitchFamily="18" charset="0"/>
              </a:rPr>
              <a:t>Subject Code: </a:t>
            </a:r>
            <a:r>
              <a:rPr lang="en-US" sz="2400" b="1" dirty="0"/>
              <a:t>MVJ22CS43</a:t>
            </a:r>
            <a:endParaRPr lang="en-US" altLang="en-US" sz="2400" b="1"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endParaRPr lang="en-US" altLang="en-US" sz="2400" b="1"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r>
              <a:rPr lang="en-US" altLang="en-US" sz="2400" b="1" dirty="0">
                <a:latin typeface="Times New Roman" panose="02020603050405020304" pitchFamily="18" charset="0"/>
                <a:cs typeface="Times New Roman" panose="02020603050405020304" pitchFamily="18" charset="0"/>
              </a:rPr>
              <a:t>Department: CSE</a:t>
            </a:r>
          </a:p>
          <a:p>
            <a:pPr eaLnBrk="1" hangingPunct="1">
              <a:lnSpc>
                <a:spcPct val="100000"/>
              </a:lnSpc>
              <a:spcBef>
                <a:spcPct val="0"/>
              </a:spcBef>
              <a:buFontTx/>
              <a:buNone/>
            </a:pPr>
            <a:endParaRPr lang="en-US" altLang="en-US" sz="2400" b="1"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r>
              <a:rPr lang="en-US" altLang="en-US" sz="2400" b="1" dirty="0">
                <a:latin typeface="Times New Roman" panose="02020603050405020304" pitchFamily="18" charset="0"/>
                <a:cs typeface="Times New Roman" panose="02020603050405020304" pitchFamily="18" charset="0"/>
              </a:rPr>
              <a:t>Module Number: I</a:t>
            </a:r>
          </a:p>
          <a:p>
            <a:pPr eaLnBrk="1" hangingPunct="1">
              <a:lnSpc>
                <a:spcPct val="100000"/>
              </a:lnSpc>
              <a:spcBef>
                <a:spcPct val="0"/>
              </a:spcBef>
              <a:buFontTx/>
              <a:buNone/>
            </a:pPr>
            <a:endParaRPr lang="en-US" altLang="en-US" sz="2400" dirty="0">
              <a:latin typeface="Times New Roman" panose="02020603050405020304" pitchFamily="18" charset="0"/>
              <a:cs typeface="Times New Roman" panose="02020603050405020304" pitchFamily="18" charset="0"/>
            </a:endParaRPr>
          </a:p>
          <a:p>
            <a:pPr eaLnBrk="1" hangingPunct="1">
              <a:lnSpc>
                <a:spcPct val="100000"/>
              </a:lnSpc>
              <a:spcBef>
                <a:spcPct val="0"/>
              </a:spcBef>
              <a:buFontTx/>
              <a:buNone/>
            </a:pPr>
            <a:r>
              <a:rPr lang="en-US" altLang="en-US" sz="2400" dirty="0">
                <a:latin typeface="Times New Roman" panose="02020603050405020304" pitchFamily="18" charset="0"/>
                <a:cs typeface="Times New Roman" panose="02020603050405020304" pitchFamily="18" charset="0"/>
              </a:rPr>
              <a:t>			</a:t>
            </a:r>
          </a:p>
        </p:txBody>
      </p:sp>
    </p:spTree>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15">
            <a:extLst>
              <a:ext uri="{FF2B5EF4-FFF2-40B4-BE49-F238E27FC236}">
                <a16:creationId xmlns:a16="http://schemas.microsoft.com/office/drawing/2014/main" xmlns="" id="{7446FCBF-666A-41F5-BB64-0A0300081A76}"/>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5123" name="Picture 1">
            <a:extLst>
              <a:ext uri="{FF2B5EF4-FFF2-40B4-BE49-F238E27FC236}">
                <a16:creationId xmlns:a16="http://schemas.microsoft.com/office/drawing/2014/main" xmlns="" id="{18478300-7749-4457-9646-12847E43A1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4" name="Title 3">
            <a:extLst>
              <a:ext uri="{FF2B5EF4-FFF2-40B4-BE49-F238E27FC236}">
                <a16:creationId xmlns:a16="http://schemas.microsoft.com/office/drawing/2014/main" xmlns="" id="{76CCFBBC-9713-409E-A950-169CB28CC976}"/>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5125" name="TextBox 5">
            <a:extLst>
              <a:ext uri="{FF2B5EF4-FFF2-40B4-BE49-F238E27FC236}">
                <a16:creationId xmlns:a16="http://schemas.microsoft.com/office/drawing/2014/main" xmlns="" id="{856B6E43-84AB-4D67-A15C-691966880C8B}"/>
              </a:ext>
            </a:extLst>
          </p:cNvPr>
          <p:cNvSpPr txBox="1">
            <a:spLocks noChangeArrowheads="1"/>
          </p:cNvSpPr>
          <p:nvPr/>
        </p:nvSpPr>
        <p:spPr bwMode="auto">
          <a:xfrm>
            <a:off x="2209800" y="1447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800">
              <a:latin typeface="Arial" panose="020B0604020202020204" pitchFamily="34" charset="0"/>
            </a:endParaRPr>
          </a:p>
        </p:txBody>
      </p:sp>
      <p:sp>
        <p:nvSpPr>
          <p:cNvPr id="5126" name="Rectangle 3">
            <a:extLst>
              <a:ext uri="{FF2B5EF4-FFF2-40B4-BE49-F238E27FC236}">
                <a16:creationId xmlns:a16="http://schemas.microsoft.com/office/drawing/2014/main" xmlns="" id="{CFBFEB5C-CF18-4A05-B0DA-F94F687A5EF8}"/>
              </a:ext>
            </a:extLst>
          </p:cNvPr>
          <p:cNvSpPr txBox="1">
            <a:spLocks noChangeArrowheads="1"/>
          </p:cNvSpPr>
          <p:nvPr/>
        </p:nvSpPr>
        <p:spPr bwMode="auto">
          <a:xfrm>
            <a:off x="854075" y="164147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pPr>
            <a:endParaRPr lang="en-US" altLang="en-US" sz="3200"/>
          </a:p>
        </p:txBody>
      </p:sp>
      <p:sp>
        <p:nvSpPr>
          <p:cNvPr id="5127" name="Rectangle 2">
            <a:extLst>
              <a:ext uri="{FF2B5EF4-FFF2-40B4-BE49-F238E27FC236}">
                <a16:creationId xmlns:a16="http://schemas.microsoft.com/office/drawing/2014/main" xmlns="" id="{147BADF3-3147-43C3-BD97-87B792E9145D}"/>
              </a:ext>
            </a:extLst>
          </p:cNvPr>
          <p:cNvSpPr txBox="1">
            <a:spLocks noChangeArrowheads="1"/>
          </p:cNvSpPr>
          <p:nvPr/>
        </p:nvSpPr>
        <p:spPr bwMode="auto">
          <a:xfrm>
            <a:off x="1022350" y="838200"/>
            <a:ext cx="76644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
        <p:nvSpPr>
          <p:cNvPr id="5128" name="Rectangle 3">
            <a:extLst>
              <a:ext uri="{FF2B5EF4-FFF2-40B4-BE49-F238E27FC236}">
                <a16:creationId xmlns:a16="http://schemas.microsoft.com/office/drawing/2014/main" xmlns="" id="{74225DB2-9667-45AC-96F8-33D1B924EDEB}"/>
              </a:ext>
            </a:extLst>
          </p:cNvPr>
          <p:cNvSpPr txBox="1">
            <a:spLocks noChangeArrowheads="1"/>
          </p:cNvSpPr>
          <p:nvPr/>
        </p:nvSpPr>
        <p:spPr bwMode="auto">
          <a:xfrm>
            <a:off x="806450" y="1793875"/>
            <a:ext cx="9879013"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FontTx/>
              <a:buNone/>
            </a:pPr>
            <a:endParaRPr lang="en-US" altLang="en-US" sz="3200"/>
          </a:p>
        </p:txBody>
      </p:sp>
      <p:sp>
        <p:nvSpPr>
          <p:cNvPr id="5129" name="TextBox 9">
            <a:extLst>
              <a:ext uri="{FF2B5EF4-FFF2-40B4-BE49-F238E27FC236}">
                <a16:creationId xmlns:a16="http://schemas.microsoft.com/office/drawing/2014/main" xmlns="" id="{51474E29-B786-44A4-806E-4F41F1217C77}"/>
              </a:ext>
            </a:extLst>
          </p:cNvPr>
          <p:cNvSpPr txBox="1">
            <a:spLocks noChangeArrowheads="1"/>
          </p:cNvSpPr>
          <p:nvPr/>
        </p:nvSpPr>
        <p:spPr bwMode="auto">
          <a:xfrm>
            <a:off x="2209800" y="1447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800">
              <a:latin typeface="Arial" panose="020B0604020202020204" pitchFamily="34" charset="0"/>
            </a:endParaRPr>
          </a:p>
        </p:txBody>
      </p:sp>
      <p:sp>
        <p:nvSpPr>
          <p:cNvPr id="5130" name="Rectangle 3">
            <a:extLst>
              <a:ext uri="{FF2B5EF4-FFF2-40B4-BE49-F238E27FC236}">
                <a16:creationId xmlns:a16="http://schemas.microsoft.com/office/drawing/2014/main" xmlns="" id="{9BD43DED-A643-4155-80A6-C16EA69AF213}"/>
              </a:ext>
            </a:extLst>
          </p:cNvPr>
          <p:cNvSpPr txBox="1">
            <a:spLocks noChangeArrowheads="1"/>
          </p:cNvSpPr>
          <p:nvPr/>
        </p:nvSpPr>
        <p:spPr bwMode="auto">
          <a:xfrm>
            <a:off x="854075" y="1641475"/>
            <a:ext cx="10075863"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pPr>
            <a:endParaRPr lang="en-US" altLang="en-US" sz="3200"/>
          </a:p>
        </p:txBody>
      </p:sp>
      <p:sp>
        <p:nvSpPr>
          <p:cNvPr id="5131" name="Rectangle 2">
            <a:extLst>
              <a:ext uri="{FF2B5EF4-FFF2-40B4-BE49-F238E27FC236}">
                <a16:creationId xmlns:a16="http://schemas.microsoft.com/office/drawing/2014/main" xmlns="" id="{77413F09-36F8-462C-80B9-A1F1A2234B60}"/>
              </a:ext>
            </a:extLst>
          </p:cNvPr>
          <p:cNvSpPr txBox="1">
            <a:spLocks noChangeArrowheads="1"/>
          </p:cNvSpPr>
          <p:nvPr/>
        </p:nvSpPr>
        <p:spPr bwMode="auto">
          <a:xfrm>
            <a:off x="1022350" y="152400"/>
            <a:ext cx="10299700" cy="4905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Course Objective and Course Outcomes</a:t>
            </a:r>
          </a:p>
        </p:txBody>
      </p:sp>
      <p:sp>
        <p:nvSpPr>
          <p:cNvPr id="5132" name="Rectangle 2">
            <a:extLst>
              <a:ext uri="{FF2B5EF4-FFF2-40B4-BE49-F238E27FC236}">
                <a16:creationId xmlns:a16="http://schemas.microsoft.com/office/drawing/2014/main" xmlns="" id="{C4E7D1A7-9F4F-4576-9F9E-739A24889707}"/>
              </a:ext>
            </a:extLst>
          </p:cNvPr>
          <p:cNvSpPr txBox="1">
            <a:spLocks noChangeArrowheads="1"/>
          </p:cNvSpPr>
          <p:nvPr/>
        </p:nvSpPr>
        <p:spPr bwMode="auto">
          <a:xfrm>
            <a:off x="1433513" y="642938"/>
            <a:ext cx="6821487"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3600" b="1">
              <a:solidFill>
                <a:schemeClr val="tx2"/>
              </a:solidFill>
              <a:latin typeface="Calibri Light" panose="020F0302020204030204" pitchFamily="34" charset="0"/>
            </a:endParaRPr>
          </a:p>
        </p:txBody>
      </p:sp>
      <p:sp>
        <p:nvSpPr>
          <p:cNvPr id="5133" name="Rectangle 3">
            <a:extLst>
              <a:ext uri="{FF2B5EF4-FFF2-40B4-BE49-F238E27FC236}">
                <a16:creationId xmlns:a16="http://schemas.microsoft.com/office/drawing/2014/main" xmlns="" id="{243DD7E8-E1A1-4201-8D94-946081ECEB05}"/>
              </a:ext>
            </a:extLst>
          </p:cNvPr>
          <p:cNvSpPr txBox="1">
            <a:spLocks noChangeArrowheads="1"/>
          </p:cNvSpPr>
          <p:nvPr/>
        </p:nvSpPr>
        <p:spPr bwMode="auto">
          <a:xfrm>
            <a:off x="846138" y="642938"/>
            <a:ext cx="10571162" cy="538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US" altLang="en-US" sz="2400" b="1" dirty="0" smtClean="0">
                <a:solidFill>
                  <a:srgbClr val="FF0000"/>
                </a:solidFill>
                <a:latin typeface="Times New Roman" panose="02020603050405020304" pitchFamily="18" charset="0"/>
                <a:cs typeface="Times New Roman" panose="02020603050405020304" pitchFamily="18" charset="0"/>
              </a:rPr>
              <a:t>Course </a:t>
            </a:r>
            <a:r>
              <a:rPr lang="en-US" altLang="en-US" sz="2400" b="1" dirty="0">
                <a:solidFill>
                  <a:srgbClr val="FF0000"/>
                </a:solidFill>
                <a:latin typeface="Times New Roman" panose="02020603050405020304" pitchFamily="18" charset="0"/>
                <a:cs typeface="Times New Roman" panose="02020603050405020304" pitchFamily="18" charset="0"/>
              </a:rPr>
              <a:t>Outcomes: </a:t>
            </a:r>
            <a:r>
              <a:rPr lang="en-US" altLang="en-US" sz="2400" dirty="0">
                <a:latin typeface="Times New Roman" panose="02020603050405020304" pitchFamily="18" charset="0"/>
                <a:cs typeface="Times New Roman" panose="02020603050405020304" pitchFamily="18" charset="0"/>
              </a:rPr>
              <a:t>The student will be able to :</a:t>
            </a:r>
          </a:p>
          <a:p>
            <a:pPr algn="just">
              <a:lnSpc>
                <a:spcPct val="100000"/>
              </a:lnSpc>
              <a:spcBef>
                <a:spcPct val="0"/>
              </a:spcBef>
              <a:buFontTx/>
              <a:buNone/>
            </a:pPr>
            <a:endParaRPr lang="en-US" altLang="en-US" sz="2400" b="1" dirty="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b="1" dirty="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b="1" dirty="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dirty="0">
              <a:latin typeface="Times New Roman" panose="02020603050405020304" pitchFamily="18" charset="0"/>
              <a:cs typeface="Times New Roman" panose="02020603050405020304" pitchFamily="18" charset="0"/>
            </a:endParaRPr>
          </a:p>
        </p:txBody>
      </p:sp>
      <p:graphicFrame>
        <p:nvGraphicFramePr>
          <p:cNvPr id="3" name="Table 2">
            <a:extLst>
              <a:ext uri="{FF2B5EF4-FFF2-40B4-BE49-F238E27FC236}">
                <a16:creationId xmlns:a16="http://schemas.microsoft.com/office/drawing/2014/main" xmlns="" id="{D2E7944D-E2BA-4D0D-B3A9-FD8413BC938B}"/>
              </a:ext>
            </a:extLst>
          </p:cNvPr>
          <p:cNvGraphicFramePr>
            <a:graphicFrameLocks noGrp="1"/>
          </p:cNvGraphicFramePr>
          <p:nvPr>
            <p:extLst>
              <p:ext uri="{D42A27DB-BD31-4B8C-83A1-F6EECF244321}">
                <p14:modId xmlns:p14="http://schemas.microsoft.com/office/powerpoint/2010/main" val="78525363"/>
              </p:ext>
            </p:extLst>
          </p:nvPr>
        </p:nvGraphicFramePr>
        <p:xfrm>
          <a:off x="1022350" y="1447800"/>
          <a:ext cx="10102850" cy="3534673"/>
        </p:xfrm>
        <a:graphic>
          <a:graphicData uri="http://schemas.openxmlformats.org/drawingml/2006/table">
            <a:tbl>
              <a:tblPr firstRow="1" bandRow="1"/>
              <a:tblGrid>
                <a:gridCol w="1623868">
                  <a:extLst>
                    <a:ext uri="{9D8B030D-6E8A-4147-A177-3AD203B41FA5}">
                      <a16:colId xmlns:a16="http://schemas.microsoft.com/office/drawing/2014/main" xmlns="" val="20000"/>
                    </a:ext>
                  </a:extLst>
                </a:gridCol>
                <a:gridCol w="8478982">
                  <a:extLst>
                    <a:ext uri="{9D8B030D-6E8A-4147-A177-3AD203B41FA5}">
                      <a16:colId xmlns:a16="http://schemas.microsoft.com/office/drawing/2014/main" xmlns="" val="20001"/>
                    </a:ext>
                  </a:extLst>
                </a:gridCol>
              </a:tblGrid>
              <a:tr h="398445">
                <a:tc>
                  <a:txBody>
                    <a:bodyPr/>
                    <a:lstStyle/>
                    <a:p>
                      <a:pPr algn="just"/>
                      <a:r>
                        <a:rPr lang="en-US" sz="2000" b="1" dirty="0">
                          <a:latin typeface="Times New Roman" pitchFamily="18" charset="0"/>
                          <a:cs typeface="Times New Roman" pitchFamily="18" charset="0"/>
                        </a:rPr>
                        <a:t>Course Code</a:t>
                      </a:r>
                      <a:endParaRPr lang="en-IN" sz="2000" b="1" dirty="0">
                        <a:latin typeface="Times New Roman" pitchFamily="18" charset="0"/>
                        <a:cs typeface="Times New Roman" pitchFamily="18" charset="0"/>
                      </a:endParaRPr>
                    </a:p>
                  </a:txBody>
                  <a:tcPr marT="45727" marB="45727"/>
                </a:tc>
                <a:tc>
                  <a:txBody>
                    <a:bodyPr/>
                    <a:lstStyle/>
                    <a:p>
                      <a:pPr algn="just"/>
                      <a:r>
                        <a:rPr lang="en-US" sz="2000" b="1" dirty="0">
                          <a:latin typeface="Times New Roman" pitchFamily="18" charset="0"/>
                          <a:cs typeface="Times New Roman" pitchFamily="18" charset="0"/>
                        </a:rPr>
                        <a:t>Course Outcomes</a:t>
                      </a:r>
                      <a:endParaRPr lang="en-IN" sz="2000" b="1" dirty="0">
                        <a:latin typeface="Times New Roman" pitchFamily="18" charset="0"/>
                        <a:cs typeface="Times New Roman" pitchFamily="18" charset="0"/>
                      </a:endParaRPr>
                    </a:p>
                  </a:txBody>
                  <a:tcPr marT="45727" marB="45727"/>
                </a:tc>
                <a:extLst>
                  <a:ext uri="{0D108BD9-81ED-4DB2-BD59-A6C34878D82A}">
                    <a16:rowId xmlns:a16="http://schemas.microsoft.com/office/drawing/2014/main" xmlns="" val="10000"/>
                  </a:ext>
                </a:extLst>
              </a:tr>
              <a:tr h="728076">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IN" sz="2000" dirty="0" smtClean="0">
                          <a:latin typeface="Times New Roman" pitchFamily="18" charset="0"/>
                          <a:cs typeface="Times New Roman" pitchFamily="18" charset="0"/>
                        </a:rPr>
                        <a:t>CO1</a:t>
                      </a:r>
                      <a:endParaRPr lang="en-IN" sz="2000" dirty="0">
                        <a:latin typeface="Times New Roman" pitchFamily="18" charset="0"/>
                        <a:cs typeface="Times New Roman" pitchFamily="18" charset="0"/>
                      </a:endParaRPr>
                    </a:p>
                    <a:p>
                      <a:pPr algn="just"/>
                      <a:endParaRPr lang="en-IN" sz="2000" dirty="0">
                        <a:latin typeface="Times New Roman" pitchFamily="18" charset="0"/>
                        <a:cs typeface="Times New Roman" pitchFamily="18" charset="0"/>
                      </a:endParaRPr>
                    </a:p>
                  </a:txBody>
                  <a:tcPr marT="45727" marB="45727"/>
                </a:tc>
                <a:tc>
                  <a:txBody>
                    <a:bodyPr/>
                    <a:lstStyle/>
                    <a:p>
                      <a:pPr lvl="0"/>
                      <a:r>
                        <a:rPr lang="en-US" sz="1800" kern="1200" dirty="0" smtClean="0">
                          <a:solidFill>
                            <a:schemeClr val="tx1"/>
                          </a:solidFill>
                          <a:effectLst/>
                          <a:latin typeface="+mn-lt"/>
                          <a:ea typeface="+mn-ea"/>
                          <a:cs typeface="+mn-cs"/>
                        </a:rPr>
                        <a:t>Describe the basic elements of a relational database management system</a:t>
                      </a:r>
                      <a:endParaRPr lang="en-IN" sz="1800" kern="1200" dirty="0">
                        <a:solidFill>
                          <a:schemeClr val="tx1"/>
                        </a:solidFill>
                        <a:effectLst/>
                        <a:latin typeface="+mn-lt"/>
                        <a:ea typeface="+mn-ea"/>
                        <a:cs typeface="+mn-cs"/>
                      </a:endParaRPr>
                    </a:p>
                  </a:txBody>
                  <a:tcPr marT="45727" marB="45727"/>
                </a:tc>
                <a:extLst>
                  <a:ext uri="{0D108BD9-81ED-4DB2-BD59-A6C34878D82A}">
                    <a16:rowId xmlns:a16="http://schemas.microsoft.com/office/drawing/2014/main" xmlns="" val="10001"/>
                  </a:ext>
                </a:extLst>
              </a:tr>
              <a:tr h="396298">
                <a:tc>
                  <a:txBody>
                    <a:bodyPr/>
                    <a:lstStyle/>
                    <a:p>
                      <a:pPr algn="just"/>
                      <a:r>
                        <a:rPr lang="en-US" sz="2000" dirty="0" smtClean="0">
                          <a:latin typeface="Times New Roman" pitchFamily="18" charset="0"/>
                          <a:cs typeface="Times New Roman" pitchFamily="18" charset="0"/>
                        </a:rPr>
                        <a:t>CO2</a:t>
                      </a:r>
                      <a:endParaRPr lang="en-IN" sz="2000" dirty="0">
                        <a:latin typeface="Times New Roman" pitchFamily="18" charset="0"/>
                        <a:cs typeface="Times New Roman" pitchFamily="18" charset="0"/>
                      </a:endParaRPr>
                    </a:p>
                  </a:txBody>
                  <a:tcPr marT="45727" marB="45727"/>
                </a:tc>
                <a:tc>
                  <a:txBody>
                    <a:bodyPr/>
                    <a:lstStyle/>
                    <a:p>
                      <a:pPr lvl="0"/>
                      <a:r>
                        <a:rPr lang="en-US" sz="1800" kern="1200" dirty="0" smtClean="0">
                          <a:solidFill>
                            <a:schemeClr val="tx1"/>
                          </a:solidFill>
                          <a:effectLst/>
                          <a:latin typeface="+mn-lt"/>
                          <a:ea typeface="+mn-ea"/>
                          <a:cs typeface="+mn-cs"/>
                        </a:rPr>
                        <a:t>Design entity relationship for the given scenario.</a:t>
                      </a:r>
                      <a:endParaRPr lang="en-IN" sz="1800" kern="1200" dirty="0">
                        <a:solidFill>
                          <a:schemeClr val="tx1"/>
                        </a:solidFill>
                        <a:effectLst/>
                        <a:latin typeface="+mn-lt"/>
                        <a:ea typeface="+mn-ea"/>
                        <a:cs typeface="+mn-cs"/>
                      </a:endParaRPr>
                    </a:p>
                  </a:txBody>
                  <a:tcPr marT="45727" marB="45727"/>
                </a:tc>
                <a:extLst>
                  <a:ext uri="{0D108BD9-81ED-4DB2-BD59-A6C34878D82A}">
                    <a16:rowId xmlns:a16="http://schemas.microsoft.com/office/drawing/2014/main" xmlns="" val="10002"/>
                  </a:ext>
                </a:extLst>
              </a:tr>
              <a:tr h="396298">
                <a:tc>
                  <a:txBody>
                    <a:bodyPr/>
                    <a:lstStyle/>
                    <a:p>
                      <a:pPr algn="just"/>
                      <a:r>
                        <a:rPr lang="en-US" sz="2000" dirty="0" smtClean="0">
                          <a:latin typeface="Times New Roman" pitchFamily="18" charset="0"/>
                          <a:cs typeface="Times New Roman" pitchFamily="18" charset="0"/>
                        </a:rPr>
                        <a:t>CO3</a:t>
                      </a:r>
                      <a:endParaRPr lang="en-IN" sz="2000" dirty="0">
                        <a:latin typeface="Times New Roman" pitchFamily="18" charset="0"/>
                        <a:cs typeface="Times New Roman" pitchFamily="18" charset="0"/>
                      </a:endParaRPr>
                    </a:p>
                  </a:txBody>
                  <a:tcPr marT="45727" marB="45727"/>
                </a:tc>
                <a:tc>
                  <a:txBody>
                    <a:bodyPr/>
                    <a:lstStyle/>
                    <a:p>
                      <a:pPr marL="0" marR="0" indent="0" algn="just" defTabSz="914400" rtl="0" eaLnBrk="1" fontAlgn="auto" latinLnBrk="0" hangingPunct="1">
                        <a:lnSpc>
                          <a:spcPct val="100000"/>
                        </a:lnSpc>
                        <a:spcBef>
                          <a:spcPts val="0"/>
                        </a:spcBef>
                        <a:spcAft>
                          <a:spcPts val="0"/>
                        </a:spcAft>
                        <a:buClrTx/>
                        <a:buSzTx/>
                        <a:buFontTx/>
                        <a:buNone/>
                        <a:tabLst/>
                        <a:defRPr/>
                      </a:pPr>
                      <a:r>
                        <a:rPr lang="en-US" sz="1800" kern="1200" dirty="0" smtClean="0">
                          <a:solidFill>
                            <a:schemeClr val="tx1"/>
                          </a:solidFill>
                          <a:effectLst/>
                          <a:latin typeface="+mn-lt"/>
                          <a:ea typeface="+mn-ea"/>
                          <a:cs typeface="+mn-cs"/>
                        </a:rPr>
                        <a:t>Apply various Structured Query Language (SQL) statements for database manipulation.</a:t>
                      </a:r>
                      <a:endParaRPr lang="en-US" sz="2000" dirty="0">
                        <a:latin typeface="Times New Roman" pitchFamily="18" charset="0"/>
                        <a:cs typeface="Times New Roman" pitchFamily="18" charset="0"/>
                      </a:endParaRPr>
                    </a:p>
                  </a:txBody>
                  <a:tcPr marT="45727" marB="45727"/>
                </a:tc>
                <a:extLst>
                  <a:ext uri="{0D108BD9-81ED-4DB2-BD59-A6C34878D82A}">
                    <a16:rowId xmlns:a16="http://schemas.microsoft.com/office/drawing/2014/main" xmlns="" val="10003"/>
                  </a:ext>
                </a:extLst>
              </a:tr>
              <a:tr h="701142">
                <a:tc>
                  <a:txBody>
                    <a:bodyPr/>
                    <a:lstStyle/>
                    <a:p>
                      <a:pPr algn="just"/>
                      <a:r>
                        <a:rPr lang="en-US" sz="2000" dirty="0" smtClean="0">
                          <a:latin typeface="Times New Roman" pitchFamily="18" charset="0"/>
                          <a:cs typeface="Times New Roman" pitchFamily="18" charset="0"/>
                        </a:rPr>
                        <a:t>CO4</a:t>
                      </a:r>
                      <a:endParaRPr lang="en-IN" sz="2000" dirty="0">
                        <a:latin typeface="Times New Roman" pitchFamily="18" charset="0"/>
                        <a:cs typeface="Times New Roman" pitchFamily="18" charset="0"/>
                      </a:endParaRPr>
                    </a:p>
                  </a:txBody>
                  <a:tcPr marT="45727" marB="45727"/>
                </a:tc>
                <a:tc>
                  <a:txBody>
                    <a:bodyPr/>
                    <a:lstStyle/>
                    <a:p>
                      <a:pPr lvl="0"/>
                      <a:r>
                        <a:rPr lang="en-US" sz="1800" kern="1200" dirty="0" err="1" smtClean="0">
                          <a:solidFill>
                            <a:schemeClr val="tx1"/>
                          </a:solidFill>
                          <a:effectLst/>
                          <a:latin typeface="+mn-lt"/>
                          <a:ea typeface="+mn-ea"/>
                          <a:cs typeface="+mn-cs"/>
                        </a:rPr>
                        <a:t>Analyse</a:t>
                      </a:r>
                      <a:r>
                        <a:rPr lang="en-US" sz="1800" kern="1200" dirty="0" smtClean="0">
                          <a:solidFill>
                            <a:schemeClr val="tx1"/>
                          </a:solidFill>
                          <a:effectLst/>
                          <a:latin typeface="+mn-lt"/>
                          <a:ea typeface="+mn-ea"/>
                          <a:cs typeface="+mn-cs"/>
                        </a:rPr>
                        <a:t> various normalization forms for the given application.</a:t>
                      </a:r>
                      <a:endParaRPr lang="en-IN" sz="1800" kern="1200" dirty="0">
                        <a:solidFill>
                          <a:schemeClr val="tx1"/>
                        </a:solidFill>
                        <a:effectLst/>
                        <a:latin typeface="+mn-lt"/>
                        <a:ea typeface="+mn-ea"/>
                        <a:cs typeface="+mn-cs"/>
                      </a:endParaRPr>
                    </a:p>
                  </a:txBody>
                  <a:tcPr marT="45727" marB="45727"/>
                </a:tc>
                <a:extLst>
                  <a:ext uri="{0D108BD9-81ED-4DB2-BD59-A6C34878D82A}">
                    <a16:rowId xmlns:a16="http://schemas.microsoft.com/office/drawing/2014/main" xmlns="" val="10004"/>
                  </a:ext>
                </a:extLst>
              </a:tr>
              <a:tr h="643642">
                <a:tc>
                  <a:txBody>
                    <a:bodyPr/>
                    <a:lstStyle/>
                    <a:p>
                      <a:pPr algn="just"/>
                      <a:r>
                        <a:rPr lang="en-US" sz="2000" dirty="0" smtClean="0">
                          <a:latin typeface="Times New Roman" pitchFamily="18" charset="0"/>
                          <a:cs typeface="Times New Roman" pitchFamily="18" charset="0"/>
                        </a:rPr>
                        <a:t>CO5</a:t>
                      </a:r>
                    </a:p>
                    <a:p>
                      <a:pPr algn="just"/>
                      <a:r>
                        <a:rPr lang="en-US" sz="2000" dirty="0" smtClean="0">
                          <a:latin typeface="Times New Roman" pitchFamily="18" charset="0"/>
                          <a:cs typeface="Times New Roman" pitchFamily="18" charset="0"/>
                        </a:rPr>
                        <a:t>C06</a:t>
                      </a:r>
                      <a:endParaRPr lang="en-IN" sz="2000" dirty="0">
                        <a:latin typeface="Times New Roman" pitchFamily="18" charset="0"/>
                        <a:cs typeface="Times New Roman" pitchFamily="18" charset="0"/>
                      </a:endParaRPr>
                    </a:p>
                  </a:txBody>
                  <a:tcPr marT="45727" marB="45727"/>
                </a:tc>
                <a:tc>
                  <a:txBody>
                    <a:bodyPr/>
                    <a:lstStyle/>
                    <a:p>
                      <a:pPr lvl="0"/>
                      <a:r>
                        <a:rPr lang="en-US" sz="1800" kern="1200" dirty="0" smtClean="0">
                          <a:solidFill>
                            <a:schemeClr val="tx1"/>
                          </a:solidFill>
                          <a:effectLst/>
                          <a:latin typeface="+mn-lt"/>
                          <a:ea typeface="+mn-ea"/>
                          <a:cs typeface="+mn-cs"/>
                        </a:rPr>
                        <a:t>Develop database applications for the given real world problem.</a:t>
                      </a:r>
                    </a:p>
                    <a:p>
                      <a:pPr lvl="0"/>
                      <a:r>
                        <a:rPr lang="en-US" sz="1800" kern="1200" dirty="0" smtClean="0">
                          <a:solidFill>
                            <a:schemeClr val="tx1"/>
                          </a:solidFill>
                          <a:effectLst/>
                          <a:latin typeface="+mn-lt"/>
                          <a:ea typeface="+mn-ea"/>
                          <a:cs typeface="+mn-cs"/>
                        </a:rPr>
                        <a:t>Understand the concepts related to </a:t>
                      </a:r>
                      <a:r>
                        <a:rPr lang="en-US" sz="1800" kern="1200" dirty="0" err="1" smtClean="0">
                          <a:solidFill>
                            <a:schemeClr val="tx1"/>
                          </a:solidFill>
                          <a:effectLst/>
                          <a:latin typeface="+mn-lt"/>
                          <a:ea typeface="+mn-ea"/>
                          <a:cs typeface="+mn-cs"/>
                        </a:rPr>
                        <a:t>NoSQL</a:t>
                      </a:r>
                      <a:r>
                        <a:rPr lang="en-US" sz="1800" kern="1200" dirty="0" smtClean="0">
                          <a:solidFill>
                            <a:schemeClr val="tx1"/>
                          </a:solidFill>
                          <a:effectLst/>
                          <a:latin typeface="+mn-lt"/>
                          <a:ea typeface="+mn-ea"/>
                          <a:cs typeface="+mn-cs"/>
                        </a:rPr>
                        <a:t> databases.</a:t>
                      </a:r>
                    </a:p>
                    <a:p>
                      <a:pPr lvl="0"/>
                      <a:endParaRPr lang="en-IN" sz="1800" kern="1200" dirty="0">
                        <a:solidFill>
                          <a:schemeClr val="tx1"/>
                        </a:solidFill>
                        <a:effectLst/>
                        <a:latin typeface="+mn-lt"/>
                        <a:ea typeface="+mn-ea"/>
                        <a:cs typeface="+mn-cs"/>
                      </a:endParaRPr>
                    </a:p>
                  </a:txBody>
                  <a:tcPr marT="45727" marB="45727"/>
                </a:tc>
                <a:extLst>
                  <a:ext uri="{0D108BD9-81ED-4DB2-BD59-A6C34878D82A}">
                    <a16:rowId xmlns:a16="http://schemas.microsoft.com/office/drawing/2014/main" xmlns="" val="10005"/>
                  </a:ext>
                </a:extLst>
              </a:tr>
            </a:tbl>
          </a:graphicData>
        </a:graphic>
      </p:graphicFrame>
    </p:spTree>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5">
            <a:extLst>
              <a:ext uri="{FF2B5EF4-FFF2-40B4-BE49-F238E27FC236}">
                <a16:creationId xmlns:a16="http://schemas.microsoft.com/office/drawing/2014/main" xmlns="" id="{2E053F78-EE69-4984-A351-7A817F17C97B}"/>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6147" name="Picture 1">
            <a:extLst>
              <a:ext uri="{FF2B5EF4-FFF2-40B4-BE49-F238E27FC236}">
                <a16:creationId xmlns:a16="http://schemas.microsoft.com/office/drawing/2014/main" xmlns="" id="{0293A810-7CF1-4EDB-BEAF-144D88193F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8" name="Title 3">
            <a:extLst>
              <a:ext uri="{FF2B5EF4-FFF2-40B4-BE49-F238E27FC236}">
                <a16:creationId xmlns:a16="http://schemas.microsoft.com/office/drawing/2014/main" xmlns="" id="{4F77A6AB-CA01-4224-B64D-3C570CBF345C}"/>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6149" name="TextBox 5">
            <a:extLst>
              <a:ext uri="{FF2B5EF4-FFF2-40B4-BE49-F238E27FC236}">
                <a16:creationId xmlns:a16="http://schemas.microsoft.com/office/drawing/2014/main" xmlns="" id="{65AA8ABB-4749-4C23-88C0-1A845A2477CF}"/>
              </a:ext>
            </a:extLst>
          </p:cNvPr>
          <p:cNvSpPr txBox="1">
            <a:spLocks noChangeArrowheads="1"/>
          </p:cNvSpPr>
          <p:nvPr/>
        </p:nvSpPr>
        <p:spPr bwMode="auto">
          <a:xfrm>
            <a:off x="2209800" y="1447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800">
              <a:latin typeface="Arial" panose="020B0604020202020204" pitchFamily="34" charset="0"/>
            </a:endParaRPr>
          </a:p>
        </p:txBody>
      </p:sp>
      <p:sp>
        <p:nvSpPr>
          <p:cNvPr id="6150" name="Rectangle 3">
            <a:extLst>
              <a:ext uri="{FF2B5EF4-FFF2-40B4-BE49-F238E27FC236}">
                <a16:creationId xmlns:a16="http://schemas.microsoft.com/office/drawing/2014/main" xmlns="" id="{CEC8CEAE-61AC-4004-A1AF-1C483808928C}"/>
              </a:ext>
            </a:extLst>
          </p:cNvPr>
          <p:cNvSpPr txBox="1">
            <a:spLocks noChangeArrowheads="1"/>
          </p:cNvSpPr>
          <p:nvPr/>
        </p:nvSpPr>
        <p:spPr bwMode="auto">
          <a:xfrm>
            <a:off x="854075" y="164147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pPr>
            <a:endParaRPr lang="en-US" altLang="en-US" sz="3200"/>
          </a:p>
        </p:txBody>
      </p:sp>
      <p:sp>
        <p:nvSpPr>
          <p:cNvPr id="6151" name="Rectangle 2">
            <a:extLst>
              <a:ext uri="{FF2B5EF4-FFF2-40B4-BE49-F238E27FC236}">
                <a16:creationId xmlns:a16="http://schemas.microsoft.com/office/drawing/2014/main" xmlns="" id="{02C21DF2-CDC9-49D2-A8B5-36B4FF494FE5}"/>
              </a:ext>
            </a:extLst>
          </p:cNvPr>
          <p:cNvSpPr txBox="1">
            <a:spLocks noChangeArrowheads="1"/>
          </p:cNvSpPr>
          <p:nvPr/>
        </p:nvSpPr>
        <p:spPr bwMode="auto">
          <a:xfrm>
            <a:off x="1022350" y="838200"/>
            <a:ext cx="76644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
        <p:nvSpPr>
          <p:cNvPr id="6152" name="Rectangle 3">
            <a:extLst>
              <a:ext uri="{FF2B5EF4-FFF2-40B4-BE49-F238E27FC236}">
                <a16:creationId xmlns:a16="http://schemas.microsoft.com/office/drawing/2014/main" xmlns="" id="{892C1879-2D6E-4149-B20E-1D9665001860}"/>
              </a:ext>
            </a:extLst>
          </p:cNvPr>
          <p:cNvSpPr txBox="1">
            <a:spLocks noChangeArrowheads="1"/>
          </p:cNvSpPr>
          <p:nvPr/>
        </p:nvSpPr>
        <p:spPr bwMode="auto">
          <a:xfrm>
            <a:off x="806450" y="1793875"/>
            <a:ext cx="9879013"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FontTx/>
              <a:buNone/>
            </a:pPr>
            <a:endParaRPr lang="en-US" altLang="en-US" sz="3200"/>
          </a:p>
        </p:txBody>
      </p:sp>
      <p:sp>
        <p:nvSpPr>
          <p:cNvPr id="6153" name="TextBox 9">
            <a:extLst>
              <a:ext uri="{FF2B5EF4-FFF2-40B4-BE49-F238E27FC236}">
                <a16:creationId xmlns:a16="http://schemas.microsoft.com/office/drawing/2014/main" xmlns="" id="{868B1A5B-A958-4598-8C9A-3E44CA2F24A6}"/>
              </a:ext>
            </a:extLst>
          </p:cNvPr>
          <p:cNvSpPr txBox="1">
            <a:spLocks noChangeArrowheads="1"/>
          </p:cNvSpPr>
          <p:nvPr/>
        </p:nvSpPr>
        <p:spPr bwMode="auto">
          <a:xfrm>
            <a:off x="2209800" y="1447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800">
              <a:latin typeface="Arial" panose="020B0604020202020204" pitchFamily="34" charset="0"/>
            </a:endParaRPr>
          </a:p>
        </p:txBody>
      </p:sp>
      <p:sp>
        <p:nvSpPr>
          <p:cNvPr id="6154" name="Rectangle 3">
            <a:extLst>
              <a:ext uri="{FF2B5EF4-FFF2-40B4-BE49-F238E27FC236}">
                <a16:creationId xmlns:a16="http://schemas.microsoft.com/office/drawing/2014/main" xmlns="" id="{CED6BCEF-5DFE-4ADF-A899-08C83FDC4760}"/>
              </a:ext>
            </a:extLst>
          </p:cNvPr>
          <p:cNvSpPr txBox="1">
            <a:spLocks noChangeArrowheads="1"/>
          </p:cNvSpPr>
          <p:nvPr/>
        </p:nvSpPr>
        <p:spPr bwMode="auto">
          <a:xfrm>
            <a:off x="854075" y="164147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pPr>
            <a:endParaRPr lang="en-US" altLang="en-US" sz="3200"/>
          </a:p>
        </p:txBody>
      </p:sp>
      <p:sp>
        <p:nvSpPr>
          <p:cNvPr id="6155" name="Rectangle 2">
            <a:extLst>
              <a:ext uri="{FF2B5EF4-FFF2-40B4-BE49-F238E27FC236}">
                <a16:creationId xmlns:a16="http://schemas.microsoft.com/office/drawing/2014/main" xmlns="" id="{B4ADAAFB-FEF1-47AE-9D4F-9335854537B0}"/>
              </a:ext>
            </a:extLst>
          </p:cNvPr>
          <p:cNvSpPr txBox="1">
            <a:spLocks noChangeArrowheads="1"/>
          </p:cNvSpPr>
          <p:nvPr/>
        </p:nvSpPr>
        <p:spPr bwMode="auto">
          <a:xfrm>
            <a:off x="968375" y="569913"/>
            <a:ext cx="77184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
        <p:nvSpPr>
          <p:cNvPr id="6156" name="Rectangle 2">
            <a:extLst>
              <a:ext uri="{FF2B5EF4-FFF2-40B4-BE49-F238E27FC236}">
                <a16:creationId xmlns:a16="http://schemas.microsoft.com/office/drawing/2014/main" xmlns="" id="{AAE363D6-46E2-46E7-85FA-7E296143E5B0}"/>
              </a:ext>
            </a:extLst>
          </p:cNvPr>
          <p:cNvSpPr txBox="1">
            <a:spLocks noChangeArrowheads="1"/>
          </p:cNvSpPr>
          <p:nvPr/>
        </p:nvSpPr>
        <p:spPr bwMode="auto">
          <a:xfrm>
            <a:off x="1433513" y="642938"/>
            <a:ext cx="101441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Text/Reference Books</a:t>
            </a:r>
          </a:p>
        </p:txBody>
      </p:sp>
      <p:sp>
        <p:nvSpPr>
          <p:cNvPr id="6157" name="Rectangle 3">
            <a:extLst>
              <a:ext uri="{FF2B5EF4-FFF2-40B4-BE49-F238E27FC236}">
                <a16:creationId xmlns:a16="http://schemas.microsoft.com/office/drawing/2014/main" xmlns="" id="{2408C0ED-3688-458D-9C45-C70D971AD390}"/>
              </a:ext>
            </a:extLst>
          </p:cNvPr>
          <p:cNvSpPr txBox="1">
            <a:spLocks noChangeArrowheads="1"/>
          </p:cNvSpPr>
          <p:nvPr/>
        </p:nvSpPr>
        <p:spPr bwMode="auto">
          <a:xfrm>
            <a:off x="846138" y="1184275"/>
            <a:ext cx="9564687" cy="484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lnSpc>
                <a:spcPct val="100000"/>
              </a:lnSpc>
              <a:spcBef>
                <a:spcPct val="0"/>
              </a:spcBef>
              <a:buFontTx/>
              <a:buNone/>
            </a:pPr>
            <a:r>
              <a:rPr lang="en-IN" altLang="en-US" sz="2400" b="1">
                <a:solidFill>
                  <a:srgbClr val="FF0000"/>
                </a:solidFill>
                <a:latin typeface="Times New Roman" panose="02020603050405020304" pitchFamily="18" charset="0"/>
                <a:cs typeface="Times New Roman" panose="02020603050405020304" pitchFamily="18" charset="0"/>
              </a:rPr>
              <a:t>Textbooks:</a:t>
            </a:r>
            <a:endParaRPr lang="en-IN" altLang="en-US" sz="2400">
              <a:solidFill>
                <a:srgbClr val="FF0000"/>
              </a:solidFill>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IN" altLang="en-US" sz="2400">
                <a:latin typeface="Times New Roman" panose="02020603050405020304" pitchFamily="18" charset="0"/>
                <a:cs typeface="Times New Roman" panose="02020603050405020304" pitchFamily="18" charset="0"/>
              </a:rPr>
              <a:t>1. Fundamentals of Database Systems, Ramez Elmasri and Shamkant B. Navathe, 7th Edition, 2017, Pearson.</a:t>
            </a:r>
          </a:p>
          <a:p>
            <a:pPr algn="just">
              <a:lnSpc>
                <a:spcPct val="100000"/>
              </a:lnSpc>
              <a:spcBef>
                <a:spcPct val="0"/>
              </a:spcBef>
              <a:buFontTx/>
              <a:buNone/>
            </a:pPr>
            <a:r>
              <a:rPr lang="en-IN" altLang="en-US" sz="2400">
                <a:latin typeface="Times New Roman" panose="02020603050405020304" pitchFamily="18" charset="0"/>
                <a:cs typeface="Times New Roman" panose="02020603050405020304" pitchFamily="18" charset="0"/>
              </a:rPr>
              <a:t>2. Database management systems, Ramakrishnan, and Gehrke, 3rd Edition, 2014, McGraw Hill</a:t>
            </a:r>
          </a:p>
          <a:p>
            <a:pPr algn="just">
              <a:lnSpc>
                <a:spcPct val="100000"/>
              </a:lnSpc>
              <a:spcBef>
                <a:spcPct val="0"/>
              </a:spcBef>
              <a:buFontTx/>
              <a:buNone/>
            </a:pPr>
            <a:endParaRPr lang="en-IN"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IN" altLang="en-US" sz="2400" b="1">
                <a:solidFill>
                  <a:srgbClr val="FF0000"/>
                </a:solidFill>
                <a:latin typeface="Times New Roman" panose="02020603050405020304" pitchFamily="18" charset="0"/>
                <a:cs typeface="Times New Roman" panose="02020603050405020304" pitchFamily="18" charset="0"/>
              </a:rPr>
              <a:t>Reference Books:</a:t>
            </a:r>
            <a:endParaRPr lang="en-IN" altLang="en-US" sz="2400">
              <a:solidFill>
                <a:srgbClr val="FF0000"/>
              </a:solidFill>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IN" altLang="en-US" sz="2400">
                <a:latin typeface="Times New Roman" panose="02020603050405020304" pitchFamily="18" charset="0"/>
                <a:cs typeface="Times New Roman" panose="02020603050405020304" pitchFamily="18" charset="0"/>
              </a:rPr>
              <a:t>1. Silberschatz Korth and Sudharshan, Database System Concepts, 6th Edition, Mc-GrawHill, 2013.</a:t>
            </a:r>
          </a:p>
          <a:p>
            <a:pPr algn="just">
              <a:lnSpc>
                <a:spcPct val="100000"/>
              </a:lnSpc>
              <a:spcBef>
                <a:spcPct val="0"/>
              </a:spcBef>
              <a:buFontTx/>
              <a:buNone/>
            </a:pPr>
            <a:r>
              <a:rPr lang="en-IN" altLang="en-US" sz="2400">
                <a:latin typeface="Times New Roman" panose="02020603050405020304" pitchFamily="18" charset="0"/>
                <a:cs typeface="Times New Roman" panose="02020603050405020304" pitchFamily="18" charset="0"/>
              </a:rPr>
              <a:t>2. Coronel, Morris, and Rob, Database Principles Fundamentals of Design, Implementation and Management, Cengage Learning 2012.</a:t>
            </a:r>
          </a:p>
          <a:p>
            <a:pPr algn="just">
              <a:lnSpc>
                <a:spcPct val="100000"/>
              </a:lnSpc>
              <a:spcBef>
                <a:spcPct val="0"/>
              </a:spcBef>
              <a:buFontTx/>
              <a:buNone/>
            </a:pPr>
            <a:endParaRPr lang="en-IN" altLang="en-US" sz="240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15">
            <a:extLst>
              <a:ext uri="{FF2B5EF4-FFF2-40B4-BE49-F238E27FC236}">
                <a16:creationId xmlns:a16="http://schemas.microsoft.com/office/drawing/2014/main" xmlns="" id="{6059529B-BEB2-4240-9948-05DF05D6B500}"/>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7171" name="Picture 1">
            <a:extLst>
              <a:ext uri="{FF2B5EF4-FFF2-40B4-BE49-F238E27FC236}">
                <a16:creationId xmlns:a16="http://schemas.microsoft.com/office/drawing/2014/main" xmlns="" id="{D998A43E-DB9F-4C8A-8883-DBE1824B79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2" name="Title 3">
            <a:extLst>
              <a:ext uri="{FF2B5EF4-FFF2-40B4-BE49-F238E27FC236}">
                <a16:creationId xmlns:a16="http://schemas.microsoft.com/office/drawing/2014/main" xmlns="" id="{8CB8A914-B15D-47C8-9E89-49203D61F94E}"/>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7173" name="TextBox 5">
            <a:extLst>
              <a:ext uri="{FF2B5EF4-FFF2-40B4-BE49-F238E27FC236}">
                <a16:creationId xmlns:a16="http://schemas.microsoft.com/office/drawing/2014/main" xmlns="" id="{EDE9E49E-0158-4481-9158-694F035F826E}"/>
              </a:ext>
            </a:extLst>
          </p:cNvPr>
          <p:cNvSpPr txBox="1">
            <a:spLocks noChangeArrowheads="1"/>
          </p:cNvSpPr>
          <p:nvPr/>
        </p:nvSpPr>
        <p:spPr bwMode="auto">
          <a:xfrm>
            <a:off x="2209800" y="1447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800">
              <a:latin typeface="Arial" panose="020B0604020202020204" pitchFamily="34" charset="0"/>
            </a:endParaRPr>
          </a:p>
        </p:txBody>
      </p:sp>
      <p:sp>
        <p:nvSpPr>
          <p:cNvPr id="7174" name="Rectangle 3">
            <a:extLst>
              <a:ext uri="{FF2B5EF4-FFF2-40B4-BE49-F238E27FC236}">
                <a16:creationId xmlns:a16="http://schemas.microsoft.com/office/drawing/2014/main" xmlns="" id="{435DBB14-ADC2-4D02-B14E-5B5A45510E25}"/>
              </a:ext>
            </a:extLst>
          </p:cNvPr>
          <p:cNvSpPr txBox="1">
            <a:spLocks noChangeArrowheads="1"/>
          </p:cNvSpPr>
          <p:nvPr/>
        </p:nvSpPr>
        <p:spPr bwMode="auto">
          <a:xfrm>
            <a:off x="854075" y="164147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pPr>
            <a:endParaRPr lang="en-US" altLang="en-US" sz="3200"/>
          </a:p>
        </p:txBody>
      </p:sp>
      <p:sp>
        <p:nvSpPr>
          <p:cNvPr id="7175" name="Rectangle 2">
            <a:extLst>
              <a:ext uri="{FF2B5EF4-FFF2-40B4-BE49-F238E27FC236}">
                <a16:creationId xmlns:a16="http://schemas.microsoft.com/office/drawing/2014/main" xmlns="" id="{86F28576-AE05-4ADD-81D2-AD8039752143}"/>
              </a:ext>
            </a:extLst>
          </p:cNvPr>
          <p:cNvSpPr txBox="1">
            <a:spLocks noChangeArrowheads="1"/>
          </p:cNvSpPr>
          <p:nvPr/>
        </p:nvSpPr>
        <p:spPr bwMode="auto">
          <a:xfrm>
            <a:off x="1022350" y="838200"/>
            <a:ext cx="76644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
        <p:nvSpPr>
          <p:cNvPr id="7176" name="Rectangle 3">
            <a:extLst>
              <a:ext uri="{FF2B5EF4-FFF2-40B4-BE49-F238E27FC236}">
                <a16:creationId xmlns:a16="http://schemas.microsoft.com/office/drawing/2014/main" xmlns="" id="{CF5439A3-6CD1-4777-8403-9604CE69AE34}"/>
              </a:ext>
            </a:extLst>
          </p:cNvPr>
          <p:cNvSpPr txBox="1">
            <a:spLocks noChangeArrowheads="1"/>
          </p:cNvSpPr>
          <p:nvPr/>
        </p:nvSpPr>
        <p:spPr bwMode="auto">
          <a:xfrm>
            <a:off x="806450" y="1793875"/>
            <a:ext cx="9879013"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buFontTx/>
              <a:buNone/>
            </a:pPr>
            <a:endParaRPr lang="en-US" altLang="en-US" sz="3200"/>
          </a:p>
        </p:txBody>
      </p:sp>
      <p:sp>
        <p:nvSpPr>
          <p:cNvPr id="7177" name="TextBox 9">
            <a:extLst>
              <a:ext uri="{FF2B5EF4-FFF2-40B4-BE49-F238E27FC236}">
                <a16:creationId xmlns:a16="http://schemas.microsoft.com/office/drawing/2014/main" xmlns="" id="{A38F9260-5E6B-4C79-9DC9-1CBF805C726C}"/>
              </a:ext>
            </a:extLst>
          </p:cNvPr>
          <p:cNvSpPr txBox="1">
            <a:spLocks noChangeArrowheads="1"/>
          </p:cNvSpPr>
          <p:nvPr/>
        </p:nvSpPr>
        <p:spPr bwMode="auto">
          <a:xfrm>
            <a:off x="2209800" y="1447800"/>
            <a:ext cx="184150"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US" altLang="en-US" sz="1800">
              <a:latin typeface="Arial" panose="020B0604020202020204" pitchFamily="34" charset="0"/>
            </a:endParaRPr>
          </a:p>
        </p:txBody>
      </p:sp>
      <p:sp>
        <p:nvSpPr>
          <p:cNvPr id="7178" name="Rectangle 3">
            <a:extLst>
              <a:ext uri="{FF2B5EF4-FFF2-40B4-BE49-F238E27FC236}">
                <a16:creationId xmlns:a16="http://schemas.microsoft.com/office/drawing/2014/main" xmlns="" id="{DDBA91D8-308A-43D5-AAFB-637B8B281EE2}"/>
              </a:ext>
            </a:extLst>
          </p:cNvPr>
          <p:cNvSpPr txBox="1">
            <a:spLocks noChangeArrowheads="1"/>
          </p:cNvSpPr>
          <p:nvPr/>
        </p:nvSpPr>
        <p:spPr bwMode="auto">
          <a:xfrm>
            <a:off x="854075" y="1641475"/>
            <a:ext cx="8229600" cy="453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20000"/>
              </a:spcBef>
            </a:pPr>
            <a:endParaRPr lang="en-US" altLang="en-US" sz="3200"/>
          </a:p>
        </p:txBody>
      </p:sp>
      <p:sp>
        <p:nvSpPr>
          <p:cNvPr id="7179" name="Rectangle 2">
            <a:extLst>
              <a:ext uri="{FF2B5EF4-FFF2-40B4-BE49-F238E27FC236}">
                <a16:creationId xmlns:a16="http://schemas.microsoft.com/office/drawing/2014/main" xmlns="" id="{A287CB6D-DB11-435B-ADC7-AFE49B362097}"/>
              </a:ext>
            </a:extLst>
          </p:cNvPr>
          <p:cNvSpPr txBox="1">
            <a:spLocks noChangeArrowheads="1"/>
          </p:cNvSpPr>
          <p:nvPr/>
        </p:nvSpPr>
        <p:spPr bwMode="auto">
          <a:xfrm>
            <a:off x="968375" y="569913"/>
            <a:ext cx="7718425" cy="576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
        <p:nvSpPr>
          <p:cNvPr id="7180" name="Rectangle 2">
            <a:extLst>
              <a:ext uri="{FF2B5EF4-FFF2-40B4-BE49-F238E27FC236}">
                <a16:creationId xmlns:a16="http://schemas.microsoft.com/office/drawing/2014/main" xmlns="" id="{C2A0A70F-E3A6-4C74-8F3F-A815268A0CF4}"/>
              </a:ext>
            </a:extLst>
          </p:cNvPr>
          <p:cNvSpPr txBox="1">
            <a:spLocks noChangeArrowheads="1"/>
          </p:cNvSpPr>
          <p:nvPr/>
        </p:nvSpPr>
        <p:spPr bwMode="auto">
          <a:xfrm>
            <a:off x="1398588" y="355600"/>
            <a:ext cx="9836150"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b="1">
                <a:latin typeface="Times New Roman" panose="02020603050405020304" pitchFamily="18" charset="0"/>
                <a:cs typeface="Times New Roman" panose="02020603050405020304" pitchFamily="18" charset="0"/>
              </a:rPr>
              <a:t>Module 1- syllabus</a:t>
            </a:r>
            <a:endParaRPr lang="en-US" altLang="en-US" b="1">
              <a:solidFill>
                <a:schemeClr val="tx2"/>
              </a:solidFill>
              <a:latin typeface="Calibri Light" panose="020F0302020204030204" pitchFamily="34" charset="0"/>
            </a:endParaRPr>
          </a:p>
        </p:txBody>
      </p:sp>
      <p:sp>
        <p:nvSpPr>
          <p:cNvPr id="4109" name="Rectangle 3">
            <a:extLst>
              <a:ext uri="{FF2B5EF4-FFF2-40B4-BE49-F238E27FC236}">
                <a16:creationId xmlns:a16="http://schemas.microsoft.com/office/drawing/2014/main" xmlns="" id="{6E36AA01-9A1D-475C-9785-3E9587E00EE0}"/>
              </a:ext>
            </a:extLst>
          </p:cNvPr>
          <p:cNvSpPr txBox="1">
            <a:spLocks noChangeArrowheads="1"/>
          </p:cNvSpPr>
          <p:nvPr/>
        </p:nvSpPr>
        <p:spPr bwMode="auto">
          <a:xfrm>
            <a:off x="846138" y="1033463"/>
            <a:ext cx="9718675" cy="4994275"/>
          </a:xfrm>
          <a:prstGeom prst="rect">
            <a:avLst/>
          </a:prstGeom>
          <a:noFill/>
          <a:ln>
            <a:noFill/>
          </a:ln>
        </p:spPr>
        <p:txBody>
          <a:bodyPr/>
          <a:lstStyle>
            <a:lvl1pPr marL="342900" indent="-342900">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just">
              <a:buFont typeface="Arial" pitchFamily="34" charset="0"/>
              <a:buChar char="•"/>
              <a:defRPr/>
            </a:pPr>
            <a:r>
              <a:rPr lang="en-US" sz="2400" dirty="0">
                <a:latin typeface="Times New Roman" pitchFamily="18" charset="0"/>
                <a:cs typeface="Times New Roman" pitchFamily="18" charset="0"/>
              </a:rPr>
              <a:t>Introduction, An example</a:t>
            </a:r>
          </a:p>
          <a:p>
            <a:pPr algn="just">
              <a:buFont typeface="Arial" pitchFamily="34" charset="0"/>
              <a:buChar char="•"/>
              <a:defRPr/>
            </a:pPr>
            <a:r>
              <a:rPr lang="en-US" sz="2400" dirty="0">
                <a:latin typeface="Times New Roman" pitchFamily="18" charset="0"/>
                <a:cs typeface="Times New Roman" pitchFamily="18" charset="0"/>
              </a:rPr>
              <a:t>Characteristics of Database approach</a:t>
            </a:r>
          </a:p>
          <a:p>
            <a:pPr algn="just">
              <a:buFont typeface="Arial" pitchFamily="34" charset="0"/>
              <a:buChar char="•"/>
              <a:defRPr/>
            </a:pPr>
            <a:r>
              <a:rPr lang="en-US" sz="2400" dirty="0">
                <a:latin typeface="Times New Roman" pitchFamily="18" charset="0"/>
                <a:cs typeface="Times New Roman" pitchFamily="18" charset="0"/>
              </a:rPr>
              <a:t>Advantages of using DBMS approach</a:t>
            </a:r>
          </a:p>
          <a:p>
            <a:pPr algn="just">
              <a:buFont typeface="Arial" pitchFamily="34" charset="0"/>
              <a:buChar char="•"/>
              <a:defRPr/>
            </a:pPr>
            <a:r>
              <a:rPr lang="en-US" sz="2400" dirty="0">
                <a:latin typeface="Times New Roman" pitchFamily="18" charset="0"/>
                <a:cs typeface="Times New Roman" pitchFamily="18" charset="0"/>
              </a:rPr>
              <a:t>A brief history of database applications</a:t>
            </a:r>
          </a:p>
          <a:p>
            <a:pPr algn="just">
              <a:buFont typeface="Arial" pitchFamily="34" charset="0"/>
              <a:buChar char="•"/>
              <a:defRPr/>
            </a:pPr>
            <a:r>
              <a:rPr lang="en-US" sz="2400" dirty="0">
                <a:latin typeface="Times New Roman" pitchFamily="18" charset="0"/>
                <a:cs typeface="Times New Roman" pitchFamily="18" charset="0"/>
              </a:rPr>
              <a:t>Data models, schemas and instances</a:t>
            </a:r>
          </a:p>
          <a:p>
            <a:pPr algn="just">
              <a:buFont typeface="Arial" pitchFamily="34" charset="0"/>
              <a:buChar char="•"/>
              <a:defRPr/>
            </a:pPr>
            <a:r>
              <a:rPr lang="en-US" sz="2400" dirty="0">
                <a:latin typeface="Times New Roman" pitchFamily="18" charset="0"/>
                <a:cs typeface="Times New Roman" pitchFamily="18" charset="0"/>
              </a:rPr>
              <a:t>Three-schema architecture and data independence</a:t>
            </a:r>
          </a:p>
          <a:p>
            <a:pPr algn="just">
              <a:buFont typeface="Arial" pitchFamily="34" charset="0"/>
              <a:buChar char="•"/>
              <a:defRPr/>
            </a:pPr>
            <a:r>
              <a:rPr lang="en-US" sz="2400" dirty="0">
                <a:latin typeface="Times New Roman" pitchFamily="18" charset="0"/>
                <a:cs typeface="Times New Roman" pitchFamily="18" charset="0"/>
              </a:rPr>
              <a:t>Database languages and interfaces </a:t>
            </a:r>
          </a:p>
          <a:p>
            <a:pPr algn="just">
              <a:buFont typeface="Arial" pitchFamily="34" charset="0"/>
              <a:buChar char="•"/>
              <a:defRPr/>
            </a:pPr>
            <a:r>
              <a:rPr lang="en-US" sz="2400" dirty="0">
                <a:latin typeface="Times New Roman" pitchFamily="18" charset="0"/>
                <a:cs typeface="Times New Roman" pitchFamily="18" charset="0"/>
              </a:rPr>
              <a:t>The database system environment</a:t>
            </a:r>
          </a:p>
          <a:p>
            <a:pPr algn="just">
              <a:buFont typeface="Arial" pitchFamily="34" charset="0"/>
              <a:buChar char="•"/>
              <a:defRPr/>
            </a:pPr>
            <a:r>
              <a:rPr lang="en-IN" sz="2400" dirty="0">
                <a:latin typeface="Times New Roman" pitchFamily="18" charset="0"/>
                <a:cs typeface="Times New Roman" pitchFamily="18" charset="0"/>
              </a:rPr>
              <a:t>Conceptual Data Modelling using Entities and Relationships</a:t>
            </a:r>
          </a:p>
          <a:p>
            <a:pPr algn="just">
              <a:buFont typeface="Arial" pitchFamily="34" charset="0"/>
              <a:buChar char="•"/>
              <a:defRPr/>
            </a:pPr>
            <a:r>
              <a:rPr lang="en-IN" sz="2400" dirty="0">
                <a:latin typeface="Times New Roman" pitchFamily="18" charset="0"/>
                <a:cs typeface="Times New Roman" pitchFamily="18" charset="0"/>
              </a:rPr>
              <a:t>Entity types, Entity sets, attributes, roles, and structural constraints</a:t>
            </a:r>
          </a:p>
          <a:p>
            <a:pPr algn="just">
              <a:buFont typeface="Arial" pitchFamily="34" charset="0"/>
              <a:buChar char="•"/>
              <a:defRPr/>
            </a:pPr>
            <a:r>
              <a:rPr lang="en-IN" sz="2400" dirty="0">
                <a:latin typeface="Times New Roman" pitchFamily="18" charset="0"/>
                <a:cs typeface="Times New Roman" pitchFamily="18" charset="0"/>
              </a:rPr>
              <a:t>Weak entity types, ER diagrams, example</a:t>
            </a:r>
          </a:p>
          <a:p>
            <a:pPr marL="0" indent="0" algn="just">
              <a:defRPr/>
            </a:pPr>
            <a:endParaRPr lang="en-US" sz="2400" dirty="0">
              <a:latin typeface="Times New Roman" pitchFamily="18" charset="0"/>
              <a:cs typeface="Times New Roman" pitchFamily="18" charset="0"/>
            </a:endParaRPr>
          </a:p>
          <a:p>
            <a:pPr marL="457200" indent="-457200" algn="just">
              <a:buFont typeface="Arial" pitchFamily="34" charset="0"/>
              <a:buChar char="•"/>
              <a:defRPr/>
            </a:pPr>
            <a:endParaRPr lang="en-IN" sz="2800" dirty="0">
              <a:latin typeface="Times New Roman" pitchFamily="18" charset="0"/>
              <a:cs typeface="Times New Roman" pitchFamily="18" charset="0"/>
            </a:endParaRPr>
          </a:p>
        </p:txBody>
      </p:sp>
    </p:spTree>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15">
            <a:extLst>
              <a:ext uri="{FF2B5EF4-FFF2-40B4-BE49-F238E27FC236}">
                <a16:creationId xmlns:a16="http://schemas.microsoft.com/office/drawing/2014/main" xmlns="" id="{DF272BD6-15FB-4C2A-9210-2C24C6E630B6}"/>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4339" name="Picture 1">
            <a:extLst>
              <a:ext uri="{FF2B5EF4-FFF2-40B4-BE49-F238E27FC236}">
                <a16:creationId xmlns:a16="http://schemas.microsoft.com/office/drawing/2014/main" xmlns="" id="{F576A32E-D0C2-462E-A8C7-6D39A8DD43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0" name="Title 3">
            <a:extLst>
              <a:ext uri="{FF2B5EF4-FFF2-40B4-BE49-F238E27FC236}">
                <a16:creationId xmlns:a16="http://schemas.microsoft.com/office/drawing/2014/main" xmlns="" id="{7CDF72BB-13B1-4F44-91C4-115A0F19716A}"/>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4341" name="Rectangle 2">
            <a:extLst>
              <a:ext uri="{FF2B5EF4-FFF2-40B4-BE49-F238E27FC236}">
                <a16:creationId xmlns:a16="http://schemas.microsoft.com/office/drawing/2014/main" xmlns="" id="{EE742078-304C-4D2B-A881-1F79EA9ED02D}"/>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 Basic Definitions</a:t>
            </a:r>
          </a:p>
        </p:txBody>
      </p:sp>
      <p:sp>
        <p:nvSpPr>
          <p:cNvPr id="14342" name="Content Placeholder 15">
            <a:extLst>
              <a:ext uri="{FF2B5EF4-FFF2-40B4-BE49-F238E27FC236}">
                <a16:creationId xmlns:a16="http://schemas.microsoft.com/office/drawing/2014/main" xmlns="" id="{9D155988-D555-4886-A585-6CDD9281C9A0}"/>
              </a:ext>
            </a:extLst>
          </p:cNvPr>
          <p:cNvSpPr txBox="1">
            <a:spLocks/>
          </p:cNvSpPr>
          <p:nvPr/>
        </p:nvSpPr>
        <p:spPr bwMode="auto">
          <a:xfrm>
            <a:off x="692150" y="852488"/>
            <a:ext cx="10567988"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b="1">
                <a:solidFill>
                  <a:srgbClr val="FF0000"/>
                </a:solidFill>
                <a:latin typeface="Times New Roman" panose="02020603050405020304" pitchFamily="18" charset="0"/>
                <a:cs typeface="Times New Roman" panose="02020603050405020304" pitchFamily="18" charset="0"/>
              </a:rPr>
              <a:t>Database:</a:t>
            </a:r>
          </a:p>
          <a:p>
            <a:pPr lvl="1" algn="just"/>
            <a:r>
              <a:rPr lang="en-US" altLang="en-US">
                <a:latin typeface="Times New Roman" panose="02020603050405020304" pitchFamily="18" charset="0"/>
                <a:cs typeface="Times New Roman" panose="02020603050405020304" pitchFamily="18" charset="0"/>
              </a:rPr>
              <a:t>A collection of related data.</a:t>
            </a:r>
          </a:p>
          <a:p>
            <a:pPr algn="just"/>
            <a:r>
              <a:rPr lang="en-US" altLang="en-US" sz="2400" b="1">
                <a:solidFill>
                  <a:srgbClr val="FF0000"/>
                </a:solidFill>
                <a:latin typeface="Times New Roman" panose="02020603050405020304" pitchFamily="18" charset="0"/>
                <a:cs typeface="Times New Roman" panose="02020603050405020304" pitchFamily="18" charset="0"/>
              </a:rPr>
              <a:t>Data:</a:t>
            </a:r>
          </a:p>
          <a:p>
            <a:pPr lvl="1" algn="just"/>
            <a:r>
              <a:rPr lang="en-US" altLang="en-US">
                <a:latin typeface="Times New Roman" panose="02020603050405020304" pitchFamily="18" charset="0"/>
                <a:cs typeface="Times New Roman" panose="02020603050405020304" pitchFamily="18" charset="0"/>
              </a:rPr>
              <a:t>Real world facts that can be recorded and have an implicit meaning.</a:t>
            </a:r>
          </a:p>
          <a:p>
            <a:pPr algn="just"/>
            <a:r>
              <a:rPr lang="en-US" altLang="en-US" sz="2400" b="1">
                <a:solidFill>
                  <a:srgbClr val="FF0000"/>
                </a:solidFill>
                <a:latin typeface="Times New Roman" panose="02020603050405020304" pitchFamily="18" charset="0"/>
                <a:cs typeface="Times New Roman" panose="02020603050405020304" pitchFamily="18" charset="0"/>
              </a:rPr>
              <a:t>Database Management System (DBMS):</a:t>
            </a:r>
          </a:p>
          <a:p>
            <a:pPr lvl="1" algn="just"/>
            <a:r>
              <a:rPr lang="en-US" altLang="en-US">
                <a:latin typeface="Times New Roman" panose="02020603050405020304" pitchFamily="18" charset="0"/>
                <a:cs typeface="Times New Roman" panose="02020603050405020304" pitchFamily="18" charset="0"/>
              </a:rPr>
              <a:t>A software package/ system to facilitate the creation and maintenance of a computerized database. (eg. Oracle, SQL Server , MS Access, DB2, MySQL)</a:t>
            </a:r>
          </a:p>
          <a:p>
            <a:pPr algn="just"/>
            <a:r>
              <a:rPr lang="en-US" altLang="en-US" sz="2400" b="1">
                <a:solidFill>
                  <a:srgbClr val="FF0000"/>
                </a:solidFill>
                <a:latin typeface="Times New Roman" panose="02020603050405020304" pitchFamily="18" charset="0"/>
                <a:cs typeface="Times New Roman" panose="02020603050405020304" pitchFamily="18" charset="0"/>
              </a:rPr>
              <a:t>Database System:</a:t>
            </a:r>
          </a:p>
          <a:p>
            <a:pPr lvl="1" algn="just"/>
            <a:r>
              <a:rPr lang="en-US" altLang="en-US">
                <a:latin typeface="Times New Roman" panose="02020603050405020304" pitchFamily="18" charset="0"/>
                <a:cs typeface="Times New Roman" panose="02020603050405020304" pitchFamily="18" charset="0"/>
              </a:rPr>
              <a:t>The DBMS software together with the data itself.  Sometimes, the applications are also included.(eg. Flipkart)</a:t>
            </a:r>
          </a:p>
          <a:p>
            <a:pPr algn="just"/>
            <a:endParaRPr lang="en-IN" altLang="en-US">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15">
            <a:extLst>
              <a:ext uri="{FF2B5EF4-FFF2-40B4-BE49-F238E27FC236}">
                <a16:creationId xmlns:a16="http://schemas.microsoft.com/office/drawing/2014/main" xmlns="" id="{8DA18B5E-3674-4460-B5D7-6DCA6E932302}"/>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5363" name="Picture 1">
            <a:extLst>
              <a:ext uri="{FF2B5EF4-FFF2-40B4-BE49-F238E27FC236}">
                <a16:creationId xmlns:a16="http://schemas.microsoft.com/office/drawing/2014/main" xmlns="" id="{9782C2BE-0E25-4178-9272-3745273370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4" name="Title 3">
            <a:extLst>
              <a:ext uri="{FF2B5EF4-FFF2-40B4-BE49-F238E27FC236}">
                <a16:creationId xmlns:a16="http://schemas.microsoft.com/office/drawing/2014/main" xmlns="" id="{F3B26DD6-5B59-4C4F-B7E1-5C9D55D2DF62}"/>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5365" name="Rectangle 2">
            <a:extLst>
              <a:ext uri="{FF2B5EF4-FFF2-40B4-BE49-F238E27FC236}">
                <a16:creationId xmlns:a16="http://schemas.microsoft.com/office/drawing/2014/main" xmlns="" id="{89D4ACF7-C383-44FB-B28E-1A73D78D333B}"/>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
        <p:nvSpPr>
          <p:cNvPr id="15366" name="Content Placeholder 13">
            <a:extLst>
              <a:ext uri="{FF2B5EF4-FFF2-40B4-BE49-F238E27FC236}">
                <a16:creationId xmlns:a16="http://schemas.microsoft.com/office/drawing/2014/main" xmlns="" id="{59E198B4-7745-4211-920F-4B3832D423C3}"/>
              </a:ext>
            </a:extLst>
          </p:cNvPr>
          <p:cNvSpPr txBox="1">
            <a:spLocks/>
          </p:cNvSpPr>
          <p:nvPr/>
        </p:nvSpPr>
        <p:spPr bwMode="auto">
          <a:xfrm>
            <a:off x="457200" y="909638"/>
            <a:ext cx="10960100" cy="521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buFont typeface="Arial" panose="020B0604020202020204" pitchFamily="34" charset="0"/>
              <a:buNone/>
            </a:pPr>
            <a:r>
              <a:rPr lang="en-US" altLang="en-US">
                <a:latin typeface="Times New Roman" panose="02020603050405020304" pitchFamily="18" charset="0"/>
                <a:cs typeface="Times New Roman" panose="02020603050405020304" pitchFamily="18" charset="0"/>
              </a:rPr>
              <a:t>A database has the following implicit properties:</a:t>
            </a:r>
          </a:p>
          <a:p>
            <a:pPr lvl="1" algn="just"/>
            <a:r>
              <a:rPr lang="en-US" altLang="en-US">
                <a:latin typeface="Times New Roman" panose="02020603050405020304" pitchFamily="18" charset="0"/>
                <a:cs typeface="Times New Roman" panose="02020603050405020304" pitchFamily="18" charset="0"/>
              </a:rPr>
              <a:t>A database represents some aspect of the real world, sometimes called the miniworld or the universe of discourse (UoD). Changes to the miniworld  are reflected in the database.</a:t>
            </a:r>
          </a:p>
          <a:p>
            <a:pPr lvl="1" algn="just"/>
            <a:r>
              <a:rPr lang="en-US" altLang="en-US">
                <a:latin typeface="Times New Roman" panose="02020603050405020304" pitchFamily="18" charset="0"/>
                <a:cs typeface="Times New Roman" panose="02020603050405020304" pitchFamily="18" charset="0"/>
              </a:rPr>
              <a:t>A database is a logically coherent collection of data with some inherent meaning. A random assortment of data cannot correctly be referred to as a database.</a:t>
            </a:r>
          </a:p>
          <a:p>
            <a:pPr lvl="1" algn="just"/>
            <a:r>
              <a:rPr lang="en-US" altLang="en-US">
                <a:latin typeface="Times New Roman" panose="02020603050405020304" pitchFamily="18" charset="0"/>
                <a:cs typeface="Times New Roman" panose="02020603050405020304" pitchFamily="18" charset="0"/>
              </a:rPr>
              <a:t>A database is designed, built, and populated with data for a specific purpose. It has an intended group of users and some preconceived applications in which these users are interested.</a:t>
            </a:r>
            <a:endParaRPr lang="en-IN" altLang="en-US">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15">
            <a:extLst>
              <a:ext uri="{FF2B5EF4-FFF2-40B4-BE49-F238E27FC236}">
                <a16:creationId xmlns:a16="http://schemas.microsoft.com/office/drawing/2014/main" xmlns="" id="{3690131E-B7BF-421A-82D3-74ACC2878749}"/>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6387" name="Picture 1">
            <a:extLst>
              <a:ext uri="{FF2B5EF4-FFF2-40B4-BE49-F238E27FC236}">
                <a16:creationId xmlns:a16="http://schemas.microsoft.com/office/drawing/2014/main" xmlns="" id="{81D74AA9-6E48-4DEF-93D0-EFC3D033E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388" name="Title 3">
            <a:extLst>
              <a:ext uri="{FF2B5EF4-FFF2-40B4-BE49-F238E27FC236}">
                <a16:creationId xmlns:a16="http://schemas.microsoft.com/office/drawing/2014/main" xmlns="" id="{174C217E-9DBF-48A9-8B9E-E2A4BA775547}"/>
              </a:ext>
            </a:extLst>
          </p:cNvPr>
          <p:cNvSpPr txBox="1">
            <a:spLocks/>
          </p:cNvSpPr>
          <p:nvPr/>
        </p:nvSpPr>
        <p:spPr bwMode="auto">
          <a:xfrm>
            <a:off x="463550" y="852488"/>
            <a:ext cx="11353800" cy="560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US" altLang="en-US" sz="1600" b="1">
                <a:latin typeface="Times New Roman" panose="02020603050405020304" pitchFamily="18" charset="0"/>
                <a:cs typeface="Times New Roman" panose="02020603050405020304" pitchFamily="18" charset="0"/>
              </a:rPr>
              <a:t>Figure 1.1 A simplified  database system environment </a:t>
            </a:r>
          </a:p>
          <a:p>
            <a:pPr algn="ctr" eaLnBrk="1" hangingPunct="1">
              <a:lnSpc>
                <a:spcPct val="101000"/>
              </a:lnSpc>
              <a:spcBef>
                <a:spcPct val="0"/>
              </a:spcBef>
              <a:buFontTx/>
              <a:buNone/>
            </a:pPr>
            <a:endParaRPr lang="en-US" altLang="en-US" sz="16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400" b="1">
              <a:latin typeface="Times New Roman" panose="02020603050405020304" pitchFamily="18" charset="0"/>
              <a:cs typeface="Times New Roman" panose="02020603050405020304" pitchFamily="18" charset="0"/>
            </a:endParaRPr>
          </a:p>
        </p:txBody>
      </p:sp>
      <p:sp>
        <p:nvSpPr>
          <p:cNvPr id="16389" name="Rectangle 2">
            <a:extLst>
              <a:ext uri="{FF2B5EF4-FFF2-40B4-BE49-F238E27FC236}">
                <a16:creationId xmlns:a16="http://schemas.microsoft.com/office/drawing/2014/main" xmlns="" id="{1A0254A5-46E6-4E7C-8B24-14E5A99721CC}"/>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 Database system environment</a:t>
            </a:r>
            <a:endParaRPr lang="en-US" altLang="en-US" b="1">
              <a:latin typeface="Calibri Light" panose="020F0302020204030204" pitchFamily="34" charset="0"/>
            </a:endParaRPr>
          </a:p>
        </p:txBody>
      </p:sp>
      <p:pic>
        <p:nvPicPr>
          <p:cNvPr id="16390" name="Picture 8">
            <a:extLst>
              <a:ext uri="{FF2B5EF4-FFF2-40B4-BE49-F238E27FC236}">
                <a16:creationId xmlns:a16="http://schemas.microsoft.com/office/drawing/2014/main" xmlns="" id="{0CB078B8-626C-45CC-BF18-8517B8BF52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6575" y="876300"/>
            <a:ext cx="6038850" cy="5105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15">
            <a:extLst>
              <a:ext uri="{FF2B5EF4-FFF2-40B4-BE49-F238E27FC236}">
                <a16:creationId xmlns:a16="http://schemas.microsoft.com/office/drawing/2014/main" xmlns="" id="{2910875D-CCFD-4C8A-98BB-D55955666177}"/>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7411" name="Picture 1">
            <a:extLst>
              <a:ext uri="{FF2B5EF4-FFF2-40B4-BE49-F238E27FC236}">
                <a16:creationId xmlns:a16="http://schemas.microsoft.com/office/drawing/2014/main" xmlns="" id="{33D2AD92-C3BD-421A-8A0A-6C10484D87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412" name="Title 3">
            <a:extLst>
              <a:ext uri="{FF2B5EF4-FFF2-40B4-BE49-F238E27FC236}">
                <a16:creationId xmlns:a16="http://schemas.microsoft.com/office/drawing/2014/main" xmlns="" id="{C48C3935-818D-4CF3-B08F-9F3C701CD420}"/>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7413" name="Rectangle 2">
            <a:extLst>
              <a:ext uri="{FF2B5EF4-FFF2-40B4-BE49-F238E27FC236}">
                <a16:creationId xmlns:a16="http://schemas.microsoft.com/office/drawing/2014/main" xmlns="" id="{894F7C3A-F780-4920-8807-EF94648DDD1D}"/>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Typical DBMS Functionality</a:t>
            </a:r>
          </a:p>
        </p:txBody>
      </p:sp>
      <p:sp>
        <p:nvSpPr>
          <p:cNvPr id="17414" name="Rectangle 5">
            <a:extLst>
              <a:ext uri="{FF2B5EF4-FFF2-40B4-BE49-F238E27FC236}">
                <a16:creationId xmlns:a16="http://schemas.microsoft.com/office/drawing/2014/main" xmlns="" id="{170DBF8A-6513-4713-9180-D93CD9BBE1B3}"/>
              </a:ext>
            </a:extLst>
          </p:cNvPr>
          <p:cNvSpPr txBox="1">
            <a:spLocks noChangeArrowheads="1"/>
          </p:cNvSpPr>
          <p:nvPr/>
        </p:nvSpPr>
        <p:spPr bwMode="auto">
          <a:xfrm>
            <a:off x="239713" y="1600200"/>
            <a:ext cx="10825162"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i="1">
                <a:solidFill>
                  <a:srgbClr val="FF0000"/>
                </a:solidFill>
                <a:latin typeface="Times New Roman" panose="02020603050405020304" pitchFamily="18" charset="0"/>
                <a:cs typeface="Times New Roman" panose="02020603050405020304" pitchFamily="18" charset="0"/>
              </a:rPr>
              <a:t>Define</a:t>
            </a:r>
            <a:r>
              <a:rPr lang="en-US" altLang="en-US" sz="2400">
                <a:latin typeface="Times New Roman" panose="02020603050405020304" pitchFamily="18" charset="0"/>
                <a:cs typeface="Times New Roman" panose="02020603050405020304" pitchFamily="18" charset="0"/>
              </a:rPr>
              <a:t> a particular database in terms of its data types, structures, and constraints</a:t>
            </a:r>
          </a:p>
          <a:p>
            <a:pPr algn="just"/>
            <a:r>
              <a:rPr lang="en-US" altLang="en-US" sz="2400" i="1">
                <a:solidFill>
                  <a:srgbClr val="FF0000"/>
                </a:solidFill>
                <a:latin typeface="Times New Roman" panose="02020603050405020304" pitchFamily="18" charset="0"/>
                <a:cs typeface="Times New Roman" panose="02020603050405020304" pitchFamily="18" charset="0"/>
              </a:rPr>
              <a:t>Construct</a:t>
            </a:r>
            <a:r>
              <a:rPr lang="en-US" altLang="en-US" sz="2400">
                <a:latin typeface="Times New Roman" panose="02020603050405020304" pitchFamily="18" charset="0"/>
                <a:cs typeface="Times New Roman" panose="02020603050405020304" pitchFamily="18" charset="0"/>
              </a:rPr>
              <a:t> or Load the initial database contents on a secondary storage medium</a:t>
            </a:r>
          </a:p>
          <a:p>
            <a:pPr algn="just"/>
            <a:r>
              <a:rPr lang="en-US" altLang="en-US" sz="2400" i="1">
                <a:solidFill>
                  <a:srgbClr val="FF0000"/>
                </a:solidFill>
                <a:latin typeface="Times New Roman" panose="02020603050405020304" pitchFamily="18" charset="0"/>
                <a:cs typeface="Times New Roman" panose="02020603050405020304" pitchFamily="18" charset="0"/>
              </a:rPr>
              <a:t>Manipulating</a:t>
            </a:r>
            <a:r>
              <a:rPr lang="en-US" altLang="en-US" sz="2400">
                <a:latin typeface="Times New Roman" panose="02020603050405020304" pitchFamily="18" charset="0"/>
                <a:cs typeface="Times New Roman" panose="02020603050405020304" pitchFamily="18" charset="0"/>
              </a:rPr>
              <a:t> the database:</a:t>
            </a:r>
          </a:p>
          <a:p>
            <a:pPr lvl="1" algn="just"/>
            <a:r>
              <a:rPr lang="en-US" altLang="en-US">
                <a:solidFill>
                  <a:schemeClr val="accent1"/>
                </a:solidFill>
                <a:latin typeface="Times New Roman" panose="02020603050405020304" pitchFamily="18" charset="0"/>
                <a:cs typeface="Times New Roman" panose="02020603050405020304" pitchFamily="18" charset="0"/>
              </a:rPr>
              <a:t>Retrieval</a:t>
            </a:r>
            <a:r>
              <a:rPr lang="en-US" altLang="en-US">
                <a:latin typeface="Times New Roman" panose="02020603050405020304" pitchFamily="18" charset="0"/>
                <a:cs typeface="Times New Roman" panose="02020603050405020304" pitchFamily="18" charset="0"/>
              </a:rPr>
              <a:t>: Querying, generating reports</a:t>
            </a:r>
          </a:p>
          <a:p>
            <a:pPr lvl="1" algn="just"/>
            <a:r>
              <a:rPr lang="en-US" altLang="en-US">
                <a:solidFill>
                  <a:schemeClr val="accent1"/>
                </a:solidFill>
                <a:latin typeface="Times New Roman" panose="02020603050405020304" pitchFamily="18" charset="0"/>
                <a:cs typeface="Times New Roman" panose="02020603050405020304" pitchFamily="18" charset="0"/>
              </a:rPr>
              <a:t>Modification</a:t>
            </a:r>
            <a:r>
              <a:rPr lang="en-US" altLang="en-US">
                <a:latin typeface="Times New Roman" panose="02020603050405020304" pitchFamily="18" charset="0"/>
                <a:cs typeface="Times New Roman" panose="02020603050405020304" pitchFamily="18" charset="0"/>
              </a:rPr>
              <a:t>: Insertions, deletions and updates to its content</a:t>
            </a:r>
          </a:p>
          <a:p>
            <a:pPr lvl="1" algn="just"/>
            <a:r>
              <a:rPr lang="en-US" altLang="en-US">
                <a:solidFill>
                  <a:schemeClr val="accent1"/>
                </a:solidFill>
                <a:latin typeface="Times New Roman" panose="02020603050405020304" pitchFamily="18" charset="0"/>
                <a:cs typeface="Times New Roman" panose="02020603050405020304" pitchFamily="18" charset="0"/>
              </a:rPr>
              <a:t>Accessing</a:t>
            </a:r>
            <a:r>
              <a:rPr lang="en-US" altLang="en-US">
                <a:latin typeface="Times New Roman" panose="02020603050405020304" pitchFamily="18" charset="0"/>
                <a:cs typeface="Times New Roman" panose="02020603050405020304" pitchFamily="18" charset="0"/>
              </a:rPr>
              <a:t> the database through Web applications</a:t>
            </a:r>
          </a:p>
          <a:p>
            <a:pPr algn="just"/>
            <a:r>
              <a:rPr lang="en-US" altLang="en-US" sz="2400" i="1">
                <a:solidFill>
                  <a:srgbClr val="FF0000"/>
                </a:solidFill>
                <a:latin typeface="Times New Roman" panose="02020603050405020304" pitchFamily="18" charset="0"/>
                <a:cs typeface="Times New Roman" panose="02020603050405020304" pitchFamily="18" charset="0"/>
              </a:rPr>
              <a:t>Processing</a:t>
            </a:r>
            <a:r>
              <a:rPr lang="en-US" altLang="en-US" sz="2400">
                <a:latin typeface="Times New Roman" panose="02020603050405020304" pitchFamily="18" charset="0"/>
                <a:cs typeface="Times New Roman" panose="02020603050405020304" pitchFamily="18" charset="0"/>
              </a:rPr>
              <a:t> and </a:t>
            </a:r>
            <a:r>
              <a:rPr lang="en-US" altLang="en-US" sz="2400" i="1">
                <a:solidFill>
                  <a:srgbClr val="FF0000"/>
                </a:solidFill>
                <a:latin typeface="Times New Roman" panose="02020603050405020304" pitchFamily="18" charset="0"/>
                <a:cs typeface="Times New Roman" panose="02020603050405020304" pitchFamily="18" charset="0"/>
              </a:rPr>
              <a:t>Sharing</a:t>
            </a:r>
            <a:r>
              <a:rPr lang="en-US" altLang="en-US" sz="2400">
                <a:latin typeface="Times New Roman" panose="02020603050405020304" pitchFamily="18" charset="0"/>
                <a:cs typeface="Times New Roman" panose="02020603050405020304" pitchFamily="18" charset="0"/>
              </a:rPr>
              <a:t> by a set of concurrent users and application programs – yet, keeping all data valid and consistent</a:t>
            </a:r>
          </a:p>
        </p:txBody>
      </p:sp>
    </p:spTree>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15">
            <a:extLst>
              <a:ext uri="{FF2B5EF4-FFF2-40B4-BE49-F238E27FC236}">
                <a16:creationId xmlns:a16="http://schemas.microsoft.com/office/drawing/2014/main" xmlns="" id="{DBBCF2D4-505C-470E-9E37-73A4D9FECA99}"/>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8435" name="Picture 1">
            <a:extLst>
              <a:ext uri="{FF2B5EF4-FFF2-40B4-BE49-F238E27FC236}">
                <a16:creationId xmlns:a16="http://schemas.microsoft.com/office/drawing/2014/main" xmlns="" id="{B9A3DC39-8CE5-45E1-B9FC-894D601031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436" name="Title 3">
            <a:extLst>
              <a:ext uri="{FF2B5EF4-FFF2-40B4-BE49-F238E27FC236}">
                <a16:creationId xmlns:a16="http://schemas.microsoft.com/office/drawing/2014/main" xmlns="" id="{996B5DB1-5AC1-45EC-9574-5D5EE45C53DB}"/>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8437" name="Rectangle 2">
            <a:extLst>
              <a:ext uri="{FF2B5EF4-FFF2-40B4-BE49-F238E27FC236}">
                <a16:creationId xmlns:a16="http://schemas.microsoft.com/office/drawing/2014/main" xmlns="" id="{5E5A413D-A33C-4F05-9859-A549871ED717}"/>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Typical DBMS Functionality</a:t>
            </a:r>
          </a:p>
        </p:txBody>
      </p:sp>
      <p:sp>
        <p:nvSpPr>
          <p:cNvPr id="18438" name="Rectangle 5">
            <a:extLst>
              <a:ext uri="{FF2B5EF4-FFF2-40B4-BE49-F238E27FC236}">
                <a16:creationId xmlns:a16="http://schemas.microsoft.com/office/drawing/2014/main" xmlns="" id="{651CCAD1-C368-46F7-8C37-B27DFC26BA2E}"/>
              </a:ext>
            </a:extLst>
          </p:cNvPr>
          <p:cNvSpPr txBox="1">
            <a:spLocks noChangeArrowheads="1"/>
          </p:cNvSpPr>
          <p:nvPr/>
        </p:nvSpPr>
        <p:spPr bwMode="auto">
          <a:xfrm>
            <a:off x="879475" y="1109663"/>
            <a:ext cx="1031557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a:latin typeface="Times New Roman" panose="02020603050405020304" pitchFamily="18" charset="0"/>
                <a:cs typeface="Times New Roman" panose="02020603050405020304" pitchFamily="18" charset="0"/>
              </a:rPr>
              <a:t>Other features:</a:t>
            </a:r>
          </a:p>
          <a:p>
            <a:pPr lvl="1" algn="just"/>
            <a:r>
              <a:rPr lang="en-US" altLang="en-US">
                <a:solidFill>
                  <a:srgbClr val="FF0000"/>
                </a:solidFill>
                <a:latin typeface="Times New Roman" panose="02020603050405020304" pitchFamily="18" charset="0"/>
                <a:cs typeface="Times New Roman" panose="02020603050405020304" pitchFamily="18" charset="0"/>
              </a:rPr>
              <a:t>Protection </a:t>
            </a:r>
            <a:r>
              <a:rPr lang="en-US" altLang="en-US">
                <a:latin typeface="Times New Roman" panose="02020603050405020304" pitchFamily="18" charset="0"/>
                <a:cs typeface="Times New Roman" panose="02020603050405020304" pitchFamily="18" charset="0"/>
              </a:rPr>
              <a:t>or </a:t>
            </a:r>
            <a:r>
              <a:rPr lang="en-US" altLang="en-US">
                <a:solidFill>
                  <a:srgbClr val="FF0000"/>
                </a:solidFill>
                <a:latin typeface="Times New Roman" panose="02020603050405020304" pitchFamily="18" charset="0"/>
                <a:cs typeface="Times New Roman" panose="02020603050405020304" pitchFamily="18" charset="0"/>
              </a:rPr>
              <a:t>Security</a:t>
            </a:r>
            <a:r>
              <a:rPr lang="en-US" altLang="en-US">
                <a:latin typeface="Times New Roman" panose="02020603050405020304" pitchFamily="18" charset="0"/>
                <a:cs typeface="Times New Roman" panose="02020603050405020304" pitchFamily="18" charset="0"/>
              </a:rPr>
              <a:t> measures to prevent unauthorized access</a:t>
            </a:r>
          </a:p>
          <a:p>
            <a:pPr lvl="1" algn="just"/>
            <a:r>
              <a:rPr lang="en-US" altLang="en-US">
                <a:latin typeface="Times New Roman" panose="02020603050405020304" pitchFamily="18" charset="0"/>
                <a:cs typeface="Times New Roman" panose="02020603050405020304" pitchFamily="18" charset="0"/>
              </a:rPr>
              <a:t>“Active” processing to take internal actions on data</a:t>
            </a:r>
          </a:p>
          <a:p>
            <a:pPr lvl="1" algn="just"/>
            <a:r>
              <a:rPr lang="en-US" altLang="en-US">
                <a:latin typeface="Times New Roman" panose="02020603050405020304" pitchFamily="18" charset="0"/>
                <a:cs typeface="Times New Roman" panose="02020603050405020304" pitchFamily="18" charset="0"/>
              </a:rPr>
              <a:t>Presentation and Visualization of data</a:t>
            </a:r>
          </a:p>
          <a:p>
            <a:pPr lvl="1" algn="just"/>
            <a:r>
              <a:rPr lang="en-US" altLang="en-US">
                <a:solidFill>
                  <a:srgbClr val="FF0000"/>
                </a:solidFill>
                <a:latin typeface="Times New Roman" panose="02020603050405020304" pitchFamily="18" charset="0"/>
                <a:cs typeface="Times New Roman" panose="02020603050405020304" pitchFamily="18" charset="0"/>
              </a:rPr>
              <a:t>Maintaining</a:t>
            </a:r>
            <a:r>
              <a:rPr lang="en-US" altLang="en-US">
                <a:latin typeface="Times New Roman" panose="02020603050405020304" pitchFamily="18" charset="0"/>
                <a:cs typeface="Times New Roman" panose="02020603050405020304" pitchFamily="18" charset="0"/>
              </a:rPr>
              <a:t> the database and associated programs over the lifetime of the database application</a:t>
            </a:r>
          </a:p>
          <a:p>
            <a:pPr lvl="2" algn="just"/>
            <a:r>
              <a:rPr lang="en-US" altLang="en-US" sz="2400">
                <a:latin typeface="Times New Roman" panose="02020603050405020304" pitchFamily="18" charset="0"/>
                <a:cs typeface="Times New Roman" panose="02020603050405020304" pitchFamily="18" charset="0"/>
              </a:rPr>
              <a:t>Called database, software, and system maintenance</a:t>
            </a:r>
          </a:p>
        </p:txBody>
      </p:sp>
    </p:spTree>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5">
            <a:extLst>
              <a:ext uri="{FF2B5EF4-FFF2-40B4-BE49-F238E27FC236}">
                <a16:creationId xmlns:a16="http://schemas.microsoft.com/office/drawing/2014/main" xmlns="" id="{C63B0EA5-7426-488A-BB4A-19F0A4094A74}"/>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9459" name="Picture 1">
            <a:extLst>
              <a:ext uri="{FF2B5EF4-FFF2-40B4-BE49-F238E27FC236}">
                <a16:creationId xmlns:a16="http://schemas.microsoft.com/office/drawing/2014/main" xmlns="" id="{4BF7C9B4-85D8-4A2A-AE9D-2AC7D5EA85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0" name="Title 3">
            <a:extLst>
              <a:ext uri="{FF2B5EF4-FFF2-40B4-BE49-F238E27FC236}">
                <a16:creationId xmlns:a16="http://schemas.microsoft.com/office/drawing/2014/main" xmlns="" id="{033BA030-D7AE-455C-941D-7FA29C8DC944}"/>
              </a:ext>
            </a:extLst>
          </p:cNvPr>
          <p:cNvSpPr txBox="1">
            <a:spLocks/>
          </p:cNvSpPr>
          <p:nvPr/>
        </p:nvSpPr>
        <p:spPr bwMode="auto">
          <a:xfrm>
            <a:off x="463550" y="866775"/>
            <a:ext cx="11353800" cy="5434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US"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5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US" altLang="en-US" sz="5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US" altLang="en-US" sz="1600" b="1">
                <a:latin typeface="Times New Roman" panose="02020603050405020304" pitchFamily="18" charset="0"/>
                <a:cs typeface="Times New Roman" panose="02020603050405020304" pitchFamily="18" charset="0"/>
              </a:rPr>
              <a:t>Figure 1.2 :Interaction between the user, DBMS and Database</a:t>
            </a:r>
          </a:p>
          <a:p>
            <a:pPr>
              <a:lnSpc>
                <a:spcPct val="100000"/>
              </a:lnSpc>
              <a:spcBef>
                <a:spcPct val="0"/>
              </a:spcBef>
              <a:buFontTx/>
              <a:buNone/>
            </a:pPr>
            <a:r>
              <a:rPr lang="en-US" altLang="en-US" sz="1600" b="1">
                <a:latin typeface="Times New Roman" panose="02020603050405020304" pitchFamily="18" charset="0"/>
                <a:cs typeface="Times New Roman" panose="02020603050405020304" pitchFamily="18" charset="0"/>
              </a:rPr>
              <a:t>                                          Figure Reference: </a:t>
            </a:r>
            <a:r>
              <a:rPr lang="en-IN" altLang="en-US" sz="1600">
                <a:latin typeface="Arial" panose="020B0604020202020204" pitchFamily="34" charset="0"/>
                <a:hlinkClick r:id="rId3"/>
              </a:rPr>
              <a:t>www.csub.edu › ~ychoi2 › 4LTR_MIS6_Ch03</a:t>
            </a:r>
          </a:p>
          <a:p>
            <a:pPr>
              <a:lnSpc>
                <a:spcPct val="100000"/>
              </a:lnSpc>
              <a:spcBef>
                <a:spcPct val="0"/>
              </a:spcBef>
              <a:buFontTx/>
              <a:buNone/>
            </a:pPr>
            <a:r>
              <a:rPr lang="en-IN" altLang="en-US" sz="1600">
                <a:latin typeface="Arial" panose="020B0604020202020204" pitchFamily="34" charset="0"/>
              </a:rPr>
              <a:t/>
            </a:r>
            <a:br>
              <a:rPr lang="en-IN" altLang="en-US" sz="1600">
                <a:latin typeface="Arial" panose="020B0604020202020204" pitchFamily="34" charset="0"/>
              </a:rPr>
            </a:br>
            <a:endParaRPr lang="en-IN" altLang="en-US" sz="1600" b="1">
              <a:latin typeface="Times New Roman" panose="02020603050405020304" pitchFamily="18" charset="0"/>
              <a:cs typeface="Times New Roman" panose="02020603050405020304" pitchFamily="18" charset="0"/>
            </a:endParaRPr>
          </a:p>
        </p:txBody>
      </p:sp>
      <p:sp>
        <p:nvSpPr>
          <p:cNvPr id="19461" name="Rectangle 2">
            <a:extLst>
              <a:ext uri="{FF2B5EF4-FFF2-40B4-BE49-F238E27FC236}">
                <a16:creationId xmlns:a16="http://schemas.microsoft.com/office/drawing/2014/main" xmlns="" id="{B4F37EAF-7928-461E-AE9D-C741A3FC63E2}"/>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a:solidFill>
                  <a:schemeClr val="tx2"/>
                </a:solidFill>
                <a:latin typeface="Franklin Gothic Medium" panose="020B0603020102020204" pitchFamily="34" charset="0"/>
              </a:rPr>
              <a:t>Interaction Between the User, DBMS and Database</a:t>
            </a:r>
            <a:endParaRPr lang="en-US" altLang="en-US" b="1">
              <a:latin typeface="Times New Roman" panose="02020603050405020304" pitchFamily="18" charset="0"/>
              <a:cs typeface="Times New Roman" panose="02020603050405020304" pitchFamily="18" charset="0"/>
            </a:endParaRPr>
          </a:p>
        </p:txBody>
      </p:sp>
      <p:sp>
        <p:nvSpPr>
          <p:cNvPr id="19462" name="Rectangle 5">
            <a:extLst>
              <a:ext uri="{FF2B5EF4-FFF2-40B4-BE49-F238E27FC236}">
                <a16:creationId xmlns:a16="http://schemas.microsoft.com/office/drawing/2014/main" xmlns="" id="{6A7A1438-3A0E-4311-9DBD-5A24C868EEBC}"/>
              </a:ext>
            </a:extLst>
          </p:cNvPr>
          <p:cNvSpPr txBox="1">
            <a:spLocks noChangeArrowheads="1"/>
          </p:cNvSpPr>
          <p:nvPr/>
        </p:nvSpPr>
        <p:spPr bwMode="auto">
          <a:xfrm>
            <a:off x="879475" y="1068388"/>
            <a:ext cx="1031557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buFontTx/>
              <a:buNone/>
            </a:pPr>
            <a:endParaRPr lang="en-US" altLang="en-US" sz="2400">
              <a:latin typeface="Times New Roman" panose="02020603050405020304" pitchFamily="18" charset="0"/>
              <a:cs typeface="Times New Roman" panose="02020603050405020304" pitchFamily="18" charset="0"/>
            </a:endParaRPr>
          </a:p>
          <a:p>
            <a:pPr algn="just">
              <a:buFontTx/>
              <a:buNone/>
            </a:pPr>
            <a:endParaRPr lang="en-US" altLang="en-US" sz="2400">
              <a:latin typeface="Times New Roman" panose="02020603050405020304" pitchFamily="18" charset="0"/>
              <a:cs typeface="Times New Roman" panose="02020603050405020304" pitchFamily="18" charset="0"/>
            </a:endParaRPr>
          </a:p>
          <a:p>
            <a:pPr algn="just">
              <a:buFontTx/>
              <a:buNone/>
            </a:pPr>
            <a:endParaRPr lang="en-US" altLang="en-US" sz="2400">
              <a:latin typeface="Times New Roman" panose="02020603050405020304" pitchFamily="18" charset="0"/>
              <a:cs typeface="Times New Roman" panose="02020603050405020304" pitchFamily="18" charset="0"/>
            </a:endParaRPr>
          </a:p>
          <a:p>
            <a:pPr algn="just">
              <a:buFontTx/>
              <a:buNone/>
            </a:pPr>
            <a:endParaRPr lang="en-US" altLang="en-US" sz="2400">
              <a:latin typeface="Times New Roman" panose="02020603050405020304" pitchFamily="18" charset="0"/>
              <a:cs typeface="Times New Roman" panose="02020603050405020304" pitchFamily="18" charset="0"/>
            </a:endParaRPr>
          </a:p>
          <a:p>
            <a:pPr algn="just">
              <a:buFontTx/>
              <a:buNone/>
            </a:pPr>
            <a:endParaRPr lang="en-US" altLang="en-US" sz="2400">
              <a:latin typeface="Times New Roman" panose="02020603050405020304" pitchFamily="18" charset="0"/>
              <a:cs typeface="Times New Roman" panose="02020603050405020304" pitchFamily="18" charset="0"/>
            </a:endParaRPr>
          </a:p>
          <a:p>
            <a:pPr algn="just">
              <a:buFontTx/>
              <a:buNone/>
            </a:pPr>
            <a:endParaRPr lang="en-US" altLang="en-US" sz="2400">
              <a:latin typeface="Times New Roman" panose="02020603050405020304" pitchFamily="18" charset="0"/>
              <a:cs typeface="Times New Roman" panose="02020603050405020304" pitchFamily="18" charset="0"/>
            </a:endParaRPr>
          </a:p>
          <a:p>
            <a:pPr algn="just">
              <a:buFontTx/>
              <a:buNone/>
            </a:pPr>
            <a:endParaRPr lang="en-US" altLang="en-US" sz="2400">
              <a:latin typeface="Times New Roman" panose="02020603050405020304" pitchFamily="18" charset="0"/>
              <a:cs typeface="Times New Roman" panose="02020603050405020304" pitchFamily="18" charset="0"/>
            </a:endParaRPr>
          </a:p>
          <a:p>
            <a:pPr algn="just">
              <a:buFontTx/>
              <a:buNone/>
            </a:pPr>
            <a:endParaRPr lang="en-US" altLang="en-US" sz="2400">
              <a:latin typeface="Times New Roman" panose="02020603050405020304" pitchFamily="18" charset="0"/>
              <a:cs typeface="Times New Roman" panose="02020603050405020304" pitchFamily="18" charset="0"/>
            </a:endParaRPr>
          </a:p>
          <a:p>
            <a:pPr algn="just">
              <a:buFontTx/>
              <a:buNone/>
            </a:pPr>
            <a:endParaRPr lang="en-US" altLang="en-US" sz="2400">
              <a:latin typeface="Times New Roman" panose="02020603050405020304" pitchFamily="18" charset="0"/>
              <a:cs typeface="Times New Roman" panose="02020603050405020304" pitchFamily="18" charset="0"/>
            </a:endParaRPr>
          </a:p>
          <a:p>
            <a:pPr algn="just">
              <a:buFontTx/>
              <a:buNone/>
            </a:pPr>
            <a:endParaRPr lang="en-US" altLang="en-US" sz="2400">
              <a:latin typeface="Times New Roman" panose="02020603050405020304" pitchFamily="18" charset="0"/>
              <a:cs typeface="Times New Roman" panose="02020603050405020304" pitchFamily="18" charset="0"/>
            </a:endParaRPr>
          </a:p>
        </p:txBody>
      </p:sp>
      <p:pic>
        <p:nvPicPr>
          <p:cNvPr id="19463" name="Picture 1">
            <a:extLst>
              <a:ext uri="{FF2B5EF4-FFF2-40B4-BE49-F238E27FC236}">
                <a16:creationId xmlns:a16="http://schemas.microsoft.com/office/drawing/2014/main" xmlns="" id="{80CA72DB-8C5A-426D-8677-136404039886}"/>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682750" y="1147763"/>
            <a:ext cx="9512300" cy="3576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5">
            <a:extLst>
              <a:ext uri="{FF2B5EF4-FFF2-40B4-BE49-F238E27FC236}">
                <a16:creationId xmlns:a16="http://schemas.microsoft.com/office/drawing/2014/main" xmlns="" id="{B5358034-2E4B-4DF2-B3FA-3E1390D7BE59}"/>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20483" name="Picture 1">
            <a:extLst>
              <a:ext uri="{FF2B5EF4-FFF2-40B4-BE49-F238E27FC236}">
                <a16:creationId xmlns:a16="http://schemas.microsoft.com/office/drawing/2014/main" xmlns="" id="{5DFCEBC2-E0A6-44CE-B680-32EAEC5D0D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CD8119C7-0964-40A3-93CC-75F8B808E1A9}"/>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marL="457200" indent="-457200">
              <a:buFontTx/>
              <a:buAutoNum type="arabicPeriod"/>
              <a:defRPr/>
            </a:pPr>
            <a:r>
              <a:rPr lang="en-US" sz="2400" dirty="0">
                <a:latin typeface="Times New Roman" pitchFamily="18" charset="0"/>
                <a:cs typeface="Times New Roman" pitchFamily="18" charset="0"/>
              </a:rPr>
              <a:t>------------------- is the collection of interrelated data and set of programs to access them.</a:t>
            </a:r>
          </a:p>
          <a:p>
            <a:pPr marL="457200" indent="-457200">
              <a:buFontTx/>
              <a:buAutoNum type="arabicPeriod"/>
              <a:defRPr/>
            </a:pPr>
            <a:endParaRPr lang="en-IN" sz="2400" dirty="0">
              <a:latin typeface="Times New Roman" pitchFamily="18" charset="0"/>
              <a:cs typeface="Times New Roman" pitchFamily="18" charset="0"/>
            </a:endParaRP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Database Management system      </a:t>
            </a:r>
            <a:r>
              <a:rPr lang="en-IN" sz="2400" dirty="0">
                <a:solidFill>
                  <a:srgbClr val="FF0000"/>
                </a:solidFill>
                <a:latin typeface="Times New Roman" pitchFamily="18" charset="0"/>
                <a:cs typeface="Times New Roman" pitchFamily="18" charset="0"/>
              </a:rPr>
              <a:t>b) </a:t>
            </a:r>
            <a:r>
              <a:rPr lang="en-US" sz="2400" dirty="0">
                <a:solidFill>
                  <a:srgbClr val="FF0000"/>
                </a:solidFill>
                <a:latin typeface="Times New Roman" pitchFamily="18" charset="0"/>
                <a:cs typeface="Times New Roman" pitchFamily="18" charset="0"/>
              </a:rPr>
              <a:t>Database</a:t>
            </a:r>
            <a:r>
              <a:rPr lang="en-IN" sz="2400" dirty="0">
                <a:solidFill>
                  <a:srgbClr val="FF0000"/>
                </a:solidFill>
                <a:latin typeface="Times New Roman" pitchFamily="18" charset="0"/>
                <a:cs typeface="Times New Roman" pitchFamily="18" charset="0"/>
              </a:rPr>
              <a:t>  c)</a:t>
            </a:r>
            <a:r>
              <a:rPr lang="en-US" sz="2400" dirty="0">
                <a:solidFill>
                  <a:srgbClr val="FF0000"/>
                </a:solidFill>
                <a:latin typeface="Times New Roman" pitchFamily="18" charset="0"/>
                <a:cs typeface="Times New Roman" pitchFamily="18" charset="0"/>
              </a:rPr>
              <a:t>Data structure</a:t>
            </a:r>
            <a:r>
              <a:rPr lang="en-IN" sz="2400" dirty="0">
                <a:solidFill>
                  <a:srgbClr val="FF0000"/>
                </a:solidFill>
                <a:latin typeface="Times New Roman" pitchFamily="18" charset="0"/>
                <a:cs typeface="Times New Roman" pitchFamily="18" charset="0"/>
              </a:rPr>
              <a:t>   d)</a:t>
            </a:r>
            <a:r>
              <a:rPr lang="en-US" sz="2400" dirty="0">
                <a:solidFill>
                  <a:srgbClr val="FF0000"/>
                </a:solidFill>
                <a:latin typeface="Times New Roman" pitchFamily="18" charset="0"/>
                <a:cs typeface="Times New Roman" pitchFamily="18" charset="0"/>
              </a:rPr>
              <a:t>Database System</a:t>
            </a:r>
          </a:p>
          <a:p>
            <a:pPr>
              <a:defRPr/>
            </a:pPr>
            <a:endParaRPr lang="en-US" sz="2400" dirty="0">
              <a:solidFill>
                <a:srgbClr val="FF0000"/>
              </a:solidFill>
              <a:latin typeface="Times New Roman" pitchFamily="18" charset="0"/>
              <a:cs typeface="Times New Roman" pitchFamily="18" charset="0"/>
            </a:endParaRPr>
          </a:p>
          <a:p>
            <a:pPr>
              <a:defRPr/>
            </a:pPr>
            <a:r>
              <a:rPr lang="en-US" sz="2400" dirty="0" err="1">
                <a:latin typeface="Times New Roman" pitchFamily="18" charset="0"/>
                <a:cs typeface="Times New Roman" pitchFamily="18" charset="0"/>
              </a:rPr>
              <a:t>Ans</a:t>
            </a:r>
            <a:r>
              <a:rPr lang="en-US" sz="2400" dirty="0">
                <a:latin typeface="Times New Roman" pitchFamily="18" charset="0"/>
                <a:cs typeface="Times New Roman" pitchFamily="18" charset="0"/>
              </a:rPr>
              <a:t>: </a:t>
            </a:r>
            <a:r>
              <a:rPr lang="en-US" sz="2400" dirty="0">
                <a:solidFill>
                  <a:schemeClr val="accent6"/>
                </a:solidFill>
                <a:latin typeface="Times New Roman" pitchFamily="18" charset="0"/>
                <a:cs typeface="Times New Roman" pitchFamily="18" charset="0"/>
              </a:rPr>
              <a:t>Database Management system</a:t>
            </a:r>
          </a:p>
          <a:p>
            <a:pPr>
              <a:defRPr/>
            </a:pPr>
            <a:endParaRPr lang="en-IN" sz="2400" dirty="0">
              <a:latin typeface="Times New Roman" pitchFamily="18" charset="0"/>
              <a:cs typeface="Times New Roman" pitchFamily="18" charset="0"/>
            </a:endParaRPr>
          </a:p>
          <a:p>
            <a:pPr>
              <a:defRPr/>
            </a:pPr>
            <a:r>
              <a:rPr lang="en-US" sz="2400" dirty="0">
                <a:latin typeface="Times New Roman" pitchFamily="18" charset="0"/>
                <a:cs typeface="Times New Roman" pitchFamily="18" charset="0"/>
              </a:rPr>
              <a:t>2. Which of the following is considered as DBMS?</a:t>
            </a:r>
          </a:p>
          <a:p>
            <a:pPr>
              <a:defRPr/>
            </a:pPr>
            <a:endParaRPr lang="en-IN" sz="2400" dirty="0">
              <a:latin typeface="Times New Roman" pitchFamily="18" charset="0"/>
              <a:cs typeface="Times New Roman" pitchFamily="18" charset="0"/>
            </a:endParaRP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Oracle</a:t>
            </a:r>
            <a:r>
              <a:rPr lang="en-IN" sz="2400" dirty="0">
                <a:solidFill>
                  <a:srgbClr val="FF0000"/>
                </a:solidFill>
                <a:latin typeface="Times New Roman" pitchFamily="18" charset="0"/>
                <a:cs typeface="Times New Roman" pitchFamily="18" charset="0"/>
              </a:rPr>
              <a:t>  b)</a:t>
            </a:r>
            <a:r>
              <a:rPr lang="en-US" sz="2400" dirty="0" err="1">
                <a:solidFill>
                  <a:srgbClr val="FF0000"/>
                </a:solidFill>
                <a:latin typeface="Times New Roman" pitchFamily="18" charset="0"/>
                <a:cs typeface="Times New Roman" pitchFamily="18" charset="0"/>
              </a:rPr>
              <a:t>Foxpro</a:t>
            </a:r>
            <a:r>
              <a:rPr lang="en-IN" sz="2400" dirty="0">
                <a:solidFill>
                  <a:srgbClr val="FF0000"/>
                </a:solidFill>
                <a:latin typeface="Times New Roman" pitchFamily="18" charset="0"/>
                <a:cs typeface="Times New Roman" pitchFamily="18" charset="0"/>
              </a:rPr>
              <a:t>   c)</a:t>
            </a:r>
            <a:r>
              <a:rPr lang="en-US" sz="2400" dirty="0">
                <a:solidFill>
                  <a:srgbClr val="FF0000"/>
                </a:solidFill>
                <a:latin typeface="Times New Roman" pitchFamily="18" charset="0"/>
                <a:cs typeface="Times New Roman" pitchFamily="18" charset="0"/>
              </a:rPr>
              <a:t>Access</a:t>
            </a:r>
            <a:r>
              <a:rPr lang="en-IN" sz="2400" dirty="0">
                <a:solidFill>
                  <a:srgbClr val="FF0000"/>
                </a:solidFill>
                <a:latin typeface="Times New Roman" pitchFamily="18" charset="0"/>
                <a:cs typeface="Times New Roman" pitchFamily="18" charset="0"/>
              </a:rPr>
              <a:t>    d)</a:t>
            </a:r>
            <a:r>
              <a:rPr lang="en-US" sz="2400" dirty="0">
                <a:solidFill>
                  <a:srgbClr val="FF0000"/>
                </a:solidFill>
                <a:latin typeface="Times New Roman" pitchFamily="18" charset="0"/>
                <a:cs typeface="Times New Roman" pitchFamily="18" charset="0"/>
              </a:rPr>
              <a:t>All of these </a:t>
            </a:r>
          </a:p>
          <a:p>
            <a:pPr>
              <a:defRPr/>
            </a:pPr>
            <a:r>
              <a:rPr lang="en-US" sz="2400" dirty="0">
                <a:solidFill>
                  <a:srgbClr val="FF0000"/>
                </a:solidFill>
                <a:latin typeface="Times New Roman" pitchFamily="18" charset="0"/>
                <a:cs typeface="Times New Roman" pitchFamily="18" charset="0"/>
              </a:rPr>
              <a:t>     </a:t>
            </a:r>
          </a:p>
          <a:p>
            <a:pPr>
              <a:defRPr/>
            </a:pP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Ans</a:t>
            </a:r>
            <a:r>
              <a:rPr lang="en-US" sz="2400" dirty="0">
                <a:latin typeface="Times New Roman" pitchFamily="18" charset="0"/>
                <a:cs typeface="Times New Roman" pitchFamily="18" charset="0"/>
              </a:rPr>
              <a:t>: </a:t>
            </a:r>
            <a:r>
              <a:rPr lang="en-IN" sz="2400" dirty="0">
                <a:solidFill>
                  <a:schemeClr val="accent6"/>
                </a:solidFill>
                <a:latin typeface="Times New Roman" pitchFamily="18" charset="0"/>
                <a:cs typeface="Times New Roman" pitchFamily="18" charset="0"/>
              </a:rPr>
              <a:t>d)</a:t>
            </a:r>
            <a:r>
              <a:rPr lang="en-US" sz="2400" dirty="0">
                <a:solidFill>
                  <a:schemeClr val="accent6"/>
                </a:solidFill>
                <a:latin typeface="Times New Roman" pitchFamily="18" charset="0"/>
                <a:cs typeface="Times New Roman" pitchFamily="18" charset="0"/>
              </a:rPr>
              <a:t>All of these          </a:t>
            </a:r>
            <a:endParaRPr lang="en-IN" sz="2400" dirty="0">
              <a:solidFill>
                <a:schemeClr val="accent6"/>
              </a:solidFill>
              <a:latin typeface="Times New Roman" pitchFamily="18" charset="0"/>
              <a:cs typeface="Times New Roman" pitchFamily="18" charset="0"/>
            </a:endParaRPr>
          </a:p>
        </p:txBody>
      </p:sp>
      <p:sp>
        <p:nvSpPr>
          <p:cNvPr id="20485" name="Rectangle 2">
            <a:extLst>
              <a:ext uri="{FF2B5EF4-FFF2-40B4-BE49-F238E27FC236}">
                <a16:creationId xmlns:a16="http://schemas.microsoft.com/office/drawing/2014/main" xmlns="" id="{FB304089-6A65-464B-AE8A-4B1F01266B3F}"/>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25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250"/>
                                  </p:stCondLst>
                                  <p:childTnLst>
                                    <p:set>
                                      <p:cBhvr>
                                        <p:cTn id="12" dur="1" fill="hold">
                                          <p:stCondLst>
                                            <p:cond delay="0"/>
                                          </p:stCondLst>
                                        </p:cTn>
                                        <p:tgtEl>
                                          <p:spTgt spid="103428">
                                            <p:txEl>
                                              <p:pRg st="2" end="2"/>
                                            </p:txEl>
                                          </p:spTgt>
                                        </p:tgtEl>
                                        <p:attrNameLst>
                                          <p:attrName>style.visibility</p:attrName>
                                        </p:attrNameLst>
                                      </p:cBhvr>
                                      <p:to>
                                        <p:strVal val="visible"/>
                                      </p:to>
                                    </p:set>
                                    <p:anim calcmode="lin" valueType="num">
                                      <p:cBhvr additive="base">
                                        <p:cTn id="13" dur="500" fill="hold"/>
                                        <p:tgtEl>
                                          <p:spTgt spid="10342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250"/>
                                  </p:stCondLst>
                                  <p:childTnLst>
                                    <p:set>
                                      <p:cBhvr>
                                        <p:cTn id="18" dur="1" fill="hold">
                                          <p:stCondLst>
                                            <p:cond delay="0"/>
                                          </p:stCondLst>
                                        </p:cTn>
                                        <p:tgtEl>
                                          <p:spTgt spid="103428">
                                            <p:txEl>
                                              <p:pRg st="4" end="4"/>
                                            </p:txEl>
                                          </p:spTgt>
                                        </p:tgtEl>
                                        <p:attrNameLst>
                                          <p:attrName>style.visibility</p:attrName>
                                        </p:attrNameLst>
                                      </p:cBhvr>
                                      <p:to>
                                        <p:strVal val="visible"/>
                                      </p:to>
                                    </p:set>
                                    <p:anim calcmode="lin" valueType="num">
                                      <p:cBhvr additive="base">
                                        <p:cTn id="19" dur="500" fill="hold"/>
                                        <p:tgtEl>
                                          <p:spTgt spid="103428">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42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250"/>
                                  </p:stCondLst>
                                  <p:childTnLst>
                                    <p:set>
                                      <p:cBhvr>
                                        <p:cTn id="24" dur="1" fill="hold">
                                          <p:stCondLst>
                                            <p:cond delay="0"/>
                                          </p:stCondLst>
                                        </p:cTn>
                                        <p:tgtEl>
                                          <p:spTgt spid="103428">
                                            <p:txEl>
                                              <p:pRg st="6" end="6"/>
                                            </p:txEl>
                                          </p:spTgt>
                                        </p:tgtEl>
                                        <p:attrNameLst>
                                          <p:attrName>style.visibility</p:attrName>
                                        </p:attrNameLst>
                                      </p:cBhvr>
                                      <p:to>
                                        <p:strVal val="visible"/>
                                      </p:to>
                                    </p:set>
                                    <p:anim calcmode="lin" valueType="num">
                                      <p:cBhvr additive="base">
                                        <p:cTn id="25" dur="500" fill="hold"/>
                                        <p:tgtEl>
                                          <p:spTgt spid="103428">
                                            <p:txEl>
                                              <p:pRg st="6" end="6"/>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42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250"/>
                                  </p:stCondLst>
                                  <p:childTnLst>
                                    <p:set>
                                      <p:cBhvr>
                                        <p:cTn id="30" dur="1" fill="hold">
                                          <p:stCondLst>
                                            <p:cond delay="0"/>
                                          </p:stCondLst>
                                        </p:cTn>
                                        <p:tgtEl>
                                          <p:spTgt spid="103428">
                                            <p:txEl>
                                              <p:pRg st="8" end="8"/>
                                            </p:txEl>
                                          </p:spTgt>
                                        </p:tgtEl>
                                        <p:attrNameLst>
                                          <p:attrName>style.visibility</p:attrName>
                                        </p:attrNameLst>
                                      </p:cBhvr>
                                      <p:to>
                                        <p:strVal val="visible"/>
                                      </p:to>
                                    </p:set>
                                    <p:anim calcmode="lin" valueType="num">
                                      <p:cBhvr additive="base">
                                        <p:cTn id="31" dur="500" fill="hold"/>
                                        <p:tgtEl>
                                          <p:spTgt spid="103428">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342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250"/>
                                  </p:stCondLst>
                                  <p:childTnLst>
                                    <p:set>
                                      <p:cBhvr>
                                        <p:cTn id="36" dur="1" fill="hold">
                                          <p:stCondLst>
                                            <p:cond delay="0"/>
                                          </p:stCondLst>
                                        </p:cTn>
                                        <p:tgtEl>
                                          <p:spTgt spid="103428">
                                            <p:txEl>
                                              <p:pRg st="9" end="9"/>
                                            </p:txEl>
                                          </p:spTgt>
                                        </p:tgtEl>
                                        <p:attrNameLst>
                                          <p:attrName>style.visibility</p:attrName>
                                        </p:attrNameLst>
                                      </p:cBhvr>
                                      <p:to>
                                        <p:strVal val="visible"/>
                                      </p:to>
                                    </p:set>
                                    <p:anim calcmode="lin" valueType="num">
                                      <p:cBhvr additive="base">
                                        <p:cTn id="37" dur="500" fill="hold"/>
                                        <p:tgtEl>
                                          <p:spTgt spid="103428">
                                            <p:txEl>
                                              <p:pRg st="9" end="9"/>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342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250"/>
                                  </p:stCondLst>
                                  <p:childTnLst>
                                    <p:set>
                                      <p:cBhvr>
                                        <p:cTn id="42" dur="1" fill="hold">
                                          <p:stCondLst>
                                            <p:cond delay="0"/>
                                          </p:stCondLst>
                                        </p:cTn>
                                        <p:tgtEl>
                                          <p:spTgt spid="103428">
                                            <p:txEl>
                                              <p:pRg st="10" end="10"/>
                                            </p:txEl>
                                          </p:spTgt>
                                        </p:tgtEl>
                                        <p:attrNameLst>
                                          <p:attrName>style.visibility</p:attrName>
                                        </p:attrNameLst>
                                      </p:cBhvr>
                                      <p:to>
                                        <p:strVal val="visible"/>
                                      </p:to>
                                    </p:set>
                                    <p:anim calcmode="lin" valueType="num">
                                      <p:cBhvr additive="base">
                                        <p:cTn id="43" dur="500" fill="hold"/>
                                        <p:tgtEl>
                                          <p:spTgt spid="103428">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342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5">
            <a:extLst>
              <a:ext uri="{FF2B5EF4-FFF2-40B4-BE49-F238E27FC236}">
                <a16:creationId xmlns:a16="http://schemas.microsoft.com/office/drawing/2014/main" xmlns="" id="{2B152B98-1C9D-4D6C-9BE5-101EBE0F8ACF}"/>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21507" name="Picture 1">
            <a:extLst>
              <a:ext uri="{FF2B5EF4-FFF2-40B4-BE49-F238E27FC236}">
                <a16:creationId xmlns:a16="http://schemas.microsoft.com/office/drawing/2014/main" xmlns="" id="{D6D2A495-785E-46E0-A19D-E4E6214F4A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79EC4164-46CB-490C-B86F-CB0F26878BF1}"/>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defRPr/>
            </a:pPr>
            <a:r>
              <a:rPr lang="en-US" sz="2400" dirty="0">
                <a:latin typeface="Times New Roman" pitchFamily="18" charset="0"/>
                <a:cs typeface="Times New Roman" pitchFamily="18" charset="0"/>
              </a:rPr>
              <a:t>3. The DBMS acts as an interface between what two components of an database system?</a:t>
            </a:r>
            <a:endParaRPr lang="en-IN" sz="2400" dirty="0">
              <a:latin typeface="Times New Roman" pitchFamily="18" charset="0"/>
              <a:cs typeface="Times New Roman" pitchFamily="18" charset="0"/>
            </a:endParaRP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Database and user</a:t>
            </a:r>
            <a:r>
              <a:rPr lang="en-IN" sz="2400" dirty="0">
                <a:solidFill>
                  <a:srgbClr val="FF0000"/>
                </a:solidFill>
                <a:latin typeface="Times New Roman" pitchFamily="18" charset="0"/>
                <a:cs typeface="Times New Roman" pitchFamily="18" charset="0"/>
              </a:rPr>
              <a:t>  b)</a:t>
            </a:r>
            <a:r>
              <a:rPr lang="en-US" sz="2400" dirty="0">
                <a:solidFill>
                  <a:srgbClr val="FF0000"/>
                </a:solidFill>
                <a:latin typeface="Times New Roman" pitchFamily="18" charset="0"/>
                <a:cs typeface="Times New Roman" pitchFamily="18" charset="0"/>
              </a:rPr>
              <a:t>Database and SQL</a:t>
            </a:r>
            <a:r>
              <a:rPr lang="en-IN" sz="2400" dirty="0">
                <a:solidFill>
                  <a:srgbClr val="FF0000"/>
                </a:solidFill>
                <a:latin typeface="Times New Roman" pitchFamily="18" charset="0"/>
                <a:cs typeface="Times New Roman" pitchFamily="18" charset="0"/>
              </a:rPr>
              <a:t>  c)</a:t>
            </a:r>
            <a:r>
              <a:rPr lang="en-US" sz="2400" dirty="0">
                <a:solidFill>
                  <a:srgbClr val="FF0000"/>
                </a:solidFill>
                <a:latin typeface="Times New Roman" pitchFamily="18" charset="0"/>
                <a:cs typeface="Times New Roman" pitchFamily="18" charset="0"/>
              </a:rPr>
              <a:t>Data and Database</a:t>
            </a:r>
            <a:r>
              <a:rPr lang="en-IN" sz="2400" dirty="0">
                <a:solidFill>
                  <a:srgbClr val="FF0000"/>
                </a:solidFill>
                <a:latin typeface="Times New Roman" pitchFamily="18" charset="0"/>
                <a:cs typeface="Times New Roman" pitchFamily="18" charset="0"/>
              </a:rPr>
              <a:t>  d)</a:t>
            </a:r>
            <a:r>
              <a:rPr lang="en-US" sz="2400" dirty="0">
                <a:solidFill>
                  <a:srgbClr val="FF0000"/>
                </a:solidFill>
                <a:latin typeface="Times New Roman" pitchFamily="18" charset="0"/>
                <a:cs typeface="Times New Roman" pitchFamily="18" charset="0"/>
              </a:rPr>
              <a:t>Database Application and Database</a:t>
            </a:r>
            <a:r>
              <a:rPr lang="en-IN" sz="2400" dirty="0">
                <a:solidFill>
                  <a:srgbClr val="FF0000"/>
                </a:solidFill>
                <a:latin typeface="Times New Roman" pitchFamily="18" charset="0"/>
                <a:cs typeface="Times New Roman" pitchFamily="18" charset="0"/>
              </a:rPr>
              <a:t> </a:t>
            </a:r>
          </a:p>
          <a:p>
            <a:pPr>
              <a:defRPr/>
            </a:pPr>
            <a:r>
              <a:rPr lang="en-US" sz="2400" dirty="0" err="1">
                <a:latin typeface="Times New Roman" pitchFamily="18" charset="0"/>
                <a:cs typeface="Times New Roman" pitchFamily="18" charset="0"/>
              </a:rPr>
              <a:t>Ans</a:t>
            </a:r>
            <a:r>
              <a:rPr lang="en-US" sz="2400" dirty="0">
                <a:latin typeface="Times New Roman" pitchFamily="18" charset="0"/>
                <a:cs typeface="Times New Roman" pitchFamily="18" charset="0"/>
              </a:rPr>
              <a:t>:</a:t>
            </a:r>
            <a:r>
              <a:rPr lang="en-IN" sz="2400" dirty="0">
                <a:solidFill>
                  <a:schemeClr val="accent6"/>
                </a:solidFill>
                <a:latin typeface="Times New Roman" pitchFamily="18" charset="0"/>
                <a:cs typeface="Times New Roman" pitchFamily="18" charset="0"/>
              </a:rPr>
              <a:t>d)</a:t>
            </a:r>
            <a:r>
              <a:rPr lang="en-US" sz="2400" dirty="0">
                <a:solidFill>
                  <a:schemeClr val="accent6"/>
                </a:solidFill>
                <a:latin typeface="Times New Roman" pitchFamily="18" charset="0"/>
                <a:cs typeface="Times New Roman" pitchFamily="18" charset="0"/>
              </a:rPr>
              <a:t>Database Application and Database</a:t>
            </a:r>
            <a:r>
              <a:rPr lang="en-IN" sz="2400" dirty="0">
                <a:solidFill>
                  <a:schemeClr val="accent6"/>
                </a:solidFill>
                <a:latin typeface="Times New Roman" pitchFamily="18" charset="0"/>
                <a:cs typeface="Times New Roman" pitchFamily="18" charset="0"/>
              </a:rPr>
              <a:t> </a:t>
            </a:r>
          </a:p>
          <a:p>
            <a:pPr>
              <a:defRPr/>
            </a:pPr>
            <a:endParaRPr lang="en-IN" sz="2400" dirty="0">
              <a:latin typeface="Times New Roman" pitchFamily="18" charset="0"/>
              <a:cs typeface="Times New Roman" pitchFamily="18" charset="0"/>
            </a:endParaRPr>
          </a:p>
        </p:txBody>
      </p:sp>
      <p:sp>
        <p:nvSpPr>
          <p:cNvPr id="21509" name="Rectangle 2">
            <a:extLst>
              <a:ext uri="{FF2B5EF4-FFF2-40B4-BE49-F238E27FC236}">
                <a16:creationId xmlns:a16="http://schemas.microsoft.com/office/drawing/2014/main" xmlns="" id="{5B9AA7C0-1D36-407E-B603-D322D8C9A97D}"/>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nodeType="clickEffect">
                                  <p:stCondLst>
                                    <p:cond delay="0"/>
                                  </p:stCondLst>
                                  <p:childTnLst>
                                    <p:set>
                                      <p:cBhvr>
                                        <p:cTn id="12" dur="1" fill="hold">
                                          <p:stCondLst>
                                            <p:cond delay="0"/>
                                          </p:stCondLst>
                                        </p:cTn>
                                        <p:tgtEl>
                                          <p:spTgt spid="103428">
                                            <p:txEl>
                                              <p:pRg st="1" end="1"/>
                                            </p:txEl>
                                          </p:spTgt>
                                        </p:tgtEl>
                                        <p:attrNameLst>
                                          <p:attrName>style.visibility</p:attrName>
                                        </p:attrNameLst>
                                      </p:cBhvr>
                                      <p:to>
                                        <p:strVal val="visible"/>
                                      </p:to>
                                    </p:set>
                                    <p:animEffect transition="in" filter="fade">
                                      <p:cBhvr>
                                        <p:cTn id="13" dur="1000"/>
                                        <p:tgtEl>
                                          <p:spTgt spid="103428">
                                            <p:txEl>
                                              <p:pRg st="1" end="1"/>
                                            </p:txEl>
                                          </p:spTgt>
                                        </p:tgtEl>
                                      </p:cBhvr>
                                    </p:animEffect>
                                    <p:anim calcmode="lin" valueType="num">
                                      <p:cBhvr>
                                        <p:cTn id="14" dur="10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342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103428">
                                            <p:txEl>
                                              <p:pRg st="2" end="2"/>
                                            </p:txEl>
                                          </p:spTgt>
                                        </p:tgtEl>
                                        <p:attrNameLst>
                                          <p:attrName>style.visibility</p:attrName>
                                        </p:attrNameLst>
                                      </p:cBhvr>
                                      <p:to>
                                        <p:strVal val="visible"/>
                                      </p:to>
                                    </p:set>
                                    <p:anim calcmode="lin" valueType="num">
                                      <p:cBhvr additive="base">
                                        <p:cTn id="20" dur="500" fill="hold"/>
                                        <p:tgtEl>
                                          <p:spTgt spid="103428">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3428">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15">
            <a:extLst>
              <a:ext uri="{FF2B5EF4-FFF2-40B4-BE49-F238E27FC236}">
                <a16:creationId xmlns:a16="http://schemas.microsoft.com/office/drawing/2014/main" xmlns="" id="{7041164A-B02F-44B2-965B-754971DA5DD5}"/>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22531" name="Picture 1">
            <a:extLst>
              <a:ext uri="{FF2B5EF4-FFF2-40B4-BE49-F238E27FC236}">
                <a16:creationId xmlns:a16="http://schemas.microsoft.com/office/drawing/2014/main" xmlns="" id="{09B36C7B-443F-43CF-84D0-8F2B9D1F8C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9127531E-50CE-4C38-BFFB-526139D36300}"/>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nSpc>
                <a:spcPct val="100000"/>
              </a:lnSpc>
              <a:spcBef>
                <a:spcPct val="0"/>
              </a:spcBef>
            </a:pPr>
            <a:endParaRPr lang="en-US" altLang="en-US" sz="2400">
              <a:latin typeface="Times New Roman" panose="02020603050405020304" pitchFamily="18" charset="0"/>
              <a:cs typeface="Times New Roman" panose="02020603050405020304" pitchFamily="18" charset="0"/>
            </a:endParaRPr>
          </a:p>
          <a:p>
            <a:pPr>
              <a:lnSpc>
                <a:spcPct val="100000"/>
              </a:lnSpc>
              <a:spcBef>
                <a:spcPct val="0"/>
              </a:spcBef>
            </a:pPr>
            <a:r>
              <a:rPr lang="en-US" altLang="en-US" sz="2400">
                <a:latin typeface="Times New Roman" panose="02020603050405020304" pitchFamily="18" charset="0"/>
                <a:cs typeface="Times New Roman" panose="02020603050405020304" pitchFamily="18" charset="0"/>
              </a:rPr>
              <a:t>Definition of database, DBMS</a:t>
            </a:r>
          </a:p>
          <a:p>
            <a:pPr>
              <a:lnSpc>
                <a:spcPct val="100000"/>
              </a:lnSpc>
              <a:spcBef>
                <a:spcPct val="0"/>
              </a:spcBef>
            </a:pPr>
            <a:r>
              <a:rPr lang="en-US" altLang="en-US" sz="2400">
                <a:latin typeface="Times New Roman" panose="02020603050405020304" pitchFamily="18" charset="0"/>
                <a:cs typeface="Times New Roman" panose="02020603050405020304" pitchFamily="18" charset="0"/>
              </a:rPr>
              <a:t>Functionality of DBMS</a:t>
            </a:r>
          </a:p>
          <a:p>
            <a:pPr>
              <a:lnSpc>
                <a:spcPct val="100000"/>
              </a:lnSpc>
              <a:spcBef>
                <a:spcPct val="0"/>
              </a:spcBef>
            </a:pPr>
            <a:r>
              <a:rPr lang="en-US" altLang="en-US" sz="2400">
                <a:latin typeface="Times New Roman" panose="02020603050405020304" pitchFamily="18" charset="0"/>
                <a:cs typeface="Times New Roman" panose="02020603050405020304" pitchFamily="18" charset="0"/>
              </a:rPr>
              <a:t>Database system environment</a:t>
            </a:r>
          </a:p>
          <a:p>
            <a:pPr>
              <a:lnSpc>
                <a:spcPct val="100000"/>
              </a:lnSpc>
              <a:spcBef>
                <a:spcPct val="0"/>
              </a:spcBef>
            </a:pPr>
            <a:endParaRPr lang="en-US" altLang="en-US" sz="2400">
              <a:latin typeface="Times New Roman" panose="02020603050405020304" pitchFamily="18" charset="0"/>
              <a:cs typeface="Times New Roman" panose="02020603050405020304" pitchFamily="18" charset="0"/>
            </a:endParaRPr>
          </a:p>
          <a:p>
            <a:pPr>
              <a:lnSpc>
                <a:spcPct val="100000"/>
              </a:lnSpc>
              <a:spcBef>
                <a:spcPct val="0"/>
              </a:spcBef>
            </a:pPr>
            <a:endParaRPr lang="en-IN" altLang="en-US" sz="2400">
              <a:latin typeface="Times New Roman" panose="02020603050405020304" pitchFamily="18" charset="0"/>
              <a:cs typeface="Times New Roman" panose="02020603050405020304" pitchFamily="18" charset="0"/>
            </a:endParaRPr>
          </a:p>
        </p:txBody>
      </p:sp>
      <p:sp>
        <p:nvSpPr>
          <p:cNvPr id="22533" name="Rectangle 2">
            <a:extLst>
              <a:ext uri="{FF2B5EF4-FFF2-40B4-BE49-F238E27FC236}">
                <a16:creationId xmlns:a16="http://schemas.microsoft.com/office/drawing/2014/main" xmlns="" id="{AE04C2BE-1428-485D-8D9B-3DFE85183716}"/>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Recalling concepts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1" end="1"/>
                                            </p:txEl>
                                          </p:spTgt>
                                        </p:tgtEl>
                                        <p:attrNameLst>
                                          <p:attrName>style.visibility</p:attrName>
                                        </p:attrNameLst>
                                      </p:cBhvr>
                                      <p:to>
                                        <p:strVal val="visible"/>
                                      </p:to>
                                    </p:set>
                                    <p:anim calcmode="lin" valueType="num">
                                      <p:cBhvr additive="base">
                                        <p:cTn id="7" dur="5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3428">
                                            <p:txEl>
                                              <p:pRg st="2" end="2"/>
                                            </p:txEl>
                                          </p:spTgt>
                                        </p:tgtEl>
                                        <p:attrNameLst>
                                          <p:attrName>style.visibility</p:attrName>
                                        </p:attrNameLst>
                                      </p:cBhvr>
                                      <p:to>
                                        <p:strVal val="visible"/>
                                      </p:to>
                                    </p:set>
                                    <p:anim calcmode="lin" valueType="num">
                                      <p:cBhvr additive="base">
                                        <p:cTn id="13" dur="500" fill="hold"/>
                                        <p:tgtEl>
                                          <p:spTgt spid="10342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3428">
                                            <p:txEl>
                                              <p:pRg st="3" end="3"/>
                                            </p:txEl>
                                          </p:spTgt>
                                        </p:tgtEl>
                                        <p:attrNameLst>
                                          <p:attrName>style.visibility</p:attrName>
                                        </p:attrNameLst>
                                      </p:cBhvr>
                                      <p:to>
                                        <p:strVal val="visible"/>
                                      </p:to>
                                    </p:set>
                                    <p:anim calcmode="lin" valueType="num">
                                      <p:cBhvr additive="base">
                                        <p:cTn id="19" dur="500" fill="hold"/>
                                        <p:tgtEl>
                                          <p:spTgt spid="10342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428">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15">
            <a:extLst>
              <a:ext uri="{FF2B5EF4-FFF2-40B4-BE49-F238E27FC236}">
                <a16:creationId xmlns:a16="http://schemas.microsoft.com/office/drawing/2014/main" xmlns="" id="{21A2BBE0-D18A-40BA-8F22-6C9683663303}"/>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23555" name="Picture 1">
            <a:extLst>
              <a:ext uri="{FF2B5EF4-FFF2-40B4-BE49-F238E27FC236}">
                <a16:creationId xmlns:a16="http://schemas.microsoft.com/office/drawing/2014/main" xmlns="" id="{C4C5A2AE-F39A-459C-A996-4E249E1CD3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6" name="Title 3">
            <a:extLst>
              <a:ext uri="{FF2B5EF4-FFF2-40B4-BE49-F238E27FC236}">
                <a16:creationId xmlns:a16="http://schemas.microsoft.com/office/drawing/2014/main" xmlns="" id="{080702B1-C3AC-4B94-9A8C-4C8A3EAB282E}"/>
              </a:ext>
            </a:extLst>
          </p:cNvPr>
          <p:cNvSpPr txBox="1">
            <a:spLocks/>
          </p:cNvSpPr>
          <p:nvPr/>
        </p:nvSpPr>
        <p:spPr bwMode="auto">
          <a:xfrm>
            <a:off x="463550" y="8397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23557" name="Rectangle 2">
            <a:extLst>
              <a:ext uri="{FF2B5EF4-FFF2-40B4-BE49-F238E27FC236}">
                <a16:creationId xmlns:a16="http://schemas.microsoft.com/office/drawing/2014/main" xmlns="" id="{0522F063-1C60-4166-AEE0-7D5347771B4A}"/>
              </a:ext>
            </a:extLst>
          </p:cNvPr>
          <p:cNvSpPr txBox="1">
            <a:spLocks noChangeArrowheads="1"/>
          </p:cNvSpPr>
          <p:nvPr/>
        </p:nvSpPr>
        <p:spPr bwMode="auto">
          <a:xfrm>
            <a:off x="1330325" y="246063"/>
            <a:ext cx="10225088"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1.2 Example of a Database</a:t>
            </a:r>
            <a:br>
              <a:rPr lang="en-US" altLang="en-US" b="1">
                <a:latin typeface="Times New Roman" panose="02020603050405020304" pitchFamily="18" charset="0"/>
                <a:cs typeface="Times New Roman" panose="02020603050405020304" pitchFamily="18" charset="0"/>
              </a:rPr>
            </a:br>
            <a:endParaRPr lang="en-US" altLang="en-US" b="1">
              <a:latin typeface="Times New Roman" panose="02020603050405020304" pitchFamily="18" charset="0"/>
              <a:cs typeface="Times New Roman" panose="02020603050405020304" pitchFamily="18" charset="0"/>
            </a:endParaRPr>
          </a:p>
        </p:txBody>
      </p:sp>
      <p:sp>
        <p:nvSpPr>
          <p:cNvPr id="23558" name="Content Placeholder 13">
            <a:extLst>
              <a:ext uri="{FF2B5EF4-FFF2-40B4-BE49-F238E27FC236}">
                <a16:creationId xmlns:a16="http://schemas.microsoft.com/office/drawing/2014/main" xmlns="" id="{B060677F-365F-48F5-ADE4-E688214AFD8C}"/>
              </a:ext>
            </a:extLst>
          </p:cNvPr>
          <p:cNvSpPr txBox="1">
            <a:spLocks/>
          </p:cNvSpPr>
          <p:nvPr/>
        </p:nvSpPr>
        <p:spPr bwMode="auto">
          <a:xfrm>
            <a:off x="990600" y="704850"/>
            <a:ext cx="10802938" cy="558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eaLnBrk="1" hangingPunct="1"/>
            <a:r>
              <a:rPr lang="en-US" altLang="en-US" sz="2400" b="1">
                <a:solidFill>
                  <a:srgbClr val="FF0000"/>
                </a:solidFill>
                <a:latin typeface="Times New Roman" panose="02020603050405020304" pitchFamily="18" charset="0"/>
                <a:cs typeface="Times New Roman" panose="02020603050405020304" pitchFamily="18" charset="0"/>
              </a:rPr>
              <a:t>Mini-world for example</a:t>
            </a:r>
            <a:r>
              <a:rPr lang="en-US" altLang="en-US" sz="2400">
                <a:solidFill>
                  <a:srgbClr val="FF0000"/>
                </a:solidFill>
                <a:latin typeface="Times New Roman" panose="02020603050405020304" pitchFamily="18" charset="0"/>
                <a:cs typeface="Times New Roman" panose="02020603050405020304" pitchFamily="18" charset="0"/>
              </a:rPr>
              <a:t>: </a:t>
            </a:r>
            <a:r>
              <a:rPr lang="en-US" altLang="en-US" sz="2400">
                <a:solidFill>
                  <a:srgbClr val="000000"/>
                </a:solidFill>
                <a:latin typeface="Times New Roman" panose="02020603050405020304" pitchFamily="18" charset="0"/>
                <a:cs typeface="Times New Roman" panose="02020603050405020304" pitchFamily="18" charset="0"/>
              </a:rPr>
              <a:t>Part of a UNIVERSITY environment.</a:t>
            </a:r>
          </a:p>
          <a:p>
            <a:pPr algn="just" eaLnBrk="1" hangingPunct="1"/>
            <a:r>
              <a:rPr lang="en-US" altLang="en-US" sz="2400" b="1">
                <a:solidFill>
                  <a:srgbClr val="FF0000"/>
                </a:solidFill>
                <a:latin typeface="Times New Roman" panose="02020603050405020304" pitchFamily="18" charset="0"/>
                <a:cs typeface="Times New Roman" panose="02020603050405020304" pitchFamily="18" charset="0"/>
              </a:rPr>
              <a:t>Some mini-world </a:t>
            </a:r>
            <a:r>
              <a:rPr lang="en-US" altLang="en-US" sz="2400" b="1" i="1">
                <a:solidFill>
                  <a:srgbClr val="FF0000"/>
                </a:solidFill>
                <a:latin typeface="Times New Roman" panose="02020603050405020304" pitchFamily="18" charset="0"/>
                <a:cs typeface="Times New Roman" panose="02020603050405020304" pitchFamily="18" charset="0"/>
              </a:rPr>
              <a:t>entities</a:t>
            </a:r>
            <a:r>
              <a:rPr lang="en-US" altLang="en-US" sz="2400">
                <a:solidFill>
                  <a:srgbClr val="FF0000"/>
                </a:solidFill>
                <a:latin typeface="Times New Roman" panose="02020603050405020304" pitchFamily="18" charset="0"/>
                <a:cs typeface="Times New Roman" panose="02020603050405020304" pitchFamily="18" charset="0"/>
              </a:rPr>
              <a:t>:</a:t>
            </a:r>
          </a:p>
          <a:p>
            <a:pPr lvl="1" algn="just" eaLnBrk="1" hangingPunct="1"/>
            <a:r>
              <a:rPr lang="en-US" altLang="en-US">
                <a:solidFill>
                  <a:srgbClr val="000000"/>
                </a:solidFill>
                <a:latin typeface="Times New Roman" panose="02020603050405020304" pitchFamily="18" charset="0"/>
                <a:cs typeface="Times New Roman" panose="02020603050405020304" pitchFamily="18" charset="0"/>
              </a:rPr>
              <a:t>STUDENTs</a:t>
            </a:r>
          </a:p>
          <a:p>
            <a:pPr lvl="1" algn="just" eaLnBrk="1" hangingPunct="1"/>
            <a:r>
              <a:rPr lang="en-US" altLang="en-US">
                <a:solidFill>
                  <a:srgbClr val="000000"/>
                </a:solidFill>
                <a:latin typeface="Times New Roman" panose="02020603050405020304" pitchFamily="18" charset="0"/>
                <a:cs typeface="Times New Roman" panose="02020603050405020304" pitchFamily="18" charset="0"/>
              </a:rPr>
              <a:t>COURSEs</a:t>
            </a:r>
          </a:p>
          <a:p>
            <a:pPr lvl="1" algn="just" eaLnBrk="1" hangingPunct="1"/>
            <a:r>
              <a:rPr lang="en-US" altLang="en-US">
                <a:solidFill>
                  <a:srgbClr val="000000"/>
                </a:solidFill>
                <a:latin typeface="Times New Roman" panose="02020603050405020304" pitchFamily="18" charset="0"/>
                <a:cs typeface="Times New Roman" panose="02020603050405020304" pitchFamily="18" charset="0"/>
              </a:rPr>
              <a:t>SECTIONs (of COURSEs)</a:t>
            </a:r>
          </a:p>
          <a:p>
            <a:pPr lvl="1" algn="just" eaLnBrk="1" hangingPunct="1"/>
            <a:r>
              <a:rPr lang="en-US" altLang="en-US">
                <a:solidFill>
                  <a:srgbClr val="000000"/>
                </a:solidFill>
                <a:latin typeface="Times New Roman" panose="02020603050405020304" pitchFamily="18" charset="0"/>
                <a:cs typeface="Times New Roman" panose="02020603050405020304" pitchFamily="18" charset="0"/>
              </a:rPr>
              <a:t>(academic) DEPARTMENTs</a:t>
            </a:r>
          </a:p>
          <a:p>
            <a:pPr lvl="1" algn="just" eaLnBrk="1" hangingPunct="1"/>
            <a:r>
              <a:rPr lang="en-US" altLang="en-US">
                <a:solidFill>
                  <a:srgbClr val="000000"/>
                </a:solidFill>
                <a:latin typeface="Times New Roman" panose="02020603050405020304" pitchFamily="18" charset="0"/>
                <a:cs typeface="Times New Roman" panose="02020603050405020304" pitchFamily="18" charset="0"/>
              </a:rPr>
              <a:t>INSTRUCTORs</a:t>
            </a:r>
          </a:p>
          <a:p>
            <a:pPr algn="just"/>
            <a:r>
              <a:rPr lang="en-US" altLang="en-US" sz="2400" b="1">
                <a:solidFill>
                  <a:srgbClr val="FF0000"/>
                </a:solidFill>
                <a:latin typeface="Times New Roman" panose="02020603050405020304" pitchFamily="18" charset="0"/>
                <a:cs typeface="Times New Roman" panose="02020603050405020304" pitchFamily="18" charset="0"/>
              </a:rPr>
              <a:t>Some </a:t>
            </a:r>
            <a:r>
              <a:rPr lang="en-US" altLang="en-US" sz="2400" b="1" i="1">
                <a:solidFill>
                  <a:srgbClr val="FF0000"/>
                </a:solidFill>
                <a:latin typeface="Times New Roman" panose="02020603050405020304" pitchFamily="18" charset="0"/>
                <a:cs typeface="Times New Roman" panose="02020603050405020304" pitchFamily="18" charset="0"/>
              </a:rPr>
              <a:t>relationships</a:t>
            </a:r>
            <a:r>
              <a:rPr lang="en-US" altLang="en-US" sz="2400" b="1">
                <a:solidFill>
                  <a:srgbClr val="FF0000"/>
                </a:solidFill>
                <a:latin typeface="Times New Roman" panose="02020603050405020304" pitchFamily="18" charset="0"/>
                <a:cs typeface="Times New Roman" panose="02020603050405020304" pitchFamily="18" charset="0"/>
              </a:rPr>
              <a:t>:</a:t>
            </a:r>
          </a:p>
          <a:p>
            <a:pPr lvl="1" algn="just"/>
            <a:r>
              <a:rPr lang="en-US" altLang="en-US">
                <a:latin typeface="Times New Roman" panose="02020603050405020304" pitchFamily="18" charset="0"/>
                <a:cs typeface="Times New Roman" panose="02020603050405020304" pitchFamily="18" charset="0"/>
              </a:rPr>
              <a:t>SECTIONs </a:t>
            </a:r>
            <a:r>
              <a:rPr lang="en-US" altLang="en-US" i="1">
                <a:latin typeface="Times New Roman" panose="02020603050405020304" pitchFamily="18" charset="0"/>
                <a:cs typeface="Times New Roman" panose="02020603050405020304" pitchFamily="18" charset="0"/>
              </a:rPr>
              <a:t>are of specific</a:t>
            </a:r>
            <a:r>
              <a:rPr lang="en-US" altLang="en-US">
                <a:latin typeface="Times New Roman" panose="02020603050405020304" pitchFamily="18" charset="0"/>
                <a:cs typeface="Times New Roman" panose="02020603050405020304" pitchFamily="18" charset="0"/>
              </a:rPr>
              <a:t> COURSEs</a:t>
            </a:r>
          </a:p>
          <a:p>
            <a:pPr lvl="1" algn="just"/>
            <a:r>
              <a:rPr lang="en-US" altLang="en-US">
                <a:latin typeface="Times New Roman" panose="02020603050405020304" pitchFamily="18" charset="0"/>
                <a:cs typeface="Times New Roman" panose="02020603050405020304" pitchFamily="18" charset="0"/>
              </a:rPr>
              <a:t>STUDENTs </a:t>
            </a:r>
            <a:r>
              <a:rPr lang="en-US" altLang="en-US" i="1">
                <a:latin typeface="Times New Roman" panose="02020603050405020304" pitchFamily="18" charset="0"/>
                <a:cs typeface="Times New Roman" panose="02020603050405020304" pitchFamily="18" charset="0"/>
              </a:rPr>
              <a:t>take</a:t>
            </a:r>
            <a:r>
              <a:rPr lang="en-US" altLang="en-US">
                <a:latin typeface="Times New Roman" panose="02020603050405020304" pitchFamily="18" charset="0"/>
                <a:cs typeface="Times New Roman" panose="02020603050405020304" pitchFamily="18" charset="0"/>
              </a:rPr>
              <a:t> SECTIONs</a:t>
            </a:r>
          </a:p>
          <a:p>
            <a:pPr lvl="1" algn="just"/>
            <a:r>
              <a:rPr lang="en-US" altLang="en-US">
                <a:latin typeface="Times New Roman" panose="02020603050405020304" pitchFamily="18" charset="0"/>
                <a:cs typeface="Times New Roman" panose="02020603050405020304" pitchFamily="18" charset="0"/>
              </a:rPr>
              <a:t>COURSEs </a:t>
            </a:r>
            <a:r>
              <a:rPr lang="en-US" altLang="en-US" i="1">
                <a:latin typeface="Times New Roman" panose="02020603050405020304" pitchFamily="18" charset="0"/>
                <a:cs typeface="Times New Roman" panose="02020603050405020304" pitchFamily="18" charset="0"/>
              </a:rPr>
              <a:t>have  prerequisite</a:t>
            </a:r>
            <a:r>
              <a:rPr lang="en-US" altLang="en-US">
                <a:latin typeface="Times New Roman" panose="02020603050405020304" pitchFamily="18" charset="0"/>
                <a:cs typeface="Times New Roman" panose="02020603050405020304" pitchFamily="18" charset="0"/>
              </a:rPr>
              <a:t> COURSEs</a:t>
            </a:r>
          </a:p>
          <a:p>
            <a:pPr lvl="1" algn="just"/>
            <a:r>
              <a:rPr lang="en-US" altLang="en-US">
                <a:latin typeface="Times New Roman" panose="02020603050405020304" pitchFamily="18" charset="0"/>
                <a:cs typeface="Times New Roman" panose="02020603050405020304" pitchFamily="18" charset="0"/>
              </a:rPr>
              <a:t>INSTRUCTORs </a:t>
            </a:r>
            <a:r>
              <a:rPr lang="en-US" altLang="en-US" i="1">
                <a:latin typeface="Times New Roman" panose="02020603050405020304" pitchFamily="18" charset="0"/>
                <a:cs typeface="Times New Roman" panose="02020603050405020304" pitchFamily="18" charset="0"/>
              </a:rPr>
              <a:t>teach</a:t>
            </a:r>
            <a:r>
              <a:rPr lang="en-US" altLang="en-US">
                <a:latin typeface="Times New Roman" panose="02020603050405020304" pitchFamily="18" charset="0"/>
                <a:cs typeface="Times New Roman" panose="02020603050405020304" pitchFamily="18" charset="0"/>
              </a:rPr>
              <a:t>  SECTIONs</a:t>
            </a:r>
          </a:p>
          <a:p>
            <a:pPr lvl="1" algn="just"/>
            <a:r>
              <a:rPr lang="en-US" altLang="en-US">
                <a:latin typeface="Times New Roman" panose="02020603050405020304" pitchFamily="18" charset="0"/>
                <a:cs typeface="Times New Roman" panose="02020603050405020304" pitchFamily="18" charset="0"/>
              </a:rPr>
              <a:t>COURSEs </a:t>
            </a:r>
            <a:r>
              <a:rPr lang="en-US" altLang="en-US" i="1">
                <a:latin typeface="Times New Roman" panose="02020603050405020304" pitchFamily="18" charset="0"/>
                <a:cs typeface="Times New Roman" panose="02020603050405020304" pitchFamily="18" charset="0"/>
              </a:rPr>
              <a:t>are offered by</a:t>
            </a:r>
            <a:r>
              <a:rPr lang="en-US" altLang="en-US">
                <a:latin typeface="Times New Roman" panose="02020603050405020304" pitchFamily="18" charset="0"/>
                <a:cs typeface="Times New Roman" panose="02020603050405020304" pitchFamily="18" charset="0"/>
              </a:rPr>
              <a:t>  DEPARTMENTs</a:t>
            </a:r>
          </a:p>
          <a:p>
            <a:pPr lvl="1" algn="just"/>
            <a:r>
              <a:rPr lang="en-US" altLang="en-US">
                <a:latin typeface="Times New Roman" panose="02020603050405020304" pitchFamily="18" charset="0"/>
                <a:cs typeface="Times New Roman" panose="02020603050405020304" pitchFamily="18" charset="0"/>
              </a:rPr>
              <a:t>   STUDENTs </a:t>
            </a:r>
            <a:r>
              <a:rPr lang="en-US" altLang="en-US" i="1">
                <a:latin typeface="Times New Roman" panose="02020603050405020304" pitchFamily="18" charset="0"/>
                <a:cs typeface="Times New Roman" panose="02020603050405020304" pitchFamily="18" charset="0"/>
              </a:rPr>
              <a:t>major in</a:t>
            </a:r>
            <a:r>
              <a:rPr lang="en-US" altLang="en-US">
                <a:latin typeface="Times New Roman" panose="02020603050405020304" pitchFamily="18" charset="0"/>
                <a:cs typeface="Times New Roman" panose="02020603050405020304" pitchFamily="18" charset="0"/>
              </a:rPr>
              <a:t>  DEPARTMENTs</a:t>
            </a:r>
          </a:p>
          <a:p>
            <a:pPr algn="just" eaLnBrk="1" hangingPunct="1">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algn="just"/>
            <a:endParaRPr lang="en-IN" altLang="en-US" sz="240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5">
            <a:extLst>
              <a:ext uri="{FF2B5EF4-FFF2-40B4-BE49-F238E27FC236}">
                <a16:creationId xmlns:a16="http://schemas.microsoft.com/office/drawing/2014/main" xmlns="" id="{880471A4-FE22-4C27-97E0-15F6BBC3096D}"/>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24579" name="Picture 1">
            <a:extLst>
              <a:ext uri="{FF2B5EF4-FFF2-40B4-BE49-F238E27FC236}">
                <a16:creationId xmlns:a16="http://schemas.microsoft.com/office/drawing/2014/main" xmlns="" id="{D366DD88-E0CC-419D-B732-E5231BE96C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Title 3">
            <a:extLst>
              <a:ext uri="{FF2B5EF4-FFF2-40B4-BE49-F238E27FC236}">
                <a16:creationId xmlns:a16="http://schemas.microsoft.com/office/drawing/2014/main" xmlns="" id="{16B2BCBC-0CBA-4DE4-B878-C45BB6FFA8BE}"/>
              </a:ext>
            </a:extLst>
          </p:cNvPr>
          <p:cNvSpPr txBox="1">
            <a:spLocks/>
          </p:cNvSpPr>
          <p:nvPr/>
        </p:nvSpPr>
        <p:spPr bwMode="auto">
          <a:xfrm>
            <a:off x="463550" y="852488"/>
            <a:ext cx="11353800" cy="553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US" altLang="en-US" sz="1600" b="1" dirty="0">
                <a:latin typeface="Times New Roman" panose="02020603050405020304" pitchFamily="18" charset="0"/>
                <a:cs typeface="Times New Roman" panose="02020603050405020304" pitchFamily="18" charset="0"/>
              </a:rPr>
              <a:t>Figure 1.3 A database that stores  student and course information</a:t>
            </a: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dirty="0">
              <a:latin typeface="Times New Roman" panose="02020603050405020304" pitchFamily="18" charset="0"/>
              <a:cs typeface="Times New Roman" panose="02020603050405020304" pitchFamily="18" charset="0"/>
            </a:endParaRPr>
          </a:p>
        </p:txBody>
      </p:sp>
      <p:sp>
        <p:nvSpPr>
          <p:cNvPr id="24581" name="Rectangle 2">
            <a:extLst>
              <a:ext uri="{FF2B5EF4-FFF2-40B4-BE49-F238E27FC236}">
                <a16:creationId xmlns:a16="http://schemas.microsoft.com/office/drawing/2014/main" xmlns="" id="{6806E3BB-F1C7-47F1-8177-F6CC20A99D91}"/>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pic>
        <p:nvPicPr>
          <p:cNvPr id="24582" name="Picture 6">
            <a:extLst>
              <a:ext uri="{FF2B5EF4-FFF2-40B4-BE49-F238E27FC236}">
                <a16:creationId xmlns:a16="http://schemas.microsoft.com/office/drawing/2014/main" xmlns="" id="{B30D67F3-673F-4A60-9C47-AB562FE05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563" y="357188"/>
            <a:ext cx="498792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3" name="Picture 8">
            <a:extLst>
              <a:ext uri="{FF2B5EF4-FFF2-40B4-BE49-F238E27FC236}">
                <a16:creationId xmlns:a16="http://schemas.microsoft.com/office/drawing/2014/main" xmlns="" id="{9D500ED1-F6AA-4925-9F77-41EC6B7570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1475" y="1347788"/>
            <a:ext cx="7015488" cy="4884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xmlns="" id="{679C2FBF-0207-4AD1-B00A-DD5975A78945}"/>
              </a:ext>
            </a:extLst>
          </p:cNvPr>
          <p:cNvSpPr>
            <a:spLocks noGrp="1"/>
          </p:cNvSpPr>
          <p:nvPr>
            <p:ph type="title"/>
          </p:nvPr>
        </p:nvSpPr>
        <p:spPr/>
        <p:txBody>
          <a:bodyPr/>
          <a:lstStyle/>
          <a:p>
            <a:r>
              <a:rPr lang="en-US" altLang="en-US" sz="3200" b="1">
                <a:latin typeface="Times New Roman" panose="02020603050405020304" pitchFamily="18" charset="0"/>
                <a:cs typeface="Times New Roman" panose="02020603050405020304" pitchFamily="18" charset="0"/>
              </a:rPr>
              <a:t>1.3 Characteristics of the Database Approach</a:t>
            </a:r>
            <a:r>
              <a:rPr lang="en-US" altLang="en-US" b="1"/>
              <a:t/>
            </a:r>
            <a:br>
              <a:rPr lang="en-US" altLang="en-US" b="1"/>
            </a:br>
            <a:endParaRPr lang="en-IN" altLang="en-US"/>
          </a:p>
        </p:txBody>
      </p:sp>
      <p:sp>
        <p:nvSpPr>
          <p:cNvPr id="12291" name="Content Placeholder 2">
            <a:extLst>
              <a:ext uri="{FF2B5EF4-FFF2-40B4-BE49-F238E27FC236}">
                <a16:creationId xmlns:a16="http://schemas.microsoft.com/office/drawing/2014/main" xmlns="" id="{AA57E8A3-4800-4113-B08C-8481136C65A5}"/>
              </a:ext>
            </a:extLst>
          </p:cNvPr>
          <p:cNvSpPr>
            <a:spLocks noGrp="1"/>
          </p:cNvSpPr>
          <p:nvPr>
            <p:ph idx="1"/>
          </p:nvPr>
        </p:nvSpPr>
        <p:spPr/>
        <p:txBody>
          <a:bodyPr/>
          <a:lstStyle/>
          <a:p>
            <a:r>
              <a:rPr lang="en-US" altLang="en-US" b="1">
                <a:solidFill>
                  <a:srgbClr val="FF0000"/>
                </a:solidFill>
                <a:latin typeface="Times New Roman" panose="02020603050405020304" pitchFamily="18" charset="0"/>
                <a:cs typeface="Times New Roman" panose="02020603050405020304" pitchFamily="18" charset="0"/>
              </a:rPr>
              <a:t>Self-describing nature of a database system</a:t>
            </a:r>
          </a:p>
          <a:p>
            <a:r>
              <a:rPr lang="en-US" altLang="en-US" b="1">
                <a:solidFill>
                  <a:srgbClr val="FF0000"/>
                </a:solidFill>
                <a:latin typeface="Times New Roman" panose="02020603050405020304" pitchFamily="18" charset="0"/>
                <a:cs typeface="Times New Roman" panose="02020603050405020304" pitchFamily="18" charset="0"/>
              </a:rPr>
              <a:t>Insulation between programs and data</a:t>
            </a:r>
          </a:p>
          <a:p>
            <a:pPr lvl="1"/>
            <a:r>
              <a:rPr lang="en-US" altLang="en-US" b="1">
                <a:latin typeface="Times New Roman" panose="02020603050405020304" pitchFamily="18" charset="0"/>
                <a:cs typeface="Times New Roman" panose="02020603050405020304" pitchFamily="18" charset="0"/>
              </a:rPr>
              <a:t>program-data independence</a:t>
            </a:r>
          </a:p>
          <a:p>
            <a:pPr lvl="1"/>
            <a:r>
              <a:rPr lang="en-US" altLang="en-US">
                <a:solidFill>
                  <a:srgbClr val="00B0F0"/>
                </a:solidFill>
                <a:latin typeface="Times New Roman" panose="02020603050405020304" pitchFamily="18" charset="0"/>
                <a:cs typeface="Times New Roman" panose="02020603050405020304" pitchFamily="18" charset="0"/>
              </a:rPr>
              <a:t>program-operation independence</a:t>
            </a:r>
          </a:p>
          <a:p>
            <a:r>
              <a:rPr lang="en-US" altLang="en-US" b="1">
                <a:solidFill>
                  <a:srgbClr val="FF0000"/>
                </a:solidFill>
                <a:latin typeface="Times New Roman" panose="02020603050405020304" pitchFamily="18" charset="0"/>
                <a:cs typeface="Times New Roman" panose="02020603050405020304" pitchFamily="18" charset="0"/>
              </a:rPr>
              <a:t>Support of multiple views of the data</a:t>
            </a:r>
          </a:p>
          <a:p>
            <a:r>
              <a:rPr lang="en-US" altLang="en-US" b="1">
                <a:solidFill>
                  <a:srgbClr val="FF0000"/>
                </a:solidFill>
                <a:latin typeface="Times New Roman" panose="02020603050405020304" pitchFamily="18" charset="0"/>
                <a:cs typeface="Times New Roman" panose="02020603050405020304" pitchFamily="18" charset="0"/>
              </a:rPr>
              <a:t>Sharing of data and multi-user transaction processing</a:t>
            </a:r>
          </a:p>
          <a:p>
            <a:endParaRPr lang="en-US" altLang="en-US" b="1">
              <a:solidFill>
                <a:srgbClr val="FF0000"/>
              </a:solidFill>
              <a:latin typeface="Times New Roman" panose="02020603050405020304" pitchFamily="18" charset="0"/>
              <a:cs typeface="Times New Roman" panose="02020603050405020304" pitchFamily="18" charset="0"/>
            </a:endParaRPr>
          </a:p>
          <a:p>
            <a:endParaRPr lang="en-US" altLang="en-US" b="1">
              <a:solidFill>
                <a:srgbClr val="FF0000"/>
              </a:solidFill>
              <a:latin typeface="Times New Roman" panose="02020603050405020304" pitchFamily="18" charset="0"/>
              <a:cs typeface="Times New Roman" panose="02020603050405020304" pitchFamily="18" charset="0"/>
            </a:endParaRPr>
          </a:p>
          <a:p>
            <a:endParaRPr lang="en-US" altLang="en-US" b="1">
              <a:solidFill>
                <a:srgbClr val="FF0000"/>
              </a:solidFill>
              <a:latin typeface="Times New Roman" panose="02020603050405020304" pitchFamily="18" charset="0"/>
              <a:cs typeface="Times New Roman" panose="02020603050405020304" pitchFamily="18" charset="0"/>
            </a:endParaRPr>
          </a:p>
          <a:p>
            <a:endParaRPr lang="en-IN" alt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15">
            <a:extLst>
              <a:ext uri="{FF2B5EF4-FFF2-40B4-BE49-F238E27FC236}">
                <a16:creationId xmlns:a16="http://schemas.microsoft.com/office/drawing/2014/main" xmlns="" id="{470A71AF-803F-4680-86D8-F932515FAD05}"/>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25603" name="Picture 1">
            <a:extLst>
              <a:ext uri="{FF2B5EF4-FFF2-40B4-BE49-F238E27FC236}">
                <a16:creationId xmlns:a16="http://schemas.microsoft.com/office/drawing/2014/main" xmlns="" id="{EEE4C43F-AB4E-49A7-81E5-7B1B24291D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itle 3">
            <a:extLst>
              <a:ext uri="{FF2B5EF4-FFF2-40B4-BE49-F238E27FC236}">
                <a16:creationId xmlns:a16="http://schemas.microsoft.com/office/drawing/2014/main" xmlns="" id="{BB7B9BA6-DBFA-4C49-8EEA-3F4E04777603}"/>
              </a:ext>
            </a:extLst>
          </p:cNvPr>
          <p:cNvSpPr txBox="1">
            <a:spLocks/>
          </p:cNvSpPr>
          <p:nvPr/>
        </p:nvSpPr>
        <p:spPr bwMode="auto">
          <a:xfrm>
            <a:off x="401638"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25605" name="Rectangle 2">
            <a:extLst>
              <a:ext uri="{FF2B5EF4-FFF2-40B4-BE49-F238E27FC236}">
                <a16:creationId xmlns:a16="http://schemas.microsoft.com/office/drawing/2014/main" xmlns="" id="{850EA389-D2B8-4D97-ABCB-FE65F90D8E94}"/>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1.3 Characteristics of the Database Approach</a:t>
            </a:r>
            <a:endParaRPr lang="en-US" altLang="en-US" b="1">
              <a:latin typeface="Calibri Light" panose="020F0302020204030204" pitchFamily="34" charset="0"/>
            </a:endParaRPr>
          </a:p>
        </p:txBody>
      </p:sp>
      <p:sp>
        <p:nvSpPr>
          <p:cNvPr id="6" name="Content Placeholder 13">
            <a:extLst>
              <a:ext uri="{FF2B5EF4-FFF2-40B4-BE49-F238E27FC236}">
                <a16:creationId xmlns:a16="http://schemas.microsoft.com/office/drawing/2014/main" xmlns="" id="{910D042F-07F7-47A4-B22A-7E09AA6C46DA}"/>
              </a:ext>
            </a:extLst>
          </p:cNvPr>
          <p:cNvSpPr txBox="1">
            <a:spLocks/>
          </p:cNvSpPr>
          <p:nvPr/>
        </p:nvSpPr>
        <p:spPr>
          <a:xfrm>
            <a:off x="990600" y="860425"/>
            <a:ext cx="10426700" cy="5595938"/>
          </a:xfrm>
          <a:prstGeom prst="rect">
            <a:avLst/>
          </a:prstGeom>
        </p:spPr>
        <p:txBody>
          <a:bodyPr/>
          <a:lst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457200" algn="just">
              <a:buFont typeface="Arial" charset="0"/>
              <a:buAutoNum type="arabicPeriod"/>
              <a:defRPr/>
            </a:pPr>
            <a:r>
              <a:rPr lang="en-US" sz="2400" b="1" dirty="0">
                <a:solidFill>
                  <a:srgbClr val="FF0000"/>
                </a:solidFill>
                <a:latin typeface="Times New Roman" pitchFamily="18" charset="0"/>
                <a:cs typeface="Times New Roman" pitchFamily="18" charset="0"/>
              </a:rPr>
              <a:t>Self-describing nature of a database system:</a:t>
            </a:r>
          </a:p>
          <a:p>
            <a:pPr algn="just">
              <a:defRPr/>
            </a:pPr>
            <a:r>
              <a:rPr lang="en-US" sz="2400" dirty="0">
                <a:latin typeface="Times New Roman" pitchFamily="18" charset="0"/>
                <a:cs typeface="Times New Roman" pitchFamily="18" charset="0"/>
              </a:rPr>
              <a:t>In traditional file processing, data definition is typically part of the application programs themselves. Hence, these programs are constrained to work with only one specific database, whose structure is declared in the application programs.</a:t>
            </a:r>
            <a:endParaRPr lang="en-US" sz="2400" b="1" dirty="0">
              <a:solidFill>
                <a:srgbClr val="FF0000"/>
              </a:solidFill>
              <a:latin typeface="Times New Roman" pitchFamily="18" charset="0"/>
              <a:cs typeface="Times New Roman" pitchFamily="18" charset="0"/>
            </a:endParaRPr>
          </a:p>
          <a:p>
            <a:pPr lvl="1" algn="just">
              <a:defRPr/>
            </a:pPr>
            <a:r>
              <a:rPr lang="en-US" dirty="0">
                <a:latin typeface="Times New Roman" pitchFamily="18" charset="0"/>
                <a:cs typeface="Times New Roman" pitchFamily="18" charset="0"/>
              </a:rPr>
              <a:t>A DBMS </a:t>
            </a:r>
            <a:r>
              <a:rPr lang="en-US" b="1" dirty="0">
                <a:solidFill>
                  <a:schemeClr val="accent6"/>
                </a:solidFill>
                <a:latin typeface="Times New Roman" pitchFamily="18" charset="0"/>
                <a:cs typeface="Times New Roman" pitchFamily="18" charset="0"/>
              </a:rPr>
              <a:t>catalog</a:t>
            </a:r>
            <a:r>
              <a:rPr lang="en-US" dirty="0">
                <a:latin typeface="Times New Roman" pitchFamily="18" charset="0"/>
                <a:cs typeface="Times New Roman" pitchFamily="18" charset="0"/>
              </a:rPr>
              <a:t> stores the description of a particular database (e.g. data structures, types, and constraints) called </a:t>
            </a:r>
            <a:r>
              <a:rPr lang="en-US" b="1" dirty="0">
                <a:solidFill>
                  <a:schemeClr val="accent6"/>
                </a:solidFill>
                <a:latin typeface="Times New Roman" pitchFamily="18" charset="0"/>
                <a:cs typeface="Times New Roman" pitchFamily="18" charset="0"/>
              </a:rPr>
              <a:t>meta-data</a:t>
            </a:r>
            <a:r>
              <a:rPr lang="en-US" b="1" dirty="0">
                <a:latin typeface="Times New Roman" pitchFamily="18" charset="0"/>
                <a:cs typeface="Times New Roman" pitchFamily="18" charset="0"/>
              </a:rPr>
              <a:t> (data about data)</a:t>
            </a:r>
            <a:r>
              <a:rPr lang="en-US" dirty="0">
                <a:latin typeface="Times New Roman" pitchFamily="18" charset="0"/>
                <a:cs typeface="Times New Roman" pitchFamily="18" charset="0"/>
              </a:rPr>
              <a:t>.</a:t>
            </a:r>
          </a:p>
          <a:p>
            <a:pPr lvl="1" algn="just">
              <a:defRPr/>
            </a:pPr>
            <a:r>
              <a:rPr lang="en-US" dirty="0">
                <a:latin typeface="Times New Roman" pitchFamily="18" charset="0"/>
                <a:cs typeface="Times New Roman" pitchFamily="18" charset="0"/>
              </a:rPr>
              <a:t>This allows the DBMS software to work with different database applications.</a:t>
            </a:r>
          </a:p>
          <a:p>
            <a:pPr marL="0" indent="0" algn="just">
              <a:buFont typeface="Arial" charset="0"/>
              <a:buNone/>
              <a:defRPr/>
            </a:pPr>
            <a:r>
              <a:rPr lang="en-US" sz="2400" b="1" dirty="0">
                <a:latin typeface="Times New Roman" pitchFamily="18" charset="0"/>
                <a:cs typeface="Times New Roman" pitchFamily="18" charset="0"/>
              </a:rPr>
              <a:t>2. </a:t>
            </a:r>
            <a:r>
              <a:rPr lang="en-US" sz="2400" b="1" dirty="0">
                <a:solidFill>
                  <a:srgbClr val="FF0000"/>
                </a:solidFill>
                <a:latin typeface="Times New Roman" pitchFamily="18" charset="0"/>
                <a:cs typeface="Times New Roman" pitchFamily="18" charset="0"/>
              </a:rPr>
              <a:t>Insulation between programs and data:</a:t>
            </a:r>
          </a:p>
          <a:p>
            <a:pPr lvl="1" algn="just">
              <a:defRPr/>
            </a:pPr>
            <a:r>
              <a:rPr lang="en-US" dirty="0">
                <a:latin typeface="Times New Roman" pitchFamily="18" charset="0"/>
                <a:cs typeface="Times New Roman" pitchFamily="18" charset="0"/>
              </a:rPr>
              <a:t>In traditional file processing, the structure of data files is embedded in the application programs, so any changes to the structure of a file may require changing all programs that access that file. </a:t>
            </a:r>
          </a:p>
          <a:p>
            <a:pPr lvl="1" algn="just">
              <a:defRPr/>
            </a:pPr>
            <a:r>
              <a:rPr lang="en-US" dirty="0">
                <a:latin typeface="Times New Roman" pitchFamily="18" charset="0"/>
                <a:cs typeface="Times New Roman" pitchFamily="18" charset="0"/>
              </a:rPr>
              <a:t>By contrast, DBMS access programs do not require such changes in most cases. The structure of data files is stored in the DBMS catalog separately from the access </a:t>
            </a:r>
            <a:r>
              <a:rPr lang="en-US" dirty="0" err="1">
                <a:latin typeface="Times New Roman" pitchFamily="18" charset="0"/>
                <a:cs typeface="Times New Roman" pitchFamily="18" charset="0"/>
              </a:rPr>
              <a:t>programs.Called</a:t>
            </a:r>
            <a:r>
              <a:rPr lang="en-US" dirty="0">
                <a:latin typeface="Times New Roman" pitchFamily="18" charset="0"/>
                <a:cs typeface="Times New Roman" pitchFamily="18" charset="0"/>
              </a:rPr>
              <a:t> </a:t>
            </a:r>
            <a:r>
              <a:rPr lang="en-US" b="1" dirty="0">
                <a:latin typeface="Times New Roman" pitchFamily="18" charset="0"/>
                <a:cs typeface="Times New Roman" pitchFamily="18" charset="0"/>
              </a:rPr>
              <a:t>program-data independence</a:t>
            </a:r>
            <a:r>
              <a:rPr lang="en-US" dirty="0">
                <a:latin typeface="Times New Roman" pitchFamily="18" charset="0"/>
                <a:cs typeface="Times New Roman" pitchFamily="18" charset="0"/>
              </a:rPr>
              <a:t>.</a:t>
            </a:r>
          </a:p>
          <a:p>
            <a:pPr lvl="1" algn="just">
              <a:defRPr/>
            </a:pPr>
            <a:endParaRPr lang="en-US" dirty="0">
              <a:latin typeface="Times New Roman" pitchFamily="18" charset="0"/>
              <a:cs typeface="Times New Roman" pitchFamily="18" charset="0"/>
            </a:endParaRPr>
          </a:p>
          <a:p>
            <a:pPr algn="just">
              <a:defRPr/>
            </a:pPr>
            <a:endParaRPr lang="en-IN" sz="2400" dirty="0">
              <a:latin typeface="Times New Roman" pitchFamily="18" charset="0"/>
              <a:cs typeface="Times New Roman" pitchFamily="18" charset="0"/>
            </a:endParaRPr>
          </a:p>
        </p:txBody>
      </p:sp>
    </p:spTree>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15">
            <a:extLst>
              <a:ext uri="{FF2B5EF4-FFF2-40B4-BE49-F238E27FC236}">
                <a16:creationId xmlns:a16="http://schemas.microsoft.com/office/drawing/2014/main" xmlns="" id="{0EB732D9-D4F1-4657-BBEA-F200313EA8C5}"/>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26627" name="Picture 1">
            <a:extLst>
              <a:ext uri="{FF2B5EF4-FFF2-40B4-BE49-F238E27FC236}">
                <a16:creationId xmlns:a16="http://schemas.microsoft.com/office/drawing/2014/main" xmlns="" id="{C9612E4B-6954-40AB-BD14-556D08873C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Title 3">
            <a:extLst>
              <a:ext uri="{FF2B5EF4-FFF2-40B4-BE49-F238E27FC236}">
                <a16:creationId xmlns:a16="http://schemas.microsoft.com/office/drawing/2014/main" xmlns="" id="{6DBE7875-9231-4138-97AE-386548A3B614}"/>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600" b="1">
                <a:latin typeface="Times New Roman" panose="02020603050405020304" pitchFamily="18" charset="0"/>
                <a:cs typeface="Times New Roman" panose="02020603050405020304" pitchFamily="18" charset="0"/>
              </a:rPr>
              <a:t>Figure 1.4 An example of a database catalog for the database </a:t>
            </a:r>
          </a:p>
        </p:txBody>
      </p:sp>
      <p:sp>
        <p:nvSpPr>
          <p:cNvPr id="26629" name="Rectangle 2">
            <a:extLst>
              <a:ext uri="{FF2B5EF4-FFF2-40B4-BE49-F238E27FC236}">
                <a16:creationId xmlns:a16="http://schemas.microsoft.com/office/drawing/2014/main" xmlns="" id="{2B30B353-2354-4039-A685-E19402568DCF}"/>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Example of a simplified database catalog</a:t>
            </a:r>
          </a:p>
        </p:txBody>
      </p:sp>
      <p:pic>
        <p:nvPicPr>
          <p:cNvPr id="26630" name="Picture 7">
            <a:extLst>
              <a:ext uri="{FF2B5EF4-FFF2-40B4-BE49-F238E27FC236}">
                <a16:creationId xmlns:a16="http://schemas.microsoft.com/office/drawing/2014/main" xmlns="" id="{EE2EAFE8-6FF2-45A0-9DCC-CD4DDF5AAA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87650" y="1044575"/>
            <a:ext cx="6705600" cy="422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15">
            <a:extLst>
              <a:ext uri="{FF2B5EF4-FFF2-40B4-BE49-F238E27FC236}">
                <a16:creationId xmlns:a16="http://schemas.microsoft.com/office/drawing/2014/main" xmlns="" id="{54605A1B-1599-48B7-B148-D3AF761E4D51}"/>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27651" name="Picture 1">
            <a:extLst>
              <a:ext uri="{FF2B5EF4-FFF2-40B4-BE49-F238E27FC236}">
                <a16:creationId xmlns:a16="http://schemas.microsoft.com/office/drawing/2014/main" xmlns="" id="{2DCE201A-DF43-4B38-8C49-050D3A1F88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2" name="Title 3">
            <a:extLst>
              <a:ext uri="{FF2B5EF4-FFF2-40B4-BE49-F238E27FC236}">
                <a16:creationId xmlns:a16="http://schemas.microsoft.com/office/drawing/2014/main" xmlns="" id="{29AE46E3-6AB4-43E4-B158-F43ABBA1E702}"/>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27653" name="Rectangle 2">
            <a:extLst>
              <a:ext uri="{FF2B5EF4-FFF2-40B4-BE49-F238E27FC236}">
                <a16:creationId xmlns:a16="http://schemas.microsoft.com/office/drawing/2014/main" xmlns="" id="{283602C8-1141-4E02-B31D-CECBDA4A5E9B}"/>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Main Characteristics of the Database Approach (continued)</a:t>
            </a:r>
          </a:p>
        </p:txBody>
      </p:sp>
      <p:sp>
        <p:nvSpPr>
          <p:cNvPr id="6" name="Content Placeholder 13">
            <a:extLst>
              <a:ext uri="{FF2B5EF4-FFF2-40B4-BE49-F238E27FC236}">
                <a16:creationId xmlns:a16="http://schemas.microsoft.com/office/drawing/2014/main" xmlns="" id="{6FCFF286-F713-4CBE-B3F9-938061951552}"/>
              </a:ext>
            </a:extLst>
          </p:cNvPr>
          <p:cNvSpPr txBox="1">
            <a:spLocks/>
          </p:cNvSpPr>
          <p:nvPr/>
        </p:nvSpPr>
        <p:spPr>
          <a:xfrm>
            <a:off x="457200" y="744538"/>
            <a:ext cx="11098213" cy="5381625"/>
          </a:xfrm>
          <a:prstGeom prst="rect">
            <a:avLst/>
          </a:prstGeom>
        </p:spPr>
        <p:txBody>
          <a:bodyPr/>
          <a:lst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a:pPr>
            <a:endParaRPr lang="en-US" sz="2400" dirty="0">
              <a:latin typeface="Times New Roman" pitchFamily="18" charset="0"/>
              <a:cs typeface="Times New Roman" pitchFamily="18" charset="0"/>
            </a:endParaRPr>
          </a:p>
          <a:p>
            <a:pPr algn="just">
              <a:defRPr/>
            </a:pPr>
            <a:r>
              <a:rPr lang="en-US" sz="2400" dirty="0">
                <a:latin typeface="Times New Roman" pitchFamily="18" charset="0"/>
                <a:cs typeface="Times New Roman" pitchFamily="18" charset="0"/>
              </a:rPr>
              <a:t>Users can define operations on data as part of the database definitions. </a:t>
            </a:r>
          </a:p>
          <a:p>
            <a:pPr algn="just">
              <a:defRPr/>
            </a:pPr>
            <a:r>
              <a:rPr lang="en-US" sz="2400" dirty="0">
                <a:latin typeface="Times New Roman" pitchFamily="18" charset="0"/>
                <a:cs typeface="Times New Roman" pitchFamily="18" charset="0"/>
              </a:rPr>
              <a:t>An </a:t>
            </a:r>
            <a:r>
              <a:rPr lang="en-US" sz="2400" dirty="0">
                <a:solidFill>
                  <a:srgbClr val="00B0F0"/>
                </a:solidFill>
                <a:latin typeface="Times New Roman" pitchFamily="18" charset="0"/>
                <a:cs typeface="Times New Roman" pitchFamily="18" charset="0"/>
              </a:rPr>
              <a:t>operation</a:t>
            </a:r>
            <a:r>
              <a:rPr lang="en-US" sz="2400" dirty="0">
                <a:latin typeface="Times New Roman" pitchFamily="18" charset="0"/>
                <a:cs typeface="Times New Roman" pitchFamily="18" charset="0"/>
              </a:rPr>
              <a:t> (also called a function or method) is specified in two parts. </a:t>
            </a:r>
          </a:p>
          <a:p>
            <a:pPr algn="just">
              <a:defRPr/>
            </a:pPr>
            <a:r>
              <a:rPr lang="en-US" sz="2400" dirty="0">
                <a:latin typeface="Times New Roman" pitchFamily="18" charset="0"/>
                <a:cs typeface="Times New Roman" pitchFamily="18" charset="0"/>
              </a:rPr>
              <a:t>The </a:t>
            </a:r>
            <a:r>
              <a:rPr lang="en-US" sz="2400" dirty="0">
                <a:solidFill>
                  <a:srgbClr val="00B0F0"/>
                </a:solidFill>
                <a:latin typeface="Times New Roman" pitchFamily="18" charset="0"/>
                <a:cs typeface="Times New Roman" pitchFamily="18" charset="0"/>
              </a:rPr>
              <a:t>interface (or signature) </a:t>
            </a:r>
            <a:r>
              <a:rPr lang="en-US" sz="2400" dirty="0">
                <a:latin typeface="Times New Roman" pitchFamily="18" charset="0"/>
                <a:cs typeface="Times New Roman" pitchFamily="18" charset="0"/>
              </a:rPr>
              <a:t>of an operation includes the operation name and the data types of its arguments (or parameters). </a:t>
            </a:r>
          </a:p>
          <a:p>
            <a:pPr algn="just">
              <a:defRPr/>
            </a:pPr>
            <a:r>
              <a:rPr lang="en-US" sz="2400" dirty="0">
                <a:latin typeface="Times New Roman" pitchFamily="18" charset="0"/>
                <a:cs typeface="Times New Roman" pitchFamily="18" charset="0"/>
              </a:rPr>
              <a:t>The </a:t>
            </a:r>
            <a:r>
              <a:rPr lang="en-US" sz="2400" dirty="0">
                <a:solidFill>
                  <a:srgbClr val="00B0F0"/>
                </a:solidFill>
                <a:latin typeface="Times New Roman" pitchFamily="18" charset="0"/>
                <a:cs typeface="Times New Roman" pitchFamily="18" charset="0"/>
              </a:rPr>
              <a:t>implementation (or method) </a:t>
            </a:r>
            <a:r>
              <a:rPr lang="en-US" sz="2400" dirty="0">
                <a:latin typeface="Times New Roman" pitchFamily="18" charset="0"/>
                <a:cs typeface="Times New Roman" pitchFamily="18" charset="0"/>
              </a:rPr>
              <a:t>of the operation is specified separately and can be changed without affecting the interface. </a:t>
            </a:r>
          </a:p>
          <a:p>
            <a:pPr algn="just">
              <a:defRPr/>
            </a:pPr>
            <a:r>
              <a:rPr lang="en-US" sz="2400" dirty="0">
                <a:latin typeface="Times New Roman" pitchFamily="18" charset="0"/>
                <a:cs typeface="Times New Roman" pitchFamily="18" charset="0"/>
              </a:rPr>
              <a:t>User application programs can operate on the data by invoking these operations through their names and arguments, regardless of how the operations are implemented. This may be termed </a:t>
            </a:r>
            <a:r>
              <a:rPr lang="en-US" sz="2400" dirty="0">
                <a:solidFill>
                  <a:srgbClr val="00B0F0"/>
                </a:solidFill>
                <a:latin typeface="Times New Roman" pitchFamily="18" charset="0"/>
                <a:cs typeface="Times New Roman" pitchFamily="18" charset="0"/>
              </a:rPr>
              <a:t>program-operation independence.</a:t>
            </a:r>
            <a:endParaRPr lang="en-US" sz="2400" b="1" dirty="0">
              <a:solidFill>
                <a:srgbClr val="00B0F0"/>
              </a:solidFill>
              <a:latin typeface="Times New Roman" pitchFamily="18" charset="0"/>
              <a:cs typeface="Times New Roman" pitchFamily="18" charset="0"/>
            </a:endParaRPr>
          </a:p>
          <a:p>
            <a:pPr algn="just">
              <a:defRPr/>
            </a:pPr>
            <a:r>
              <a:rPr lang="en-US" sz="2400" b="1" dirty="0">
                <a:solidFill>
                  <a:srgbClr val="FF0000"/>
                </a:solidFill>
                <a:latin typeface="Times New Roman" pitchFamily="18" charset="0"/>
                <a:cs typeface="Times New Roman" pitchFamily="18" charset="0"/>
              </a:rPr>
              <a:t>Data Abstraction: </a:t>
            </a:r>
          </a:p>
          <a:p>
            <a:pPr lvl="1" algn="just">
              <a:defRPr/>
            </a:pPr>
            <a:r>
              <a:rPr lang="en-US" dirty="0">
                <a:latin typeface="Times New Roman" pitchFamily="18" charset="0"/>
                <a:cs typeface="Times New Roman" pitchFamily="18" charset="0"/>
              </a:rPr>
              <a:t>A </a:t>
            </a:r>
            <a:r>
              <a:rPr lang="en-US" b="1" dirty="0">
                <a:solidFill>
                  <a:srgbClr val="00B0F0"/>
                </a:solidFill>
                <a:latin typeface="Times New Roman" pitchFamily="18" charset="0"/>
                <a:cs typeface="Times New Roman" pitchFamily="18" charset="0"/>
              </a:rPr>
              <a:t>data model</a:t>
            </a:r>
            <a:r>
              <a:rPr lang="en-US" dirty="0">
                <a:solidFill>
                  <a:srgbClr val="00B0F0"/>
                </a:solidFill>
                <a:latin typeface="Times New Roman" pitchFamily="18" charset="0"/>
                <a:cs typeface="Times New Roman" pitchFamily="18" charset="0"/>
              </a:rPr>
              <a:t> </a:t>
            </a:r>
            <a:r>
              <a:rPr lang="en-US" dirty="0">
                <a:latin typeface="Times New Roman" pitchFamily="18" charset="0"/>
                <a:cs typeface="Times New Roman" pitchFamily="18" charset="0"/>
              </a:rPr>
              <a:t>is used to hide storage details and present the users with a conceptual view  of the database.</a:t>
            </a:r>
          </a:p>
          <a:p>
            <a:pPr marL="457200" lvl="1" indent="0" algn="just">
              <a:buFont typeface="Arial" charset="0"/>
              <a:buNone/>
              <a:defRPr/>
            </a:pPr>
            <a:endParaRPr lang="en-US" dirty="0">
              <a:latin typeface="Times New Roman" pitchFamily="18" charset="0"/>
              <a:cs typeface="Times New Roman" pitchFamily="18" charset="0"/>
            </a:endParaRPr>
          </a:p>
          <a:p>
            <a:pPr marL="0" indent="0" algn="just">
              <a:buFont typeface="Arial" charset="0"/>
              <a:buNone/>
              <a:defRPr/>
            </a:pPr>
            <a:endParaRPr lang="en-IN" sz="2400" dirty="0">
              <a:latin typeface="Times New Roman" pitchFamily="18" charset="0"/>
              <a:cs typeface="Times New Roman" pitchFamily="18" charset="0"/>
            </a:endParaRPr>
          </a:p>
        </p:txBody>
      </p:sp>
    </p:spTree>
  </p:cSld>
  <p:clrMapOvr>
    <a:masterClrMapping/>
  </p:clrMapOvr>
  <p:transition spd="slow">
    <p:wip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15">
            <a:extLst>
              <a:ext uri="{FF2B5EF4-FFF2-40B4-BE49-F238E27FC236}">
                <a16:creationId xmlns:a16="http://schemas.microsoft.com/office/drawing/2014/main" xmlns="" id="{03A20268-F819-41C8-825C-C6E68437DF8B}"/>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28675" name="Picture 1">
            <a:extLst>
              <a:ext uri="{FF2B5EF4-FFF2-40B4-BE49-F238E27FC236}">
                <a16:creationId xmlns:a16="http://schemas.microsoft.com/office/drawing/2014/main" xmlns="" id="{9FE9786E-B812-4876-B606-545A998606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Title 3">
            <a:extLst>
              <a:ext uri="{FF2B5EF4-FFF2-40B4-BE49-F238E27FC236}">
                <a16:creationId xmlns:a16="http://schemas.microsoft.com/office/drawing/2014/main" xmlns="" id="{888A2112-5C3A-49E3-B4E7-AE748018119C}"/>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9pPr>
          </a:lstStyle>
          <a:p>
            <a:pPr marL="285750" lvl="1" algn="just">
              <a:buFont typeface="Arial" pitchFamily="34" charset="0"/>
              <a:buChar char="•"/>
              <a:defRPr/>
            </a:pPr>
            <a:endParaRPr lang="en-US" sz="2400" dirty="0">
              <a:latin typeface="Times New Roman" pitchFamily="18" charset="0"/>
              <a:cs typeface="Times New Roman" pitchFamily="18" charset="0"/>
            </a:endParaRPr>
          </a:p>
          <a:p>
            <a:pPr marL="285750" lvl="1" algn="just">
              <a:buFont typeface="Arial" pitchFamily="34" charset="0"/>
              <a:buChar char="•"/>
              <a:defRPr/>
            </a:pPr>
            <a:r>
              <a:rPr lang="en-US" sz="2400" dirty="0">
                <a:latin typeface="Times New Roman" pitchFamily="18" charset="0"/>
                <a:cs typeface="Times New Roman" pitchFamily="18" charset="0"/>
              </a:rPr>
              <a:t>Programs refer to the data model constructs rather than data storage details</a:t>
            </a:r>
          </a:p>
          <a:p>
            <a:pPr algn="just">
              <a:defRPr/>
            </a:pPr>
            <a:endParaRPr lang="en-US" sz="2400" b="1" dirty="0">
              <a:latin typeface="Times New Roman" pitchFamily="18" charset="0"/>
              <a:cs typeface="Times New Roman" pitchFamily="18" charset="0"/>
            </a:endParaRPr>
          </a:p>
          <a:p>
            <a:pPr algn="just">
              <a:defRPr/>
            </a:pPr>
            <a:endParaRPr lang="en-US" sz="2400" b="1" dirty="0">
              <a:latin typeface="Times New Roman" pitchFamily="18" charset="0"/>
              <a:cs typeface="Times New Roman" pitchFamily="18" charset="0"/>
            </a:endParaRPr>
          </a:p>
          <a:p>
            <a:pPr algn="just">
              <a:defRPr/>
            </a:pPr>
            <a:endParaRPr lang="en-US" sz="2400" b="1" dirty="0">
              <a:latin typeface="Times New Roman" pitchFamily="18" charset="0"/>
              <a:cs typeface="Times New Roman" pitchFamily="18" charset="0"/>
            </a:endParaRPr>
          </a:p>
          <a:p>
            <a:pPr algn="just">
              <a:defRPr/>
            </a:pPr>
            <a:endParaRPr lang="en-US" sz="2400" b="1" dirty="0">
              <a:latin typeface="Times New Roman" pitchFamily="18" charset="0"/>
              <a:cs typeface="Times New Roman" pitchFamily="18" charset="0"/>
            </a:endParaRPr>
          </a:p>
          <a:p>
            <a:pPr algn="ctr">
              <a:defRPr/>
            </a:pPr>
            <a:r>
              <a:rPr lang="en-US" sz="1600" b="1" dirty="0">
                <a:latin typeface="Times New Roman" pitchFamily="18" charset="0"/>
                <a:cs typeface="Times New Roman" pitchFamily="18" charset="0"/>
              </a:rPr>
              <a:t>Figure 1.5 Internal storage format for a STUDENT record, based on the database catalog in figure 1.3</a:t>
            </a:r>
          </a:p>
          <a:p>
            <a:pPr algn="just">
              <a:defRPr/>
            </a:pPr>
            <a:endParaRPr lang="en-US" sz="2400" b="1" dirty="0">
              <a:latin typeface="Times New Roman" pitchFamily="18" charset="0"/>
              <a:cs typeface="Times New Roman" pitchFamily="18" charset="0"/>
            </a:endParaRPr>
          </a:p>
          <a:p>
            <a:pPr algn="just">
              <a:defRPr/>
            </a:pPr>
            <a:endParaRPr lang="en-US" sz="2400" b="1" dirty="0">
              <a:latin typeface="Times New Roman" pitchFamily="18" charset="0"/>
              <a:cs typeface="Times New Roman" pitchFamily="18" charset="0"/>
            </a:endParaRPr>
          </a:p>
          <a:p>
            <a:pPr algn="just">
              <a:defRPr/>
            </a:pPr>
            <a:r>
              <a:rPr lang="en-US" sz="2400" b="1" dirty="0">
                <a:solidFill>
                  <a:srgbClr val="FF0000"/>
                </a:solidFill>
                <a:latin typeface="Times New Roman" pitchFamily="18" charset="0"/>
                <a:cs typeface="Times New Roman" pitchFamily="18" charset="0"/>
              </a:rPr>
              <a:t>3. Support of multiple views of the data:</a:t>
            </a:r>
          </a:p>
          <a:p>
            <a:pPr lvl="1" algn="just">
              <a:defRPr/>
            </a:pPr>
            <a:r>
              <a:rPr lang="en-US" sz="2400" dirty="0">
                <a:latin typeface="Times New Roman" pitchFamily="18" charset="0"/>
                <a:cs typeface="Times New Roman" pitchFamily="18" charset="0"/>
              </a:rPr>
              <a:t>Each user may see a different view of the database, which describes </a:t>
            </a:r>
            <a:r>
              <a:rPr lang="en-US" sz="2400" b="1" dirty="0">
                <a:latin typeface="Times New Roman" pitchFamily="18" charset="0"/>
                <a:cs typeface="Times New Roman" pitchFamily="18" charset="0"/>
              </a:rPr>
              <a:t>only</a:t>
            </a:r>
            <a:r>
              <a:rPr lang="en-US" sz="2400" dirty="0">
                <a:latin typeface="Times New Roman" pitchFamily="18" charset="0"/>
                <a:cs typeface="Times New Roman" pitchFamily="18" charset="0"/>
              </a:rPr>
              <a:t> the data of interest to that user.</a:t>
            </a:r>
          </a:p>
        </p:txBody>
      </p:sp>
      <p:sp>
        <p:nvSpPr>
          <p:cNvPr id="28677" name="Rectangle 2">
            <a:extLst>
              <a:ext uri="{FF2B5EF4-FFF2-40B4-BE49-F238E27FC236}">
                <a16:creationId xmlns:a16="http://schemas.microsoft.com/office/drawing/2014/main" xmlns="" id="{D366BD4B-F762-470F-A21F-D44B4617BE16}"/>
              </a:ext>
            </a:extLst>
          </p:cNvPr>
          <p:cNvSpPr txBox="1">
            <a:spLocks noChangeArrowheads="1"/>
          </p:cNvSpPr>
          <p:nvPr/>
        </p:nvSpPr>
        <p:spPr bwMode="auto">
          <a:xfrm>
            <a:off x="1027113" y="395288"/>
            <a:ext cx="10226675"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Main Characteristics of the Database Approach (continued)</a:t>
            </a:r>
          </a:p>
        </p:txBody>
      </p:sp>
      <p:pic>
        <p:nvPicPr>
          <p:cNvPr id="28678" name="Picture 7">
            <a:extLst>
              <a:ext uri="{FF2B5EF4-FFF2-40B4-BE49-F238E27FC236}">
                <a16:creationId xmlns:a16="http://schemas.microsoft.com/office/drawing/2014/main" xmlns="" id="{A27F7041-40DE-4D91-9837-4A4BCB1BDE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9625" y="1690688"/>
            <a:ext cx="7562850" cy="140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15">
            <a:extLst>
              <a:ext uri="{FF2B5EF4-FFF2-40B4-BE49-F238E27FC236}">
                <a16:creationId xmlns:a16="http://schemas.microsoft.com/office/drawing/2014/main" xmlns="" id="{0F17E1AA-38D3-4B63-A66C-C902AD6B2353}"/>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29699" name="Picture 1">
            <a:extLst>
              <a:ext uri="{FF2B5EF4-FFF2-40B4-BE49-F238E27FC236}">
                <a16:creationId xmlns:a16="http://schemas.microsoft.com/office/drawing/2014/main" xmlns="" id="{C5AB8C93-F996-4E95-A379-9D69E0E31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Title 3">
            <a:extLst>
              <a:ext uri="{FF2B5EF4-FFF2-40B4-BE49-F238E27FC236}">
                <a16:creationId xmlns:a16="http://schemas.microsoft.com/office/drawing/2014/main" xmlns="" id="{5CCD51D3-0CB8-450E-8B34-0BA20DD756EA}"/>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600" b="1">
                <a:latin typeface="Times New Roman" panose="02020603050405020304" pitchFamily="18" charset="0"/>
                <a:cs typeface="Times New Roman" panose="02020603050405020304" pitchFamily="18" charset="0"/>
              </a:rPr>
              <a:t>Figure 1.6  Two views derived from the database in figure 1.2 . </a:t>
            </a:r>
          </a:p>
          <a:p>
            <a:pPr algn="ctr" eaLnBrk="1" hangingPunct="1">
              <a:lnSpc>
                <a:spcPct val="101000"/>
              </a:lnSpc>
              <a:spcBef>
                <a:spcPct val="0"/>
              </a:spcBef>
              <a:buFontTx/>
              <a:buNone/>
            </a:pPr>
            <a:r>
              <a:rPr lang="en-IN" altLang="en-US" sz="1600" b="1">
                <a:latin typeface="Times New Roman" panose="02020603050405020304" pitchFamily="18" charset="0"/>
                <a:cs typeface="Times New Roman" panose="02020603050405020304" pitchFamily="18" charset="0"/>
              </a:rPr>
              <a:t>a) The Transcript view b) The COURSE_PREREQUISITES view</a:t>
            </a:r>
          </a:p>
        </p:txBody>
      </p:sp>
      <p:sp>
        <p:nvSpPr>
          <p:cNvPr id="29701" name="Rectangle 2">
            <a:extLst>
              <a:ext uri="{FF2B5EF4-FFF2-40B4-BE49-F238E27FC236}">
                <a16:creationId xmlns:a16="http://schemas.microsoft.com/office/drawing/2014/main" xmlns="" id="{D13DC3C3-17E1-4FE9-97E0-A49AADAD1136}"/>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Main Characteristics of the Database Approach (continued)</a:t>
            </a:r>
          </a:p>
        </p:txBody>
      </p:sp>
      <p:pic>
        <p:nvPicPr>
          <p:cNvPr id="29702" name="Picture 7">
            <a:extLst>
              <a:ext uri="{FF2B5EF4-FFF2-40B4-BE49-F238E27FC236}">
                <a16:creationId xmlns:a16="http://schemas.microsoft.com/office/drawing/2014/main" xmlns="" id="{F1942549-20B1-47FC-916D-D2E59D03AC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30325" y="1150938"/>
            <a:ext cx="9220200" cy="36957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15">
            <a:extLst>
              <a:ext uri="{FF2B5EF4-FFF2-40B4-BE49-F238E27FC236}">
                <a16:creationId xmlns:a16="http://schemas.microsoft.com/office/drawing/2014/main" xmlns="" id="{25E5F57F-47C4-4D2A-92FF-1687A8FABB34}"/>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30723" name="Picture 1">
            <a:extLst>
              <a:ext uri="{FF2B5EF4-FFF2-40B4-BE49-F238E27FC236}">
                <a16:creationId xmlns:a16="http://schemas.microsoft.com/office/drawing/2014/main" xmlns="" id="{052B3C43-451B-4A6A-8A45-9C3F0C7E3A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4" name="Title 3">
            <a:extLst>
              <a:ext uri="{FF2B5EF4-FFF2-40B4-BE49-F238E27FC236}">
                <a16:creationId xmlns:a16="http://schemas.microsoft.com/office/drawing/2014/main" xmlns="" id="{01019CB8-0AB8-46C4-ABC6-DBF7672BDD6F}"/>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a:lnSpc>
                <a:spcPct val="100000"/>
              </a:lnSpc>
              <a:spcBef>
                <a:spcPct val="0"/>
              </a:spcBef>
              <a:buFontTx/>
              <a:buNone/>
            </a:pPr>
            <a:endParaRPr lang="en-US" altLang="en-US" sz="2400" b="1">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US" altLang="en-US" sz="2400" b="1">
                <a:solidFill>
                  <a:srgbClr val="FF0000"/>
                </a:solidFill>
                <a:latin typeface="Times New Roman" panose="02020603050405020304" pitchFamily="18" charset="0"/>
                <a:cs typeface="Times New Roman" panose="02020603050405020304" pitchFamily="18" charset="0"/>
              </a:rPr>
              <a:t>4. Sharing of data and multi-user transaction processing:</a:t>
            </a:r>
          </a:p>
          <a:p>
            <a:pPr lvl="1" algn="just">
              <a:lnSpc>
                <a:spcPct val="100000"/>
              </a:lnSpc>
              <a:spcBef>
                <a:spcPct val="0"/>
              </a:spcBef>
              <a:buFontTx/>
              <a:buNone/>
            </a:pPr>
            <a:r>
              <a:rPr lang="en-US" altLang="en-US">
                <a:latin typeface="Times New Roman" panose="02020603050405020304" pitchFamily="18" charset="0"/>
                <a:cs typeface="Times New Roman" panose="02020603050405020304" pitchFamily="18" charset="0"/>
              </a:rPr>
              <a:t>Allowing a set of </a:t>
            </a:r>
            <a:r>
              <a:rPr lang="en-US" altLang="en-US" b="1">
                <a:latin typeface="Times New Roman" panose="02020603050405020304" pitchFamily="18" charset="0"/>
                <a:cs typeface="Times New Roman" panose="02020603050405020304" pitchFamily="18" charset="0"/>
              </a:rPr>
              <a:t>concurrent users</a:t>
            </a:r>
            <a:r>
              <a:rPr lang="en-US" altLang="en-US">
                <a:latin typeface="Times New Roman" panose="02020603050405020304" pitchFamily="18" charset="0"/>
                <a:cs typeface="Times New Roman" panose="02020603050405020304" pitchFamily="18" charset="0"/>
              </a:rPr>
              <a:t> to retrieve from and to update the database.</a:t>
            </a:r>
          </a:p>
          <a:p>
            <a:pPr lvl="1" algn="just">
              <a:lnSpc>
                <a:spcPct val="100000"/>
              </a:lnSpc>
              <a:spcBef>
                <a:spcPct val="0"/>
              </a:spcBef>
              <a:buFontTx/>
              <a:buNone/>
            </a:pPr>
            <a:r>
              <a:rPr lang="en-US" altLang="en-US" i="1">
                <a:latin typeface="Times New Roman" panose="02020603050405020304" pitchFamily="18" charset="0"/>
                <a:cs typeface="Times New Roman" panose="02020603050405020304" pitchFamily="18" charset="0"/>
              </a:rPr>
              <a:t>Concurrency control</a:t>
            </a:r>
            <a:r>
              <a:rPr lang="en-US" altLang="en-US">
                <a:latin typeface="Times New Roman" panose="02020603050405020304" pitchFamily="18" charset="0"/>
                <a:cs typeface="Times New Roman" panose="02020603050405020304" pitchFamily="18" charset="0"/>
              </a:rPr>
              <a:t> within the DBMS guarantees that each </a:t>
            </a:r>
            <a:r>
              <a:rPr lang="en-US" altLang="en-US" b="1">
                <a:latin typeface="Times New Roman" panose="02020603050405020304" pitchFamily="18" charset="0"/>
                <a:cs typeface="Times New Roman" panose="02020603050405020304" pitchFamily="18" charset="0"/>
              </a:rPr>
              <a:t>transaction</a:t>
            </a:r>
            <a:r>
              <a:rPr lang="en-US" altLang="en-US">
                <a:latin typeface="Times New Roman" panose="02020603050405020304" pitchFamily="18" charset="0"/>
                <a:cs typeface="Times New Roman" panose="02020603050405020304" pitchFamily="18" charset="0"/>
              </a:rPr>
              <a:t> is correctly executed or aborted</a:t>
            </a:r>
          </a:p>
          <a:p>
            <a:pPr lvl="1" algn="just">
              <a:lnSpc>
                <a:spcPct val="100000"/>
              </a:lnSpc>
              <a:spcBef>
                <a:spcPct val="0"/>
              </a:spcBef>
              <a:buFontTx/>
              <a:buNone/>
            </a:pPr>
            <a:r>
              <a:rPr lang="en-US" altLang="en-US" i="1">
                <a:latin typeface="Times New Roman" panose="02020603050405020304" pitchFamily="18" charset="0"/>
                <a:cs typeface="Times New Roman" panose="02020603050405020304" pitchFamily="18" charset="0"/>
              </a:rPr>
              <a:t>Recovery</a:t>
            </a:r>
            <a:r>
              <a:rPr lang="en-US" altLang="en-US">
                <a:latin typeface="Times New Roman" panose="02020603050405020304" pitchFamily="18" charset="0"/>
                <a:cs typeface="Times New Roman" panose="02020603050405020304" pitchFamily="18" charset="0"/>
              </a:rPr>
              <a:t> subsystem ensures each completed transaction has its effect permanently recorded in the database</a:t>
            </a:r>
          </a:p>
          <a:p>
            <a:pPr lvl="1" algn="just">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OLTP</a:t>
            </a:r>
            <a:r>
              <a:rPr lang="en-US" altLang="en-US">
                <a:latin typeface="Times New Roman" panose="02020603050405020304" pitchFamily="18" charset="0"/>
                <a:cs typeface="Times New Roman" panose="02020603050405020304" pitchFamily="18" charset="0"/>
              </a:rPr>
              <a:t> (Online Transaction Processing) is a major part of database applications. This allows hundreds of concurrent transactions to execute per second.</a:t>
            </a:r>
          </a:p>
        </p:txBody>
      </p:sp>
      <p:sp>
        <p:nvSpPr>
          <p:cNvPr id="30725" name="Rectangle 2">
            <a:extLst>
              <a:ext uri="{FF2B5EF4-FFF2-40B4-BE49-F238E27FC236}">
                <a16:creationId xmlns:a16="http://schemas.microsoft.com/office/drawing/2014/main" xmlns="" id="{2B9B4E22-FAEF-4655-8469-D416EA391007}"/>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Main Characteristics of the Database Approach (continued)</a:t>
            </a:r>
          </a:p>
        </p:txBody>
      </p:sp>
    </p:spTree>
  </p:cSld>
  <p:clrMapOvr>
    <a:masterClrMapping/>
  </p:clrMapOvr>
  <p:transition spd="slow">
    <p:wip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15">
            <a:extLst>
              <a:ext uri="{FF2B5EF4-FFF2-40B4-BE49-F238E27FC236}">
                <a16:creationId xmlns:a16="http://schemas.microsoft.com/office/drawing/2014/main" xmlns="" id="{D7ED0CD4-FABF-49E5-BC09-CFB8A7F66FE0}"/>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31747" name="Picture 1">
            <a:extLst>
              <a:ext uri="{FF2B5EF4-FFF2-40B4-BE49-F238E27FC236}">
                <a16:creationId xmlns:a16="http://schemas.microsoft.com/office/drawing/2014/main" xmlns="" id="{D5506805-400D-493A-B1A8-A14FC601BD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8" name="Title 3">
            <a:extLst>
              <a:ext uri="{FF2B5EF4-FFF2-40B4-BE49-F238E27FC236}">
                <a16:creationId xmlns:a16="http://schemas.microsoft.com/office/drawing/2014/main" xmlns="" id="{C91DC91F-74C2-4A8C-BB13-2ACC8C9E0F5F}"/>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ctr">
              <a:lnSpc>
                <a:spcPct val="100000"/>
              </a:lnSpc>
              <a:spcBef>
                <a:spcPct val="0"/>
              </a:spcBef>
              <a:buFontTx/>
              <a:buNone/>
            </a:pPr>
            <a:r>
              <a:rPr lang="en-US" altLang="en-US" sz="1800" b="1">
                <a:latin typeface="Times New Roman" panose="02020603050405020304" pitchFamily="18" charset="0"/>
                <a:cs typeface="Times New Roman" panose="02020603050405020304" pitchFamily="18" charset="0"/>
              </a:rPr>
              <a:t>Figure 1.7 Reference: </a:t>
            </a:r>
            <a:r>
              <a:rPr lang="en-IN" altLang="en-US" sz="1800">
                <a:latin typeface="Arial" panose="020B0604020202020204" pitchFamily="34" charset="0"/>
                <a:hlinkClick r:id="rId3"/>
              </a:rPr>
              <a:t>https://www.slideshare.net/ravi_LCET</a:t>
            </a:r>
          </a:p>
          <a:p>
            <a:pPr algn="ctr">
              <a:lnSpc>
                <a:spcPct val="100000"/>
              </a:lnSpc>
              <a:spcBef>
                <a:spcPct val="0"/>
              </a:spcBef>
              <a:buFontTx/>
              <a:buNone/>
            </a:pPr>
            <a:r>
              <a:rPr lang="en-IN" altLang="en-US" sz="1800">
                <a:latin typeface="Arial" panose="020B0604020202020204" pitchFamily="34" charset="0"/>
                <a:hlinkClick r:id="rId3"/>
              </a:rPr>
              <a:t>/relational-database-management-system-rdbms-i</a:t>
            </a:r>
            <a:endParaRPr lang="en-US" altLang="en-US" sz="18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31749" name="Rectangle 2">
            <a:extLst>
              <a:ext uri="{FF2B5EF4-FFF2-40B4-BE49-F238E27FC236}">
                <a16:creationId xmlns:a16="http://schemas.microsoft.com/office/drawing/2014/main" xmlns="" id="{FB661D89-1E55-4F66-9184-2CEC2239E683}"/>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Arial" panose="020B0604020202020204" pitchFamily="34" charset="0"/>
              </a:rPr>
              <a:t>Difference Between File and DBMS Operations</a:t>
            </a:r>
            <a:endParaRPr lang="en-IN" altLang="en-US" b="1">
              <a:latin typeface="Arial" panose="020B0604020202020204" pitchFamily="34" charset="0"/>
            </a:endParaRPr>
          </a:p>
          <a:p>
            <a:pPr algn="ctr" eaLnBrk="1" hangingPunct="1">
              <a:lnSpc>
                <a:spcPct val="100000"/>
              </a:lnSpc>
              <a:spcBef>
                <a:spcPct val="0"/>
              </a:spcBef>
              <a:buFontTx/>
              <a:buNone/>
            </a:pPr>
            <a:endParaRPr lang="en-US" altLang="en-US" b="1">
              <a:latin typeface="Times New Roman" panose="02020603050405020304" pitchFamily="18" charset="0"/>
              <a:cs typeface="Times New Roman" panose="02020603050405020304" pitchFamily="18" charset="0"/>
            </a:endParaRPr>
          </a:p>
        </p:txBody>
      </p:sp>
      <p:pic>
        <p:nvPicPr>
          <p:cNvPr id="31750" name="image33.jpeg">
            <a:extLst>
              <a:ext uri="{FF2B5EF4-FFF2-40B4-BE49-F238E27FC236}">
                <a16:creationId xmlns:a16="http://schemas.microsoft.com/office/drawing/2014/main" xmlns="" id="{6566DBD8-C909-40D8-AEF6-F7D6F94586C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7675" y="852488"/>
            <a:ext cx="8659813" cy="4348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5">
            <a:extLst>
              <a:ext uri="{FF2B5EF4-FFF2-40B4-BE49-F238E27FC236}">
                <a16:creationId xmlns:a16="http://schemas.microsoft.com/office/drawing/2014/main" xmlns="" id="{594B4B06-34C3-468A-AA1E-5D8277D210B4}"/>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32771" name="Picture 1">
            <a:extLst>
              <a:ext uri="{FF2B5EF4-FFF2-40B4-BE49-F238E27FC236}">
                <a16:creationId xmlns:a16="http://schemas.microsoft.com/office/drawing/2014/main" xmlns="" id="{6BF9FBA9-1D16-4B43-91C9-AED022455E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2" name="Title 3">
            <a:extLst>
              <a:ext uri="{FF2B5EF4-FFF2-40B4-BE49-F238E27FC236}">
                <a16:creationId xmlns:a16="http://schemas.microsoft.com/office/drawing/2014/main" xmlns="" id="{F42078ED-737F-4B2B-BE23-18308CF502C6}"/>
              </a:ext>
            </a:extLst>
          </p:cNvPr>
          <p:cNvSpPr txBox="1">
            <a:spLocks/>
          </p:cNvSpPr>
          <p:nvPr/>
        </p:nvSpPr>
        <p:spPr bwMode="auto">
          <a:xfrm>
            <a:off x="463550" y="852488"/>
            <a:ext cx="11353800" cy="558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ctr">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ctr">
              <a:lnSpc>
                <a:spcPct val="100000"/>
              </a:lnSpc>
              <a:spcBef>
                <a:spcPct val="0"/>
              </a:spcBef>
              <a:buFontTx/>
              <a:buNone/>
            </a:pPr>
            <a:r>
              <a:rPr lang="en-US" altLang="en-US" sz="1800">
                <a:latin typeface="Times New Roman" panose="02020603050405020304" pitchFamily="18" charset="0"/>
                <a:cs typeface="Times New Roman" panose="02020603050405020304" pitchFamily="18" charset="0"/>
              </a:rPr>
              <a:t>Table Reference:</a:t>
            </a:r>
            <a:r>
              <a:rPr lang="en-IN" altLang="en-US" sz="1800">
                <a:latin typeface="Arial" panose="020B0604020202020204" pitchFamily="34" charset="0"/>
                <a:hlinkClick r:id="rId3"/>
              </a:rPr>
              <a:t>https://www.slideshare.net/ravi_LCET</a:t>
            </a:r>
          </a:p>
          <a:p>
            <a:pPr algn="ctr">
              <a:lnSpc>
                <a:spcPct val="100000"/>
              </a:lnSpc>
              <a:spcBef>
                <a:spcPct val="0"/>
              </a:spcBef>
              <a:buFontTx/>
              <a:buNone/>
            </a:pPr>
            <a:r>
              <a:rPr lang="en-IN" altLang="en-US" sz="1800">
                <a:latin typeface="Arial" panose="020B0604020202020204" pitchFamily="34" charset="0"/>
                <a:hlinkClick r:id="rId3"/>
              </a:rPr>
              <a:t>/relational-database-management-system-rdbms-i</a:t>
            </a:r>
            <a:endParaRPr lang="en-US" altLang="en-US" sz="1800">
              <a:latin typeface="Times New Roman" panose="02020603050405020304" pitchFamily="18" charset="0"/>
              <a:cs typeface="Times New Roman" panose="02020603050405020304" pitchFamily="18" charset="0"/>
            </a:endParaRPr>
          </a:p>
        </p:txBody>
      </p:sp>
      <p:sp>
        <p:nvSpPr>
          <p:cNvPr id="32773" name="Rectangle 2">
            <a:extLst>
              <a:ext uri="{FF2B5EF4-FFF2-40B4-BE49-F238E27FC236}">
                <a16:creationId xmlns:a16="http://schemas.microsoft.com/office/drawing/2014/main" xmlns="" id="{FFD1EC06-3D06-409E-9224-3C2F25ED2257}"/>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Difference between File system and DBMS</a:t>
            </a:r>
          </a:p>
        </p:txBody>
      </p:sp>
      <p:pic>
        <p:nvPicPr>
          <p:cNvPr id="32774" name="image44.png">
            <a:extLst>
              <a:ext uri="{FF2B5EF4-FFF2-40B4-BE49-F238E27FC236}">
                <a16:creationId xmlns:a16="http://schemas.microsoft.com/office/drawing/2014/main" xmlns="" id="{FFDDB385-0D85-4135-A9CF-7D3B62C4EB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6400" y="842963"/>
            <a:ext cx="8701088" cy="4872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xmlns="" id="{8A8E49F2-AF7F-480C-8D81-7C5E6AE7B014}"/>
              </a:ext>
            </a:extLst>
          </p:cNvPr>
          <p:cNvSpPr>
            <a:spLocks noGrp="1"/>
          </p:cNvSpPr>
          <p:nvPr>
            <p:ph type="title"/>
          </p:nvPr>
        </p:nvSpPr>
        <p:spPr/>
        <p:txBody>
          <a:bodyPr/>
          <a:lstStyle/>
          <a:p>
            <a:r>
              <a:rPr lang="en-US" altLang="en-US" sz="3200" b="1">
                <a:latin typeface="Times New Roman" panose="02020603050405020304" pitchFamily="18" charset="0"/>
                <a:cs typeface="Times New Roman" panose="02020603050405020304" pitchFamily="18" charset="0"/>
              </a:rPr>
              <a:t>Advantages of Using the Database Approach</a:t>
            </a:r>
            <a:r>
              <a:rPr lang="en-US" altLang="en-US" b="1">
                <a:latin typeface="Times New Roman" panose="02020603050405020304" pitchFamily="18" charset="0"/>
                <a:cs typeface="Times New Roman" panose="02020603050405020304" pitchFamily="18" charset="0"/>
              </a:rPr>
              <a:t/>
            </a:r>
            <a:br>
              <a:rPr lang="en-US" altLang="en-US" b="1">
                <a:latin typeface="Times New Roman" panose="02020603050405020304" pitchFamily="18" charset="0"/>
                <a:cs typeface="Times New Roman" panose="02020603050405020304" pitchFamily="18" charset="0"/>
              </a:rPr>
            </a:br>
            <a:endParaRPr lang="en-IN" altLang="en-US"/>
          </a:p>
        </p:txBody>
      </p:sp>
      <p:sp>
        <p:nvSpPr>
          <p:cNvPr id="8195" name="Content Placeholder 2">
            <a:extLst>
              <a:ext uri="{FF2B5EF4-FFF2-40B4-BE49-F238E27FC236}">
                <a16:creationId xmlns:a16="http://schemas.microsoft.com/office/drawing/2014/main" xmlns="" id="{303D7A6B-F0D3-41BB-9C03-4513E0BE2B1C}"/>
              </a:ext>
            </a:extLst>
          </p:cNvPr>
          <p:cNvSpPr>
            <a:spLocks noGrp="1"/>
          </p:cNvSpPr>
          <p:nvPr>
            <p:ph idx="1"/>
          </p:nvPr>
        </p:nvSpPr>
        <p:spPr/>
        <p:txBody>
          <a:bodyPr/>
          <a:lstStyle/>
          <a:p>
            <a:pPr marL="0" indent="0">
              <a:buFont typeface="Arial" panose="020B0604020202020204" pitchFamily="34" charset="0"/>
              <a:buNone/>
            </a:pPr>
            <a:r>
              <a:rPr lang="en-IN" altLang="en-US" dirty="0"/>
              <a:t>1. </a:t>
            </a:r>
            <a:r>
              <a:rPr lang="en-IN" altLang="en-US" dirty="0">
                <a:solidFill>
                  <a:srgbClr val="FF0000"/>
                </a:solidFill>
                <a:latin typeface="Times New Roman" panose="02020603050405020304" pitchFamily="18" charset="0"/>
                <a:cs typeface="Times New Roman" panose="02020603050405020304" pitchFamily="18" charset="0"/>
              </a:rPr>
              <a:t>Controlling Redundancy</a:t>
            </a:r>
          </a:p>
          <a:p>
            <a:pPr marL="0" indent="0">
              <a:buFont typeface="Arial" panose="020B0604020202020204" pitchFamily="34" charset="0"/>
              <a:buNone/>
            </a:pPr>
            <a:r>
              <a:rPr lang="en-IN" altLang="en-US" dirty="0"/>
              <a:t>2. </a:t>
            </a:r>
            <a:r>
              <a:rPr lang="en-US" altLang="en-US" dirty="0">
                <a:solidFill>
                  <a:srgbClr val="FF0000"/>
                </a:solidFill>
                <a:latin typeface="Times New Roman" panose="02020603050405020304" pitchFamily="18" charset="0"/>
                <a:cs typeface="Times New Roman" panose="02020603050405020304" pitchFamily="18" charset="0"/>
              </a:rPr>
              <a:t>Restricting unauthorized access to data</a:t>
            </a:r>
          </a:p>
          <a:p>
            <a:pPr marL="0" indent="0">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3. Providing persistent storage for program </a:t>
            </a:r>
            <a:r>
              <a:rPr lang="en-US" altLang="en-US" dirty="0" smtClean="0">
                <a:latin typeface="Times New Roman" panose="02020603050405020304" pitchFamily="18" charset="0"/>
                <a:cs typeface="Times New Roman" panose="02020603050405020304" pitchFamily="18" charset="0"/>
              </a:rPr>
              <a:t>Objects and data structures</a:t>
            </a:r>
            <a:endParaRPr lang="en-US" altLang="en-US"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dirty="0">
                <a:latin typeface="Times New Roman" panose="02020603050405020304" pitchFamily="18" charset="0"/>
                <a:cs typeface="Times New Roman" panose="02020603050405020304" pitchFamily="18" charset="0"/>
              </a:rPr>
              <a:t>4. </a:t>
            </a:r>
            <a:r>
              <a:rPr lang="en-US" altLang="en-US" dirty="0"/>
              <a:t>Providing Storage Structures and Search Techniques for Efficient Query Processing</a:t>
            </a:r>
          </a:p>
          <a:p>
            <a:pPr marL="0" indent="0">
              <a:buFont typeface="Arial" panose="020B0604020202020204" pitchFamily="34" charset="0"/>
              <a:buNone/>
            </a:pPr>
            <a:r>
              <a:rPr lang="en-US" altLang="en-US" dirty="0">
                <a:solidFill>
                  <a:srgbClr val="FF0000"/>
                </a:solidFill>
              </a:rPr>
              <a:t>5. </a:t>
            </a:r>
            <a:r>
              <a:rPr lang="en-US" altLang="en-US" dirty="0">
                <a:solidFill>
                  <a:srgbClr val="FF0000"/>
                </a:solidFill>
                <a:latin typeface="Times New Roman" panose="02020603050405020304" pitchFamily="18" charset="0"/>
                <a:cs typeface="Times New Roman" panose="02020603050405020304" pitchFamily="18" charset="0"/>
              </a:rPr>
              <a:t>Providing backup and recovery services:</a:t>
            </a:r>
          </a:p>
          <a:p>
            <a:pPr marL="0" indent="0">
              <a:buFont typeface="Arial" panose="020B0604020202020204" pitchFamily="34" charset="0"/>
              <a:buNone/>
            </a:pPr>
            <a:r>
              <a:rPr lang="en-US" altLang="en-US" dirty="0">
                <a:solidFill>
                  <a:srgbClr val="FF0000"/>
                </a:solidFill>
              </a:rPr>
              <a:t>6. </a:t>
            </a:r>
            <a:r>
              <a:rPr lang="en-IN" altLang="en-US" dirty="0">
                <a:solidFill>
                  <a:srgbClr val="FF0000"/>
                </a:solidFill>
                <a:latin typeface="Times New Roman" panose="02020603050405020304" pitchFamily="18" charset="0"/>
                <a:cs typeface="Times New Roman" panose="02020603050405020304" pitchFamily="18" charset="0"/>
              </a:rPr>
              <a:t>Providing Multiple User Interfaces:</a:t>
            </a:r>
          </a:p>
          <a:p>
            <a:pPr marL="0" indent="0">
              <a:buFont typeface="Arial" panose="020B0604020202020204" pitchFamily="34" charset="0"/>
              <a:buNone/>
            </a:pPr>
            <a:r>
              <a:rPr lang="en-US" altLang="en-US" dirty="0"/>
              <a:t>7. </a:t>
            </a:r>
            <a:r>
              <a:rPr lang="en-IN" altLang="en-US" dirty="0">
                <a:latin typeface="Times New Roman" panose="02020603050405020304" pitchFamily="18" charset="0"/>
                <a:cs typeface="Times New Roman" panose="02020603050405020304" pitchFamily="18" charset="0"/>
              </a:rPr>
              <a:t>Enforcing Integrity Constraints</a:t>
            </a:r>
          </a:p>
          <a:p>
            <a:pPr marL="0" indent="0">
              <a:buFont typeface="Arial" panose="020B0604020202020204" pitchFamily="34" charset="0"/>
              <a:buNone/>
            </a:pPr>
            <a:endParaRPr lang="en-US" altLang="en-US" dirty="0">
              <a:solidFill>
                <a:srgbClr val="FF0000"/>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a:extLst>
              <a:ext uri="{FF2B5EF4-FFF2-40B4-BE49-F238E27FC236}">
                <a16:creationId xmlns:a16="http://schemas.microsoft.com/office/drawing/2014/main" xmlns="" id="{313ADD5F-D8A0-494E-81DD-242CADA1C188}"/>
              </a:ext>
            </a:extLst>
          </p:cNvPr>
          <p:cNvSpPr>
            <a:spLocks noGrp="1"/>
          </p:cNvSpPr>
          <p:nvPr>
            <p:ph type="title"/>
          </p:nvPr>
        </p:nvSpPr>
        <p:spPr/>
        <p:txBody>
          <a:bodyPr/>
          <a:lstStyle/>
          <a:p>
            <a:r>
              <a:rPr lang="en-US" altLang="en-US" dirty="0"/>
              <a:t> </a:t>
            </a:r>
            <a:endParaRPr lang="en-IN" altLang="en-US" dirty="0"/>
          </a:p>
        </p:txBody>
      </p:sp>
      <p:sp>
        <p:nvSpPr>
          <p:cNvPr id="9219" name="Content Placeholder 2">
            <a:extLst>
              <a:ext uri="{FF2B5EF4-FFF2-40B4-BE49-F238E27FC236}">
                <a16:creationId xmlns:a16="http://schemas.microsoft.com/office/drawing/2014/main" xmlns="" id="{EAFCC929-EF9E-40DF-803A-78ECE83B9ADE}"/>
              </a:ext>
            </a:extLst>
          </p:cNvPr>
          <p:cNvSpPr>
            <a:spLocks noGrp="1"/>
          </p:cNvSpPr>
          <p:nvPr>
            <p:ph idx="1"/>
          </p:nvPr>
        </p:nvSpPr>
        <p:spPr/>
        <p:txBody>
          <a:bodyPr/>
          <a:lstStyle/>
          <a:p>
            <a:pPr marL="0" indent="0">
              <a:buFont typeface="Arial" panose="020B0604020202020204" pitchFamily="34" charset="0"/>
              <a:buNone/>
            </a:pPr>
            <a:r>
              <a:rPr lang="en-IN" altLang="en-US" dirty="0"/>
              <a:t>8. </a:t>
            </a:r>
            <a:r>
              <a:rPr lang="en-IN" altLang="en-US" dirty="0">
                <a:solidFill>
                  <a:srgbClr val="FF0000"/>
                </a:solidFill>
                <a:latin typeface="Times New Roman" panose="02020603050405020304" pitchFamily="18" charset="0"/>
                <a:cs typeface="Times New Roman" panose="02020603050405020304" pitchFamily="18" charset="0"/>
              </a:rPr>
              <a:t>Enforcing Integrity Constraints</a:t>
            </a:r>
            <a:endParaRPr lang="en-IN" altLang="en-US" dirty="0"/>
          </a:p>
          <a:p>
            <a:pPr marL="0" indent="0">
              <a:buFont typeface="Arial" panose="020B0604020202020204" pitchFamily="34" charset="0"/>
              <a:buNone/>
            </a:pPr>
            <a:r>
              <a:rPr lang="en-IN" altLang="en-US" dirty="0">
                <a:solidFill>
                  <a:srgbClr val="FF0000"/>
                </a:solidFill>
                <a:latin typeface="Times New Roman" panose="02020603050405020304" pitchFamily="18" charset="0"/>
                <a:cs typeface="Times New Roman" panose="02020603050405020304" pitchFamily="18" charset="0"/>
              </a:rPr>
              <a:t>9. </a:t>
            </a:r>
            <a:r>
              <a:rPr lang="en-US" altLang="en-US" dirty="0">
                <a:solidFill>
                  <a:srgbClr val="FF0000"/>
                </a:solidFill>
                <a:latin typeface="Times New Roman" panose="02020603050405020304" pitchFamily="18" charset="0"/>
                <a:cs typeface="Times New Roman" panose="02020603050405020304" pitchFamily="18" charset="0"/>
              </a:rPr>
              <a:t>Permitting </a:t>
            </a:r>
            <a:r>
              <a:rPr lang="en-US" altLang="en-US" dirty="0" err="1">
                <a:solidFill>
                  <a:srgbClr val="FF0000"/>
                </a:solidFill>
                <a:latin typeface="Times New Roman" panose="02020603050405020304" pitchFamily="18" charset="0"/>
                <a:cs typeface="Times New Roman" panose="02020603050405020304" pitchFamily="18" charset="0"/>
              </a:rPr>
              <a:t>Inferencing</a:t>
            </a:r>
            <a:r>
              <a:rPr lang="en-US" altLang="en-US" dirty="0">
                <a:solidFill>
                  <a:srgbClr val="FF0000"/>
                </a:solidFill>
                <a:latin typeface="Times New Roman" panose="02020603050405020304" pitchFamily="18" charset="0"/>
                <a:cs typeface="Times New Roman" panose="02020603050405020304" pitchFamily="18" charset="0"/>
              </a:rPr>
              <a:t> and Actions Using </a:t>
            </a:r>
            <a:r>
              <a:rPr lang="en-US" altLang="en-US" dirty="0" smtClean="0">
                <a:solidFill>
                  <a:srgbClr val="FF0000"/>
                </a:solidFill>
                <a:latin typeface="Times New Roman" panose="02020603050405020304" pitchFamily="18" charset="0"/>
                <a:cs typeface="Times New Roman" panose="02020603050405020304" pitchFamily="18" charset="0"/>
              </a:rPr>
              <a:t>Rules </a:t>
            </a:r>
            <a:r>
              <a:rPr lang="en-US" altLang="en-US" smtClean="0">
                <a:solidFill>
                  <a:srgbClr val="FF0000"/>
                </a:solidFill>
                <a:latin typeface="Times New Roman" panose="02020603050405020304" pitchFamily="18" charset="0"/>
                <a:cs typeface="Times New Roman" panose="02020603050405020304" pitchFamily="18" charset="0"/>
              </a:rPr>
              <a:t>and Triggers</a:t>
            </a:r>
            <a:endParaRPr lang="en-US" altLang="en-US" dirty="0">
              <a:solidFill>
                <a:srgbClr val="FF000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IN" altLang="en-US" dirty="0"/>
              <a:t>10. </a:t>
            </a:r>
            <a:r>
              <a:rPr lang="en-US" altLang="en-US" dirty="0">
                <a:solidFill>
                  <a:srgbClr val="FF0000"/>
                </a:solidFill>
                <a:latin typeface="Times New Roman" panose="02020603050405020304" pitchFamily="18" charset="0"/>
                <a:cs typeface="Times New Roman" panose="02020603050405020304" pitchFamily="18" charset="0"/>
              </a:rPr>
              <a:t>Additional Implications of Using the Database Approach</a:t>
            </a:r>
          </a:p>
          <a:p>
            <a:pPr marL="0" indent="0">
              <a:buFont typeface="Arial" panose="020B0604020202020204" pitchFamily="34" charset="0"/>
              <a:buNone/>
            </a:pPr>
            <a:r>
              <a:rPr lang="en-IN" altLang="en-US" dirty="0"/>
              <a:t>	</a:t>
            </a:r>
            <a:r>
              <a:rPr lang="en-US" altLang="en-US" dirty="0">
                <a:solidFill>
                  <a:srgbClr val="92D050"/>
                </a:solidFill>
                <a:latin typeface="Times New Roman" panose="02020603050405020304" pitchFamily="18" charset="0"/>
                <a:cs typeface="Times New Roman" panose="02020603050405020304" pitchFamily="18" charset="0"/>
              </a:rPr>
              <a:t>Potential for enforcing </a:t>
            </a:r>
            <a:r>
              <a:rPr lang="en-US" altLang="en-US" dirty="0" err="1" smtClean="0">
                <a:solidFill>
                  <a:srgbClr val="92D050"/>
                </a:solidFill>
                <a:latin typeface="Times New Roman" panose="02020603050405020304" pitchFamily="18" charset="0"/>
                <a:cs typeface="Times New Roman" panose="02020603050405020304" pitchFamily="18" charset="0"/>
              </a:rPr>
              <a:t>standards:DBA</a:t>
            </a:r>
            <a:r>
              <a:rPr lang="en-US" altLang="en-US" dirty="0" smtClean="0">
                <a:solidFill>
                  <a:srgbClr val="92D050"/>
                </a:solidFill>
                <a:latin typeface="Times New Roman" panose="02020603050405020304" pitchFamily="18" charset="0"/>
                <a:cs typeface="Times New Roman" panose="02020603050405020304" pitchFamily="18" charset="0"/>
              </a:rPr>
              <a:t> :Naming Convention</a:t>
            </a:r>
            <a:endParaRPr lang="en-US" altLang="en-US" dirty="0">
              <a:solidFill>
                <a:srgbClr val="92D05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dirty="0">
                <a:solidFill>
                  <a:srgbClr val="92D050"/>
                </a:solidFill>
                <a:latin typeface="Times New Roman" panose="02020603050405020304" pitchFamily="18" charset="0"/>
                <a:cs typeface="Times New Roman" panose="02020603050405020304" pitchFamily="18" charset="0"/>
              </a:rPr>
              <a:t>	Reduced application development time:</a:t>
            </a:r>
          </a:p>
          <a:p>
            <a:pPr marL="0" indent="0">
              <a:buFont typeface="Arial" panose="020B0604020202020204" pitchFamily="34" charset="0"/>
              <a:buNone/>
            </a:pPr>
            <a:r>
              <a:rPr lang="en-US" altLang="en-US" dirty="0">
                <a:solidFill>
                  <a:srgbClr val="92D050"/>
                </a:solidFill>
                <a:latin typeface="Times New Roman" panose="02020603050405020304" pitchFamily="18" charset="0"/>
                <a:cs typeface="Times New Roman" panose="02020603050405020304" pitchFamily="18" charset="0"/>
              </a:rPr>
              <a:t>	Flexibility to change data </a:t>
            </a:r>
            <a:r>
              <a:rPr lang="en-US" altLang="en-US" dirty="0" err="1" smtClean="0">
                <a:solidFill>
                  <a:srgbClr val="92D050"/>
                </a:solidFill>
                <a:latin typeface="Times New Roman" panose="02020603050405020304" pitchFamily="18" charset="0"/>
                <a:cs typeface="Times New Roman" panose="02020603050405020304" pitchFamily="18" charset="0"/>
              </a:rPr>
              <a:t>structures:Change</a:t>
            </a:r>
            <a:r>
              <a:rPr lang="en-US" altLang="en-US" dirty="0" smtClean="0">
                <a:solidFill>
                  <a:srgbClr val="92D050"/>
                </a:solidFill>
                <a:latin typeface="Times New Roman" panose="02020603050405020304" pitchFamily="18" charset="0"/>
                <a:cs typeface="Times New Roman" panose="02020603050405020304" pitchFamily="18" charset="0"/>
              </a:rPr>
              <a:t> the structure of DB as requirement changes</a:t>
            </a:r>
            <a:endParaRPr lang="en-US" altLang="en-US" dirty="0">
              <a:solidFill>
                <a:srgbClr val="92D05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dirty="0">
                <a:solidFill>
                  <a:srgbClr val="92D050"/>
                </a:solidFill>
                <a:latin typeface="Times New Roman" panose="02020603050405020304" pitchFamily="18" charset="0"/>
                <a:cs typeface="Times New Roman" panose="02020603050405020304" pitchFamily="18" charset="0"/>
              </a:rPr>
              <a:t>	Availability of current information</a:t>
            </a:r>
            <a:r>
              <a:rPr lang="en-US" altLang="en-US" dirty="0" smtClean="0">
                <a:solidFill>
                  <a:srgbClr val="92D050"/>
                </a:solidFill>
                <a:latin typeface="Times New Roman" panose="02020603050405020304" pitchFamily="18" charset="0"/>
                <a:cs typeface="Times New Roman" panose="02020603050405020304" pitchFamily="18" charset="0"/>
              </a:rPr>
              <a:t>: updated information to all</a:t>
            </a:r>
            <a:endParaRPr lang="en-US" altLang="en-US" dirty="0">
              <a:solidFill>
                <a:srgbClr val="92D05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altLang="en-US" dirty="0">
                <a:solidFill>
                  <a:srgbClr val="92D050"/>
                </a:solidFill>
                <a:latin typeface="Times New Roman" panose="02020603050405020304" pitchFamily="18" charset="0"/>
                <a:cs typeface="Times New Roman" panose="02020603050405020304" pitchFamily="18" charset="0"/>
              </a:rPr>
              <a:t>	Economies of scale:</a:t>
            </a:r>
          </a:p>
          <a:p>
            <a:pPr marL="0" indent="0">
              <a:buFont typeface="Arial" panose="020B0604020202020204" pitchFamily="34" charset="0"/>
              <a:buNone/>
            </a:pPr>
            <a:endParaRPr lang="en-US" altLang="en-US" dirty="0">
              <a:solidFill>
                <a:srgbClr val="92D05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US" altLang="en-US" dirty="0">
              <a:solidFill>
                <a:srgbClr val="92D050"/>
              </a:solidFill>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endParaRPr lang="en-IN" alt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15">
            <a:extLst>
              <a:ext uri="{FF2B5EF4-FFF2-40B4-BE49-F238E27FC236}">
                <a16:creationId xmlns:a16="http://schemas.microsoft.com/office/drawing/2014/main" xmlns="" id="{77A239C2-4C91-4DA9-A2F1-8308C0183225}"/>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33795" name="Picture 1">
            <a:extLst>
              <a:ext uri="{FF2B5EF4-FFF2-40B4-BE49-F238E27FC236}">
                <a16:creationId xmlns:a16="http://schemas.microsoft.com/office/drawing/2014/main" xmlns="" id="{866DF8AC-A003-4B13-AD7B-E963CE30DC7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Rectangle 2">
            <a:extLst>
              <a:ext uri="{FF2B5EF4-FFF2-40B4-BE49-F238E27FC236}">
                <a16:creationId xmlns:a16="http://schemas.microsoft.com/office/drawing/2014/main" xmlns="" id="{84778BF5-1DC8-467D-A535-A745111ABCC2}"/>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Advantages of Using the Database Approach</a:t>
            </a:r>
          </a:p>
        </p:txBody>
      </p:sp>
      <p:sp>
        <p:nvSpPr>
          <p:cNvPr id="27653" name="Content Placeholder 13">
            <a:extLst>
              <a:ext uri="{FF2B5EF4-FFF2-40B4-BE49-F238E27FC236}">
                <a16:creationId xmlns:a16="http://schemas.microsoft.com/office/drawing/2014/main" xmlns="" id="{8BA82F4D-7D05-43F9-9236-F24F19FA65C4}"/>
              </a:ext>
            </a:extLst>
          </p:cNvPr>
          <p:cNvSpPr txBox="1">
            <a:spLocks/>
          </p:cNvSpPr>
          <p:nvPr/>
        </p:nvSpPr>
        <p:spPr bwMode="auto">
          <a:xfrm>
            <a:off x="561975" y="979488"/>
            <a:ext cx="11098213" cy="5449887"/>
          </a:xfrm>
          <a:prstGeom prst="rect">
            <a:avLst/>
          </a:prstGeom>
          <a:noFill/>
          <a:ln>
            <a:noFill/>
          </a:ln>
        </p:spPr>
        <p:txBody>
          <a:bodyPr/>
          <a:lstStyle>
            <a:lvl1pPr>
              <a:defRPr>
                <a:solidFill>
                  <a:schemeClr val="tx1"/>
                </a:solidFill>
                <a:latin typeface="Arial" pitchFamily="34" charset="0"/>
                <a:cs typeface="Arial" pitchFamily="34" charset="0"/>
              </a:defRPr>
            </a:lvl1pPr>
            <a:lvl2pPr marL="742950" indent="-28575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marL="457200" indent="-457200" algn="just">
              <a:lnSpc>
                <a:spcPct val="90000"/>
              </a:lnSpc>
              <a:spcBef>
                <a:spcPts val="1000"/>
              </a:spcBef>
              <a:buFont typeface="Arial" pitchFamily="34" charset="0"/>
              <a:buAutoNum type="arabicPeriod"/>
              <a:defRPr/>
            </a:pPr>
            <a:r>
              <a:rPr lang="en-IN" sz="2400" dirty="0">
                <a:solidFill>
                  <a:srgbClr val="FF0000"/>
                </a:solidFill>
                <a:latin typeface="Times New Roman" pitchFamily="18" charset="0"/>
                <a:cs typeface="Times New Roman" pitchFamily="18" charset="0"/>
              </a:rPr>
              <a:t>Controlling Redundancy</a:t>
            </a:r>
          </a:p>
          <a:p>
            <a:pPr marL="457200" indent="-457200" algn="just">
              <a:lnSpc>
                <a:spcPct val="90000"/>
              </a:lnSpc>
              <a:spcBef>
                <a:spcPts val="1000"/>
              </a:spcBef>
              <a:buFont typeface="Arial" pitchFamily="34" charset="0"/>
              <a:buAutoNum type="arabicPeriod"/>
              <a:defRPr/>
            </a:pPr>
            <a:endParaRPr lang="en-IN" sz="2400" dirty="0">
              <a:solidFill>
                <a:srgbClr val="FF0000"/>
              </a:solidFill>
              <a:latin typeface="Times New Roman" pitchFamily="18" charset="0"/>
              <a:cs typeface="Times New Roman" pitchFamily="18" charset="0"/>
            </a:endParaRPr>
          </a:p>
          <a:p>
            <a:pPr algn="just">
              <a:lnSpc>
                <a:spcPct val="90000"/>
              </a:lnSpc>
              <a:spcBef>
                <a:spcPts val="1000"/>
              </a:spcBef>
              <a:defRPr/>
            </a:pPr>
            <a:endParaRPr lang="en-IN" sz="2400" dirty="0">
              <a:solidFill>
                <a:srgbClr val="FF0000"/>
              </a:solidFill>
              <a:latin typeface="Times New Roman" pitchFamily="18" charset="0"/>
              <a:cs typeface="Times New Roman" pitchFamily="18" charset="0"/>
            </a:endParaRPr>
          </a:p>
          <a:p>
            <a:pPr algn="just">
              <a:lnSpc>
                <a:spcPct val="90000"/>
              </a:lnSpc>
              <a:spcBef>
                <a:spcPts val="1000"/>
              </a:spcBef>
              <a:defRPr/>
            </a:pPr>
            <a:endParaRPr lang="en-IN" sz="2400" dirty="0">
              <a:solidFill>
                <a:srgbClr val="FF0000"/>
              </a:solidFill>
              <a:latin typeface="Times New Roman" pitchFamily="18" charset="0"/>
              <a:cs typeface="Times New Roman" pitchFamily="18" charset="0"/>
            </a:endParaRPr>
          </a:p>
          <a:p>
            <a:pPr algn="just">
              <a:lnSpc>
                <a:spcPct val="90000"/>
              </a:lnSpc>
              <a:spcBef>
                <a:spcPts val="1000"/>
              </a:spcBef>
              <a:defRPr/>
            </a:pPr>
            <a:endParaRPr lang="en-IN" sz="2400" dirty="0">
              <a:solidFill>
                <a:srgbClr val="FF0000"/>
              </a:solidFill>
              <a:latin typeface="Times New Roman" pitchFamily="18" charset="0"/>
              <a:cs typeface="Times New Roman" pitchFamily="18" charset="0"/>
            </a:endParaRPr>
          </a:p>
          <a:p>
            <a:pPr algn="just">
              <a:lnSpc>
                <a:spcPct val="90000"/>
              </a:lnSpc>
              <a:spcBef>
                <a:spcPts val="1000"/>
              </a:spcBef>
              <a:defRPr/>
            </a:pPr>
            <a:endParaRPr lang="en-IN" sz="2400" dirty="0">
              <a:solidFill>
                <a:srgbClr val="FF0000"/>
              </a:solidFill>
              <a:latin typeface="Times New Roman" pitchFamily="18" charset="0"/>
              <a:cs typeface="Times New Roman" pitchFamily="18" charset="0"/>
            </a:endParaRPr>
          </a:p>
          <a:p>
            <a:pPr algn="just">
              <a:lnSpc>
                <a:spcPct val="90000"/>
              </a:lnSpc>
              <a:spcBef>
                <a:spcPts val="1000"/>
              </a:spcBef>
              <a:defRPr/>
            </a:pPr>
            <a:endParaRPr lang="en-IN" sz="2400" dirty="0">
              <a:solidFill>
                <a:srgbClr val="FF0000"/>
              </a:solidFill>
              <a:latin typeface="Times New Roman" pitchFamily="18" charset="0"/>
              <a:cs typeface="Times New Roman" pitchFamily="18" charset="0"/>
            </a:endParaRPr>
          </a:p>
          <a:p>
            <a:pPr algn="just">
              <a:lnSpc>
                <a:spcPct val="90000"/>
              </a:lnSpc>
              <a:spcBef>
                <a:spcPts val="1000"/>
              </a:spcBef>
              <a:defRPr/>
            </a:pPr>
            <a:endParaRPr lang="en-IN" sz="2400" dirty="0">
              <a:solidFill>
                <a:srgbClr val="FF0000"/>
              </a:solidFill>
              <a:latin typeface="Times New Roman" pitchFamily="18" charset="0"/>
              <a:cs typeface="Times New Roman" pitchFamily="18" charset="0"/>
            </a:endParaRPr>
          </a:p>
          <a:p>
            <a:pPr algn="just">
              <a:lnSpc>
                <a:spcPct val="90000"/>
              </a:lnSpc>
              <a:spcBef>
                <a:spcPts val="1000"/>
              </a:spcBef>
              <a:defRPr/>
            </a:pPr>
            <a:endParaRPr lang="en-IN" sz="2400" dirty="0">
              <a:solidFill>
                <a:srgbClr val="FF0000"/>
              </a:solidFill>
              <a:latin typeface="Times New Roman" pitchFamily="18" charset="0"/>
              <a:cs typeface="Times New Roman" pitchFamily="18" charset="0"/>
            </a:endParaRPr>
          </a:p>
          <a:p>
            <a:pPr algn="just">
              <a:lnSpc>
                <a:spcPct val="90000"/>
              </a:lnSpc>
              <a:spcBef>
                <a:spcPts val="1000"/>
              </a:spcBef>
              <a:defRPr/>
            </a:pPr>
            <a:endParaRPr lang="en-IN" sz="2400" dirty="0">
              <a:solidFill>
                <a:srgbClr val="FF0000"/>
              </a:solidFill>
              <a:latin typeface="Times New Roman" pitchFamily="18" charset="0"/>
              <a:cs typeface="Times New Roman" pitchFamily="18" charset="0"/>
            </a:endParaRPr>
          </a:p>
          <a:p>
            <a:pPr algn="just">
              <a:lnSpc>
                <a:spcPct val="90000"/>
              </a:lnSpc>
              <a:spcBef>
                <a:spcPts val="1000"/>
              </a:spcBef>
              <a:defRPr/>
            </a:pPr>
            <a:r>
              <a:rPr lang="en-US" sz="2400" dirty="0">
                <a:solidFill>
                  <a:srgbClr val="FF0000"/>
                </a:solidFill>
                <a:latin typeface="Times New Roman" pitchFamily="18" charset="0"/>
                <a:cs typeface="Times New Roman" pitchFamily="18" charset="0"/>
              </a:rPr>
              <a:t>    </a:t>
            </a:r>
          </a:p>
          <a:p>
            <a:pPr algn="ctr">
              <a:lnSpc>
                <a:spcPct val="90000"/>
              </a:lnSpc>
              <a:spcBef>
                <a:spcPts val="1000"/>
              </a:spcBef>
              <a:defRPr/>
            </a:pPr>
            <a:r>
              <a:rPr lang="en-US" sz="2400" dirty="0">
                <a:solidFill>
                  <a:srgbClr val="FF0000"/>
                </a:solidFill>
                <a:latin typeface="Times New Roman" pitchFamily="18" charset="0"/>
                <a:cs typeface="Times New Roman" pitchFamily="18" charset="0"/>
              </a:rPr>
              <a:t>                         </a:t>
            </a:r>
            <a:r>
              <a:rPr lang="en-US" sz="1600" b="1" dirty="0">
                <a:latin typeface="Times New Roman" pitchFamily="18" charset="0"/>
                <a:cs typeface="Times New Roman" pitchFamily="18" charset="0"/>
              </a:rPr>
              <a:t>Figure 1.8 data Redundancy </a:t>
            </a:r>
          </a:p>
        </p:txBody>
      </p:sp>
      <p:pic>
        <p:nvPicPr>
          <p:cNvPr id="33798" name="Picture 7">
            <a:extLst>
              <a:ext uri="{FF2B5EF4-FFF2-40B4-BE49-F238E27FC236}">
                <a16:creationId xmlns:a16="http://schemas.microsoft.com/office/drawing/2014/main" xmlns="" id="{090A751A-C170-44FC-9102-11F2C7BDD4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2182813"/>
            <a:ext cx="734377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3799" name="image20.jpeg">
            <a:extLst>
              <a:ext uri="{FF2B5EF4-FFF2-40B4-BE49-F238E27FC236}">
                <a16:creationId xmlns:a16="http://schemas.microsoft.com/office/drawing/2014/main" xmlns="" id="{57185DD3-0B14-40AE-AE12-291FBC32E59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50988" y="1587500"/>
            <a:ext cx="85344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wip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15">
            <a:extLst>
              <a:ext uri="{FF2B5EF4-FFF2-40B4-BE49-F238E27FC236}">
                <a16:creationId xmlns:a16="http://schemas.microsoft.com/office/drawing/2014/main" xmlns="" id="{962FD7FF-4DCA-4EA4-B5E6-E5B82111B123}"/>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34819" name="Picture 1">
            <a:extLst>
              <a:ext uri="{FF2B5EF4-FFF2-40B4-BE49-F238E27FC236}">
                <a16:creationId xmlns:a16="http://schemas.microsoft.com/office/drawing/2014/main" xmlns="" id="{8029E16E-39A5-4C7A-BB48-9212B5B3F5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0" name="Rectangle 2">
            <a:extLst>
              <a:ext uri="{FF2B5EF4-FFF2-40B4-BE49-F238E27FC236}">
                <a16:creationId xmlns:a16="http://schemas.microsoft.com/office/drawing/2014/main" xmlns="" id="{4F28265A-D43F-4BAA-BF9E-887C72F2CAD4}"/>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Advantages of Using the Database Approach</a:t>
            </a:r>
          </a:p>
        </p:txBody>
      </p:sp>
      <p:sp>
        <p:nvSpPr>
          <p:cNvPr id="6" name="Content Placeholder 13">
            <a:extLst>
              <a:ext uri="{FF2B5EF4-FFF2-40B4-BE49-F238E27FC236}">
                <a16:creationId xmlns:a16="http://schemas.microsoft.com/office/drawing/2014/main" xmlns="" id="{0752C4AB-5B77-421E-B727-8F2E78A81381}"/>
              </a:ext>
            </a:extLst>
          </p:cNvPr>
          <p:cNvSpPr txBox="1">
            <a:spLocks/>
          </p:cNvSpPr>
          <p:nvPr/>
        </p:nvSpPr>
        <p:spPr>
          <a:xfrm>
            <a:off x="561975" y="979488"/>
            <a:ext cx="11098213" cy="4951412"/>
          </a:xfrm>
          <a:prstGeom prst="rect">
            <a:avLst/>
          </a:prstGeom>
        </p:spPr>
        <p:txBody>
          <a:bodyPr/>
          <a:lst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Font typeface="Arial" charset="0"/>
              <a:buNone/>
              <a:defRPr/>
            </a:pPr>
            <a:r>
              <a:rPr lang="en-US" sz="2400" dirty="0">
                <a:solidFill>
                  <a:srgbClr val="FF0000"/>
                </a:solidFill>
                <a:latin typeface="Times New Roman" pitchFamily="18" charset="0"/>
                <a:cs typeface="Times New Roman" pitchFamily="18" charset="0"/>
              </a:rPr>
              <a:t>Redundancy in storing the same data multiple times leads to several problems. </a:t>
            </a:r>
          </a:p>
          <a:p>
            <a:pPr marL="457200" indent="-457200" algn="just">
              <a:buFont typeface="Arial" charset="0"/>
              <a:buAutoNum type="arabicPeriod"/>
              <a:defRPr/>
            </a:pPr>
            <a:endParaRPr lang="en-US" sz="2400" dirty="0">
              <a:latin typeface="Times New Roman" pitchFamily="18" charset="0"/>
              <a:cs typeface="Times New Roman" pitchFamily="18" charset="0"/>
            </a:endParaRPr>
          </a:p>
          <a:p>
            <a:pPr marL="457200" indent="-457200" algn="just">
              <a:buFont typeface="Arial" charset="0"/>
              <a:buAutoNum type="arabicPeriod"/>
              <a:defRPr/>
            </a:pPr>
            <a:r>
              <a:rPr lang="en-US" sz="2400" dirty="0">
                <a:latin typeface="Times New Roman" pitchFamily="18" charset="0"/>
                <a:cs typeface="Times New Roman" pitchFamily="18" charset="0"/>
              </a:rPr>
              <a:t>There is the need to perform a single logical update—such as entering data on a new student—multiple times: once for each file where student data is recorded. This leads to </a:t>
            </a:r>
            <a:r>
              <a:rPr lang="en-US" sz="2400" dirty="0">
                <a:solidFill>
                  <a:srgbClr val="FF0000"/>
                </a:solidFill>
                <a:latin typeface="Times New Roman" pitchFamily="18" charset="0"/>
                <a:cs typeface="Times New Roman" pitchFamily="18" charset="0"/>
              </a:rPr>
              <a:t>duplication of effort.</a:t>
            </a:r>
          </a:p>
          <a:p>
            <a:pPr marL="457200" indent="-457200" algn="just">
              <a:buFont typeface="Arial" charset="0"/>
              <a:buAutoNum type="arabicPeriod"/>
              <a:defRPr/>
            </a:pPr>
            <a:r>
              <a:rPr lang="en-US" sz="2400" dirty="0">
                <a:solidFill>
                  <a:srgbClr val="FF0000"/>
                </a:solidFill>
                <a:latin typeface="Times New Roman" pitchFamily="18" charset="0"/>
                <a:cs typeface="Times New Roman" pitchFamily="18" charset="0"/>
              </a:rPr>
              <a:t>storage space </a:t>
            </a:r>
            <a:r>
              <a:rPr lang="en-US" sz="2400" dirty="0">
                <a:latin typeface="Times New Roman" pitchFamily="18" charset="0"/>
                <a:cs typeface="Times New Roman" pitchFamily="18" charset="0"/>
              </a:rPr>
              <a:t>is wasted when the same data is stored repeatedly, and this problem may be serious for large databases</a:t>
            </a:r>
          </a:p>
          <a:p>
            <a:pPr marL="457200" indent="-457200" algn="just">
              <a:buFont typeface="Arial" charset="0"/>
              <a:buAutoNum type="arabicPeriod"/>
              <a:defRPr/>
            </a:pPr>
            <a:r>
              <a:rPr lang="en-US" sz="2400" dirty="0">
                <a:latin typeface="Times New Roman" pitchFamily="18" charset="0"/>
                <a:cs typeface="Times New Roman" pitchFamily="18" charset="0"/>
              </a:rPr>
              <a:t>files that represent the same data may become </a:t>
            </a:r>
            <a:r>
              <a:rPr lang="en-US" sz="2400" dirty="0">
                <a:solidFill>
                  <a:srgbClr val="FF0000"/>
                </a:solidFill>
                <a:latin typeface="Times New Roman" pitchFamily="18" charset="0"/>
                <a:cs typeface="Times New Roman" pitchFamily="18" charset="0"/>
              </a:rPr>
              <a:t>inconsistent</a:t>
            </a:r>
            <a:r>
              <a:rPr lang="en-US" sz="2400" dirty="0">
                <a:latin typeface="Times New Roman" pitchFamily="18" charset="0"/>
                <a:cs typeface="Times New Roman" pitchFamily="18" charset="0"/>
              </a:rPr>
              <a:t>. This may happen because an update is applied to some of the files but not to others</a:t>
            </a:r>
          </a:p>
          <a:p>
            <a:pPr marL="0" indent="0" algn="just">
              <a:buFont typeface="Arial" charset="0"/>
              <a:buNone/>
              <a:defRPr/>
            </a:pPr>
            <a:endParaRPr lang="en-US" sz="2400" dirty="0">
              <a:solidFill>
                <a:srgbClr val="FF0000"/>
              </a:solidFill>
              <a:latin typeface="Times New Roman" pitchFamily="18" charset="0"/>
              <a:cs typeface="Times New Roman" pitchFamily="18" charset="0"/>
            </a:endParaRPr>
          </a:p>
        </p:txBody>
      </p:sp>
    </p:spTree>
  </p:cSld>
  <p:clrMapOvr>
    <a:masterClrMapping/>
  </p:clrMapOvr>
  <p:transition spd="slow">
    <p:wip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15">
            <a:extLst>
              <a:ext uri="{FF2B5EF4-FFF2-40B4-BE49-F238E27FC236}">
                <a16:creationId xmlns:a16="http://schemas.microsoft.com/office/drawing/2014/main" xmlns="" id="{DD8739A1-A246-4A04-A00B-5FC5B81C859D}"/>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35843" name="Picture 1">
            <a:extLst>
              <a:ext uri="{FF2B5EF4-FFF2-40B4-BE49-F238E27FC236}">
                <a16:creationId xmlns:a16="http://schemas.microsoft.com/office/drawing/2014/main" xmlns="" id="{FE241BE8-F8D5-4B7A-BDF0-9FF340E6E3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Rectangle 2">
            <a:extLst>
              <a:ext uri="{FF2B5EF4-FFF2-40B4-BE49-F238E27FC236}">
                <a16:creationId xmlns:a16="http://schemas.microsoft.com/office/drawing/2014/main" xmlns="" id="{8BECD115-25CE-4591-90B4-4D196FAAFB13}"/>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Advantages of Using the Database Approach continued</a:t>
            </a:r>
          </a:p>
        </p:txBody>
      </p:sp>
      <p:sp>
        <p:nvSpPr>
          <p:cNvPr id="35845" name="Content Placeholder 13">
            <a:extLst>
              <a:ext uri="{FF2B5EF4-FFF2-40B4-BE49-F238E27FC236}">
                <a16:creationId xmlns:a16="http://schemas.microsoft.com/office/drawing/2014/main" xmlns="" id="{7E7C0FEB-E2B1-41D6-B046-A8B781336BC0}"/>
              </a:ext>
            </a:extLst>
          </p:cNvPr>
          <p:cNvSpPr txBox="1">
            <a:spLocks/>
          </p:cNvSpPr>
          <p:nvPr/>
        </p:nvSpPr>
        <p:spPr bwMode="auto">
          <a:xfrm>
            <a:off x="561975" y="979488"/>
            <a:ext cx="11098213" cy="495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buFont typeface="Arial" panose="020B0604020202020204" pitchFamily="34" charset="0"/>
              <a:buNone/>
            </a:pPr>
            <a:endParaRPr lang="en-US" altLang="en-US" sz="2400">
              <a:solidFill>
                <a:srgbClr val="FF0000"/>
              </a:solidFill>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US" altLang="en-US" sz="2400">
              <a:solidFill>
                <a:srgbClr val="FF0000"/>
              </a:solidFill>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US" altLang="en-US" sz="2400">
              <a:solidFill>
                <a:srgbClr val="FF0000"/>
              </a:solidFill>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US" altLang="en-US" sz="2400">
              <a:solidFill>
                <a:srgbClr val="FF0000"/>
              </a:solidFill>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US" altLang="en-US" sz="2400">
              <a:solidFill>
                <a:srgbClr val="FF0000"/>
              </a:solidFill>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US" altLang="en-US" sz="2400">
              <a:solidFill>
                <a:srgbClr val="FF0000"/>
              </a:solidFill>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US" altLang="en-US" sz="2400">
              <a:solidFill>
                <a:srgbClr val="FF0000"/>
              </a:solidFill>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US" altLang="en-US" sz="1600" b="1">
                <a:latin typeface="Times New Roman" panose="02020603050405020304" pitchFamily="18" charset="0"/>
                <a:cs typeface="Times New Roman" panose="02020603050405020304" pitchFamily="18" charset="0"/>
              </a:rPr>
              <a:t>Figure 1.9 Redundancy control</a:t>
            </a:r>
          </a:p>
        </p:txBody>
      </p:sp>
      <p:pic>
        <p:nvPicPr>
          <p:cNvPr id="35846" name="image37.png">
            <a:extLst>
              <a:ext uri="{FF2B5EF4-FFF2-40B4-BE49-F238E27FC236}">
                <a16:creationId xmlns:a16="http://schemas.microsoft.com/office/drawing/2014/main" xmlns="" id="{B1769138-8771-40FE-A6C2-EB877DCB09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35125" y="1687513"/>
            <a:ext cx="7758113" cy="235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7" name="Rectangle 1">
            <a:extLst>
              <a:ext uri="{FF2B5EF4-FFF2-40B4-BE49-F238E27FC236}">
                <a16:creationId xmlns:a16="http://schemas.microsoft.com/office/drawing/2014/main" xmlns="" id="{5331B0A4-2483-4AFB-B18B-43F2B3864D8C}"/>
              </a:ext>
            </a:extLst>
          </p:cNvPr>
          <p:cNvSpPr>
            <a:spLocks noChangeArrowheads="1"/>
          </p:cNvSpPr>
          <p:nvPr/>
        </p:nvSpPr>
        <p:spPr bwMode="auto">
          <a:xfrm>
            <a:off x="990600" y="1208088"/>
            <a:ext cx="99266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In case of centralized database, data can be shared by number of applications</a:t>
            </a:r>
            <a:endParaRPr lang="en-IN" altLang="en-US" sz="2400">
              <a:latin typeface="Times New Roman" panose="02020603050405020304" pitchFamily="18" charset="0"/>
              <a:cs typeface="Times New Roman" panose="02020603050405020304" pitchFamily="18" charset="0"/>
            </a:endParaRPr>
          </a:p>
        </p:txBody>
      </p:sp>
      <p:sp>
        <p:nvSpPr>
          <p:cNvPr id="35848" name="Rectangle 2">
            <a:extLst>
              <a:ext uri="{FF2B5EF4-FFF2-40B4-BE49-F238E27FC236}">
                <a16:creationId xmlns:a16="http://schemas.microsoft.com/office/drawing/2014/main" xmlns="" id="{AEFFD6F3-5FFE-48B6-B19C-AC623431D65C}"/>
              </a:ext>
            </a:extLst>
          </p:cNvPr>
          <p:cNvSpPr>
            <a:spLocks noChangeArrowheads="1"/>
          </p:cNvSpPr>
          <p:nvPr/>
        </p:nvSpPr>
        <p:spPr bwMode="auto">
          <a:xfrm>
            <a:off x="1136650" y="4476750"/>
            <a:ext cx="9932988" cy="831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Every application can access the information of other’s by joining on the basis of column ( Rollno )</a:t>
            </a:r>
            <a:endParaRPr lang="en-IN" altLang="en-US" sz="240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15">
            <a:extLst>
              <a:ext uri="{FF2B5EF4-FFF2-40B4-BE49-F238E27FC236}">
                <a16:creationId xmlns:a16="http://schemas.microsoft.com/office/drawing/2014/main" xmlns="" id="{E91562BC-FAB6-44D4-B839-E010C0BA1B7E}"/>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36867" name="Picture 1">
            <a:extLst>
              <a:ext uri="{FF2B5EF4-FFF2-40B4-BE49-F238E27FC236}">
                <a16:creationId xmlns:a16="http://schemas.microsoft.com/office/drawing/2014/main" xmlns="" id="{02A1A9FB-EE8F-41CB-8D46-C4E5A71F6B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68" name="Rectangle 2">
            <a:extLst>
              <a:ext uri="{FF2B5EF4-FFF2-40B4-BE49-F238E27FC236}">
                <a16:creationId xmlns:a16="http://schemas.microsoft.com/office/drawing/2014/main" xmlns="" id="{423DF19C-E3F3-46FB-B0D2-EAA50061104E}"/>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Advantages of Using the Database Approach continued</a:t>
            </a:r>
          </a:p>
        </p:txBody>
      </p:sp>
      <p:sp>
        <p:nvSpPr>
          <p:cNvPr id="36869" name="Content Placeholder 13">
            <a:extLst>
              <a:ext uri="{FF2B5EF4-FFF2-40B4-BE49-F238E27FC236}">
                <a16:creationId xmlns:a16="http://schemas.microsoft.com/office/drawing/2014/main" xmlns="" id="{6F5AA3BA-0068-4A32-9C50-33CDCA99D746}"/>
              </a:ext>
            </a:extLst>
          </p:cNvPr>
          <p:cNvSpPr txBox="1">
            <a:spLocks/>
          </p:cNvSpPr>
          <p:nvPr/>
        </p:nvSpPr>
        <p:spPr bwMode="auto">
          <a:xfrm>
            <a:off x="561975" y="979488"/>
            <a:ext cx="11098213" cy="4951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buFont typeface="Arial" panose="020B0604020202020204" pitchFamily="34" charset="0"/>
              <a:buNone/>
            </a:pPr>
            <a:r>
              <a:rPr lang="en-US" altLang="en-US" sz="2400">
                <a:latin typeface="Times New Roman" panose="02020603050405020304" pitchFamily="18" charset="0"/>
                <a:cs typeface="Times New Roman" panose="02020603050405020304" pitchFamily="18" charset="0"/>
              </a:rPr>
              <a:t>Controlling redundancy in data storage and in development and maintenance efforts.</a:t>
            </a:r>
          </a:p>
          <a:p>
            <a:pPr lvl="1" algn="just"/>
            <a:r>
              <a:rPr lang="en-US" altLang="en-US">
                <a:latin typeface="Times New Roman" panose="02020603050405020304" pitchFamily="18" charset="0"/>
                <a:cs typeface="Times New Roman" panose="02020603050405020304" pitchFamily="18" charset="0"/>
              </a:rPr>
              <a:t>Sharing of data among multiple users.</a:t>
            </a:r>
          </a:p>
          <a:p>
            <a:pPr algn="just">
              <a:buFont typeface="Arial" panose="020B0604020202020204" pitchFamily="34" charset="0"/>
              <a:buNone/>
            </a:pPr>
            <a:endParaRPr lang="en-US"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IN"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IN"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IN"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IN"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IN" altLang="en-US" sz="2400">
              <a:latin typeface="Times New Roman" panose="02020603050405020304" pitchFamily="18" charset="0"/>
              <a:cs typeface="Times New Roman" panose="02020603050405020304" pitchFamily="18" charset="0"/>
            </a:endParaRPr>
          </a:p>
          <a:p>
            <a:pPr algn="just">
              <a:buFont typeface="Arial" panose="020B0604020202020204" pitchFamily="34" charset="0"/>
              <a:buNone/>
            </a:pPr>
            <a:endParaRPr lang="en-IN" altLang="en-US" sz="2400">
              <a:latin typeface="Times New Roman" panose="02020603050405020304" pitchFamily="18" charset="0"/>
              <a:cs typeface="Times New Roman" panose="02020603050405020304" pitchFamily="18" charset="0"/>
            </a:endParaRPr>
          </a:p>
          <a:p>
            <a:pPr algn="ctr">
              <a:buFont typeface="Arial" panose="020B0604020202020204" pitchFamily="34" charset="0"/>
              <a:buNone/>
            </a:pPr>
            <a:endParaRPr lang="en-IN" altLang="en-US" sz="1600" b="1">
              <a:latin typeface="Times New Roman" panose="02020603050405020304" pitchFamily="18" charset="0"/>
              <a:cs typeface="Times New Roman" panose="02020603050405020304" pitchFamily="18" charset="0"/>
            </a:endParaRPr>
          </a:p>
          <a:p>
            <a:pPr algn="ctr">
              <a:buFont typeface="Arial" panose="020B0604020202020204" pitchFamily="34" charset="0"/>
              <a:buNone/>
            </a:pPr>
            <a:r>
              <a:rPr lang="en-IN" altLang="en-US" sz="1600" b="1">
                <a:latin typeface="Times New Roman" panose="02020603050405020304" pitchFamily="18" charset="0"/>
                <a:cs typeface="Times New Roman" panose="02020603050405020304" pitchFamily="18" charset="0"/>
              </a:rPr>
              <a:t>Figure 1.10 Redundant storage of Student_name in GRADE_REPORT. a) Consistant data  b) Inconsistant data </a:t>
            </a:r>
          </a:p>
        </p:txBody>
      </p:sp>
      <p:pic>
        <p:nvPicPr>
          <p:cNvPr id="36870" name="Picture 7">
            <a:extLst>
              <a:ext uri="{FF2B5EF4-FFF2-40B4-BE49-F238E27FC236}">
                <a16:creationId xmlns:a16="http://schemas.microsoft.com/office/drawing/2014/main" xmlns="" id="{6AD8049A-E002-4DD8-B9D5-44D4973ED3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779588"/>
            <a:ext cx="7343775" cy="3352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24333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15">
            <a:extLst>
              <a:ext uri="{FF2B5EF4-FFF2-40B4-BE49-F238E27FC236}">
                <a16:creationId xmlns:a16="http://schemas.microsoft.com/office/drawing/2014/main" xmlns="" id="{880471A4-FE22-4C27-97E0-15F6BBC3096D}"/>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24579" name="Picture 1">
            <a:extLst>
              <a:ext uri="{FF2B5EF4-FFF2-40B4-BE49-F238E27FC236}">
                <a16:creationId xmlns:a16="http://schemas.microsoft.com/office/drawing/2014/main" xmlns="" id="{D366DD88-E0CC-419D-B732-E5231BE96C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Title 3">
            <a:extLst>
              <a:ext uri="{FF2B5EF4-FFF2-40B4-BE49-F238E27FC236}">
                <a16:creationId xmlns:a16="http://schemas.microsoft.com/office/drawing/2014/main" xmlns="" id="{16B2BCBC-0CBA-4DE4-B878-C45BB6FFA8BE}"/>
              </a:ext>
            </a:extLst>
          </p:cNvPr>
          <p:cNvSpPr txBox="1">
            <a:spLocks/>
          </p:cNvSpPr>
          <p:nvPr/>
        </p:nvSpPr>
        <p:spPr bwMode="auto">
          <a:xfrm>
            <a:off x="463550" y="852488"/>
            <a:ext cx="11353800" cy="553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US" altLang="en-US" sz="1600" b="1" dirty="0">
                <a:latin typeface="Times New Roman" panose="02020603050405020304" pitchFamily="18" charset="0"/>
                <a:cs typeface="Times New Roman" panose="02020603050405020304" pitchFamily="18" charset="0"/>
              </a:rPr>
              <a:t>Figure 1.3 A database that stores  student and course information</a:t>
            </a: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US"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dirty="0">
              <a:latin typeface="Times New Roman" panose="02020603050405020304" pitchFamily="18" charset="0"/>
              <a:cs typeface="Times New Roman" panose="02020603050405020304" pitchFamily="18" charset="0"/>
            </a:endParaRPr>
          </a:p>
        </p:txBody>
      </p:sp>
      <p:sp>
        <p:nvSpPr>
          <p:cNvPr id="24581" name="Rectangle 2">
            <a:extLst>
              <a:ext uri="{FF2B5EF4-FFF2-40B4-BE49-F238E27FC236}">
                <a16:creationId xmlns:a16="http://schemas.microsoft.com/office/drawing/2014/main" xmlns="" id="{6806E3BB-F1C7-47F1-8177-F6CC20A99D91}"/>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pic>
        <p:nvPicPr>
          <p:cNvPr id="24582" name="Picture 6">
            <a:extLst>
              <a:ext uri="{FF2B5EF4-FFF2-40B4-BE49-F238E27FC236}">
                <a16:creationId xmlns:a16="http://schemas.microsoft.com/office/drawing/2014/main" xmlns="" id="{B30D67F3-673F-4A60-9C47-AB562FE057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03563" y="357188"/>
            <a:ext cx="498792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583" name="Picture 8">
            <a:extLst>
              <a:ext uri="{FF2B5EF4-FFF2-40B4-BE49-F238E27FC236}">
                <a16:creationId xmlns:a16="http://schemas.microsoft.com/office/drawing/2014/main" xmlns="" id="{9D500ED1-F6AA-4925-9F77-41EC6B7570D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1475" y="1347788"/>
            <a:ext cx="7015488" cy="48845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7553525"/>
      </p:ext>
    </p:extLst>
  </p:cSld>
  <p:clrMapOvr>
    <a:masterClrMapping/>
  </p:clrMapOvr>
  <p:transition spd="slow">
    <p:wip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15">
            <a:extLst>
              <a:ext uri="{FF2B5EF4-FFF2-40B4-BE49-F238E27FC236}">
                <a16:creationId xmlns:a16="http://schemas.microsoft.com/office/drawing/2014/main" xmlns="" id="{755BF2EB-1A3E-40B6-8257-C7B76E219C47}"/>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37891" name="Picture 1">
            <a:extLst>
              <a:ext uri="{FF2B5EF4-FFF2-40B4-BE49-F238E27FC236}">
                <a16:creationId xmlns:a16="http://schemas.microsoft.com/office/drawing/2014/main" xmlns="" id="{FE4831D7-2242-4C08-8C6B-20A4F8A47A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itle 3">
            <a:extLst>
              <a:ext uri="{FF2B5EF4-FFF2-40B4-BE49-F238E27FC236}">
                <a16:creationId xmlns:a16="http://schemas.microsoft.com/office/drawing/2014/main" xmlns="" id="{D339EEBB-742B-4317-BDED-AD18551C886D}"/>
              </a:ext>
            </a:extLst>
          </p:cNvPr>
          <p:cNvSpPr txBox="1">
            <a:spLocks/>
          </p:cNvSpPr>
          <p:nvPr/>
        </p:nvSpPr>
        <p:spPr bwMode="auto">
          <a:xfrm>
            <a:off x="463550" y="852488"/>
            <a:ext cx="11353800" cy="4862512"/>
          </a:xfrm>
          <a:prstGeom prst="rect">
            <a:avLst/>
          </a:prstGeom>
          <a:noFill/>
          <a:ln>
            <a:noFill/>
          </a:ln>
        </p:spPr>
        <p:txBody>
          <a:bodyPr/>
          <a:lstStyle>
            <a:lvl1pPr marL="3429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8001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lgn="just">
              <a:buFont typeface="Arial" charset="0"/>
              <a:buChar char="•"/>
              <a:defRPr/>
            </a:pPr>
            <a:endParaRPr lang="en-US" sz="2400" dirty="0">
              <a:latin typeface="Times New Roman" pitchFamily="18" charset="0"/>
              <a:cs typeface="Times New Roman" pitchFamily="18" charset="0"/>
            </a:endParaRPr>
          </a:p>
          <a:p>
            <a:pPr marL="0" indent="0" algn="just">
              <a:defRPr/>
            </a:pPr>
            <a:r>
              <a:rPr lang="en-US" sz="2400" dirty="0">
                <a:latin typeface="Times New Roman" pitchFamily="18" charset="0"/>
                <a:cs typeface="Times New Roman" pitchFamily="18" charset="0"/>
              </a:rPr>
              <a:t>2. </a:t>
            </a:r>
            <a:r>
              <a:rPr lang="en-US" sz="2400" dirty="0">
                <a:solidFill>
                  <a:srgbClr val="FF0000"/>
                </a:solidFill>
                <a:latin typeface="Times New Roman" pitchFamily="18" charset="0"/>
                <a:cs typeface="Times New Roman" pitchFamily="18" charset="0"/>
              </a:rPr>
              <a:t>Restricting unauthorized access to data:</a:t>
            </a:r>
          </a:p>
          <a:p>
            <a:pPr marL="0" indent="0" algn="just">
              <a:defRPr/>
            </a:pPr>
            <a:r>
              <a:rPr lang="en-US" sz="2400" dirty="0">
                <a:latin typeface="Times New Roman" pitchFamily="18" charset="0"/>
                <a:cs typeface="Times New Roman" pitchFamily="18" charset="0"/>
              </a:rPr>
              <a:t>When multiple users share a large database, it is likely that most users will not be authorized to access all information in the database. A DBMS should provide a </a:t>
            </a:r>
            <a:r>
              <a:rPr lang="en-US" sz="2400" dirty="0">
                <a:solidFill>
                  <a:srgbClr val="FF0000"/>
                </a:solidFill>
                <a:latin typeface="Times New Roman" pitchFamily="18" charset="0"/>
                <a:cs typeface="Times New Roman" pitchFamily="18" charset="0"/>
              </a:rPr>
              <a:t>security and authorization subsystem</a:t>
            </a:r>
            <a:r>
              <a:rPr lang="en-US" sz="2400" dirty="0">
                <a:latin typeface="Times New Roman" pitchFamily="18" charset="0"/>
                <a:cs typeface="Times New Roman" pitchFamily="18" charset="0"/>
              </a:rPr>
              <a:t>, which the DBA uses to create accounts and to specify account restrictions. Then, the DBMS should enforce these restrictions automatically.</a:t>
            </a:r>
          </a:p>
          <a:p>
            <a:pPr marL="0" indent="0" algn="just">
              <a:defRPr/>
            </a:pPr>
            <a:endParaRPr lang="en-US" sz="2400" dirty="0">
              <a:latin typeface="Times New Roman" pitchFamily="18" charset="0"/>
              <a:cs typeface="Times New Roman" pitchFamily="18" charset="0"/>
            </a:endParaRPr>
          </a:p>
          <a:p>
            <a:pPr marL="0" indent="0" algn="just">
              <a:defRPr/>
            </a:pPr>
            <a:r>
              <a:rPr lang="en-US" sz="2400" dirty="0">
                <a:solidFill>
                  <a:srgbClr val="FF0000"/>
                </a:solidFill>
                <a:latin typeface="Times New Roman" pitchFamily="18" charset="0"/>
                <a:cs typeface="Times New Roman" pitchFamily="18" charset="0"/>
              </a:rPr>
              <a:t>3. Providing persistent storage for program Objects:</a:t>
            </a:r>
          </a:p>
          <a:p>
            <a:pPr lvl="1" algn="just">
              <a:buFont typeface="Arial" charset="0"/>
              <a:buChar char="•"/>
              <a:defRPr/>
            </a:pPr>
            <a:r>
              <a:rPr lang="en-US" sz="2400" dirty="0">
                <a:latin typeface="Times New Roman" pitchFamily="18" charset="0"/>
                <a:cs typeface="Times New Roman" pitchFamily="18" charset="0"/>
              </a:rPr>
              <a:t>Databases can be used to provide persistent storage for program objects and data structures. This is one of the main reasons for </a:t>
            </a:r>
            <a:r>
              <a:rPr lang="en-US" sz="2400" dirty="0">
                <a:solidFill>
                  <a:srgbClr val="FF0000"/>
                </a:solidFill>
                <a:latin typeface="Times New Roman" pitchFamily="18" charset="0"/>
                <a:cs typeface="Times New Roman" pitchFamily="18" charset="0"/>
              </a:rPr>
              <a:t>object-oriented database systems</a:t>
            </a:r>
            <a:r>
              <a:rPr lang="en-US" sz="2400" dirty="0"/>
              <a:t>.</a:t>
            </a:r>
          </a:p>
          <a:p>
            <a:pPr lvl="1" algn="just">
              <a:buFont typeface="Arial" charset="0"/>
              <a:buChar char="•"/>
              <a:defRPr/>
            </a:pPr>
            <a:r>
              <a:rPr lang="en-US" sz="2400" dirty="0"/>
              <a:t>Tradit</a:t>
            </a:r>
            <a:r>
              <a:rPr lang="en-US" sz="2400" dirty="0">
                <a:latin typeface="Times New Roman" pitchFamily="18" charset="0"/>
                <a:cs typeface="Times New Roman" pitchFamily="18" charset="0"/>
              </a:rPr>
              <a:t>ional database systems often suffered from the so called </a:t>
            </a:r>
            <a:r>
              <a:rPr lang="en-US" sz="2400" dirty="0">
                <a:solidFill>
                  <a:srgbClr val="FF0000"/>
                </a:solidFill>
                <a:latin typeface="Times New Roman" pitchFamily="18" charset="0"/>
                <a:cs typeface="Times New Roman" pitchFamily="18" charset="0"/>
              </a:rPr>
              <a:t>impedance mismatch problem</a:t>
            </a:r>
            <a:r>
              <a:rPr lang="en-US" sz="2400" dirty="0">
                <a:latin typeface="Times New Roman" pitchFamily="18" charset="0"/>
                <a:cs typeface="Times New Roman" pitchFamily="18" charset="0"/>
              </a:rPr>
              <a:t>, since the data structures provided by the DBMS were incompatible with the programming language’s data structures</a:t>
            </a:r>
            <a:r>
              <a:rPr lang="en-US" sz="2400" dirty="0"/>
              <a:t>.</a:t>
            </a:r>
          </a:p>
        </p:txBody>
      </p:sp>
      <p:sp>
        <p:nvSpPr>
          <p:cNvPr id="37893" name="Rectangle 2">
            <a:extLst>
              <a:ext uri="{FF2B5EF4-FFF2-40B4-BE49-F238E27FC236}">
                <a16:creationId xmlns:a16="http://schemas.microsoft.com/office/drawing/2014/main" xmlns="" id="{DFAAB559-10D7-49C4-A2FB-04DCD497B82C}"/>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Advantages of Using the Database Approach continued</a:t>
            </a:r>
          </a:p>
        </p:txBody>
      </p:sp>
    </p:spTree>
  </p:cSld>
  <p:clrMapOvr>
    <a:masterClrMapping/>
  </p:clrMapOvr>
  <p:transition spd="slow">
    <p:wip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5">
            <a:extLst>
              <a:ext uri="{FF2B5EF4-FFF2-40B4-BE49-F238E27FC236}">
                <a16:creationId xmlns:a16="http://schemas.microsoft.com/office/drawing/2014/main" xmlns="" id="{47105C61-4142-428B-81F7-51D2D5990BF0}"/>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38915" name="Picture 1">
            <a:extLst>
              <a:ext uri="{FF2B5EF4-FFF2-40B4-BE49-F238E27FC236}">
                <a16:creationId xmlns:a16="http://schemas.microsoft.com/office/drawing/2014/main" xmlns="" id="{5E606CA4-81B3-43A3-85BE-714AB3FA59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itle 3">
            <a:extLst>
              <a:ext uri="{FF2B5EF4-FFF2-40B4-BE49-F238E27FC236}">
                <a16:creationId xmlns:a16="http://schemas.microsoft.com/office/drawing/2014/main" xmlns="" id="{25E1E659-B49D-434D-A5A1-FEA122EA0730}"/>
              </a:ext>
            </a:extLst>
          </p:cNvPr>
          <p:cNvSpPr txBox="1">
            <a:spLocks/>
          </p:cNvSpPr>
          <p:nvPr/>
        </p:nvSpPr>
        <p:spPr bwMode="auto">
          <a:xfrm>
            <a:off x="463550" y="852488"/>
            <a:ext cx="11353800" cy="4862512"/>
          </a:xfrm>
          <a:prstGeom prst="rect">
            <a:avLst/>
          </a:prstGeom>
          <a:noFill/>
          <a:ln>
            <a:noFill/>
          </a:ln>
        </p:spPr>
        <p:txBody>
          <a:bodyPr/>
          <a:lstStyle>
            <a:lvl1pPr marL="3429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8001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marL="0" indent="0" algn="just">
              <a:defRPr/>
            </a:pPr>
            <a:r>
              <a:rPr lang="en-US" sz="2400" dirty="0">
                <a:solidFill>
                  <a:srgbClr val="FF0000"/>
                </a:solidFill>
              </a:rPr>
              <a:t>4. Providing Storage Structures and Search Techniques for Efficient Query Processing:</a:t>
            </a:r>
          </a:p>
          <a:p>
            <a:pPr algn="just">
              <a:buFont typeface="Arial" pitchFamily="34" charset="0"/>
              <a:buChar char="•"/>
              <a:defRPr/>
            </a:pPr>
            <a:r>
              <a:rPr lang="en-US" sz="2400" dirty="0"/>
              <a:t>Database systems must provide capabilities for efficiently executing queries and updates.</a:t>
            </a:r>
          </a:p>
          <a:p>
            <a:pPr algn="just">
              <a:buFont typeface="Arial" pitchFamily="34" charset="0"/>
              <a:buChar char="•"/>
              <a:defRPr/>
            </a:pPr>
            <a:r>
              <a:rPr lang="en-US" sz="2400" dirty="0"/>
              <a:t>Auxiliary files called </a:t>
            </a:r>
            <a:r>
              <a:rPr lang="en-US" sz="2400" dirty="0">
                <a:solidFill>
                  <a:srgbClr val="92D050"/>
                </a:solidFill>
              </a:rPr>
              <a:t>indexes</a:t>
            </a:r>
            <a:r>
              <a:rPr lang="en-US" sz="2400" dirty="0"/>
              <a:t> are used for this purpose.</a:t>
            </a:r>
          </a:p>
          <a:p>
            <a:pPr algn="just">
              <a:buFont typeface="Arial" pitchFamily="34" charset="0"/>
              <a:buChar char="•"/>
              <a:defRPr/>
            </a:pPr>
            <a:r>
              <a:rPr lang="en-US" sz="2400" dirty="0"/>
              <a:t>DBMS often has a </a:t>
            </a:r>
            <a:r>
              <a:rPr lang="en-US" sz="2400" dirty="0">
                <a:solidFill>
                  <a:srgbClr val="92D050"/>
                </a:solidFill>
              </a:rPr>
              <a:t>buffering or caching </a:t>
            </a:r>
            <a:r>
              <a:rPr lang="en-US" sz="2400" dirty="0"/>
              <a:t>module that maintains parts of the database in main memory buffers.</a:t>
            </a:r>
          </a:p>
          <a:p>
            <a:pPr algn="just">
              <a:buFont typeface="Arial" pitchFamily="34" charset="0"/>
              <a:buChar char="•"/>
              <a:defRPr/>
            </a:pPr>
            <a:r>
              <a:rPr lang="en-US" sz="2400" dirty="0"/>
              <a:t>The </a:t>
            </a:r>
            <a:r>
              <a:rPr lang="en-US" sz="2400" dirty="0">
                <a:solidFill>
                  <a:srgbClr val="92D050"/>
                </a:solidFill>
              </a:rPr>
              <a:t>query processing and optimization module</a:t>
            </a:r>
            <a:r>
              <a:rPr lang="en-US" sz="2400" dirty="0"/>
              <a:t> of the DBMS is responsible for choosing an efficient query execution plan for each query based on the existing storage structures</a:t>
            </a:r>
            <a:endParaRPr lang="en-US" sz="2400" dirty="0">
              <a:solidFill>
                <a:srgbClr val="FF0000"/>
              </a:solidFill>
              <a:latin typeface="Times New Roman" pitchFamily="18" charset="0"/>
              <a:cs typeface="Times New Roman" pitchFamily="18" charset="0"/>
            </a:endParaRPr>
          </a:p>
        </p:txBody>
      </p:sp>
      <p:sp>
        <p:nvSpPr>
          <p:cNvPr id="38917" name="Rectangle 2">
            <a:extLst>
              <a:ext uri="{FF2B5EF4-FFF2-40B4-BE49-F238E27FC236}">
                <a16:creationId xmlns:a16="http://schemas.microsoft.com/office/drawing/2014/main" xmlns="" id="{B2B62603-7650-49A0-96F6-D8379920DC17}"/>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Advantages of Using the Database Approach continued</a:t>
            </a:r>
          </a:p>
        </p:txBody>
      </p:sp>
    </p:spTree>
  </p:cSld>
  <p:clrMapOvr>
    <a:masterClrMapping/>
  </p:clrMapOvr>
  <p:transition spd="slow">
    <p:wip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15">
            <a:extLst>
              <a:ext uri="{FF2B5EF4-FFF2-40B4-BE49-F238E27FC236}">
                <a16:creationId xmlns:a16="http://schemas.microsoft.com/office/drawing/2014/main" xmlns="" id="{4D601B8A-3F22-493D-A744-66823914C0DF}"/>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39939" name="Picture 1">
            <a:extLst>
              <a:ext uri="{FF2B5EF4-FFF2-40B4-BE49-F238E27FC236}">
                <a16:creationId xmlns:a16="http://schemas.microsoft.com/office/drawing/2014/main" xmlns="" id="{D849D948-B7F7-4FA2-8B30-E75C8C38FB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itle 3">
            <a:extLst>
              <a:ext uri="{FF2B5EF4-FFF2-40B4-BE49-F238E27FC236}">
                <a16:creationId xmlns:a16="http://schemas.microsoft.com/office/drawing/2014/main" xmlns="" id="{67C3954C-52EA-4940-9B1E-38E5F93D6BB4}"/>
              </a:ext>
            </a:extLst>
          </p:cNvPr>
          <p:cNvSpPr txBox="1">
            <a:spLocks/>
          </p:cNvSpPr>
          <p:nvPr/>
        </p:nvSpPr>
        <p:spPr bwMode="auto">
          <a:xfrm>
            <a:off x="463550" y="852488"/>
            <a:ext cx="11353800" cy="4862512"/>
          </a:xfrm>
          <a:prstGeom prst="rect">
            <a:avLst/>
          </a:prstGeom>
          <a:noFill/>
          <a:ln>
            <a:noFill/>
          </a:ln>
        </p:spPr>
        <p:txBody>
          <a:bodyPr/>
          <a:lstStyle>
            <a:lvl1pPr marL="3429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8001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lgn="just">
              <a:buFont typeface="Arial" charset="0"/>
              <a:buChar char="•"/>
              <a:defRPr/>
            </a:pPr>
            <a:endParaRPr lang="en-US" sz="2400" dirty="0">
              <a:latin typeface="Times New Roman" pitchFamily="18" charset="0"/>
              <a:cs typeface="Times New Roman" pitchFamily="18" charset="0"/>
            </a:endParaRPr>
          </a:p>
          <a:p>
            <a:pPr marL="0" indent="0" algn="just">
              <a:defRPr/>
            </a:pPr>
            <a:r>
              <a:rPr lang="en-US" sz="2400" dirty="0">
                <a:latin typeface="Times New Roman" pitchFamily="18" charset="0"/>
                <a:cs typeface="Times New Roman" pitchFamily="18" charset="0"/>
              </a:rPr>
              <a:t>5. </a:t>
            </a:r>
            <a:r>
              <a:rPr lang="en-US" sz="2400" dirty="0">
                <a:solidFill>
                  <a:srgbClr val="FF0000"/>
                </a:solidFill>
                <a:latin typeface="Times New Roman" pitchFamily="18" charset="0"/>
                <a:cs typeface="Times New Roman" pitchFamily="18" charset="0"/>
              </a:rPr>
              <a:t>Providing backup and recovery services:</a:t>
            </a:r>
          </a:p>
          <a:p>
            <a:pPr algn="just">
              <a:buFont typeface="Arial" pitchFamily="34" charset="0"/>
              <a:buChar char="•"/>
              <a:defRPr/>
            </a:pPr>
            <a:r>
              <a:rPr lang="en-US" sz="2400" dirty="0">
                <a:latin typeface="Times New Roman" pitchFamily="18" charset="0"/>
                <a:cs typeface="Times New Roman" pitchFamily="18" charset="0"/>
              </a:rPr>
              <a:t>A DBMS must provide facilities for recovering from hardware or software failures.</a:t>
            </a:r>
          </a:p>
          <a:p>
            <a:pPr algn="just">
              <a:buFont typeface="Arial" pitchFamily="34" charset="0"/>
              <a:buChar char="•"/>
              <a:defRPr/>
            </a:pPr>
            <a:r>
              <a:rPr lang="en-US" sz="2400" dirty="0">
                <a:latin typeface="Times New Roman" pitchFamily="18" charset="0"/>
                <a:cs typeface="Times New Roman" pitchFamily="18" charset="0"/>
              </a:rPr>
              <a:t>The </a:t>
            </a:r>
            <a:r>
              <a:rPr lang="en-US" sz="2400" dirty="0">
                <a:solidFill>
                  <a:srgbClr val="00B050"/>
                </a:solidFill>
                <a:latin typeface="Times New Roman" pitchFamily="18" charset="0"/>
                <a:cs typeface="Times New Roman" pitchFamily="18" charset="0"/>
              </a:rPr>
              <a:t>backup and recovery subsystem </a:t>
            </a:r>
            <a:r>
              <a:rPr lang="en-US" sz="2400" dirty="0">
                <a:latin typeface="Times New Roman" pitchFamily="18" charset="0"/>
                <a:cs typeface="Times New Roman" pitchFamily="18" charset="0"/>
              </a:rPr>
              <a:t>of the DBMS is responsible for recovery</a:t>
            </a:r>
            <a:endParaRPr lang="en-US" sz="2400" dirty="0">
              <a:solidFill>
                <a:srgbClr val="FF0000"/>
              </a:solidFill>
              <a:latin typeface="Times New Roman" pitchFamily="18" charset="0"/>
              <a:cs typeface="Times New Roman" pitchFamily="18" charset="0"/>
            </a:endParaRPr>
          </a:p>
          <a:p>
            <a:pPr marL="0" indent="0" algn="just">
              <a:defRPr/>
            </a:pPr>
            <a:endParaRPr lang="en-US" sz="2400" dirty="0">
              <a:latin typeface="Times New Roman" pitchFamily="18" charset="0"/>
              <a:cs typeface="Times New Roman" pitchFamily="18" charset="0"/>
            </a:endParaRPr>
          </a:p>
          <a:p>
            <a:pPr marL="0" indent="0" algn="just">
              <a:defRPr/>
            </a:pPr>
            <a:r>
              <a:rPr lang="en-US" sz="2400" dirty="0">
                <a:latin typeface="Times New Roman" pitchFamily="18" charset="0"/>
                <a:cs typeface="Times New Roman" pitchFamily="18" charset="0"/>
              </a:rPr>
              <a:t>6. </a:t>
            </a:r>
            <a:r>
              <a:rPr lang="en-IN" sz="2400" dirty="0">
                <a:solidFill>
                  <a:srgbClr val="FF0000"/>
                </a:solidFill>
                <a:latin typeface="Times New Roman" pitchFamily="18" charset="0"/>
                <a:cs typeface="Times New Roman" pitchFamily="18" charset="0"/>
              </a:rPr>
              <a:t>Providing Multiple User Interfaces:</a:t>
            </a:r>
          </a:p>
          <a:p>
            <a:pPr marL="0" indent="0" algn="just">
              <a:defRPr/>
            </a:pPr>
            <a:r>
              <a:rPr lang="en-IN" sz="2400" dirty="0">
                <a:latin typeface="Times New Roman" pitchFamily="18" charset="0"/>
                <a:cs typeface="Times New Roman" pitchFamily="18" charset="0"/>
              </a:rPr>
              <a:t>		Interfaces include query languages for casual users, programming language interfaces for application programmers, forms and command codes for parametric users, and menu-driven interfaces and natural language interfaces for standalone users. Both forms-style interfaces and menu-driven interfaces are commonly known as </a:t>
            </a:r>
            <a:r>
              <a:rPr lang="en-IN" sz="2400" dirty="0">
                <a:solidFill>
                  <a:srgbClr val="00B050"/>
                </a:solidFill>
                <a:latin typeface="Times New Roman" pitchFamily="18" charset="0"/>
                <a:cs typeface="Times New Roman" pitchFamily="18" charset="0"/>
              </a:rPr>
              <a:t>graphical user interfaces </a:t>
            </a:r>
            <a:r>
              <a:rPr lang="en-IN" sz="2400" dirty="0">
                <a:latin typeface="Times New Roman" pitchFamily="18" charset="0"/>
                <a:cs typeface="Times New Roman" pitchFamily="18" charset="0"/>
              </a:rPr>
              <a:t>(GUIs).</a:t>
            </a:r>
            <a:r>
              <a:rPr lang="en-IN" sz="2400" dirty="0">
                <a:solidFill>
                  <a:srgbClr val="FF0000"/>
                </a:solidFill>
                <a:latin typeface="Times New Roman" pitchFamily="18" charset="0"/>
                <a:cs typeface="Times New Roman" pitchFamily="18" charset="0"/>
              </a:rPr>
              <a:t> </a:t>
            </a:r>
          </a:p>
        </p:txBody>
      </p:sp>
      <p:sp>
        <p:nvSpPr>
          <p:cNvPr id="39941" name="Rectangle 2">
            <a:extLst>
              <a:ext uri="{FF2B5EF4-FFF2-40B4-BE49-F238E27FC236}">
                <a16:creationId xmlns:a16="http://schemas.microsoft.com/office/drawing/2014/main" xmlns="" id="{19DFBB17-E9C0-4D28-94D2-7D55C6DD646C}"/>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Advantages of Using the Database Approach continued</a:t>
            </a:r>
          </a:p>
        </p:txBody>
      </p:sp>
    </p:spTree>
  </p:cSld>
  <p:clrMapOvr>
    <a:masterClrMapping/>
  </p:clrMapOvr>
  <p:transition spd="slow">
    <p:wip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15">
            <a:extLst>
              <a:ext uri="{FF2B5EF4-FFF2-40B4-BE49-F238E27FC236}">
                <a16:creationId xmlns:a16="http://schemas.microsoft.com/office/drawing/2014/main" xmlns="" id="{4AEE9792-7BF9-4019-95A1-C992B7FDEF5A}"/>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40963" name="Picture 1">
            <a:extLst>
              <a:ext uri="{FF2B5EF4-FFF2-40B4-BE49-F238E27FC236}">
                <a16:creationId xmlns:a16="http://schemas.microsoft.com/office/drawing/2014/main" xmlns="" id="{FA0A2DD0-F610-462E-8956-3283255AEA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itle 3">
            <a:extLst>
              <a:ext uri="{FF2B5EF4-FFF2-40B4-BE49-F238E27FC236}">
                <a16:creationId xmlns:a16="http://schemas.microsoft.com/office/drawing/2014/main" xmlns="" id="{AA29A729-03DB-4D6B-968C-7FA5EA176BD5}"/>
              </a:ext>
            </a:extLst>
          </p:cNvPr>
          <p:cNvSpPr txBox="1">
            <a:spLocks/>
          </p:cNvSpPr>
          <p:nvPr/>
        </p:nvSpPr>
        <p:spPr bwMode="auto">
          <a:xfrm>
            <a:off x="463550" y="852488"/>
            <a:ext cx="11353800" cy="4862512"/>
          </a:xfrm>
          <a:prstGeom prst="rect">
            <a:avLst/>
          </a:prstGeom>
          <a:noFill/>
          <a:ln>
            <a:noFill/>
          </a:ln>
        </p:spPr>
        <p:txBody>
          <a:bodyPr/>
          <a:lstStyle>
            <a:lvl1pPr marL="3429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8001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marL="0" indent="0" algn="just">
              <a:defRPr/>
            </a:pPr>
            <a:r>
              <a:rPr lang="en-IN" sz="2400" dirty="0">
                <a:solidFill>
                  <a:srgbClr val="FF0000"/>
                </a:solidFill>
                <a:latin typeface="Times New Roman" pitchFamily="18" charset="0"/>
                <a:cs typeface="Times New Roman" pitchFamily="18" charset="0"/>
              </a:rPr>
              <a:t>7. </a:t>
            </a:r>
            <a:r>
              <a:rPr lang="en-US" sz="2400" dirty="0">
                <a:solidFill>
                  <a:srgbClr val="FF0000"/>
                </a:solidFill>
                <a:latin typeface="Times New Roman" pitchFamily="18" charset="0"/>
                <a:cs typeface="Times New Roman" pitchFamily="18" charset="0"/>
              </a:rPr>
              <a:t>Representing Complex Relationships among Data</a:t>
            </a:r>
          </a:p>
          <a:p>
            <a:pPr marL="0" indent="0" algn="just">
              <a:defRPr/>
            </a:pPr>
            <a:r>
              <a:rPr lang="en-US" sz="2400" dirty="0">
                <a:latin typeface="Times New Roman" pitchFamily="18" charset="0"/>
                <a:cs typeface="Times New Roman" pitchFamily="18" charset="0"/>
              </a:rPr>
              <a:t>A DBMS must have the capability to represent a variety of complex relationships among the data, to define new relationships as they arise, and to retrieve and update related data easily and efficiently</a:t>
            </a:r>
          </a:p>
          <a:p>
            <a:pPr marL="0" indent="0" algn="just">
              <a:defRPr/>
            </a:pPr>
            <a:r>
              <a:rPr lang="en-US" sz="2400" dirty="0">
                <a:solidFill>
                  <a:srgbClr val="FF0000"/>
                </a:solidFill>
                <a:latin typeface="Times New Roman" pitchFamily="18" charset="0"/>
                <a:cs typeface="Times New Roman" pitchFamily="18" charset="0"/>
              </a:rPr>
              <a:t>8. </a:t>
            </a:r>
            <a:r>
              <a:rPr lang="en-IN" sz="2400" dirty="0">
                <a:solidFill>
                  <a:srgbClr val="FF0000"/>
                </a:solidFill>
                <a:latin typeface="Times New Roman" pitchFamily="18" charset="0"/>
                <a:cs typeface="Times New Roman" pitchFamily="18" charset="0"/>
              </a:rPr>
              <a:t>Enforcing Integrity Constraints</a:t>
            </a:r>
          </a:p>
          <a:p>
            <a:pPr algn="just">
              <a:buFont typeface="Arial" pitchFamily="34" charset="0"/>
              <a:buChar char="•"/>
              <a:defRPr/>
            </a:pPr>
            <a:r>
              <a:rPr lang="en-US" sz="2400" dirty="0">
                <a:latin typeface="Times New Roman" pitchFamily="18" charset="0"/>
                <a:cs typeface="Times New Roman" pitchFamily="18" charset="0"/>
              </a:rPr>
              <a:t>The simplest type of integrity constraint involves specifying a data type for each data item</a:t>
            </a:r>
          </a:p>
          <a:p>
            <a:pPr algn="just">
              <a:buFont typeface="Arial" pitchFamily="34" charset="0"/>
              <a:buChar char="•"/>
              <a:defRPr/>
            </a:pPr>
            <a:r>
              <a:rPr lang="en-US" sz="2400" dirty="0">
                <a:latin typeface="Times New Roman" pitchFamily="18" charset="0"/>
                <a:cs typeface="Times New Roman" pitchFamily="18" charset="0"/>
              </a:rPr>
              <a:t>A more complex type of constraint that frequently occurs involves specifying that a record in one file must be related to records in other files. This is known as a referential integrity constraint</a:t>
            </a:r>
          </a:p>
          <a:p>
            <a:pPr algn="just">
              <a:buFont typeface="Arial" pitchFamily="34" charset="0"/>
              <a:buChar char="•"/>
              <a:defRPr/>
            </a:pPr>
            <a:r>
              <a:rPr lang="en-US" sz="2400" dirty="0">
                <a:latin typeface="Times New Roman" pitchFamily="18" charset="0"/>
                <a:cs typeface="Times New Roman" pitchFamily="18" charset="0"/>
              </a:rPr>
              <a:t>Another type of constraint specifies uniqueness on data item values. This is known as a key or uniqueness constraint</a:t>
            </a:r>
            <a:endParaRPr lang="en-IN" sz="2400" dirty="0">
              <a:solidFill>
                <a:srgbClr val="FF0000"/>
              </a:solidFill>
              <a:latin typeface="Times New Roman" pitchFamily="18" charset="0"/>
              <a:cs typeface="Times New Roman" pitchFamily="18" charset="0"/>
            </a:endParaRPr>
          </a:p>
        </p:txBody>
      </p:sp>
      <p:sp>
        <p:nvSpPr>
          <p:cNvPr id="40965" name="Rectangle 2">
            <a:extLst>
              <a:ext uri="{FF2B5EF4-FFF2-40B4-BE49-F238E27FC236}">
                <a16:creationId xmlns:a16="http://schemas.microsoft.com/office/drawing/2014/main" xmlns="" id="{D1DAAAA4-541E-423A-B87C-87BD0DF53FD4}"/>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Advantages of Using the Database Approach continued</a:t>
            </a:r>
          </a:p>
        </p:txBody>
      </p:sp>
    </p:spTree>
  </p:cSld>
  <p:clrMapOvr>
    <a:masterClrMapping/>
  </p:clrMapOvr>
  <p:transition spd="slow">
    <p:wip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5">
            <a:extLst>
              <a:ext uri="{FF2B5EF4-FFF2-40B4-BE49-F238E27FC236}">
                <a16:creationId xmlns:a16="http://schemas.microsoft.com/office/drawing/2014/main" xmlns="" id="{121AFB45-070B-4248-96F6-0D0DD2CE7531}"/>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41987" name="Picture 1">
            <a:extLst>
              <a:ext uri="{FF2B5EF4-FFF2-40B4-BE49-F238E27FC236}">
                <a16:creationId xmlns:a16="http://schemas.microsoft.com/office/drawing/2014/main" xmlns="" id="{2B0988FF-03FC-4A09-9E10-B6ADA485E8E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604" name="Title 3">
            <a:extLst>
              <a:ext uri="{FF2B5EF4-FFF2-40B4-BE49-F238E27FC236}">
                <a16:creationId xmlns:a16="http://schemas.microsoft.com/office/drawing/2014/main" xmlns="" id="{020A0895-BD6F-4906-842B-97A11FD15B23}"/>
              </a:ext>
            </a:extLst>
          </p:cNvPr>
          <p:cNvSpPr txBox="1">
            <a:spLocks/>
          </p:cNvSpPr>
          <p:nvPr/>
        </p:nvSpPr>
        <p:spPr bwMode="auto">
          <a:xfrm>
            <a:off x="463550" y="852488"/>
            <a:ext cx="11353800" cy="4862512"/>
          </a:xfrm>
          <a:prstGeom prst="rect">
            <a:avLst/>
          </a:prstGeom>
          <a:noFill/>
          <a:ln>
            <a:noFill/>
          </a:ln>
        </p:spPr>
        <p:txBody>
          <a:bodyPr/>
          <a:lstStyle>
            <a:lvl1pPr marL="3429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8001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marL="0" indent="0" algn="just">
              <a:defRPr/>
            </a:pPr>
            <a:r>
              <a:rPr lang="en-IN" sz="2400" dirty="0">
                <a:solidFill>
                  <a:srgbClr val="FF0000"/>
                </a:solidFill>
                <a:latin typeface="Times New Roman" pitchFamily="18" charset="0"/>
                <a:cs typeface="Times New Roman" pitchFamily="18" charset="0"/>
              </a:rPr>
              <a:t>9. </a:t>
            </a:r>
            <a:r>
              <a:rPr lang="en-US" sz="2400" dirty="0">
                <a:solidFill>
                  <a:srgbClr val="FF0000"/>
                </a:solidFill>
                <a:latin typeface="Times New Roman" pitchFamily="18" charset="0"/>
                <a:cs typeface="Times New Roman" pitchFamily="18" charset="0"/>
              </a:rPr>
              <a:t>Permitting </a:t>
            </a:r>
            <a:r>
              <a:rPr lang="en-US" sz="2400" dirty="0" err="1">
                <a:solidFill>
                  <a:srgbClr val="FF0000"/>
                </a:solidFill>
                <a:latin typeface="Times New Roman" pitchFamily="18" charset="0"/>
                <a:cs typeface="Times New Roman" pitchFamily="18" charset="0"/>
              </a:rPr>
              <a:t>Inferencing</a:t>
            </a:r>
            <a:r>
              <a:rPr lang="en-US" sz="2400" dirty="0">
                <a:solidFill>
                  <a:srgbClr val="FF0000"/>
                </a:solidFill>
                <a:latin typeface="Times New Roman" pitchFamily="18" charset="0"/>
                <a:cs typeface="Times New Roman" pitchFamily="18" charset="0"/>
              </a:rPr>
              <a:t> and Actions Using </a:t>
            </a:r>
            <a:r>
              <a:rPr lang="en-US" sz="2400" dirty="0" smtClean="0">
                <a:solidFill>
                  <a:srgbClr val="FF0000"/>
                </a:solidFill>
                <a:latin typeface="Times New Roman" pitchFamily="18" charset="0"/>
                <a:cs typeface="Times New Roman" pitchFamily="18" charset="0"/>
              </a:rPr>
              <a:t>Rules </a:t>
            </a:r>
            <a:r>
              <a:rPr lang="en-US" sz="2400" smtClean="0">
                <a:solidFill>
                  <a:srgbClr val="FF0000"/>
                </a:solidFill>
                <a:latin typeface="Times New Roman" pitchFamily="18" charset="0"/>
                <a:cs typeface="Times New Roman" pitchFamily="18" charset="0"/>
              </a:rPr>
              <a:t>and Triggers</a:t>
            </a:r>
            <a:endParaRPr lang="en-US" sz="2400" dirty="0">
              <a:solidFill>
                <a:srgbClr val="FF0000"/>
              </a:solidFill>
              <a:latin typeface="Times New Roman" pitchFamily="18" charset="0"/>
              <a:cs typeface="Times New Roman" pitchFamily="18" charset="0"/>
            </a:endParaRPr>
          </a:p>
          <a:p>
            <a:pPr marL="0" indent="0" algn="just">
              <a:defRPr/>
            </a:pPr>
            <a:r>
              <a:rPr lang="en-US" sz="2400" dirty="0">
                <a:latin typeface="Times New Roman" pitchFamily="18" charset="0"/>
                <a:cs typeface="Times New Roman" pitchFamily="18" charset="0"/>
              </a:rPr>
              <a:t>Some database systems provide capabilities for defining deduction rules for </a:t>
            </a:r>
            <a:r>
              <a:rPr lang="en-US" sz="2400" dirty="0" err="1">
                <a:latin typeface="Times New Roman" pitchFamily="18" charset="0"/>
                <a:cs typeface="Times New Roman" pitchFamily="18" charset="0"/>
              </a:rPr>
              <a:t>inferencing</a:t>
            </a:r>
            <a:r>
              <a:rPr lang="en-US" sz="2400" dirty="0">
                <a:latin typeface="Times New Roman" pitchFamily="18" charset="0"/>
                <a:cs typeface="Times New Roman" pitchFamily="18" charset="0"/>
              </a:rPr>
              <a:t> new information from the stored database facts. Such systems are called </a:t>
            </a:r>
            <a:r>
              <a:rPr lang="en-US" sz="2400" dirty="0">
                <a:solidFill>
                  <a:srgbClr val="FF0000"/>
                </a:solidFill>
                <a:latin typeface="Times New Roman" pitchFamily="18" charset="0"/>
                <a:cs typeface="Times New Roman" pitchFamily="18" charset="0"/>
              </a:rPr>
              <a:t>deductive database systems</a:t>
            </a:r>
          </a:p>
          <a:p>
            <a:pPr marL="0" indent="0" algn="just">
              <a:defRPr/>
            </a:pPr>
            <a:r>
              <a:rPr lang="en-US" sz="2400" dirty="0">
                <a:solidFill>
                  <a:srgbClr val="FF0000"/>
                </a:solidFill>
                <a:latin typeface="Times New Roman" pitchFamily="18" charset="0"/>
                <a:cs typeface="Times New Roman" pitchFamily="18" charset="0"/>
              </a:rPr>
              <a:t>10. Additional Implications of Using the Database Approach</a:t>
            </a:r>
          </a:p>
          <a:p>
            <a:pPr algn="just">
              <a:defRPr/>
            </a:pPr>
            <a:r>
              <a:rPr lang="en-US" sz="2400" dirty="0">
                <a:solidFill>
                  <a:srgbClr val="92D050"/>
                </a:solidFill>
                <a:latin typeface="Times New Roman" pitchFamily="18" charset="0"/>
                <a:cs typeface="Times New Roman" pitchFamily="18" charset="0"/>
              </a:rPr>
              <a:t>Potential for enforcing standards:</a:t>
            </a:r>
          </a:p>
          <a:p>
            <a:pPr lvl="1" algn="just">
              <a:defRPr/>
            </a:pPr>
            <a:r>
              <a:rPr lang="en-US" sz="2400" dirty="0">
                <a:latin typeface="Times New Roman" pitchFamily="18" charset="0"/>
                <a:cs typeface="Times New Roman" pitchFamily="18" charset="0"/>
              </a:rPr>
              <a:t>This is very crucial for the success of database applications in large organizations. </a:t>
            </a:r>
            <a:r>
              <a:rPr lang="en-US" sz="2400" b="1" dirty="0">
                <a:latin typeface="Times New Roman" pitchFamily="18" charset="0"/>
                <a:cs typeface="Times New Roman" pitchFamily="18" charset="0"/>
              </a:rPr>
              <a:t>Standards</a:t>
            </a:r>
            <a:r>
              <a:rPr lang="en-US" sz="2400" dirty="0">
                <a:latin typeface="Times New Roman" pitchFamily="18" charset="0"/>
                <a:cs typeface="Times New Roman" pitchFamily="18" charset="0"/>
              </a:rPr>
              <a:t> refer to data item names, display formats, screens, report structures, meta-data (description of data), Web page layouts, etc.</a:t>
            </a:r>
          </a:p>
          <a:p>
            <a:pPr algn="just">
              <a:defRPr/>
            </a:pPr>
            <a:r>
              <a:rPr lang="en-US" sz="2400" dirty="0">
                <a:solidFill>
                  <a:srgbClr val="92D050"/>
                </a:solidFill>
                <a:latin typeface="Times New Roman" pitchFamily="18" charset="0"/>
                <a:cs typeface="Times New Roman" pitchFamily="18" charset="0"/>
              </a:rPr>
              <a:t>Reduced application development time:</a:t>
            </a:r>
          </a:p>
          <a:p>
            <a:pPr lvl="1" algn="just">
              <a:defRPr/>
            </a:pPr>
            <a:r>
              <a:rPr lang="en-US" sz="2400" dirty="0">
                <a:latin typeface="Times New Roman" pitchFamily="18" charset="0"/>
                <a:cs typeface="Times New Roman" pitchFamily="18" charset="0"/>
              </a:rPr>
              <a:t>Incremental time to add each new application is reduced.</a:t>
            </a:r>
          </a:p>
          <a:p>
            <a:pPr>
              <a:defRPr/>
            </a:pPr>
            <a:r>
              <a:rPr lang="en-US" sz="2400" dirty="0">
                <a:solidFill>
                  <a:srgbClr val="92D050"/>
                </a:solidFill>
                <a:latin typeface="Times New Roman" pitchFamily="18" charset="0"/>
                <a:cs typeface="Times New Roman" pitchFamily="18" charset="0"/>
              </a:rPr>
              <a:t>Flexibility to change data structures:</a:t>
            </a:r>
          </a:p>
          <a:p>
            <a:pPr lvl="1">
              <a:defRPr/>
            </a:pPr>
            <a:r>
              <a:rPr lang="en-US" sz="2400" dirty="0">
                <a:latin typeface="Times New Roman" pitchFamily="18" charset="0"/>
                <a:cs typeface="Times New Roman" pitchFamily="18" charset="0"/>
              </a:rPr>
              <a:t>Database structure may evolve as new requirements are defined</a:t>
            </a:r>
            <a:endParaRPr lang="en-IN" sz="2400" dirty="0">
              <a:solidFill>
                <a:srgbClr val="FF0000"/>
              </a:solidFill>
              <a:latin typeface="Times New Roman" pitchFamily="18" charset="0"/>
              <a:cs typeface="Times New Roman" pitchFamily="18" charset="0"/>
            </a:endParaRPr>
          </a:p>
        </p:txBody>
      </p:sp>
      <p:sp>
        <p:nvSpPr>
          <p:cNvPr id="41989" name="Rectangle 2">
            <a:extLst>
              <a:ext uri="{FF2B5EF4-FFF2-40B4-BE49-F238E27FC236}">
                <a16:creationId xmlns:a16="http://schemas.microsoft.com/office/drawing/2014/main" xmlns="" id="{3358CD5B-A5BE-4838-AFEA-C8D15D846131}"/>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Advantages of Using the Database Approach continued</a:t>
            </a:r>
          </a:p>
        </p:txBody>
      </p:sp>
    </p:spTree>
  </p:cSld>
  <p:clrMapOvr>
    <a:masterClrMapping/>
  </p:clrMapOvr>
  <p:transition spd="slow">
    <p:wip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5">
            <a:extLst>
              <a:ext uri="{FF2B5EF4-FFF2-40B4-BE49-F238E27FC236}">
                <a16:creationId xmlns:a16="http://schemas.microsoft.com/office/drawing/2014/main" xmlns="" id="{0122DA0E-487A-4B92-952A-A58DB366B08B}"/>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43011" name="Picture 1">
            <a:extLst>
              <a:ext uri="{FF2B5EF4-FFF2-40B4-BE49-F238E27FC236}">
                <a16:creationId xmlns:a16="http://schemas.microsoft.com/office/drawing/2014/main" xmlns="" id="{8AF6E21E-4BE1-4317-9E03-5B11F100AD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0" name="Title 3">
            <a:extLst>
              <a:ext uri="{FF2B5EF4-FFF2-40B4-BE49-F238E27FC236}">
                <a16:creationId xmlns:a16="http://schemas.microsoft.com/office/drawing/2014/main" xmlns="" id="{A8A5EEC3-00A0-4C27-83FD-B9561AE28BAC}"/>
              </a:ext>
            </a:extLst>
          </p:cNvPr>
          <p:cNvSpPr txBox="1">
            <a:spLocks/>
          </p:cNvSpPr>
          <p:nvPr/>
        </p:nvSpPr>
        <p:spPr bwMode="auto">
          <a:xfrm>
            <a:off x="463550" y="110013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marL="342900" indent="-342900" algn="just">
              <a:buFont typeface="Arial" pitchFamily="34" charset="0"/>
              <a:buChar char="•"/>
              <a:defRPr/>
            </a:pPr>
            <a:endParaRPr lang="en-US" sz="2400" dirty="0">
              <a:latin typeface="Times New Roman" pitchFamily="18" charset="0"/>
              <a:cs typeface="Times New Roman" pitchFamily="18" charset="0"/>
            </a:endParaRPr>
          </a:p>
          <a:p>
            <a:pPr marL="342900" indent="-342900" algn="just">
              <a:buFont typeface="Arial" pitchFamily="34" charset="0"/>
              <a:buChar char="•"/>
              <a:defRPr/>
            </a:pPr>
            <a:r>
              <a:rPr lang="en-US" sz="2400" dirty="0">
                <a:solidFill>
                  <a:srgbClr val="92D050"/>
                </a:solidFill>
                <a:latin typeface="Times New Roman" pitchFamily="18" charset="0"/>
                <a:cs typeface="Times New Roman" pitchFamily="18" charset="0"/>
              </a:rPr>
              <a:t>Availability of current information:</a:t>
            </a:r>
          </a:p>
          <a:p>
            <a:pPr marL="800100" lvl="1" indent="-342900" algn="just">
              <a:buFont typeface="Arial" pitchFamily="34" charset="0"/>
              <a:buChar char="•"/>
              <a:defRPr/>
            </a:pPr>
            <a:r>
              <a:rPr lang="en-US" sz="2400" dirty="0">
                <a:latin typeface="Times New Roman" pitchFamily="18" charset="0"/>
                <a:cs typeface="Times New Roman" pitchFamily="18" charset="0"/>
              </a:rPr>
              <a:t>Extremely important for on-line transaction systems such as airline, hotel, car reservations.</a:t>
            </a:r>
          </a:p>
          <a:p>
            <a:pPr marL="457200" lvl="1" indent="0" algn="just">
              <a:defRPr/>
            </a:pPr>
            <a:endParaRPr lang="en-US" sz="2400" dirty="0">
              <a:latin typeface="Times New Roman" pitchFamily="18" charset="0"/>
              <a:cs typeface="Times New Roman" pitchFamily="18" charset="0"/>
            </a:endParaRPr>
          </a:p>
          <a:p>
            <a:pPr marL="342900" indent="-342900" algn="just">
              <a:buFont typeface="Arial" pitchFamily="34" charset="0"/>
              <a:buChar char="•"/>
              <a:defRPr/>
            </a:pPr>
            <a:r>
              <a:rPr lang="en-US" sz="2400" dirty="0">
                <a:solidFill>
                  <a:srgbClr val="92D050"/>
                </a:solidFill>
                <a:latin typeface="Times New Roman" pitchFamily="18" charset="0"/>
                <a:cs typeface="Times New Roman" pitchFamily="18" charset="0"/>
              </a:rPr>
              <a:t>Economies of scale:</a:t>
            </a:r>
          </a:p>
          <a:p>
            <a:pPr marL="800100" lvl="1" indent="-342900" algn="just">
              <a:buFont typeface="Arial" pitchFamily="34" charset="0"/>
              <a:buChar char="•"/>
              <a:defRPr/>
            </a:pPr>
            <a:r>
              <a:rPr lang="en-US" sz="2400" dirty="0">
                <a:latin typeface="Times New Roman" pitchFamily="18" charset="0"/>
                <a:cs typeface="Times New Roman" pitchFamily="18" charset="0"/>
              </a:rPr>
              <a:t>Wasteful overlap of resources and personnel can be avoided by consolidating data and applications across departments.</a:t>
            </a:r>
          </a:p>
        </p:txBody>
      </p:sp>
      <p:sp>
        <p:nvSpPr>
          <p:cNvPr id="43013" name="Rectangle 2">
            <a:extLst>
              <a:ext uri="{FF2B5EF4-FFF2-40B4-BE49-F238E27FC236}">
                <a16:creationId xmlns:a16="http://schemas.microsoft.com/office/drawing/2014/main" xmlns="" id="{B5FD9397-1886-42A3-B6E8-47965B40C899}"/>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solidFill>
                  <a:srgbClr val="FF0000"/>
                </a:solidFill>
                <a:latin typeface="Times New Roman" panose="02020603050405020304" pitchFamily="18" charset="0"/>
                <a:cs typeface="Times New Roman" panose="02020603050405020304" pitchFamily="18" charset="0"/>
              </a:rPr>
              <a:t>Additional Implications of Using the Database Approach(continued)</a:t>
            </a:r>
          </a:p>
        </p:txBody>
      </p:sp>
    </p:spTree>
  </p:cSld>
  <p:clrMapOvr>
    <a:masterClrMapping/>
  </p:clrMapOvr>
  <p:transition spd="slow">
    <p:wip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15">
            <a:extLst>
              <a:ext uri="{FF2B5EF4-FFF2-40B4-BE49-F238E27FC236}">
                <a16:creationId xmlns:a16="http://schemas.microsoft.com/office/drawing/2014/main" xmlns="" id="{C5F8837E-6A05-4590-B1B2-2180CF5D9B54}"/>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44035" name="Picture 1">
            <a:extLst>
              <a:ext uri="{FF2B5EF4-FFF2-40B4-BE49-F238E27FC236}">
                <a16:creationId xmlns:a16="http://schemas.microsoft.com/office/drawing/2014/main" xmlns="" id="{ED761180-7D4A-49D8-9131-C43A5F8E43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4036" name="Title 3">
            <a:extLst>
              <a:ext uri="{FF2B5EF4-FFF2-40B4-BE49-F238E27FC236}">
                <a16:creationId xmlns:a16="http://schemas.microsoft.com/office/drawing/2014/main" xmlns="" id="{7353905A-8CB1-4C35-86C1-DFF4CAA6E18E}"/>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44037" name="Rectangle 2">
            <a:extLst>
              <a:ext uri="{FF2B5EF4-FFF2-40B4-BE49-F238E27FC236}">
                <a16:creationId xmlns:a16="http://schemas.microsoft.com/office/drawing/2014/main" xmlns="" id="{3880250C-1A4E-4D64-96AE-A0CBA55ABEB6}"/>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 Brief History of Database Applications</a:t>
            </a:r>
          </a:p>
        </p:txBody>
      </p:sp>
      <p:sp>
        <p:nvSpPr>
          <p:cNvPr id="28678" name="Content Placeholder 13">
            <a:extLst>
              <a:ext uri="{FF2B5EF4-FFF2-40B4-BE49-F238E27FC236}">
                <a16:creationId xmlns:a16="http://schemas.microsoft.com/office/drawing/2014/main" xmlns="" id="{A4AECC05-55FA-44CF-9B64-C2D4FFABDEE5}"/>
              </a:ext>
            </a:extLst>
          </p:cNvPr>
          <p:cNvSpPr txBox="1">
            <a:spLocks/>
          </p:cNvSpPr>
          <p:nvPr/>
        </p:nvSpPr>
        <p:spPr bwMode="auto">
          <a:xfrm>
            <a:off x="457200" y="1019175"/>
            <a:ext cx="11098213" cy="5106988"/>
          </a:xfrm>
          <a:prstGeom prst="rect">
            <a:avLst/>
          </a:prstGeom>
          <a:noFill/>
          <a:ln>
            <a:noFill/>
          </a:ln>
        </p:spPr>
        <p:txBody>
          <a:bodyPr/>
          <a:lstStyle>
            <a:lvl1pPr marL="228600" indent="-228600">
              <a:defRPr>
                <a:solidFill>
                  <a:schemeClr val="tx1"/>
                </a:solidFill>
                <a:latin typeface="Arial" charset="0"/>
                <a:cs typeface="Arial" charset="0"/>
              </a:defRPr>
            </a:lvl1pPr>
            <a:lvl2pPr marL="685800" indent="-228600">
              <a:defRPr>
                <a:solidFill>
                  <a:schemeClr val="tx1"/>
                </a:solidFill>
                <a:latin typeface="Arial" charset="0"/>
                <a:cs typeface="Arial" charset="0"/>
              </a:defRPr>
            </a:lvl2pPr>
            <a:lvl3pPr marL="1143000" indent="-228600">
              <a:defRPr>
                <a:solidFill>
                  <a:schemeClr val="tx1"/>
                </a:solidFill>
                <a:latin typeface="Arial" charset="0"/>
                <a:cs typeface="Arial" charset="0"/>
              </a:defRPr>
            </a:lvl3pPr>
            <a:lvl4pPr marL="1600200" indent="-228600">
              <a:defRPr>
                <a:solidFill>
                  <a:schemeClr val="tx1"/>
                </a:solidFill>
                <a:latin typeface="Arial" charset="0"/>
                <a:cs typeface="Arial" charset="0"/>
              </a:defRPr>
            </a:lvl4pPr>
            <a:lvl5pPr marL="2057400" indent="-22860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algn="just">
              <a:lnSpc>
                <a:spcPct val="90000"/>
              </a:lnSpc>
              <a:spcBef>
                <a:spcPts val="1000"/>
              </a:spcBef>
              <a:buFont typeface="Arial" charset="0"/>
              <a:buChar char="•"/>
              <a:defRPr/>
            </a:pPr>
            <a:r>
              <a:rPr lang="en-US" sz="2400" dirty="0">
                <a:solidFill>
                  <a:srgbClr val="FF0000"/>
                </a:solidFill>
                <a:latin typeface="Times New Roman" pitchFamily="18" charset="0"/>
                <a:cs typeface="Times New Roman" pitchFamily="18" charset="0"/>
              </a:rPr>
              <a:t>Early Database Applications:</a:t>
            </a:r>
          </a:p>
          <a:p>
            <a:pPr lvl="1" algn="just">
              <a:lnSpc>
                <a:spcPct val="90000"/>
              </a:lnSpc>
              <a:spcBef>
                <a:spcPts val="500"/>
              </a:spcBef>
              <a:buFont typeface="Arial" charset="0"/>
              <a:buChar char="•"/>
              <a:defRPr/>
            </a:pPr>
            <a:r>
              <a:rPr lang="en-US" sz="2400" dirty="0">
                <a:latin typeface="Times New Roman" pitchFamily="18" charset="0"/>
                <a:cs typeface="Times New Roman" pitchFamily="18" charset="0"/>
              </a:rPr>
              <a:t>The </a:t>
            </a:r>
            <a:r>
              <a:rPr lang="en-US" sz="2400" dirty="0">
                <a:solidFill>
                  <a:schemeClr val="accent6"/>
                </a:solidFill>
                <a:latin typeface="Times New Roman" pitchFamily="18" charset="0"/>
                <a:cs typeface="Times New Roman" pitchFamily="18" charset="0"/>
              </a:rPr>
              <a:t>Hierarchical</a:t>
            </a:r>
            <a:r>
              <a:rPr lang="en-US" sz="2400" dirty="0">
                <a:latin typeface="Times New Roman" pitchFamily="18" charset="0"/>
                <a:cs typeface="Times New Roman" pitchFamily="18" charset="0"/>
              </a:rPr>
              <a:t> and </a:t>
            </a:r>
            <a:r>
              <a:rPr lang="en-US" sz="2400" dirty="0">
                <a:solidFill>
                  <a:schemeClr val="accent6"/>
                </a:solidFill>
                <a:latin typeface="Times New Roman" pitchFamily="18" charset="0"/>
                <a:cs typeface="Times New Roman" pitchFamily="18" charset="0"/>
              </a:rPr>
              <a:t>Network Models </a:t>
            </a:r>
            <a:r>
              <a:rPr lang="en-US" sz="2400" dirty="0">
                <a:latin typeface="Times New Roman" pitchFamily="18" charset="0"/>
                <a:cs typeface="Times New Roman" pitchFamily="18" charset="0"/>
              </a:rPr>
              <a:t>were introduced in mid 1960s and dominated during the seventies.</a:t>
            </a:r>
          </a:p>
          <a:p>
            <a:pPr lvl="1" algn="just">
              <a:lnSpc>
                <a:spcPct val="90000"/>
              </a:lnSpc>
              <a:spcBef>
                <a:spcPts val="500"/>
              </a:spcBef>
              <a:buFont typeface="Arial" charset="0"/>
              <a:buChar char="•"/>
              <a:defRPr/>
            </a:pPr>
            <a:r>
              <a:rPr lang="en-US" sz="2400" dirty="0">
                <a:latin typeface="Times New Roman" pitchFamily="18" charset="0"/>
                <a:cs typeface="Times New Roman" pitchFamily="18" charset="0"/>
              </a:rPr>
              <a:t>A bulk of the worldwide database processing still occurs using these models.</a:t>
            </a:r>
          </a:p>
          <a:p>
            <a:pPr algn="just">
              <a:lnSpc>
                <a:spcPct val="90000"/>
              </a:lnSpc>
              <a:spcBef>
                <a:spcPts val="1000"/>
              </a:spcBef>
              <a:buFont typeface="Arial" charset="0"/>
              <a:buChar char="•"/>
              <a:defRPr/>
            </a:pPr>
            <a:r>
              <a:rPr lang="en-US" sz="2400" dirty="0">
                <a:solidFill>
                  <a:srgbClr val="FF0000"/>
                </a:solidFill>
                <a:latin typeface="Times New Roman" pitchFamily="18" charset="0"/>
                <a:cs typeface="Times New Roman" pitchFamily="18" charset="0"/>
              </a:rPr>
              <a:t>Relational Model based Systems:</a:t>
            </a:r>
          </a:p>
          <a:p>
            <a:pPr lvl="1" algn="just">
              <a:lnSpc>
                <a:spcPct val="90000"/>
              </a:lnSpc>
              <a:spcBef>
                <a:spcPts val="500"/>
              </a:spcBef>
              <a:buFont typeface="Arial" charset="0"/>
              <a:buChar char="•"/>
              <a:defRPr/>
            </a:pPr>
            <a:r>
              <a:rPr lang="en-US" sz="2400" dirty="0">
                <a:latin typeface="Times New Roman" pitchFamily="18" charset="0"/>
                <a:cs typeface="Times New Roman" pitchFamily="18" charset="0"/>
              </a:rPr>
              <a:t>Relational model was originally introduced in 1970, was heavily researched and experimented with in IBM Research and several universities.</a:t>
            </a:r>
          </a:p>
          <a:p>
            <a:pPr lvl="1" algn="just">
              <a:lnSpc>
                <a:spcPct val="90000"/>
              </a:lnSpc>
              <a:spcBef>
                <a:spcPts val="500"/>
              </a:spcBef>
              <a:buFont typeface="Arial" charset="0"/>
              <a:buChar char="•"/>
              <a:defRPr/>
            </a:pPr>
            <a:r>
              <a:rPr lang="en-US" sz="2400" dirty="0">
                <a:latin typeface="Times New Roman" pitchFamily="18" charset="0"/>
                <a:cs typeface="Times New Roman" pitchFamily="18" charset="0"/>
              </a:rPr>
              <a:t>Relational DBMS Products emerged in the 1980s.</a:t>
            </a:r>
          </a:p>
          <a:p>
            <a:pPr algn="just">
              <a:lnSpc>
                <a:spcPct val="90000"/>
              </a:lnSpc>
              <a:spcBef>
                <a:spcPts val="1000"/>
              </a:spcBef>
              <a:buFont typeface="Arial" charset="0"/>
              <a:buChar char="•"/>
              <a:defRPr/>
            </a:pPr>
            <a:r>
              <a:rPr lang="en-US" sz="2400" dirty="0">
                <a:solidFill>
                  <a:srgbClr val="FF0000"/>
                </a:solidFill>
                <a:latin typeface="Times New Roman" pitchFamily="18" charset="0"/>
                <a:cs typeface="Times New Roman" pitchFamily="18" charset="0"/>
              </a:rPr>
              <a:t>Object-oriented and emerging applications:</a:t>
            </a:r>
          </a:p>
          <a:p>
            <a:pPr lvl="1" algn="just">
              <a:lnSpc>
                <a:spcPct val="90000"/>
              </a:lnSpc>
              <a:spcBef>
                <a:spcPts val="500"/>
              </a:spcBef>
              <a:buFont typeface="Arial" charset="0"/>
              <a:buChar char="•"/>
              <a:defRPr/>
            </a:pPr>
            <a:r>
              <a:rPr lang="en-US" sz="2400" dirty="0">
                <a:latin typeface="Times New Roman" pitchFamily="18" charset="0"/>
                <a:cs typeface="Times New Roman" pitchFamily="18" charset="0"/>
              </a:rPr>
              <a:t>Object-Oriented Database Management Systems (OODBMSs) were introduced in late 1980s and early 1990s to cater to the need of complex data processing in CAD and other applications.</a:t>
            </a:r>
          </a:p>
          <a:p>
            <a:pPr lvl="2" algn="just">
              <a:lnSpc>
                <a:spcPct val="90000"/>
              </a:lnSpc>
              <a:spcBef>
                <a:spcPts val="500"/>
              </a:spcBef>
              <a:buFont typeface="Arial" charset="0"/>
              <a:buChar char="•"/>
              <a:defRPr/>
            </a:pPr>
            <a:r>
              <a:rPr lang="en-US" sz="2400" dirty="0">
                <a:latin typeface="Times New Roman" pitchFamily="18" charset="0"/>
                <a:cs typeface="Times New Roman" pitchFamily="18" charset="0"/>
              </a:rPr>
              <a:t>Their use has not taken off much.</a:t>
            </a:r>
          </a:p>
        </p:txBody>
      </p:sp>
    </p:spTree>
  </p:cSld>
  <p:clrMapOvr>
    <a:masterClrMapping/>
  </p:clrMapOvr>
  <p:transition spd="slow">
    <p:wip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15">
            <a:extLst>
              <a:ext uri="{FF2B5EF4-FFF2-40B4-BE49-F238E27FC236}">
                <a16:creationId xmlns:a16="http://schemas.microsoft.com/office/drawing/2014/main" xmlns="" id="{D8FB3029-5C47-4D8B-BF6B-C1A62BE7BADE}"/>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45059" name="Picture 1">
            <a:extLst>
              <a:ext uri="{FF2B5EF4-FFF2-40B4-BE49-F238E27FC236}">
                <a16:creationId xmlns:a16="http://schemas.microsoft.com/office/drawing/2014/main" xmlns="" id="{2B1B6045-470C-4BBC-A69A-31BA7B61FC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8" name="Title 3">
            <a:extLst>
              <a:ext uri="{FF2B5EF4-FFF2-40B4-BE49-F238E27FC236}">
                <a16:creationId xmlns:a16="http://schemas.microsoft.com/office/drawing/2014/main" xmlns="" id="{92038721-73F4-4E10-8252-85B8BAE04815}"/>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lvl="1" algn="just">
              <a:defRPr/>
            </a:pPr>
            <a:r>
              <a:rPr lang="en-US" dirty="0">
                <a:latin typeface="Times New Roman" pitchFamily="18" charset="0"/>
                <a:cs typeface="Times New Roman" pitchFamily="18" charset="0"/>
              </a:rPr>
              <a:t>- </a:t>
            </a:r>
            <a:r>
              <a:rPr lang="en-US" sz="2400" dirty="0">
                <a:latin typeface="Times New Roman" pitchFamily="18" charset="0"/>
                <a:cs typeface="Times New Roman" pitchFamily="18" charset="0"/>
              </a:rPr>
              <a:t>Many relational DBMSs have incorporated object database concepts, leading to a new category called </a:t>
            </a:r>
            <a:r>
              <a:rPr lang="en-US" sz="2400" i="1" dirty="0">
                <a:latin typeface="Times New Roman" pitchFamily="18" charset="0"/>
                <a:cs typeface="Times New Roman" pitchFamily="18" charset="0"/>
              </a:rPr>
              <a:t>object-relationa</a:t>
            </a:r>
            <a:r>
              <a:rPr lang="en-US" sz="2400" dirty="0">
                <a:latin typeface="Times New Roman" pitchFamily="18" charset="0"/>
                <a:cs typeface="Times New Roman" pitchFamily="18" charset="0"/>
              </a:rPr>
              <a:t>l DBMSs (ORDBMSs)</a:t>
            </a:r>
          </a:p>
          <a:p>
            <a:pPr marL="800100" lvl="1" indent="-342900" algn="just">
              <a:buFontTx/>
              <a:buChar char="-"/>
              <a:defRPr/>
            </a:pPr>
            <a:r>
              <a:rPr lang="en-US" sz="2400" i="1" dirty="0">
                <a:latin typeface="Times New Roman" pitchFamily="18" charset="0"/>
                <a:cs typeface="Times New Roman" pitchFamily="18" charset="0"/>
              </a:rPr>
              <a:t>Extended relational</a:t>
            </a:r>
            <a:r>
              <a:rPr lang="en-US" sz="2400" dirty="0">
                <a:latin typeface="Times New Roman" pitchFamily="18" charset="0"/>
                <a:cs typeface="Times New Roman" pitchFamily="18" charset="0"/>
              </a:rPr>
              <a:t> systems add further capabilities (e.g. for multimedia data, XML, and other data types)</a:t>
            </a:r>
          </a:p>
          <a:p>
            <a:pPr marL="800100" lvl="1" indent="-342900" algn="just">
              <a:buFontTx/>
              <a:buChar char="-"/>
              <a:defRPr/>
            </a:pPr>
            <a:endParaRPr lang="en-US" sz="2400" dirty="0">
              <a:latin typeface="Times New Roman" pitchFamily="18" charset="0"/>
              <a:cs typeface="Times New Roman" pitchFamily="18" charset="0"/>
            </a:endParaRPr>
          </a:p>
          <a:p>
            <a:pPr marL="342900" indent="-342900" algn="just">
              <a:buFont typeface="Arial" pitchFamily="34" charset="0"/>
              <a:buChar char="•"/>
              <a:defRPr/>
            </a:pPr>
            <a:r>
              <a:rPr lang="en-US" sz="2400" dirty="0">
                <a:solidFill>
                  <a:srgbClr val="FF0000"/>
                </a:solidFill>
                <a:latin typeface="Times New Roman" pitchFamily="18" charset="0"/>
                <a:cs typeface="Times New Roman" pitchFamily="18" charset="0"/>
              </a:rPr>
              <a:t>Data on the Web and E-commerce Applications:</a:t>
            </a:r>
          </a:p>
          <a:p>
            <a:pPr lvl="1" algn="just">
              <a:defRPr/>
            </a:pPr>
            <a:r>
              <a:rPr lang="en-US" sz="2400" dirty="0">
                <a:latin typeface="Times New Roman" pitchFamily="18" charset="0"/>
                <a:cs typeface="Times New Roman" pitchFamily="18" charset="0"/>
              </a:rPr>
              <a:t>- Web contains data in HTML (Hypertext markup language) with links among pages.</a:t>
            </a:r>
          </a:p>
          <a:p>
            <a:pPr lvl="1" algn="just">
              <a:defRPr/>
            </a:pPr>
            <a:r>
              <a:rPr lang="en-US" sz="2400" dirty="0">
                <a:latin typeface="Times New Roman" pitchFamily="18" charset="0"/>
                <a:cs typeface="Times New Roman" pitchFamily="18" charset="0"/>
              </a:rPr>
              <a:t>- This has given rise to a new set of applications and E-commerce is using new standards like XML (</a:t>
            </a:r>
            <a:r>
              <a:rPr lang="en-US" sz="2400" dirty="0" err="1">
                <a:latin typeface="Times New Roman" pitchFamily="18" charset="0"/>
                <a:cs typeface="Times New Roman" pitchFamily="18" charset="0"/>
              </a:rPr>
              <a:t>eXtended</a:t>
            </a:r>
            <a:r>
              <a:rPr lang="en-US" sz="2400" dirty="0">
                <a:latin typeface="Times New Roman" pitchFamily="18" charset="0"/>
                <a:cs typeface="Times New Roman" pitchFamily="18" charset="0"/>
              </a:rPr>
              <a:t>  Markup Language).</a:t>
            </a:r>
          </a:p>
          <a:p>
            <a:pPr lvl="1" algn="just">
              <a:defRPr/>
            </a:pPr>
            <a:r>
              <a:rPr lang="en-US" sz="2400" dirty="0">
                <a:latin typeface="Times New Roman" pitchFamily="18" charset="0"/>
                <a:cs typeface="Times New Roman" pitchFamily="18" charset="0"/>
              </a:rPr>
              <a:t>- Script programming languages such as PHP and JavaScript allow generation of dynamic Web pages that are partially generated from a database</a:t>
            </a:r>
          </a:p>
          <a:p>
            <a:pPr marL="1257300" lvl="2" indent="-342900" algn="just">
              <a:buFont typeface="Arial" pitchFamily="34" charset="0"/>
              <a:buChar char="•"/>
              <a:defRPr/>
            </a:pPr>
            <a:r>
              <a:rPr lang="en-US" sz="2400" dirty="0">
                <a:latin typeface="Times New Roman" pitchFamily="18" charset="0"/>
                <a:cs typeface="Times New Roman" pitchFamily="18" charset="0"/>
              </a:rPr>
              <a:t>Also allow database updates through Web pages</a:t>
            </a:r>
          </a:p>
          <a:p>
            <a:pPr marL="342900" indent="-342900" algn="just">
              <a:buFont typeface="Arial" pitchFamily="34" charset="0"/>
              <a:buChar char="•"/>
              <a:defRPr/>
            </a:pPr>
            <a:endParaRPr lang="en-IN" sz="2400" dirty="0">
              <a:latin typeface="Times New Roman" pitchFamily="18" charset="0"/>
              <a:cs typeface="Times New Roman" pitchFamily="18" charset="0"/>
            </a:endParaRPr>
          </a:p>
        </p:txBody>
      </p:sp>
      <p:sp>
        <p:nvSpPr>
          <p:cNvPr id="45061" name="Rectangle 2">
            <a:extLst>
              <a:ext uri="{FF2B5EF4-FFF2-40B4-BE49-F238E27FC236}">
                <a16:creationId xmlns:a16="http://schemas.microsoft.com/office/drawing/2014/main" xmlns="" id="{DDC88D36-B40E-4005-93C0-C3BDF26DC8F0}"/>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 Brief History of Database Applications(continued)</a:t>
            </a:r>
          </a:p>
        </p:txBody>
      </p:sp>
    </p:spTree>
  </p:cSld>
  <p:clrMapOvr>
    <a:masterClrMapping/>
  </p:clrMapOvr>
  <p:transition spd="slow">
    <p:wip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15">
            <a:extLst>
              <a:ext uri="{FF2B5EF4-FFF2-40B4-BE49-F238E27FC236}">
                <a16:creationId xmlns:a16="http://schemas.microsoft.com/office/drawing/2014/main" xmlns="" id="{4C0806C4-E94D-4D32-A601-886D20A8AEF7}"/>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46083" name="Picture 1">
            <a:extLst>
              <a:ext uri="{FF2B5EF4-FFF2-40B4-BE49-F238E27FC236}">
                <a16:creationId xmlns:a16="http://schemas.microsoft.com/office/drawing/2014/main" xmlns="" id="{D63B6967-3EA8-4E65-801F-322CAFF1A8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4" name="Title 3">
            <a:extLst>
              <a:ext uri="{FF2B5EF4-FFF2-40B4-BE49-F238E27FC236}">
                <a16:creationId xmlns:a16="http://schemas.microsoft.com/office/drawing/2014/main" xmlns="" id="{505CF188-CF07-4FF4-9375-2032EAD1FA71}"/>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a:spcBef>
                <a:spcPct val="0"/>
              </a:spcBef>
            </a:pPr>
            <a:endParaRPr lang="en-US" altLang="en-US" sz="2400">
              <a:latin typeface="Times New Roman" panose="02020603050405020304" pitchFamily="18" charset="0"/>
              <a:cs typeface="Times New Roman" panose="02020603050405020304" pitchFamily="18" charset="0"/>
            </a:endParaRPr>
          </a:p>
          <a:p>
            <a:pPr algn="just">
              <a:spcBef>
                <a:spcPct val="0"/>
              </a:spcBef>
            </a:pPr>
            <a:r>
              <a:rPr lang="en-US" altLang="en-US" sz="2400">
                <a:latin typeface="Times New Roman" panose="02020603050405020304" pitchFamily="18" charset="0"/>
                <a:cs typeface="Times New Roman" panose="02020603050405020304" pitchFamily="18" charset="0"/>
              </a:rPr>
              <a:t>New functionality is being added to DBMSs in the following areas:</a:t>
            </a:r>
          </a:p>
          <a:p>
            <a:pPr lvl="1" algn="just">
              <a:spcBef>
                <a:spcPct val="0"/>
              </a:spcBef>
              <a:buFontTx/>
              <a:buNone/>
            </a:pPr>
            <a:r>
              <a:rPr lang="en-US" altLang="en-US">
                <a:latin typeface="Times New Roman" panose="02020603050405020304" pitchFamily="18" charset="0"/>
                <a:cs typeface="Times New Roman" panose="02020603050405020304" pitchFamily="18" charset="0"/>
              </a:rPr>
              <a:t>- Scientific Applications</a:t>
            </a:r>
          </a:p>
          <a:p>
            <a:pPr lvl="1" algn="just">
              <a:spcBef>
                <a:spcPct val="0"/>
              </a:spcBef>
              <a:buFontTx/>
              <a:buNone/>
            </a:pPr>
            <a:r>
              <a:rPr lang="en-US" altLang="en-US">
                <a:latin typeface="Times New Roman" panose="02020603050405020304" pitchFamily="18" charset="0"/>
                <a:cs typeface="Times New Roman" panose="02020603050405020304" pitchFamily="18" charset="0"/>
              </a:rPr>
              <a:t>- XML (eXtensible Markup Language)</a:t>
            </a:r>
          </a:p>
          <a:p>
            <a:pPr lvl="1" algn="just">
              <a:spcBef>
                <a:spcPct val="0"/>
              </a:spcBef>
              <a:buFontTx/>
              <a:buNone/>
            </a:pPr>
            <a:r>
              <a:rPr lang="en-US" altLang="en-US">
                <a:latin typeface="Times New Roman" panose="02020603050405020304" pitchFamily="18" charset="0"/>
                <a:cs typeface="Times New Roman" panose="02020603050405020304" pitchFamily="18" charset="0"/>
              </a:rPr>
              <a:t>- Image Storage and Management</a:t>
            </a:r>
          </a:p>
          <a:p>
            <a:pPr lvl="1" algn="just">
              <a:spcBef>
                <a:spcPct val="0"/>
              </a:spcBef>
              <a:buFontTx/>
              <a:buNone/>
            </a:pPr>
            <a:r>
              <a:rPr lang="en-US" altLang="en-US">
                <a:latin typeface="Times New Roman" panose="02020603050405020304" pitchFamily="18" charset="0"/>
                <a:cs typeface="Times New Roman" panose="02020603050405020304" pitchFamily="18" charset="0"/>
              </a:rPr>
              <a:t>- Audio and Video data management</a:t>
            </a:r>
          </a:p>
          <a:p>
            <a:pPr lvl="1" algn="just">
              <a:spcBef>
                <a:spcPct val="0"/>
              </a:spcBef>
              <a:buFontTx/>
              <a:buNone/>
            </a:pPr>
            <a:r>
              <a:rPr lang="en-US" altLang="en-US">
                <a:latin typeface="Times New Roman" panose="02020603050405020304" pitchFamily="18" charset="0"/>
                <a:cs typeface="Times New Roman" panose="02020603050405020304" pitchFamily="18" charset="0"/>
              </a:rPr>
              <a:t>- Data Warehousing and Data Mining</a:t>
            </a:r>
          </a:p>
          <a:p>
            <a:pPr lvl="1" algn="just">
              <a:spcBef>
                <a:spcPct val="0"/>
              </a:spcBef>
              <a:buFontTx/>
              <a:buNone/>
            </a:pPr>
            <a:r>
              <a:rPr lang="en-US" altLang="en-US">
                <a:latin typeface="Times New Roman" panose="02020603050405020304" pitchFamily="18" charset="0"/>
                <a:cs typeface="Times New Roman" panose="02020603050405020304" pitchFamily="18" charset="0"/>
              </a:rPr>
              <a:t>- Spatial data management</a:t>
            </a:r>
          </a:p>
          <a:p>
            <a:pPr lvl="1" algn="just">
              <a:spcBef>
                <a:spcPct val="0"/>
              </a:spcBef>
              <a:buFontTx/>
              <a:buNone/>
            </a:pPr>
            <a:r>
              <a:rPr lang="en-US" altLang="en-US">
                <a:latin typeface="Times New Roman" panose="02020603050405020304" pitchFamily="18" charset="0"/>
                <a:cs typeface="Times New Roman" panose="02020603050405020304" pitchFamily="18" charset="0"/>
              </a:rPr>
              <a:t>- Time Series and Historical Data Management</a:t>
            </a:r>
          </a:p>
        </p:txBody>
      </p:sp>
      <p:sp>
        <p:nvSpPr>
          <p:cNvPr id="46085" name="Rectangle 2">
            <a:extLst>
              <a:ext uri="{FF2B5EF4-FFF2-40B4-BE49-F238E27FC236}">
                <a16:creationId xmlns:a16="http://schemas.microsoft.com/office/drawing/2014/main" xmlns="" id="{FFD96E53-2547-4208-B7EA-E4A71B43AEF3}"/>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 Brief History of Database Applications(continued)</a:t>
            </a:r>
          </a:p>
        </p:txBody>
      </p:sp>
    </p:spTree>
  </p:cSld>
  <p:clrMapOvr>
    <a:masterClrMapping/>
  </p:clrMapOvr>
  <p:transition spd="slow">
    <p:wip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15">
            <a:extLst>
              <a:ext uri="{FF2B5EF4-FFF2-40B4-BE49-F238E27FC236}">
                <a16:creationId xmlns:a16="http://schemas.microsoft.com/office/drawing/2014/main" xmlns="" id="{24038AE2-604E-49BA-8755-E9AC9165D5F2}"/>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47107" name="Picture 1">
            <a:extLst>
              <a:ext uri="{FF2B5EF4-FFF2-40B4-BE49-F238E27FC236}">
                <a16:creationId xmlns:a16="http://schemas.microsoft.com/office/drawing/2014/main" xmlns="" id="{41779D2B-F3E0-41B8-9E97-81ED55C01D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B7B1A7BE-525F-4945-87B2-A50B44A4B5D2}"/>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defRPr/>
            </a:pPr>
            <a:r>
              <a:rPr lang="en-US" sz="2400" dirty="0">
                <a:latin typeface="Times New Roman" pitchFamily="18" charset="0"/>
                <a:cs typeface="Times New Roman" pitchFamily="18" charset="0"/>
              </a:rPr>
              <a:t>4. Before use of DBMS information was stored using ------------</a:t>
            </a:r>
            <a:endParaRPr lang="en-IN" sz="2400" dirty="0">
              <a:latin typeface="Times New Roman" pitchFamily="18" charset="0"/>
              <a:cs typeface="Times New Roman" pitchFamily="18" charset="0"/>
            </a:endParaRP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File Management System   b)Cloud system</a:t>
            </a:r>
            <a:r>
              <a:rPr lang="en-IN" sz="2400" dirty="0">
                <a:solidFill>
                  <a:srgbClr val="FF0000"/>
                </a:solidFill>
                <a:latin typeface="Times New Roman" pitchFamily="18" charset="0"/>
                <a:cs typeface="Times New Roman" pitchFamily="18" charset="0"/>
              </a:rPr>
              <a:t>   c)</a:t>
            </a:r>
            <a:r>
              <a:rPr lang="en-US" sz="2400" dirty="0">
                <a:solidFill>
                  <a:srgbClr val="FF0000"/>
                </a:solidFill>
                <a:latin typeface="Times New Roman" pitchFamily="18" charset="0"/>
                <a:cs typeface="Times New Roman" pitchFamily="18" charset="0"/>
              </a:rPr>
              <a:t>Data system</a:t>
            </a:r>
            <a:r>
              <a:rPr lang="en-IN" sz="2400" dirty="0">
                <a:solidFill>
                  <a:srgbClr val="FF0000"/>
                </a:solidFill>
                <a:latin typeface="Times New Roman" pitchFamily="18" charset="0"/>
                <a:cs typeface="Times New Roman" pitchFamily="18" charset="0"/>
              </a:rPr>
              <a:t>  d)</a:t>
            </a:r>
            <a:r>
              <a:rPr lang="en-US" sz="2400" dirty="0">
                <a:solidFill>
                  <a:srgbClr val="FF0000"/>
                </a:solidFill>
                <a:latin typeface="Times New Roman" pitchFamily="18" charset="0"/>
                <a:cs typeface="Times New Roman" pitchFamily="18" charset="0"/>
              </a:rPr>
              <a:t>All of These</a:t>
            </a:r>
          </a:p>
          <a:p>
            <a:pPr>
              <a:defRPr/>
            </a:pPr>
            <a:r>
              <a:rPr lang="en-US" sz="2400" dirty="0" err="1">
                <a:latin typeface="Times New Roman" pitchFamily="18" charset="0"/>
                <a:cs typeface="Times New Roman" pitchFamily="18" charset="0"/>
              </a:rPr>
              <a:t>Ans</a:t>
            </a:r>
            <a:r>
              <a:rPr lang="en-US" sz="2400" dirty="0">
                <a:latin typeface="Times New Roman" pitchFamily="18" charset="0"/>
                <a:cs typeface="Times New Roman" pitchFamily="18" charset="0"/>
              </a:rPr>
              <a:t>: </a:t>
            </a:r>
            <a:r>
              <a:rPr lang="en-US" sz="2400" dirty="0">
                <a:solidFill>
                  <a:schemeClr val="accent6"/>
                </a:solidFill>
                <a:latin typeface="Times New Roman" pitchFamily="18" charset="0"/>
                <a:cs typeface="Times New Roman" pitchFamily="18" charset="0"/>
              </a:rPr>
              <a:t>File Management System </a:t>
            </a:r>
          </a:p>
          <a:p>
            <a:pPr>
              <a:defRPr/>
            </a:pPr>
            <a:endParaRPr lang="en-US" sz="2400" dirty="0">
              <a:latin typeface="Times New Roman" pitchFamily="18" charset="0"/>
              <a:cs typeface="Times New Roman" pitchFamily="18" charset="0"/>
            </a:endParaRPr>
          </a:p>
          <a:p>
            <a:pPr>
              <a:defRPr/>
            </a:pPr>
            <a:r>
              <a:rPr lang="en-US" sz="2400" dirty="0">
                <a:latin typeface="Times New Roman" pitchFamily="18" charset="0"/>
                <a:cs typeface="Times New Roman" pitchFamily="18" charset="0"/>
              </a:rPr>
              <a:t>5. </a:t>
            </a:r>
            <a:r>
              <a:rPr lang="en-IN" sz="2400" dirty="0">
                <a:latin typeface="Times New Roman" pitchFamily="18" charset="0"/>
                <a:cs typeface="Times New Roman" pitchFamily="18" charset="0"/>
              </a:rPr>
              <a:t>An advantage of the database management approach is</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data is dependent on programs                                           b)data redundancy increases</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 data is integrated and can be accessed by multiple programs     d)none of the above</a:t>
            </a:r>
          </a:p>
          <a:p>
            <a:pPr>
              <a:defRPr/>
            </a:pPr>
            <a:r>
              <a:rPr lang="en-IN" sz="2400" dirty="0" err="1">
                <a:latin typeface="Times New Roman" pitchFamily="18" charset="0"/>
                <a:cs typeface="Times New Roman" pitchFamily="18" charset="0"/>
              </a:rPr>
              <a:t>Ans</a:t>
            </a:r>
            <a:r>
              <a:rPr lang="en-IN" sz="2400" dirty="0">
                <a:latin typeface="Times New Roman" pitchFamily="18" charset="0"/>
                <a:cs typeface="Times New Roman" pitchFamily="18" charset="0"/>
              </a:rPr>
              <a:t>: </a:t>
            </a:r>
            <a:r>
              <a:rPr lang="en-IN" sz="2400" dirty="0">
                <a:solidFill>
                  <a:schemeClr val="accent6"/>
                </a:solidFill>
                <a:latin typeface="Times New Roman" pitchFamily="18" charset="0"/>
                <a:cs typeface="Times New Roman" pitchFamily="18" charset="0"/>
              </a:rPr>
              <a:t>data is integrated and can be accessed by multiple programs</a:t>
            </a:r>
          </a:p>
          <a:p>
            <a:pPr>
              <a:defRPr/>
            </a:pPr>
            <a:endParaRPr lang="en-IN" sz="2400" dirty="0">
              <a:solidFill>
                <a:schemeClr val="accent6"/>
              </a:solidFill>
              <a:latin typeface="Times New Roman" pitchFamily="18" charset="0"/>
              <a:cs typeface="Times New Roman" pitchFamily="18" charset="0"/>
            </a:endParaRPr>
          </a:p>
          <a:p>
            <a:pPr>
              <a:defRPr/>
            </a:pPr>
            <a:r>
              <a:rPr lang="en-US" sz="2400" dirty="0">
                <a:latin typeface="Times New Roman" pitchFamily="18" charset="0"/>
                <a:cs typeface="Times New Roman" pitchFamily="18" charset="0"/>
              </a:rPr>
              <a:t>6. The characteristic that allows program-data independence and program-operation independence is called -----------------</a:t>
            </a:r>
          </a:p>
          <a:p>
            <a:pPr>
              <a:defRPr/>
            </a:pPr>
            <a:r>
              <a:rPr lang="en-US" sz="2400" dirty="0">
                <a:latin typeface="Times New Roman" pitchFamily="18" charset="0"/>
                <a:cs typeface="Times New Roman" pitchFamily="18" charset="0"/>
              </a:rPr>
              <a:t>a) </a:t>
            </a:r>
            <a:r>
              <a:rPr lang="en-US" sz="2400" dirty="0">
                <a:solidFill>
                  <a:srgbClr val="FF0000"/>
                </a:solidFill>
                <a:latin typeface="Times New Roman" pitchFamily="18" charset="0"/>
                <a:cs typeface="Times New Roman" pitchFamily="18" charset="0"/>
              </a:rPr>
              <a:t>Data manipulation                            b) Data Abstraction    </a:t>
            </a:r>
          </a:p>
          <a:p>
            <a:pPr>
              <a:defRPr/>
            </a:pPr>
            <a:r>
              <a:rPr lang="en-US" sz="2400" dirty="0">
                <a:solidFill>
                  <a:srgbClr val="FF0000"/>
                </a:solidFill>
                <a:latin typeface="Times New Roman" pitchFamily="18" charset="0"/>
                <a:cs typeface="Times New Roman" pitchFamily="18" charset="0"/>
              </a:rPr>
              <a:t>c) Database System                               d) Database Management system</a:t>
            </a:r>
          </a:p>
          <a:p>
            <a:pPr>
              <a:defRPr/>
            </a:pPr>
            <a:r>
              <a:rPr lang="en-US" sz="2400" dirty="0">
                <a:latin typeface="Times New Roman" pitchFamily="18" charset="0"/>
                <a:cs typeface="Times New Roman" pitchFamily="18" charset="0"/>
              </a:rPr>
              <a:t>                         </a:t>
            </a:r>
            <a:r>
              <a:rPr lang="en-US" sz="2400" dirty="0" err="1">
                <a:solidFill>
                  <a:srgbClr val="00B050"/>
                </a:solidFill>
                <a:latin typeface="Times New Roman" pitchFamily="18" charset="0"/>
                <a:cs typeface="Times New Roman" pitchFamily="18" charset="0"/>
              </a:rPr>
              <a:t>Ans</a:t>
            </a:r>
            <a:r>
              <a:rPr lang="en-US" sz="2400" dirty="0">
                <a:solidFill>
                  <a:srgbClr val="00B050"/>
                </a:solidFill>
                <a:latin typeface="Times New Roman" pitchFamily="18" charset="0"/>
                <a:cs typeface="Times New Roman" pitchFamily="18" charset="0"/>
              </a:rPr>
              <a:t>: b) Data Abstraction </a:t>
            </a:r>
          </a:p>
          <a:p>
            <a:pPr>
              <a:defRPr/>
            </a:pPr>
            <a:endParaRPr lang="en-IN" sz="2400" dirty="0">
              <a:solidFill>
                <a:schemeClr val="accent6"/>
              </a:solidFill>
              <a:latin typeface="Times New Roman" pitchFamily="18" charset="0"/>
              <a:cs typeface="Times New Roman" pitchFamily="18" charset="0"/>
            </a:endParaRPr>
          </a:p>
          <a:p>
            <a:pPr>
              <a:defRPr/>
            </a:pPr>
            <a:endParaRPr lang="en-IN" sz="2400" dirty="0">
              <a:latin typeface="Times New Roman" pitchFamily="18" charset="0"/>
              <a:cs typeface="Times New Roman" pitchFamily="18" charset="0"/>
            </a:endParaRPr>
          </a:p>
        </p:txBody>
      </p:sp>
      <p:sp>
        <p:nvSpPr>
          <p:cNvPr id="47109" name="Rectangle 2">
            <a:extLst>
              <a:ext uri="{FF2B5EF4-FFF2-40B4-BE49-F238E27FC236}">
                <a16:creationId xmlns:a16="http://schemas.microsoft.com/office/drawing/2014/main" xmlns="" id="{AEB0C1B0-AACE-4C79-B094-50F6CE052C29}"/>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3428">
                                            <p:txEl>
                                              <p:pRg st="1" end="1"/>
                                            </p:txEl>
                                          </p:spTgt>
                                        </p:tgtEl>
                                        <p:attrNameLst>
                                          <p:attrName>style.visibility</p:attrName>
                                        </p:attrNameLst>
                                      </p:cBhvr>
                                      <p:to>
                                        <p:strVal val="visible"/>
                                      </p:to>
                                    </p:set>
                                    <p:anim calcmode="lin" valueType="num">
                                      <p:cBhvr additive="base">
                                        <p:cTn id="13" dur="5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3428">
                                            <p:txEl>
                                              <p:pRg st="2" end="2"/>
                                            </p:txEl>
                                          </p:spTgt>
                                        </p:tgtEl>
                                        <p:attrNameLst>
                                          <p:attrName>style.visibility</p:attrName>
                                        </p:attrNameLst>
                                      </p:cBhvr>
                                      <p:to>
                                        <p:strVal val="visible"/>
                                      </p:to>
                                    </p:set>
                                    <p:anim calcmode="lin" valueType="num">
                                      <p:cBhvr additive="base">
                                        <p:cTn id="19" dur="500" fill="hold"/>
                                        <p:tgtEl>
                                          <p:spTgt spid="10342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4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3428">
                                            <p:txEl>
                                              <p:pRg st="4" end="4"/>
                                            </p:txEl>
                                          </p:spTgt>
                                        </p:tgtEl>
                                        <p:attrNameLst>
                                          <p:attrName>style.visibility</p:attrName>
                                        </p:attrNameLst>
                                      </p:cBhvr>
                                      <p:to>
                                        <p:strVal val="visible"/>
                                      </p:to>
                                    </p:set>
                                    <p:anim calcmode="lin" valueType="num">
                                      <p:cBhvr additive="base">
                                        <p:cTn id="25" dur="500" fill="hold"/>
                                        <p:tgtEl>
                                          <p:spTgt spid="10342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42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103428">
                                            <p:txEl>
                                              <p:pRg st="5" end="5"/>
                                            </p:txEl>
                                          </p:spTgt>
                                        </p:tgtEl>
                                        <p:attrNameLst>
                                          <p:attrName>style.visibility</p:attrName>
                                        </p:attrNameLst>
                                      </p:cBhvr>
                                      <p:to>
                                        <p:strVal val="visible"/>
                                      </p:to>
                                    </p:set>
                                    <p:animEffect transition="in" filter="fade">
                                      <p:cBhvr>
                                        <p:cTn id="31" dur="1000"/>
                                        <p:tgtEl>
                                          <p:spTgt spid="103428">
                                            <p:txEl>
                                              <p:pRg st="5" end="5"/>
                                            </p:txEl>
                                          </p:spTgt>
                                        </p:tgtEl>
                                      </p:cBhvr>
                                    </p:animEffect>
                                    <p:anim calcmode="lin" valueType="num">
                                      <p:cBhvr>
                                        <p:cTn id="32" dur="1000" fill="hold"/>
                                        <p:tgtEl>
                                          <p:spTgt spid="103428">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103428">
                                            <p:txEl>
                                              <p:pRg st="5" end="5"/>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03428">
                                            <p:txEl>
                                              <p:pRg st="6" end="6"/>
                                            </p:txEl>
                                          </p:spTgt>
                                        </p:tgtEl>
                                        <p:attrNameLst>
                                          <p:attrName>style.visibility</p:attrName>
                                        </p:attrNameLst>
                                      </p:cBhvr>
                                      <p:to>
                                        <p:strVal val="visible"/>
                                      </p:to>
                                    </p:set>
                                    <p:animEffect transition="in" filter="fade">
                                      <p:cBhvr>
                                        <p:cTn id="36" dur="1000"/>
                                        <p:tgtEl>
                                          <p:spTgt spid="103428">
                                            <p:txEl>
                                              <p:pRg st="6" end="6"/>
                                            </p:txEl>
                                          </p:spTgt>
                                        </p:tgtEl>
                                      </p:cBhvr>
                                    </p:animEffect>
                                    <p:anim calcmode="lin" valueType="num">
                                      <p:cBhvr>
                                        <p:cTn id="37" dur="1000" fill="hold"/>
                                        <p:tgtEl>
                                          <p:spTgt spid="103428">
                                            <p:txEl>
                                              <p:pRg st="6" end="6"/>
                                            </p:txEl>
                                          </p:spTgt>
                                        </p:tgtEl>
                                        <p:attrNameLst>
                                          <p:attrName>ppt_x</p:attrName>
                                        </p:attrNameLst>
                                      </p:cBhvr>
                                      <p:tavLst>
                                        <p:tav tm="0">
                                          <p:val>
                                            <p:strVal val="#ppt_x"/>
                                          </p:val>
                                        </p:tav>
                                        <p:tav tm="100000">
                                          <p:val>
                                            <p:strVal val="#ppt_x"/>
                                          </p:val>
                                        </p:tav>
                                      </p:tavLst>
                                    </p:anim>
                                    <p:anim calcmode="lin" valueType="num">
                                      <p:cBhvr>
                                        <p:cTn id="38" dur="1000" fill="hold"/>
                                        <p:tgtEl>
                                          <p:spTgt spid="103428">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03428">
                                            <p:txEl>
                                              <p:pRg st="7" end="7"/>
                                            </p:txEl>
                                          </p:spTgt>
                                        </p:tgtEl>
                                        <p:attrNameLst>
                                          <p:attrName>style.visibility</p:attrName>
                                        </p:attrNameLst>
                                      </p:cBhvr>
                                      <p:to>
                                        <p:strVal val="visible"/>
                                      </p:to>
                                    </p:set>
                                    <p:anim calcmode="lin" valueType="num">
                                      <p:cBhvr additive="base">
                                        <p:cTn id="43" dur="500" fill="hold"/>
                                        <p:tgtEl>
                                          <p:spTgt spid="103428">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342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103428">
                                            <p:txEl>
                                              <p:pRg st="9" end="9"/>
                                            </p:txEl>
                                          </p:spTgt>
                                        </p:tgtEl>
                                        <p:attrNameLst>
                                          <p:attrName>style.visibility</p:attrName>
                                        </p:attrNameLst>
                                      </p:cBhvr>
                                      <p:to>
                                        <p:strVal val="visible"/>
                                      </p:to>
                                    </p:set>
                                    <p:anim calcmode="lin" valueType="num">
                                      <p:cBhvr additive="base">
                                        <p:cTn id="49" dur="500" fill="hold"/>
                                        <p:tgtEl>
                                          <p:spTgt spid="103428">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342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103428">
                                            <p:txEl>
                                              <p:pRg st="10" end="10"/>
                                            </p:txEl>
                                          </p:spTgt>
                                        </p:tgtEl>
                                        <p:attrNameLst>
                                          <p:attrName>style.visibility</p:attrName>
                                        </p:attrNameLst>
                                      </p:cBhvr>
                                      <p:to>
                                        <p:strVal val="visible"/>
                                      </p:to>
                                    </p:set>
                                    <p:anim calcmode="lin" valueType="num">
                                      <p:cBhvr additive="base">
                                        <p:cTn id="55" dur="500" fill="hold"/>
                                        <p:tgtEl>
                                          <p:spTgt spid="103428">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342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103428">
                                            <p:txEl>
                                              <p:pRg st="11" end="11"/>
                                            </p:txEl>
                                          </p:spTgt>
                                        </p:tgtEl>
                                        <p:attrNameLst>
                                          <p:attrName>style.visibility</p:attrName>
                                        </p:attrNameLst>
                                      </p:cBhvr>
                                      <p:to>
                                        <p:strVal val="visible"/>
                                      </p:to>
                                    </p:set>
                                    <p:anim calcmode="lin" valueType="num">
                                      <p:cBhvr additive="base">
                                        <p:cTn id="61" dur="500" fill="hold"/>
                                        <p:tgtEl>
                                          <p:spTgt spid="103428">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03428">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103428">
                                            <p:txEl>
                                              <p:pRg st="12" end="12"/>
                                            </p:txEl>
                                          </p:spTgt>
                                        </p:tgtEl>
                                        <p:attrNameLst>
                                          <p:attrName>style.visibility</p:attrName>
                                        </p:attrNameLst>
                                      </p:cBhvr>
                                      <p:to>
                                        <p:strVal val="visible"/>
                                      </p:to>
                                    </p:set>
                                    <p:anim calcmode="lin" valueType="num">
                                      <p:cBhvr additive="base">
                                        <p:cTn id="67" dur="500" fill="hold"/>
                                        <p:tgtEl>
                                          <p:spTgt spid="103428">
                                            <p:txEl>
                                              <p:pRg st="12" end="1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3428">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15">
            <a:extLst>
              <a:ext uri="{FF2B5EF4-FFF2-40B4-BE49-F238E27FC236}">
                <a16:creationId xmlns:a16="http://schemas.microsoft.com/office/drawing/2014/main" xmlns="" id="{73B1133A-7A61-4D7D-B6DC-0781EDDA7205}"/>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48131" name="Picture 1">
            <a:extLst>
              <a:ext uri="{FF2B5EF4-FFF2-40B4-BE49-F238E27FC236}">
                <a16:creationId xmlns:a16="http://schemas.microsoft.com/office/drawing/2014/main" xmlns="" id="{94271A8C-BDC6-4D58-ADDB-393FC3813C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012" name="Title 3">
            <a:extLst>
              <a:ext uri="{FF2B5EF4-FFF2-40B4-BE49-F238E27FC236}">
                <a16:creationId xmlns:a16="http://schemas.microsoft.com/office/drawing/2014/main" xmlns="" id="{F2FC6FBA-F162-43CA-A3DD-2B545B86ACDF}"/>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8001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marL="342900" indent="-342900">
              <a:buFont typeface="Arial" pitchFamily="34" charset="0"/>
              <a:buChar char="•"/>
              <a:defRPr/>
            </a:pPr>
            <a:endParaRPr lang="en-US" sz="2400" dirty="0">
              <a:latin typeface="Times New Roman" pitchFamily="18" charset="0"/>
              <a:cs typeface="Times New Roman" pitchFamily="18" charset="0"/>
            </a:endParaRPr>
          </a:p>
          <a:p>
            <a:pPr marL="342900" indent="-342900">
              <a:buFont typeface="Arial" pitchFamily="34" charset="0"/>
              <a:buChar char="•"/>
              <a:defRPr/>
            </a:pPr>
            <a:r>
              <a:rPr lang="en-US" sz="2400" dirty="0">
                <a:latin typeface="Times New Roman" pitchFamily="18" charset="0"/>
                <a:cs typeface="Times New Roman" pitchFamily="18" charset="0"/>
              </a:rPr>
              <a:t>Main Characteristics of the Database Approach</a:t>
            </a:r>
          </a:p>
          <a:p>
            <a:pPr marL="342900" indent="-342900">
              <a:buFont typeface="Arial" pitchFamily="34" charset="0"/>
              <a:buChar char="•"/>
              <a:defRPr/>
            </a:pPr>
            <a:r>
              <a:rPr lang="en-US" sz="2400" dirty="0">
                <a:latin typeface="Times New Roman" pitchFamily="18" charset="0"/>
                <a:cs typeface="Times New Roman" pitchFamily="18" charset="0"/>
              </a:rPr>
              <a:t>Difference between traditional file system and </a:t>
            </a:r>
            <a:r>
              <a:rPr lang="en-US" sz="2400" dirty="0" err="1">
                <a:latin typeface="Times New Roman" pitchFamily="18" charset="0"/>
                <a:cs typeface="Times New Roman" pitchFamily="18" charset="0"/>
              </a:rPr>
              <a:t>dbms</a:t>
            </a:r>
            <a:endParaRPr lang="en-US" sz="2400" dirty="0">
              <a:latin typeface="Times New Roman" pitchFamily="18" charset="0"/>
              <a:cs typeface="Times New Roman" pitchFamily="18" charset="0"/>
            </a:endParaRPr>
          </a:p>
          <a:p>
            <a:pPr marL="342900" indent="-342900">
              <a:buFont typeface="Arial" pitchFamily="34" charset="0"/>
              <a:buChar char="•"/>
              <a:defRPr/>
            </a:pPr>
            <a:r>
              <a:rPr lang="en-US" sz="2400" dirty="0">
                <a:latin typeface="Times New Roman" pitchFamily="18" charset="0"/>
                <a:cs typeface="Times New Roman" pitchFamily="18" charset="0"/>
              </a:rPr>
              <a:t>Advantages of Using the Database Approach</a:t>
            </a:r>
          </a:p>
          <a:p>
            <a:pPr marL="342900" indent="-342900">
              <a:buFont typeface="Arial" pitchFamily="34" charset="0"/>
              <a:buChar char="•"/>
              <a:defRPr/>
            </a:pPr>
            <a:r>
              <a:rPr lang="en-US" altLang="en-US" sz="2400" dirty="0">
                <a:latin typeface="Times New Roman" pitchFamily="18" charset="0"/>
                <a:cs typeface="Times New Roman" pitchFamily="18" charset="0"/>
              </a:rPr>
              <a:t>A Brief History of Database Applications</a:t>
            </a:r>
            <a:r>
              <a:rPr lang="en-US" sz="2400" dirty="0">
                <a:latin typeface="Times New Roman" pitchFamily="18" charset="0"/>
                <a:cs typeface="Times New Roman" pitchFamily="18" charset="0"/>
              </a:rPr>
              <a:t> </a:t>
            </a:r>
          </a:p>
          <a:p>
            <a:pPr>
              <a:defRPr/>
            </a:pPr>
            <a:endParaRPr lang="en-IN" sz="2400" dirty="0">
              <a:latin typeface="Times New Roman" pitchFamily="18" charset="0"/>
              <a:cs typeface="Times New Roman" pitchFamily="18" charset="0"/>
            </a:endParaRPr>
          </a:p>
        </p:txBody>
      </p:sp>
      <p:sp>
        <p:nvSpPr>
          <p:cNvPr id="48133" name="Rectangle 2">
            <a:extLst>
              <a:ext uri="{FF2B5EF4-FFF2-40B4-BE49-F238E27FC236}">
                <a16:creationId xmlns:a16="http://schemas.microsoft.com/office/drawing/2014/main" xmlns="" id="{3062F55F-BC32-48D4-856B-D25F150BF8CB}"/>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Recalling concepts</a:t>
            </a:r>
          </a:p>
        </p:txBody>
      </p:sp>
    </p:spTree>
  </p:cSld>
  <p:clrMapOvr>
    <a:masterClrMapping/>
  </p:clrMapOvr>
  <p:transition spd="slow">
    <p:wip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15">
            <a:extLst>
              <a:ext uri="{FF2B5EF4-FFF2-40B4-BE49-F238E27FC236}">
                <a16:creationId xmlns:a16="http://schemas.microsoft.com/office/drawing/2014/main" xmlns="" id="{28A32F5E-DA6B-420F-9AA8-B89CF72C6DD3}"/>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49155" name="Picture 1">
            <a:extLst>
              <a:ext uri="{FF2B5EF4-FFF2-40B4-BE49-F238E27FC236}">
                <a16:creationId xmlns:a16="http://schemas.microsoft.com/office/drawing/2014/main" xmlns="" id="{6C659EA9-357E-4928-BF29-9B5BAC172D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Title 3">
            <a:extLst>
              <a:ext uri="{FF2B5EF4-FFF2-40B4-BE49-F238E27FC236}">
                <a16:creationId xmlns:a16="http://schemas.microsoft.com/office/drawing/2014/main" xmlns="" id="{3388786D-7F98-4C42-98B1-805C7331E076}"/>
              </a:ext>
            </a:extLst>
          </p:cNvPr>
          <p:cNvSpPr txBox="1">
            <a:spLocks/>
          </p:cNvSpPr>
          <p:nvPr/>
        </p:nvSpPr>
        <p:spPr bwMode="auto">
          <a:xfrm>
            <a:off x="463550" y="1266825"/>
            <a:ext cx="11353800" cy="444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eaLnBrk="1" hangingPunct="1">
              <a:lnSpc>
                <a:spcPct val="101000"/>
              </a:lnSpc>
              <a:spcBef>
                <a:spcPct val="0"/>
              </a:spcBef>
              <a:buFontTx/>
              <a:buNone/>
            </a:pPr>
            <a:r>
              <a:rPr lang="en-IN" altLang="en-US" sz="2400" b="1">
                <a:latin typeface="Times New Roman" panose="02020603050405020304" pitchFamily="18" charset="0"/>
                <a:cs typeface="Times New Roman" panose="02020603050405020304" pitchFamily="18" charset="0"/>
              </a:rPr>
              <a:t>2.1 Data Models, Schemas and Instances:</a:t>
            </a:r>
          </a:p>
          <a:p>
            <a:pPr eaLnBrk="1" hangingPunct="1">
              <a:lnSpc>
                <a:spcPct val="101000"/>
              </a:lnSpc>
              <a:spcBef>
                <a:spcPct val="0"/>
              </a:spcBef>
              <a:buFontTx/>
              <a:buNone/>
            </a:pPr>
            <a:endParaRPr lang="en-IN" altLang="en-US" sz="2400" b="1">
              <a:latin typeface="Times New Roman" panose="02020603050405020304" pitchFamily="18" charset="0"/>
              <a:cs typeface="Times New Roman" panose="02020603050405020304" pitchFamily="18" charset="0"/>
            </a:endParaRPr>
          </a:p>
        </p:txBody>
      </p:sp>
      <p:sp>
        <p:nvSpPr>
          <p:cNvPr id="49157" name="Rectangle 2">
            <a:extLst>
              <a:ext uri="{FF2B5EF4-FFF2-40B4-BE49-F238E27FC236}">
                <a16:creationId xmlns:a16="http://schemas.microsoft.com/office/drawing/2014/main" xmlns="" id="{6ABF1CC7-6C21-4559-B10E-639ABABCF946}"/>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
        <p:nvSpPr>
          <p:cNvPr id="49158" name="Rectangle 2">
            <a:extLst>
              <a:ext uri="{FF2B5EF4-FFF2-40B4-BE49-F238E27FC236}">
                <a16:creationId xmlns:a16="http://schemas.microsoft.com/office/drawing/2014/main" xmlns="" id="{9A2DE3F7-11C3-4F48-9BA4-92E399C4DE73}"/>
              </a:ext>
            </a:extLst>
          </p:cNvPr>
          <p:cNvSpPr txBox="1">
            <a:spLocks noChangeArrowheads="1"/>
          </p:cNvSpPr>
          <p:nvPr/>
        </p:nvSpPr>
        <p:spPr bwMode="auto">
          <a:xfrm>
            <a:off x="1195388" y="101600"/>
            <a:ext cx="10225087"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Chapter-2</a:t>
            </a:r>
          </a:p>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Database System Concepts and Architecture</a:t>
            </a:r>
          </a:p>
        </p:txBody>
      </p:sp>
      <p:sp>
        <p:nvSpPr>
          <p:cNvPr id="49159" name="Content Placeholder 13">
            <a:extLst>
              <a:ext uri="{FF2B5EF4-FFF2-40B4-BE49-F238E27FC236}">
                <a16:creationId xmlns:a16="http://schemas.microsoft.com/office/drawing/2014/main" xmlns="" id="{D16A4556-1EB2-45A7-9E59-EB83C645A5F5}"/>
              </a:ext>
            </a:extLst>
          </p:cNvPr>
          <p:cNvSpPr txBox="1">
            <a:spLocks/>
          </p:cNvSpPr>
          <p:nvPr/>
        </p:nvSpPr>
        <p:spPr bwMode="auto">
          <a:xfrm>
            <a:off x="457200" y="1671638"/>
            <a:ext cx="10963275" cy="4454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endParaRPr lang="en-US" altLang="en-US" sz="2400" b="1">
              <a:latin typeface="Times New Roman" panose="02020603050405020304" pitchFamily="18" charset="0"/>
              <a:cs typeface="Times New Roman" panose="02020603050405020304" pitchFamily="18" charset="0"/>
            </a:endParaRPr>
          </a:p>
          <a:p>
            <a:pPr algn="just"/>
            <a:r>
              <a:rPr lang="en-US" altLang="en-US" sz="2400" b="1">
                <a:solidFill>
                  <a:srgbClr val="FF0000"/>
                </a:solidFill>
                <a:latin typeface="Times New Roman" panose="02020603050405020304" pitchFamily="18" charset="0"/>
                <a:cs typeface="Times New Roman" panose="02020603050405020304" pitchFamily="18" charset="0"/>
              </a:rPr>
              <a:t>Data Model:</a:t>
            </a:r>
          </a:p>
          <a:p>
            <a:pPr lvl="1" algn="just"/>
            <a:r>
              <a:rPr lang="en-US" altLang="en-US">
                <a:latin typeface="Times New Roman" panose="02020603050405020304" pitchFamily="18" charset="0"/>
                <a:cs typeface="Times New Roman" panose="02020603050405020304" pitchFamily="18" charset="0"/>
              </a:rPr>
              <a:t>A set of concepts to describe the </a:t>
            </a:r>
            <a:r>
              <a:rPr lang="en-US" altLang="en-US" b="1" i="1">
                <a:latin typeface="Times New Roman" panose="02020603050405020304" pitchFamily="18" charset="0"/>
                <a:cs typeface="Times New Roman" panose="02020603050405020304" pitchFamily="18" charset="0"/>
              </a:rPr>
              <a:t>structure</a:t>
            </a:r>
            <a:r>
              <a:rPr lang="en-US" altLang="en-US">
                <a:latin typeface="Times New Roman" panose="02020603050405020304" pitchFamily="18" charset="0"/>
                <a:cs typeface="Times New Roman" panose="02020603050405020304" pitchFamily="18" charset="0"/>
              </a:rPr>
              <a:t> of a database, the </a:t>
            </a:r>
            <a:r>
              <a:rPr lang="en-US" altLang="en-US" b="1" i="1">
                <a:latin typeface="Times New Roman" panose="02020603050405020304" pitchFamily="18" charset="0"/>
                <a:cs typeface="Times New Roman" panose="02020603050405020304" pitchFamily="18" charset="0"/>
              </a:rPr>
              <a:t>operations </a:t>
            </a:r>
            <a:r>
              <a:rPr lang="en-US" altLang="en-US">
                <a:latin typeface="Times New Roman" panose="02020603050405020304" pitchFamily="18" charset="0"/>
                <a:cs typeface="Times New Roman" panose="02020603050405020304" pitchFamily="18" charset="0"/>
              </a:rPr>
              <a:t>for manipulating these structures, and certain </a:t>
            </a:r>
            <a:r>
              <a:rPr lang="en-US" altLang="en-US" b="1" i="1">
                <a:latin typeface="Times New Roman" panose="02020603050405020304" pitchFamily="18" charset="0"/>
                <a:cs typeface="Times New Roman" panose="02020603050405020304" pitchFamily="18" charset="0"/>
              </a:rPr>
              <a:t>constraints</a:t>
            </a:r>
            <a:r>
              <a:rPr lang="en-US" altLang="en-US">
                <a:latin typeface="Times New Roman" panose="02020603050405020304" pitchFamily="18" charset="0"/>
                <a:cs typeface="Times New Roman" panose="02020603050405020304" pitchFamily="18" charset="0"/>
              </a:rPr>
              <a:t> that the database should obey.</a:t>
            </a:r>
            <a:endParaRPr lang="en-US" altLang="en-US" b="1">
              <a:latin typeface="Times New Roman" panose="02020603050405020304" pitchFamily="18" charset="0"/>
              <a:cs typeface="Times New Roman" panose="02020603050405020304" pitchFamily="18" charset="0"/>
            </a:endParaRPr>
          </a:p>
          <a:p>
            <a:pPr algn="just"/>
            <a:r>
              <a:rPr lang="en-US" altLang="en-US" sz="2400" b="1">
                <a:solidFill>
                  <a:srgbClr val="FF0000"/>
                </a:solidFill>
                <a:latin typeface="Times New Roman" panose="02020603050405020304" pitchFamily="18" charset="0"/>
                <a:cs typeface="Times New Roman" panose="02020603050405020304" pitchFamily="18" charset="0"/>
              </a:rPr>
              <a:t>Data Model Structure and Constraints:</a:t>
            </a:r>
          </a:p>
          <a:p>
            <a:pPr lvl="1" algn="just"/>
            <a:r>
              <a:rPr lang="en-US" altLang="en-US">
                <a:latin typeface="Times New Roman" panose="02020603050405020304" pitchFamily="18" charset="0"/>
                <a:cs typeface="Times New Roman" panose="02020603050405020304" pitchFamily="18" charset="0"/>
              </a:rPr>
              <a:t>Constructs are used to define the database structure</a:t>
            </a:r>
          </a:p>
          <a:p>
            <a:pPr lvl="1" algn="just"/>
            <a:r>
              <a:rPr lang="en-US" altLang="en-US">
                <a:latin typeface="Times New Roman" panose="02020603050405020304" pitchFamily="18" charset="0"/>
                <a:cs typeface="Times New Roman" panose="02020603050405020304" pitchFamily="18" charset="0"/>
              </a:rPr>
              <a:t>Constructs typically include </a:t>
            </a:r>
            <a:r>
              <a:rPr lang="en-US" altLang="en-US" b="1" i="1">
                <a:latin typeface="Times New Roman" panose="02020603050405020304" pitchFamily="18" charset="0"/>
                <a:cs typeface="Times New Roman" panose="02020603050405020304" pitchFamily="18" charset="0"/>
              </a:rPr>
              <a:t>elements </a:t>
            </a:r>
            <a:r>
              <a:rPr lang="en-US" altLang="en-US">
                <a:latin typeface="Times New Roman" panose="02020603050405020304" pitchFamily="18" charset="0"/>
                <a:cs typeface="Times New Roman" panose="02020603050405020304" pitchFamily="18" charset="0"/>
              </a:rPr>
              <a:t>(and their </a:t>
            </a:r>
            <a:r>
              <a:rPr lang="en-US" altLang="en-US" b="1" i="1">
                <a:latin typeface="Times New Roman" panose="02020603050405020304" pitchFamily="18" charset="0"/>
                <a:cs typeface="Times New Roman" panose="02020603050405020304" pitchFamily="18" charset="0"/>
              </a:rPr>
              <a:t>data types</a:t>
            </a:r>
            <a:r>
              <a:rPr lang="en-US" altLang="en-US">
                <a:latin typeface="Times New Roman" panose="02020603050405020304" pitchFamily="18" charset="0"/>
                <a:cs typeface="Times New Roman" panose="02020603050405020304" pitchFamily="18" charset="0"/>
              </a:rPr>
              <a:t>) as well as groups of elements (e.g </a:t>
            </a:r>
            <a:r>
              <a:rPr lang="en-US" altLang="en-US" b="1" i="1">
                <a:latin typeface="Times New Roman" panose="02020603050405020304" pitchFamily="18" charset="0"/>
                <a:cs typeface="Times New Roman" panose="02020603050405020304" pitchFamily="18" charset="0"/>
              </a:rPr>
              <a:t>entity, record, table</a:t>
            </a:r>
            <a:r>
              <a:rPr lang="en-US" altLang="en-US">
                <a:latin typeface="Times New Roman" panose="02020603050405020304" pitchFamily="18" charset="0"/>
                <a:cs typeface="Times New Roman" panose="02020603050405020304" pitchFamily="18" charset="0"/>
              </a:rPr>
              <a:t>), and </a:t>
            </a:r>
            <a:r>
              <a:rPr lang="en-US" altLang="en-US" b="1" i="1">
                <a:latin typeface="Times New Roman" panose="02020603050405020304" pitchFamily="18" charset="0"/>
                <a:cs typeface="Times New Roman" panose="02020603050405020304" pitchFamily="18" charset="0"/>
              </a:rPr>
              <a:t>relationships</a:t>
            </a:r>
            <a:r>
              <a:rPr lang="en-US" altLang="en-US">
                <a:latin typeface="Times New Roman" panose="02020603050405020304" pitchFamily="18" charset="0"/>
                <a:cs typeface="Times New Roman" panose="02020603050405020304" pitchFamily="18" charset="0"/>
              </a:rPr>
              <a:t> among such groups</a:t>
            </a:r>
          </a:p>
          <a:p>
            <a:pPr lvl="1" algn="just"/>
            <a:r>
              <a:rPr lang="en-US" altLang="en-US">
                <a:latin typeface="Times New Roman" panose="02020603050405020304" pitchFamily="18" charset="0"/>
                <a:cs typeface="Times New Roman" panose="02020603050405020304" pitchFamily="18" charset="0"/>
              </a:rPr>
              <a:t>Constraints specify some restrictions on valid data; these constraints must be enforced at all times</a:t>
            </a:r>
          </a:p>
        </p:txBody>
      </p:sp>
    </p:spTree>
  </p:cSld>
  <p:clrMapOvr>
    <a:masterClrMapping/>
  </p:clrMapOvr>
  <p:transition spd="slow">
    <p:wip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15">
            <a:extLst>
              <a:ext uri="{FF2B5EF4-FFF2-40B4-BE49-F238E27FC236}">
                <a16:creationId xmlns:a16="http://schemas.microsoft.com/office/drawing/2014/main" xmlns="" id="{F1BE9CF0-8B6A-4B57-8C8E-37B2E1FBA67A}"/>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50179" name="Picture 1">
            <a:extLst>
              <a:ext uri="{FF2B5EF4-FFF2-40B4-BE49-F238E27FC236}">
                <a16:creationId xmlns:a16="http://schemas.microsoft.com/office/drawing/2014/main" xmlns="" id="{111AA666-190D-43BE-A063-5B53FEE6E0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0180" name="Title 3">
            <a:extLst>
              <a:ext uri="{FF2B5EF4-FFF2-40B4-BE49-F238E27FC236}">
                <a16:creationId xmlns:a16="http://schemas.microsoft.com/office/drawing/2014/main" xmlns="" id="{F15F7825-AED9-4A09-899A-AFDA69190C10}"/>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800100" indent="-3429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a:lnSpc>
                <a:spcPct val="100000"/>
              </a:lnSpc>
              <a:spcBef>
                <a:spcPct val="0"/>
              </a:spcBef>
              <a:buFontTx/>
              <a:buNone/>
            </a:pPr>
            <a:r>
              <a:rPr lang="en-US" altLang="en-US" sz="2400" b="1">
                <a:solidFill>
                  <a:srgbClr val="FF0000"/>
                </a:solidFill>
                <a:latin typeface="Times New Roman" panose="02020603050405020304" pitchFamily="18" charset="0"/>
                <a:cs typeface="Times New Roman" panose="02020603050405020304" pitchFamily="18" charset="0"/>
              </a:rPr>
              <a:t>Data Model Operations:</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These operations are used for specifying database </a:t>
            </a:r>
            <a:r>
              <a:rPr lang="en-US" altLang="en-US" i="1">
                <a:latin typeface="Times New Roman" panose="02020603050405020304" pitchFamily="18" charset="0"/>
                <a:cs typeface="Times New Roman" panose="02020603050405020304" pitchFamily="18" charset="0"/>
              </a:rPr>
              <a:t>retrievals</a:t>
            </a:r>
            <a:r>
              <a:rPr lang="en-US" altLang="en-US">
                <a:latin typeface="Times New Roman" panose="02020603050405020304" pitchFamily="18" charset="0"/>
                <a:cs typeface="Times New Roman" panose="02020603050405020304" pitchFamily="18" charset="0"/>
              </a:rPr>
              <a:t> and </a:t>
            </a:r>
            <a:r>
              <a:rPr lang="en-US" altLang="en-US" i="1">
                <a:latin typeface="Times New Roman" panose="02020603050405020304" pitchFamily="18" charset="0"/>
                <a:cs typeface="Times New Roman" panose="02020603050405020304" pitchFamily="18" charset="0"/>
              </a:rPr>
              <a:t>updates</a:t>
            </a:r>
            <a:r>
              <a:rPr lang="en-US" altLang="en-US">
                <a:latin typeface="Times New Roman" panose="02020603050405020304" pitchFamily="18" charset="0"/>
                <a:cs typeface="Times New Roman" panose="02020603050405020304" pitchFamily="18" charset="0"/>
              </a:rPr>
              <a:t> by referring to the constructs of the data model.</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Operations on the data model may include </a:t>
            </a:r>
            <a:r>
              <a:rPr lang="en-US" altLang="en-US" b="1" i="1">
                <a:latin typeface="Times New Roman" panose="02020603050405020304" pitchFamily="18" charset="0"/>
                <a:cs typeface="Times New Roman" panose="02020603050405020304" pitchFamily="18" charset="0"/>
              </a:rPr>
              <a:t>basic model operations </a:t>
            </a:r>
            <a:r>
              <a:rPr lang="en-US" altLang="en-US">
                <a:latin typeface="Times New Roman" panose="02020603050405020304" pitchFamily="18" charset="0"/>
                <a:cs typeface="Times New Roman" panose="02020603050405020304" pitchFamily="18" charset="0"/>
              </a:rPr>
              <a:t>(e.g. generic insert, delete, update) and</a:t>
            </a:r>
            <a:r>
              <a:rPr lang="en-US" altLang="en-US" b="1" i="1">
                <a:latin typeface="Times New Roman" panose="02020603050405020304" pitchFamily="18" charset="0"/>
                <a:cs typeface="Times New Roman" panose="02020603050405020304" pitchFamily="18" charset="0"/>
              </a:rPr>
              <a:t> user-defined operations </a:t>
            </a:r>
            <a:r>
              <a:rPr lang="en-US" altLang="en-US">
                <a:latin typeface="Times New Roman" panose="02020603050405020304" pitchFamily="18" charset="0"/>
                <a:cs typeface="Times New Roman" panose="02020603050405020304" pitchFamily="18" charset="0"/>
              </a:rPr>
              <a:t>(e.g. compute_student_gpa, update_inventory)</a:t>
            </a:r>
            <a:endParaRPr lang="en-US" altLang="en-US" b="1" i="1">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IN"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IN" altLang="en-US" sz="2400">
              <a:latin typeface="Times New Roman" panose="02020603050405020304" pitchFamily="18" charset="0"/>
              <a:cs typeface="Times New Roman" panose="02020603050405020304" pitchFamily="18" charset="0"/>
            </a:endParaRPr>
          </a:p>
        </p:txBody>
      </p:sp>
      <p:sp>
        <p:nvSpPr>
          <p:cNvPr id="50181" name="Rectangle 2">
            <a:extLst>
              <a:ext uri="{FF2B5EF4-FFF2-40B4-BE49-F238E27FC236}">
                <a16:creationId xmlns:a16="http://schemas.microsoft.com/office/drawing/2014/main" xmlns="" id="{BBB19CFE-C5EE-47F3-8859-3E5EF3B65AB5}"/>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Tree>
  </p:cSld>
  <p:clrMapOvr>
    <a:masterClrMapping/>
  </p:clrMapOvr>
  <p:transition spd="slow">
    <p:wip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5">
            <a:extLst>
              <a:ext uri="{FF2B5EF4-FFF2-40B4-BE49-F238E27FC236}">
                <a16:creationId xmlns:a16="http://schemas.microsoft.com/office/drawing/2014/main" xmlns="" id="{B44862F4-654A-4792-AE25-EA791EB3B44A}"/>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51203" name="Picture 1">
            <a:extLst>
              <a:ext uri="{FF2B5EF4-FFF2-40B4-BE49-F238E27FC236}">
                <a16:creationId xmlns:a16="http://schemas.microsoft.com/office/drawing/2014/main" xmlns="" id="{1760B24E-883A-4ECD-A390-ECA9C6CE51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4" name="Title 3">
            <a:extLst>
              <a:ext uri="{FF2B5EF4-FFF2-40B4-BE49-F238E27FC236}">
                <a16:creationId xmlns:a16="http://schemas.microsoft.com/office/drawing/2014/main" xmlns="" id="{CC1B7D16-FBFA-4D0F-B176-CCE02FB1B5B6}"/>
              </a:ext>
            </a:extLst>
          </p:cNvPr>
          <p:cNvSpPr txBox="1">
            <a:spLocks/>
          </p:cNvSpPr>
          <p:nvPr/>
        </p:nvSpPr>
        <p:spPr bwMode="auto">
          <a:xfrm>
            <a:off x="463550" y="620713"/>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51205" name="Rectangle 2">
            <a:extLst>
              <a:ext uri="{FF2B5EF4-FFF2-40B4-BE49-F238E27FC236}">
                <a16:creationId xmlns:a16="http://schemas.microsoft.com/office/drawing/2014/main" xmlns="" id="{9D605DB7-C043-45EC-80B0-CC12CE553B8E}"/>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Categories of Data Models</a:t>
            </a:r>
            <a:endParaRPr lang="en-US" altLang="en-US" b="1">
              <a:latin typeface="Calibri Light" panose="020F0302020204030204" pitchFamily="34" charset="0"/>
            </a:endParaRPr>
          </a:p>
        </p:txBody>
      </p:sp>
      <p:sp>
        <p:nvSpPr>
          <p:cNvPr id="51206" name="Content Placeholder 13">
            <a:extLst>
              <a:ext uri="{FF2B5EF4-FFF2-40B4-BE49-F238E27FC236}">
                <a16:creationId xmlns:a16="http://schemas.microsoft.com/office/drawing/2014/main" xmlns="" id="{25DF3868-1917-4003-89C2-B2BB226597C6}"/>
              </a:ext>
            </a:extLst>
          </p:cNvPr>
          <p:cNvSpPr txBox="1">
            <a:spLocks/>
          </p:cNvSpPr>
          <p:nvPr/>
        </p:nvSpPr>
        <p:spPr bwMode="auto">
          <a:xfrm>
            <a:off x="463550" y="1309688"/>
            <a:ext cx="11098213"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b="1">
                <a:solidFill>
                  <a:srgbClr val="FF0000"/>
                </a:solidFill>
                <a:latin typeface="Times New Roman" panose="02020603050405020304" pitchFamily="18" charset="0"/>
                <a:cs typeface="Times New Roman" panose="02020603050405020304" pitchFamily="18" charset="0"/>
              </a:rPr>
              <a:t>Conceptual (high-level, semantic) data models:</a:t>
            </a:r>
          </a:p>
          <a:p>
            <a:pPr lvl="1" algn="just"/>
            <a:r>
              <a:rPr lang="en-US" altLang="en-US">
                <a:latin typeface="Times New Roman" panose="02020603050405020304" pitchFamily="18" charset="0"/>
                <a:cs typeface="Times New Roman" panose="02020603050405020304" pitchFamily="18" charset="0"/>
              </a:rPr>
              <a:t>Provide concepts that are close to the way many users perceive data. </a:t>
            </a:r>
          </a:p>
          <a:p>
            <a:pPr lvl="2" algn="just"/>
            <a:r>
              <a:rPr lang="en-US" altLang="en-US" sz="2400">
                <a:latin typeface="Times New Roman" panose="02020603050405020304" pitchFamily="18" charset="0"/>
                <a:cs typeface="Times New Roman" panose="02020603050405020304" pitchFamily="18" charset="0"/>
              </a:rPr>
              <a:t>(Also called </a:t>
            </a:r>
            <a:r>
              <a:rPr lang="en-US" altLang="en-US" sz="2400" b="1" i="1">
                <a:latin typeface="Times New Roman" panose="02020603050405020304" pitchFamily="18" charset="0"/>
                <a:cs typeface="Times New Roman" panose="02020603050405020304" pitchFamily="18" charset="0"/>
              </a:rPr>
              <a:t>entity-based</a:t>
            </a:r>
            <a:r>
              <a:rPr lang="en-US" altLang="en-US" sz="2400" i="1">
                <a:latin typeface="Times New Roman" panose="02020603050405020304" pitchFamily="18" charset="0"/>
                <a:cs typeface="Times New Roman" panose="02020603050405020304" pitchFamily="18" charset="0"/>
              </a:rPr>
              <a:t> </a:t>
            </a:r>
            <a:r>
              <a:rPr lang="en-US" altLang="en-US" sz="2400">
                <a:latin typeface="Times New Roman" panose="02020603050405020304" pitchFamily="18" charset="0"/>
                <a:cs typeface="Times New Roman" panose="02020603050405020304" pitchFamily="18" charset="0"/>
              </a:rPr>
              <a:t>or</a:t>
            </a:r>
            <a:r>
              <a:rPr lang="en-US" altLang="en-US" sz="2400" i="1">
                <a:latin typeface="Times New Roman" panose="02020603050405020304" pitchFamily="18" charset="0"/>
                <a:cs typeface="Times New Roman" panose="02020603050405020304" pitchFamily="18" charset="0"/>
              </a:rPr>
              <a:t> </a:t>
            </a:r>
            <a:r>
              <a:rPr lang="en-US" altLang="en-US" sz="2400" b="1" i="1">
                <a:latin typeface="Times New Roman" panose="02020603050405020304" pitchFamily="18" charset="0"/>
                <a:cs typeface="Times New Roman" panose="02020603050405020304" pitchFamily="18" charset="0"/>
              </a:rPr>
              <a:t>object-based</a:t>
            </a:r>
            <a:r>
              <a:rPr lang="en-US" altLang="en-US" sz="2400">
                <a:latin typeface="Times New Roman" panose="02020603050405020304" pitchFamily="18" charset="0"/>
                <a:cs typeface="Times New Roman" panose="02020603050405020304" pitchFamily="18" charset="0"/>
              </a:rPr>
              <a:t> data models.)</a:t>
            </a:r>
          </a:p>
          <a:p>
            <a:pPr algn="just"/>
            <a:r>
              <a:rPr lang="en-US" altLang="en-US" sz="2400" b="1">
                <a:solidFill>
                  <a:srgbClr val="FF0000"/>
                </a:solidFill>
                <a:latin typeface="Times New Roman" panose="02020603050405020304" pitchFamily="18" charset="0"/>
                <a:cs typeface="Times New Roman" panose="02020603050405020304" pitchFamily="18" charset="0"/>
              </a:rPr>
              <a:t>Physical (low-level, internal) data models:</a:t>
            </a:r>
          </a:p>
          <a:p>
            <a:pPr lvl="1" algn="just"/>
            <a:r>
              <a:rPr lang="en-US" altLang="en-US">
                <a:latin typeface="Times New Roman" panose="02020603050405020304" pitchFamily="18" charset="0"/>
                <a:cs typeface="Times New Roman" panose="02020603050405020304" pitchFamily="18" charset="0"/>
              </a:rPr>
              <a:t>Provide concepts that describe details of how data is stored in the computer. These are usually specified in an ad-hoc manner through DBMS design and administration manuals</a:t>
            </a:r>
          </a:p>
          <a:p>
            <a:pPr algn="just"/>
            <a:r>
              <a:rPr lang="en-US" altLang="en-US" sz="2400" b="1">
                <a:solidFill>
                  <a:srgbClr val="FF0000"/>
                </a:solidFill>
                <a:latin typeface="Times New Roman" panose="02020603050405020304" pitchFamily="18" charset="0"/>
                <a:cs typeface="Times New Roman" panose="02020603050405020304" pitchFamily="18" charset="0"/>
              </a:rPr>
              <a:t>Implementation (representational) data models:</a:t>
            </a:r>
          </a:p>
          <a:p>
            <a:pPr lvl="1" algn="just"/>
            <a:r>
              <a:rPr lang="en-US" altLang="en-US">
                <a:latin typeface="Times New Roman" panose="02020603050405020304" pitchFamily="18" charset="0"/>
                <a:cs typeface="Times New Roman" panose="02020603050405020304" pitchFamily="18" charset="0"/>
              </a:rPr>
              <a:t>Provide concepts that fall between the above two, used by many commercial DBMS implementations (e.g. relational data models used in many commercial systems).</a:t>
            </a:r>
          </a:p>
          <a:p>
            <a:pPr algn="just"/>
            <a:endParaRPr lang="en-IN" altLang="en-US" sz="240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15">
            <a:extLst>
              <a:ext uri="{FF2B5EF4-FFF2-40B4-BE49-F238E27FC236}">
                <a16:creationId xmlns:a16="http://schemas.microsoft.com/office/drawing/2014/main" xmlns="" id="{5797FD59-252B-4944-8C26-52A57B449B51}"/>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52227" name="Picture 1">
            <a:extLst>
              <a:ext uri="{FF2B5EF4-FFF2-40B4-BE49-F238E27FC236}">
                <a16:creationId xmlns:a16="http://schemas.microsoft.com/office/drawing/2014/main" xmlns="" id="{B6EFD768-E2BE-4F30-BC56-73A00D5C96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2228" name="Title 3">
            <a:extLst>
              <a:ext uri="{FF2B5EF4-FFF2-40B4-BE49-F238E27FC236}">
                <a16:creationId xmlns:a16="http://schemas.microsoft.com/office/drawing/2014/main" xmlns="" id="{47FA4801-F633-403B-BBF6-FE709A967127}"/>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52229" name="Rectangle 2">
            <a:extLst>
              <a:ext uri="{FF2B5EF4-FFF2-40B4-BE49-F238E27FC236}">
                <a16:creationId xmlns:a16="http://schemas.microsoft.com/office/drawing/2014/main" xmlns="" id="{9A87DB88-303E-40B4-B113-3B051A491F7C}"/>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Schemas versus Instances</a:t>
            </a:r>
            <a:endParaRPr lang="en-US" altLang="en-US" b="1">
              <a:latin typeface="Calibri Light" panose="020F0302020204030204" pitchFamily="34" charset="0"/>
            </a:endParaRPr>
          </a:p>
        </p:txBody>
      </p:sp>
      <p:sp>
        <p:nvSpPr>
          <p:cNvPr id="52230" name="Content Placeholder 13">
            <a:extLst>
              <a:ext uri="{FF2B5EF4-FFF2-40B4-BE49-F238E27FC236}">
                <a16:creationId xmlns:a16="http://schemas.microsoft.com/office/drawing/2014/main" xmlns="" id="{EF607684-6520-402E-B7A7-AE687E36ED90}"/>
              </a:ext>
            </a:extLst>
          </p:cNvPr>
          <p:cNvSpPr txBox="1">
            <a:spLocks/>
          </p:cNvSpPr>
          <p:nvPr/>
        </p:nvSpPr>
        <p:spPr bwMode="auto">
          <a:xfrm>
            <a:off x="704850" y="1020763"/>
            <a:ext cx="1071245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a:solidFill>
                  <a:srgbClr val="FF0000"/>
                </a:solidFill>
                <a:latin typeface="Times New Roman" panose="02020603050405020304" pitchFamily="18" charset="0"/>
                <a:cs typeface="Times New Roman" panose="02020603050405020304" pitchFamily="18" charset="0"/>
              </a:rPr>
              <a:t>Database Schema:</a:t>
            </a:r>
          </a:p>
          <a:p>
            <a:pPr lvl="1" algn="just"/>
            <a:r>
              <a:rPr lang="en-US" altLang="en-US">
                <a:latin typeface="Times New Roman" panose="02020603050405020304" pitchFamily="18" charset="0"/>
                <a:cs typeface="Times New Roman" panose="02020603050405020304" pitchFamily="18" charset="0"/>
              </a:rPr>
              <a:t>The </a:t>
            </a:r>
            <a:r>
              <a:rPr lang="en-US" altLang="en-US" b="1" i="1">
                <a:latin typeface="Times New Roman" panose="02020603050405020304" pitchFamily="18" charset="0"/>
                <a:cs typeface="Times New Roman" panose="02020603050405020304" pitchFamily="18" charset="0"/>
              </a:rPr>
              <a:t>description</a:t>
            </a:r>
            <a:r>
              <a:rPr lang="en-US" altLang="en-US">
                <a:latin typeface="Times New Roman" panose="02020603050405020304" pitchFamily="18" charset="0"/>
                <a:cs typeface="Times New Roman" panose="02020603050405020304" pitchFamily="18" charset="0"/>
              </a:rPr>
              <a:t> of a database.</a:t>
            </a:r>
          </a:p>
          <a:p>
            <a:pPr lvl="1" algn="just"/>
            <a:r>
              <a:rPr lang="en-US" altLang="en-US">
                <a:latin typeface="Times New Roman" panose="02020603050405020304" pitchFamily="18" charset="0"/>
                <a:cs typeface="Times New Roman" panose="02020603050405020304" pitchFamily="18" charset="0"/>
              </a:rPr>
              <a:t>Includes descriptions of the database structure, data types, and the constraints on the database.</a:t>
            </a:r>
          </a:p>
          <a:p>
            <a:pPr algn="just"/>
            <a:r>
              <a:rPr lang="en-US" altLang="en-US">
                <a:solidFill>
                  <a:srgbClr val="FF0000"/>
                </a:solidFill>
                <a:latin typeface="Times New Roman" panose="02020603050405020304" pitchFamily="18" charset="0"/>
                <a:cs typeface="Times New Roman" panose="02020603050405020304" pitchFamily="18" charset="0"/>
              </a:rPr>
              <a:t>Schema Diagram:</a:t>
            </a:r>
          </a:p>
          <a:p>
            <a:pPr lvl="1" algn="just"/>
            <a:r>
              <a:rPr lang="en-US" altLang="en-US">
                <a:latin typeface="Times New Roman" panose="02020603050405020304" pitchFamily="18" charset="0"/>
                <a:cs typeface="Times New Roman" panose="02020603050405020304" pitchFamily="18" charset="0"/>
              </a:rPr>
              <a:t>An </a:t>
            </a:r>
            <a:r>
              <a:rPr lang="en-US" altLang="en-US" b="1" i="1">
                <a:latin typeface="Times New Roman" panose="02020603050405020304" pitchFamily="18" charset="0"/>
                <a:cs typeface="Times New Roman" panose="02020603050405020304" pitchFamily="18" charset="0"/>
              </a:rPr>
              <a:t>illustrative</a:t>
            </a:r>
            <a:r>
              <a:rPr lang="en-US" altLang="en-US">
                <a:latin typeface="Times New Roman" panose="02020603050405020304" pitchFamily="18" charset="0"/>
                <a:cs typeface="Times New Roman" panose="02020603050405020304" pitchFamily="18" charset="0"/>
              </a:rPr>
              <a:t> display of (some aspects of) a database schema.</a:t>
            </a:r>
          </a:p>
          <a:p>
            <a:pPr algn="just"/>
            <a:r>
              <a:rPr lang="en-US" altLang="en-US">
                <a:solidFill>
                  <a:srgbClr val="FF0000"/>
                </a:solidFill>
                <a:latin typeface="Times New Roman" panose="02020603050405020304" pitchFamily="18" charset="0"/>
                <a:cs typeface="Times New Roman" panose="02020603050405020304" pitchFamily="18" charset="0"/>
              </a:rPr>
              <a:t>Schema Construct:</a:t>
            </a:r>
          </a:p>
          <a:p>
            <a:pPr lvl="1" algn="just"/>
            <a:r>
              <a:rPr lang="en-US" altLang="en-US">
                <a:latin typeface="Times New Roman" panose="02020603050405020304" pitchFamily="18" charset="0"/>
                <a:cs typeface="Times New Roman" panose="02020603050405020304" pitchFamily="18" charset="0"/>
              </a:rPr>
              <a:t>A </a:t>
            </a:r>
            <a:r>
              <a:rPr lang="en-US" altLang="en-US" b="1" i="1">
                <a:latin typeface="Times New Roman" panose="02020603050405020304" pitchFamily="18" charset="0"/>
                <a:cs typeface="Times New Roman" panose="02020603050405020304" pitchFamily="18" charset="0"/>
              </a:rPr>
              <a:t>component</a:t>
            </a:r>
            <a:r>
              <a:rPr lang="en-US" altLang="en-US">
                <a:latin typeface="Times New Roman" panose="02020603050405020304" pitchFamily="18" charset="0"/>
                <a:cs typeface="Times New Roman" panose="02020603050405020304" pitchFamily="18" charset="0"/>
              </a:rPr>
              <a:t> of the schema or an object within the schema, e.g., STUDENT, COURSE.</a:t>
            </a:r>
          </a:p>
          <a:p>
            <a:pPr algn="just">
              <a:buFont typeface="Arial" panose="020B0604020202020204" pitchFamily="34" charset="0"/>
              <a:buNone/>
            </a:pPr>
            <a:endParaRPr lang="en-IN" altLang="en-US">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15">
            <a:extLst>
              <a:ext uri="{FF2B5EF4-FFF2-40B4-BE49-F238E27FC236}">
                <a16:creationId xmlns:a16="http://schemas.microsoft.com/office/drawing/2014/main" xmlns="" id="{394BAC73-852A-4774-A9A5-F90F2449BB19}"/>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53251" name="Picture 1">
            <a:extLst>
              <a:ext uri="{FF2B5EF4-FFF2-40B4-BE49-F238E27FC236}">
                <a16:creationId xmlns:a16="http://schemas.microsoft.com/office/drawing/2014/main" xmlns="" id="{E53B3310-2CD2-4DF7-9331-B77D08717D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3252" name="Title 3">
            <a:extLst>
              <a:ext uri="{FF2B5EF4-FFF2-40B4-BE49-F238E27FC236}">
                <a16:creationId xmlns:a16="http://schemas.microsoft.com/office/drawing/2014/main" xmlns="" id="{E57B7453-B225-401A-98CC-A87D1CE690BF}"/>
              </a:ext>
            </a:extLst>
          </p:cNvPr>
          <p:cNvSpPr txBox="1">
            <a:spLocks/>
          </p:cNvSpPr>
          <p:nvPr/>
        </p:nvSpPr>
        <p:spPr bwMode="auto">
          <a:xfrm>
            <a:off x="425450" y="1044575"/>
            <a:ext cx="11353800" cy="486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600" b="1">
                <a:latin typeface="Times New Roman" panose="02020603050405020304" pitchFamily="18" charset="0"/>
                <a:cs typeface="Times New Roman" panose="02020603050405020304" pitchFamily="18" charset="0"/>
              </a:rPr>
              <a:t>Figure 2.1 Schema Diagram for the database in figure 1.2 </a:t>
            </a:r>
          </a:p>
        </p:txBody>
      </p:sp>
      <p:sp>
        <p:nvSpPr>
          <p:cNvPr id="53253" name="Rectangle 2">
            <a:extLst>
              <a:ext uri="{FF2B5EF4-FFF2-40B4-BE49-F238E27FC236}">
                <a16:creationId xmlns:a16="http://schemas.microsoft.com/office/drawing/2014/main" xmlns="" id="{B0D52A4C-0420-4E28-9A31-B1AFFAC916B3}"/>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Example of a Database Schema</a:t>
            </a:r>
          </a:p>
        </p:txBody>
      </p:sp>
      <p:pic>
        <p:nvPicPr>
          <p:cNvPr id="53254" name="Picture 7">
            <a:extLst>
              <a:ext uri="{FF2B5EF4-FFF2-40B4-BE49-F238E27FC236}">
                <a16:creationId xmlns:a16="http://schemas.microsoft.com/office/drawing/2014/main" xmlns="" id="{819FA891-5DEA-465F-A276-718EC798624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86075" y="1189038"/>
            <a:ext cx="6419850" cy="422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15">
            <a:extLst>
              <a:ext uri="{FF2B5EF4-FFF2-40B4-BE49-F238E27FC236}">
                <a16:creationId xmlns:a16="http://schemas.microsoft.com/office/drawing/2014/main" xmlns="" id="{DAD8C554-54B7-468D-A863-8402F9A4214A}"/>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54275" name="Picture 1">
            <a:extLst>
              <a:ext uri="{FF2B5EF4-FFF2-40B4-BE49-F238E27FC236}">
                <a16:creationId xmlns:a16="http://schemas.microsoft.com/office/drawing/2014/main" xmlns="" id="{4AA4F787-D865-4A15-A843-31B8097193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4276" name="Title 3">
            <a:extLst>
              <a:ext uri="{FF2B5EF4-FFF2-40B4-BE49-F238E27FC236}">
                <a16:creationId xmlns:a16="http://schemas.microsoft.com/office/drawing/2014/main" xmlns="" id="{96FCA308-A296-4314-A35B-57F550DAA432}"/>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54277" name="Rectangle 2">
            <a:extLst>
              <a:ext uri="{FF2B5EF4-FFF2-40B4-BE49-F238E27FC236}">
                <a16:creationId xmlns:a16="http://schemas.microsoft.com/office/drawing/2014/main" xmlns="" id="{A8E43133-443C-4AF0-8B85-F17F178EA30F}"/>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Database State</a:t>
            </a:r>
            <a:endParaRPr lang="en-US" altLang="en-US" b="1">
              <a:latin typeface="Calibri Light" panose="020F0302020204030204" pitchFamily="34" charset="0"/>
            </a:endParaRPr>
          </a:p>
        </p:txBody>
      </p:sp>
      <p:sp>
        <p:nvSpPr>
          <p:cNvPr id="54278" name="Content Placeholder 13">
            <a:extLst>
              <a:ext uri="{FF2B5EF4-FFF2-40B4-BE49-F238E27FC236}">
                <a16:creationId xmlns:a16="http://schemas.microsoft.com/office/drawing/2014/main" xmlns="" id="{E11DC84F-1707-445A-9E48-7F6F6019065F}"/>
              </a:ext>
            </a:extLst>
          </p:cNvPr>
          <p:cNvSpPr txBox="1">
            <a:spLocks/>
          </p:cNvSpPr>
          <p:nvPr/>
        </p:nvSpPr>
        <p:spPr bwMode="auto">
          <a:xfrm>
            <a:off x="457200" y="1204913"/>
            <a:ext cx="11098213" cy="492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a:solidFill>
                  <a:srgbClr val="FF0000"/>
                </a:solidFill>
                <a:latin typeface="Times New Roman" panose="02020603050405020304" pitchFamily="18" charset="0"/>
                <a:cs typeface="Times New Roman" panose="02020603050405020304" pitchFamily="18" charset="0"/>
              </a:rPr>
              <a:t>Database State :</a:t>
            </a:r>
          </a:p>
          <a:p>
            <a:pPr lvl="1" algn="just"/>
            <a:r>
              <a:rPr lang="en-US" altLang="en-US">
                <a:latin typeface="Times New Roman" panose="02020603050405020304" pitchFamily="18" charset="0"/>
                <a:cs typeface="Times New Roman" panose="02020603050405020304" pitchFamily="18" charset="0"/>
              </a:rPr>
              <a:t>The actual data stored in a database at a </a:t>
            </a:r>
            <a:r>
              <a:rPr lang="en-US" altLang="en-US" b="1" i="1">
                <a:latin typeface="Times New Roman" panose="02020603050405020304" pitchFamily="18" charset="0"/>
                <a:cs typeface="Times New Roman" panose="02020603050405020304" pitchFamily="18" charset="0"/>
              </a:rPr>
              <a:t>particular moment in time</a:t>
            </a:r>
            <a:r>
              <a:rPr lang="en-US" altLang="en-US">
                <a:latin typeface="Times New Roman" panose="02020603050405020304" pitchFamily="18" charset="0"/>
                <a:cs typeface="Times New Roman" panose="02020603050405020304" pitchFamily="18" charset="0"/>
              </a:rPr>
              <a:t>. This includes the collection of all the data in the database.</a:t>
            </a:r>
          </a:p>
          <a:p>
            <a:pPr lvl="1" algn="just"/>
            <a:r>
              <a:rPr lang="en-US" altLang="en-US">
                <a:latin typeface="Times New Roman" panose="02020603050405020304" pitchFamily="18" charset="0"/>
                <a:cs typeface="Times New Roman" panose="02020603050405020304" pitchFamily="18" charset="0"/>
              </a:rPr>
              <a:t>Also called database instance (or occurrence or snapshot).</a:t>
            </a:r>
          </a:p>
          <a:p>
            <a:pPr lvl="2" algn="just"/>
            <a:r>
              <a:rPr lang="en-US" altLang="en-US" sz="2400">
                <a:latin typeface="Times New Roman" panose="02020603050405020304" pitchFamily="18" charset="0"/>
                <a:cs typeface="Times New Roman" panose="02020603050405020304" pitchFamily="18" charset="0"/>
              </a:rPr>
              <a:t>The term </a:t>
            </a:r>
            <a:r>
              <a:rPr lang="en-US" altLang="en-US" sz="2400" i="1">
                <a:latin typeface="Times New Roman" panose="02020603050405020304" pitchFamily="18" charset="0"/>
                <a:cs typeface="Times New Roman" panose="02020603050405020304" pitchFamily="18" charset="0"/>
              </a:rPr>
              <a:t>instance </a:t>
            </a:r>
            <a:r>
              <a:rPr lang="en-US" altLang="en-US" sz="2400">
                <a:latin typeface="Times New Roman" panose="02020603050405020304" pitchFamily="18" charset="0"/>
                <a:cs typeface="Times New Roman" panose="02020603050405020304" pitchFamily="18" charset="0"/>
              </a:rPr>
              <a:t> is also applied to individual database components, e.g. </a:t>
            </a:r>
            <a:r>
              <a:rPr lang="en-US" altLang="en-US" sz="2400" i="1">
                <a:latin typeface="Times New Roman" panose="02020603050405020304" pitchFamily="18" charset="0"/>
                <a:cs typeface="Times New Roman" panose="02020603050405020304" pitchFamily="18" charset="0"/>
              </a:rPr>
              <a:t>record instance, table instance, entity instance</a:t>
            </a:r>
            <a:r>
              <a:rPr lang="en-US" altLang="en-US" sz="2400">
                <a:latin typeface="Times New Roman" panose="02020603050405020304" pitchFamily="18" charset="0"/>
                <a:cs typeface="Times New Roman" panose="02020603050405020304" pitchFamily="18" charset="0"/>
              </a:rPr>
              <a:t> </a:t>
            </a:r>
          </a:p>
          <a:p>
            <a:pPr lvl="1"/>
            <a:r>
              <a:rPr lang="en-US" altLang="en-US">
                <a:latin typeface="Times New Roman" panose="02020603050405020304" pitchFamily="18" charset="0"/>
                <a:cs typeface="Times New Roman" panose="02020603050405020304" pitchFamily="18" charset="0"/>
              </a:rPr>
              <a:t>Refers to the </a:t>
            </a:r>
            <a:r>
              <a:rPr lang="en-US" altLang="en-US" b="1" i="1">
                <a:latin typeface="Times New Roman" panose="02020603050405020304" pitchFamily="18" charset="0"/>
                <a:cs typeface="Times New Roman" panose="02020603050405020304" pitchFamily="18" charset="0"/>
              </a:rPr>
              <a:t>content</a:t>
            </a:r>
            <a:r>
              <a:rPr lang="en-US" altLang="en-US">
                <a:latin typeface="Times New Roman" panose="02020603050405020304" pitchFamily="18" charset="0"/>
                <a:cs typeface="Times New Roman" panose="02020603050405020304" pitchFamily="18" charset="0"/>
              </a:rPr>
              <a:t> of a database at a moment in time.</a:t>
            </a:r>
          </a:p>
          <a:p>
            <a:r>
              <a:rPr lang="en-US" altLang="en-US" sz="2400">
                <a:solidFill>
                  <a:srgbClr val="FF0000"/>
                </a:solidFill>
                <a:latin typeface="Times New Roman" panose="02020603050405020304" pitchFamily="18" charset="0"/>
                <a:cs typeface="Times New Roman" panose="02020603050405020304" pitchFamily="18" charset="0"/>
              </a:rPr>
              <a:t>Initial Database State:</a:t>
            </a:r>
          </a:p>
          <a:p>
            <a:pPr lvl="1"/>
            <a:r>
              <a:rPr lang="en-US" altLang="en-US">
                <a:latin typeface="Times New Roman" panose="02020603050405020304" pitchFamily="18" charset="0"/>
                <a:cs typeface="Times New Roman" panose="02020603050405020304" pitchFamily="18" charset="0"/>
              </a:rPr>
              <a:t>Refers to the database state when it is initially loaded into the system.</a:t>
            </a:r>
          </a:p>
        </p:txBody>
      </p:sp>
    </p:spTree>
  </p:cSld>
  <p:clrMapOvr>
    <a:masterClrMapping/>
  </p:clrMapOvr>
  <p:transition spd="slow">
    <p:wip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15">
            <a:extLst>
              <a:ext uri="{FF2B5EF4-FFF2-40B4-BE49-F238E27FC236}">
                <a16:creationId xmlns:a16="http://schemas.microsoft.com/office/drawing/2014/main" xmlns="" id="{F110984C-3F3B-4C84-9EED-CBF4F49D18BC}"/>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55299" name="Picture 1">
            <a:extLst>
              <a:ext uri="{FF2B5EF4-FFF2-40B4-BE49-F238E27FC236}">
                <a16:creationId xmlns:a16="http://schemas.microsoft.com/office/drawing/2014/main" xmlns="" id="{026D6ECB-249C-485D-B20C-C6A6685642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6" name="Title 3">
            <a:extLst>
              <a:ext uri="{FF2B5EF4-FFF2-40B4-BE49-F238E27FC236}">
                <a16:creationId xmlns:a16="http://schemas.microsoft.com/office/drawing/2014/main" xmlns="" id="{392EC9B1-2223-48AC-A23F-CE5F25DE5B3A}"/>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marL="342900" indent="-342900">
              <a:buFont typeface="Arial" pitchFamily="34" charset="0"/>
              <a:buChar char="•"/>
              <a:defRPr/>
            </a:pPr>
            <a:r>
              <a:rPr lang="en-US" sz="2400" dirty="0">
                <a:solidFill>
                  <a:srgbClr val="FF0000"/>
                </a:solidFill>
                <a:latin typeface="Times New Roman" pitchFamily="18" charset="0"/>
                <a:cs typeface="Times New Roman" pitchFamily="18" charset="0"/>
              </a:rPr>
              <a:t>Valid State:</a:t>
            </a:r>
          </a:p>
          <a:p>
            <a:pPr lvl="1">
              <a:buFont typeface="Arial" pitchFamily="34" charset="0"/>
              <a:buChar char="•"/>
              <a:defRPr/>
            </a:pPr>
            <a:r>
              <a:rPr lang="en-US" sz="2400" dirty="0">
                <a:latin typeface="Times New Roman" pitchFamily="18" charset="0"/>
                <a:cs typeface="Times New Roman" pitchFamily="18" charset="0"/>
              </a:rPr>
              <a:t>A state that satisfies the structure and constraints of the database.</a:t>
            </a:r>
          </a:p>
          <a:p>
            <a:pPr lvl="1" algn="just">
              <a:buFont typeface="Arial" pitchFamily="34" charset="0"/>
              <a:buChar char="•"/>
              <a:defRPr/>
            </a:pPr>
            <a:endParaRPr lang="en-US" sz="2400" dirty="0">
              <a:latin typeface="Times New Roman" pitchFamily="18" charset="0"/>
              <a:cs typeface="Times New Roman" pitchFamily="18" charset="0"/>
            </a:endParaRPr>
          </a:p>
          <a:p>
            <a:pPr lvl="1" algn="just">
              <a:buFont typeface="Arial" pitchFamily="34" charset="0"/>
              <a:buChar char="•"/>
              <a:defRPr/>
            </a:pPr>
            <a:r>
              <a:rPr lang="en-US" sz="2400" dirty="0">
                <a:latin typeface="Times New Roman" pitchFamily="18" charset="0"/>
                <a:cs typeface="Times New Roman" pitchFamily="18" charset="0"/>
              </a:rPr>
              <a:t>The </a:t>
            </a:r>
            <a:r>
              <a:rPr lang="en-US" sz="2400" b="1" i="1" dirty="0">
                <a:latin typeface="Times New Roman" pitchFamily="18" charset="0"/>
                <a:cs typeface="Times New Roman" pitchFamily="18" charset="0"/>
              </a:rPr>
              <a:t>database schema</a:t>
            </a:r>
            <a:r>
              <a:rPr lang="en-US" sz="2400" dirty="0">
                <a:latin typeface="Times New Roman" pitchFamily="18" charset="0"/>
                <a:cs typeface="Times New Roman" pitchFamily="18" charset="0"/>
              </a:rPr>
              <a:t> changes very infrequently. </a:t>
            </a:r>
          </a:p>
          <a:p>
            <a:pPr lvl="1" algn="just">
              <a:buFont typeface="Arial" pitchFamily="34" charset="0"/>
              <a:buChar char="•"/>
              <a:defRPr/>
            </a:pPr>
            <a:r>
              <a:rPr lang="en-US" sz="2400" dirty="0">
                <a:latin typeface="Times New Roman" pitchFamily="18" charset="0"/>
                <a:cs typeface="Times New Roman" pitchFamily="18" charset="0"/>
              </a:rPr>
              <a:t>The </a:t>
            </a:r>
            <a:r>
              <a:rPr lang="en-US" sz="2400" b="1" i="1" dirty="0">
                <a:latin typeface="Times New Roman" pitchFamily="18" charset="0"/>
                <a:cs typeface="Times New Roman" pitchFamily="18" charset="0"/>
              </a:rPr>
              <a:t>database state</a:t>
            </a:r>
            <a:r>
              <a:rPr lang="en-US" sz="2400" dirty="0">
                <a:latin typeface="Times New Roman" pitchFamily="18" charset="0"/>
                <a:cs typeface="Times New Roman" pitchFamily="18" charset="0"/>
              </a:rPr>
              <a:t> changes every time the database is updated. </a:t>
            </a:r>
          </a:p>
          <a:p>
            <a:pPr lvl="1" algn="just">
              <a:buFont typeface="Arial" pitchFamily="34" charset="0"/>
              <a:buChar char="•"/>
              <a:defRPr/>
            </a:pPr>
            <a:endParaRPr lang="en-US" sz="2400" dirty="0">
              <a:latin typeface="Times New Roman" pitchFamily="18" charset="0"/>
              <a:cs typeface="Times New Roman" pitchFamily="18" charset="0"/>
            </a:endParaRPr>
          </a:p>
          <a:p>
            <a:pPr marL="342900" indent="-342900" algn="just">
              <a:buFont typeface="Arial" pitchFamily="34" charset="0"/>
              <a:buChar char="•"/>
              <a:defRPr/>
            </a:pPr>
            <a:r>
              <a:rPr lang="en-US" sz="2400" b="1" dirty="0">
                <a:latin typeface="Times New Roman" pitchFamily="18" charset="0"/>
                <a:cs typeface="Times New Roman" pitchFamily="18" charset="0"/>
              </a:rPr>
              <a:t>Schema</a:t>
            </a:r>
            <a:r>
              <a:rPr lang="en-US" sz="2400" dirty="0">
                <a:latin typeface="Times New Roman" pitchFamily="18" charset="0"/>
                <a:cs typeface="Times New Roman" pitchFamily="18" charset="0"/>
              </a:rPr>
              <a:t> is also called </a:t>
            </a:r>
            <a:r>
              <a:rPr lang="en-US" sz="2400" b="1" dirty="0">
                <a:latin typeface="Times New Roman" pitchFamily="18" charset="0"/>
                <a:cs typeface="Times New Roman" pitchFamily="18" charset="0"/>
              </a:rPr>
              <a:t>intension</a:t>
            </a:r>
            <a:r>
              <a:rPr lang="en-US" sz="2400" dirty="0">
                <a:latin typeface="Times New Roman" pitchFamily="18" charset="0"/>
                <a:cs typeface="Times New Roman" pitchFamily="18" charset="0"/>
              </a:rPr>
              <a:t>.</a:t>
            </a:r>
          </a:p>
          <a:p>
            <a:pPr marL="342900" indent="-342900" algn="just">
              <a:buFont typeface="Arial" pitchFamily="34" charset="0"/>
              <a:buChar char="•"/>
              <a:defRPr/>
            </a:pPr>
            <a:r>
              <a:rPr lang="en-US" sz="2400" b="1" dirty="0">
                <a:latin typeface="Times New Roman" pitchFamily="18" charset="0"/>
                <a:cs typeface="Times New Roman" pitchFamily="18" charset="0"/>
              </a:rPr>
              <a:t>State</a:t>
            </a:r>
            <a:r>
              <a:rPr lang="en-US" sz="2400" dirty="0">
                <a:latin typeface="Times New Roman" pitchFamily="18" charset="0"/>
                <a:cs typeface="Times New Roman" pitchFamily="18" charset="0"/>
              </a:rPr>
              <a:t> is also called </a:t>
            </a:r>
            <a:r>
              <a:rPr lang="en-US" sz="2400" b="1" dirty="0">
                <a:latin typeface="Times New Roman" pitchFamily="18" charset="0"/>
                <a:cs typeface="Times New Roman" pitchFamily="18" charset="0"/>
              </a:rPr>
              <a:t>extension</a:t>
            </a:r>
            <a:r>
              <a:rPr lang="en-US" sz="2400" dirty="0">
                <a:latin typeface="Times New Roman" pitchFamily="18" charset="0"/>
                <a:cs typeface="Times New Roman" pitchFamily="18" charset="0"/>
              </a:rPr>
              <a:t>.</a:t>
            </a:r>
          </a:p>
          <a:p>
            <a:pPr lvl="1">
              <a:defRPr/>
            </a:pPr>
            <a:endParaRPr lang="en-US" sz="2400" dirty="0">
              <a:latin typeface="Times New Roman" pitchFamily="18" charset="0"/>
              <a:cs typeface="Times New Roman" pitchFamily="18" charset="0"/>
            </a:endParaRPr>
          </a:p>
          <a:p>
            <a:pPr algn="just">
              <a:defRPr/>
            </a:pPr>
            <a:endParaRPr lang="en-IN" sz="2400" dirty="0">
              <a:latin typeface="Times New Roman" pitchFamily="18" charset="0"/>
              <a:cs typeface="Times New Roman" pitchFamily="18" charset="0"/>
            </a:endParaRPr>
          </a:p>
        </p:txBody>
      </p:sp>
      <p:sp>
        <p:nvSpPr>
          <p:cNvPr id="55301" name="Rectangle 2">
            <a:extLst>
              <a:ext uri="{FF2B5EF4-FFF2-40B4-BE49-F238E27FC236}">
                <a16:creationId xmlns:a16="http://schemas.microsoft.com/office/drawing/2014/main" xmlns="" id="{6030E365-8EA0-4D75-BD25-F3919765D0A4}"/>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Tree>
  </p:cSld>
  <p:clrMapOvr>
    <a:masterClrMapping/>
  </p:clrMapOvr>
  <p:transition spd="slow">
    <p:wip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15">
            <a:extLst>
              <a:ext uri="{FF2B5EF4-FFF2-40B4-BE49-F238E27FC236}">
                <a16:creationId xmlns:a16="http://schemas.microsoft.com/office/drawing/2014/main" xmlns="" id="{04296226-4F51-4320-932C-10054AF8F088}"/>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56323" name="Picture 1">
            <a:extLst>
              <a:ext uri="{FF2B5EF4-FFF2-40B4-BE49-F238E27FC236}">
                <a16:creationId xmlns:a16="http://schemas.microsoft.com/office/drawing/2014/main" xmlns="" id="{F13C076B-A058-463B-B3EA-FFF5DE36EB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6324" name="Title 3">
            <a:extLst>
              <a:ext uri="{FF2B5EF4-FFF2-40B4-BE49-F238E27FC236}">
                <a16:creationId xmlns:a16="http://schemas.microsoft.com/office/drawing/2014/main" xmlns="" id="{3CE4BCCA-D752-4F68-87AC-069FBF73AA0E}"/>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56325" name="Rectangle 2">
            <a:extLst>
              <a:ext uri="{FF2B5EF4-FFF2-40B4-BE49-F238E27FC236}">
                <a16:creationId xmlns:a16="http://schemas.microsoft.com/office/drawing/2014/main" xmlns="" id="{9800135C-6B79-4329-A217-02E9CCCC923C}"/>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Example of a database state</a:t>
            </a:r>
          </a:p>
        </p:txBody>
      </p:sp>
      <p:pic>
        <p:nvPicPr>
          <p:cNvPr id="56326" name="Picture 6">
            <a:extLst>
              <a:ext uri="{FF2B5EF4-FFF2-40B4-BE49-F238E27FC236}">
                <a16:creationId xmlns:a16="http://schemas.microsoft.com/office/drawing/2014/main" xmlns="" id="{3D0F7D10-6B7D-420A-B4D5-F1E9B5DDE3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78038" y="666750"/>
            <a:ext cx="498792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6327" name="Picture 8">
            <a:extLst>
              <a:ext uri="{FF2B5EF4-FFF2-40B4-BE49-F238E27FC236}">
                <a16:creationId xmlns:a16="http://schemas.microsoft.com/office/drawing/2014/main" xmlns="" id="{E7A396B9-3346-4E15-8230-ED654227EC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81200" y="1657350"/>
            <a:ext cx="8312150" cy="4421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6328" name="Rectangle 1">
            <a:extLst>
              <a:ext uri="{FF2B5EF4-FFF2-40B4-BE49-F238E27FC236}">
                <a16:creationId xmlns:a16="http://schemas.microsoft.com/office/drawing/2014/main" xmlns="" id="{4FFA7061-5597-4605-BAA7-00AB7D4EC73A}"/>
              </a:ext>
            </a:extLst>
          </p:cNvPr>
          <p:cNvSpPr>
            <a:spLocks noChangeArrowheads="1"/>
          </p:cNvSpPr>
          <p:nvPr/>
        </p:nvSpPr>
        <p:spPr bwMode="auto">
          <a:xfrm>
            <a:off x="2973388" y="6113463"/>
            <a:ext cx="7954962" cy="355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1000"/>
              </a:lnSpc>
              <a:spcBef>
                <a:spcPct val="0"/>
              </a:spcBef>
              <a:buFontTx/>
              <a:buNone/>
            </a:pPr>
            <a:r>
              <a:rPr lang="en-US" altLang="en-US" sz="1800" b="1">
                <a:latin typeface="Times New Roman" panose="02020603050405020304" pitchFamily="18" charset="0"/>
                <a:cs typeface="Times New Roman" panose="02020603050405020304" pitchFamily="18" charset="0"/>
              </a:rPr>
              <a:t>Figure 2.2  A database that stores  student and course information</a:t>
            </a:r>
          </a:p>
        </p:txBody>
      </p:sp>
    </p:spTree>
  </p:cSld>
  <p:clrMapOvr>
    <a:masterClrMapping/>
  </p:clrMapOvr>
  <p:transition spd="slow">
    <p:wip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15">
            <a:extLst>
              <a:ext uri="{FF2B5EF4-FFF2-40B4-BE49-F238E27FC236}">
                <a16:creationId xmlns:a16="http://schemas.microsoft.com/office/drawing/2014/main" xmlns="" id="{A51DC6C7-99AC-4AB9-AE44-D62779EAC0B6}"/>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57347" name="Picture 1">
            <a:extLst>
              <a:ext uri="{FF2B5EF4-FFF2-40B4-BE49-F238E27FC236}">
                <a16:creationId xmlns:a16="http://schemas.microsoft.com/office/drawing/2014/main" xmlns="" id="{E1F78C2B-ACE0-47CD-AF3C-BFC97C7717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7348" name="Title 3">
            <a:extLst>
              <a:ext uri="{FF2B5EF4-FFF2-40B4-BE49-F238E27FC236}">
                <a16:creationId xmlns:a16="http://schemas.microsoft.com/office/drawing/2014/main" xmlns="" id="{4CCBCC88-6A48-4F8C-98FA-FF52EC0D656B}"/>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57349" name="Rectangle 2">
            <a:extLst>
              <a:ext uri="{FF2B5EF4-FFF2-40B4-BE49-F238E27FC236}">
                <a16:creationId xmlns:a16="http://schemas.microsoft.com/office/drawing/2014/main" xmlns="" id="{3EEBAFCB-86FE-4309-9042-57BA3720B803}"/>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2.2 Three-Schema Architecture</a:t>
            </a:r>
            <a:endParaRPr lang="en-US" altLang="en-US" b="1">
              <a:latin typeface="Calibri Light" panose="020F0302020204030204" pitchFamily="34" charset="0"/>
            </a:endParaRPr>
          </a:p>
        </p:txBody>
      </p:sp>
      <p:sp>
        <p:nvSpPr>
          <p:cNvPr id="6" name="Content Placeholder 13">
            <a:extLst>
              <a:ext uri="{FF2B5EF4-FFF2-40B4-BE49-F238E27FC236}">
                <a16:creationId xmlns:a16="http://schemas.microsoft.com/office/drawing/2014/main" xmlns="" id="{2B4016EF-9029-4EC3-AD82-303F3FE79071}"/>
              </a:ext>
            </a:extLst>
          </p:cNvPr>
          <p:cNvSpPr txBox="1">
            <a:spLocks/>
          </p:cNvSpPr>
          <p:nvPr/>
        </p:nvSpPr>
        <p:spPr>
          <a:xfrm>
            <a:off x="463550" y="1020763"/>
            <a:ext cx="10953750" cy="4525962"/>
          </a:xfrm>
          <a:prstGeom prst="rect">
            <a:avLst/>
          </a:prstGeom>
        </p:spPr>
        <p:txBody>
          <a:bodyPr/>
          <a:lst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a:pPr>
            <a:r>
              <a:rPr lang="en-US" sz="2400" dirty="0">
                <a:latin typeface="Times New Roman" pitchFamily="18" charset="0"/>
                <a:cs typeface="Times New Roman" pitchFamily="18" charset="0"/>
              </a:rPr>
              <a:t>Proposed to support DBMS characteristics of:</a:t>
            </a:r>
          </a:p>
          <a:p>
            <a:pPr lvl="1" algn="just">
              <a:defRPr/>
            </a:pPr>
            <a:r>
              <a:rPr lang="en-US" b="1" dirty="0">
                <a:latin typeface="Times New Roman" pitchFamily="18" charset="0"/>
                <a:cs typeface="Times New Roman" pitchFamily="18" charset="0"/>
              </a:rPr>
              <a:t>Program-data independence.</a:t>
            </a:r>
          </a:p>
          <a:p>
            <a:pPr lvl="1" algn="just">
              <a:defRPr/>
            </a:pPr>
            <a:r>
              <a:rPr lang="en-US" dirty="0">
                <a:latin typeface="Times New Roman" pitchFamily="18" charset="0"/>
                <a:cs typeface="Times New Roman" pitchFamily="18" charset="0"/>
              </a:rPr>
              <a:t>Support of </a:t>
            </a:r>
            <a:r>
              <a:rPr lang="en-US" b="1" dirty="0">
                <a:latin typeface="Times New Roman" pitchFamily="18" charset="0"/>
                <a:cs typeface="Times New Roman" pitchFamily="18" charset="0"/>
              </a:rPr>
              <a:t>multiple views</a:t>
            </a:r>
            <a:r>
              <a:rPr lang="en-US" dirty="0">
                <a:latin typeface="Times New Roman" pitchFamily="18" charset="0"/>
                <a:cs typeface="Times New Roman" pitchFamily="18" charset="0"/>
              </a:rPr>
              <a:t> of the data.</a:t>
            </a:r>
          </a:p>
          <a:p>
            <a:pPr algn="just">
              <a:defRPr/>
            </a:pPr>
            <a:r>
              <a:rPr lang="en-US" sz="2400" dirty="0">
                <a:latin typeface="Times New Roman" pitchFamily="18" charset="0"/>
                <a:cs typeface="Times New Roman" pitchFamily="18" charset="0"/>
              </a:rPr>
              <a:t>Not explicitly used in commercial DBMS products, but has been useful in explaining database system organization</a:t>
            </a:r>
          </a:p>
          <a:p>
            <a:pPr algn="just">
              <a:defRPr/>
            </a:pPr>
            <a:r>
              <a:rPr lang="en-US" sz="2400" dirty="0">
                <a:latin typeface="Times New Roman" pitchFamily="18" charset="0"/>
                <a:cs typeface="Times New Roman" pitchFamily="18" charset="0"/>
              </a:rPr>
              <a:t>Defines DBMS schemas at </a:t>
            </a:r>
            <a:r>
              <a:rPr lang="en-US" sz="2400" b="1" i="1" dirty="0">
                <a:latin typeface="Times New Roman" pitchFamily="18" charset="0"/>
                <a:cs typeface="Times New Roman" pitchFamily="18" charset="0"/>
              </a:rPr>
              <a:t>three</a:t>
            </a:r>
            <a:r>
              <a:rPr lang="en-US" sz="2400" dirty="0">
                <a:latin typeface="Times New Roman" pitchFamily="18" charset="0"/>
                <a:cs typeface="Times New Roman" pitchFamily="18" charset="0"/>
              </a:rPr>
              <a:t> levels:</a:t>
            </a:r>
          </a:p>
          <a:p>
            <a:pPr marL="914400" lvl="1" indent="-457200" algn="just">
              <a:buFont typeface="Arial" charset="0"/>
              <a:buAutoNum type="arabicPeriod"/>
              <a:defRPr/>
            </a:pPr>
            <a:r>
              <a:rPr lang="en-US" dirty="0">
                <a:latin typeface="Times New Roman" pitchFamily="18" charset="0"/>
                <a:cs typeface="Times New Roman" pitchFamily="18" charset="0"/>
              </a:rPr>
              <a:t>The internal level has an </a:t>
            </a:r>
            <a:r>
              <a:rPr lang="en-US" b="1" dirty="0">
                <a:solidFill>
                  <a:srgbClr val="FF0000"/>
                </a:solidFill>
                <a:latin typeface="Times New Roman" pitchFamily="18" charset="0"/>
                <a:cs typeface="Times New Roman" pitchFamily="18" charset="0"/>
              </a:rPr>
              <a:t>internal schema</a:t>
            </a:r>
            <a:r>
              <a:rPr lang="en-US" dirty="0">
                <a:latin typeface="Times New Roman" pitchFamily="18" charset="0"/>
                <a:cs typeface="Times New Roman" pitchFamily="18" charset="0"/>
              </a:rPr>
              <a:t>, which describes the physical storage structure of the database. The internal schema uses a physical data model and describes the complete details of data storage and access paths for the database</a:t>
            </a:r>
          </a:p>
          <a:p>
            <a:pPr lvl="1" algn="just">
              <a:defRPr/>
            </a:pPr>
            <a:r>
              <a:rPr lang="en-US" dirty="0">
                <a:latin typeface="Times New Roman" pitchFamily="18" charset="0"/>
                <a:cs typeface="Times New Roman" pitchFamily="18" charset="0"/>
              </a:rPr>
              <a:t>Typically uses a </a:t>
            </a:r>
            <a:r>
              <a:rPr lang="en-US" b="1" dirty="0">
                <a:latin typeface="Times New Roman" pitchFamily="18" charset="0"/>
                <a:cs typeface="Times New Roman" pitchFamily="18" charset="0"/>
              </a:rPr>
              <a:t>physical</a:t>
            </a:r>
            <a:r>
              <a:rPr lang="en-US" dirty="0">
                <a:latin typeface="Times New Roman" pitchFamily="18" charset="0"/>
                <a:cs typeface="Times New Roman" pitchFamily="18" charset="0"/>
              </a:rPr>
              <a:t> data model</a:t>
            </a:r>
            <a:endParaRPr lang="en-IN" dirty="0">
              <a:latin typeface="Times New Roman" pitchFamily="18" charset="0"/>
              <a:cs typeface="Times New Roman" pitchFamily="18" charset="0"/>
            </a:endParaRPr>
          </a:p>
        </p:txBody>
      </p:sp>
    </p:spTree>
  </p:cSld>
  <p:clrMapOvr>
    <a:masterClrMapping/>
  </p:clrMapOvr>
  <p:transition spd="slow">
    <p:wip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15">
            <a:extLst>
              <a:ext uri="{FF2B5EF4-FFF2-40B4-BE49-F238E27FC236}">
                <a16:creationId xmlns:a16="http://schemas.microsoft.com/office/drawing/2014/main" xmlns="" id="{8F3F54A7-1808-4693-BCCD-E492AA4B2B2C}"/>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58371" name="Picture 1">
            <a:extLst>
              <a:ext uri="{FF2B5EF4-FFF2-40B4-BE49-F238E27FC236}">
                <a16:creationId xmlns:a16="http://schemas.microsoft.com/office/drawing/2014/main" xmlns="" id="{4D7386BB-D9A7-4231-9320-FB256C9681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844" name="Title 3">
            <a:extLst>
              <a:ext uri="{FF2B5EF4-FFF2-40B4-BE49-F238E27FC236}">
                <a16:creationId xmlns:a16="http://schemas.microsoft.com/office/drawing/2014/main" xmlns="" id="{23546155-F042-4B17-83C0-F4337F9C8D41}"/>
              </a:ext>
            </a:extLst>
          </p:cNvPr>
          <p:cNvSpPr txBox="1">
            <a:spLocks/>
          </p:cNvSpPr>
          <p:nvPr/>
        </p:nvSpPr>
        <p:spPr bwMode="auto">
          <a:xfrm>
            <a:off x="463550" y="8397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marL="914400" lvl="2" indent="0" algn="just">
              <a:defRPr/>
            </a:pPr>
            <a:r>
              <a:rPr lang="en-US" sz="2400" dirty="0">
                <a:latin typeface="Times New Roman" pitchFamily="18" charset="0"/>
                <a:cs typeface="Times New Roman" pitchFamily="18" charset="0"/>
              </a:rPr>
              <a:t>2. The conceptual level has a </a:t>
            </a:r>
            <a:r>
              <a:rPr lang="en-US" sz="2400" dirty="0">
                <a:solidFill>
                  <a:srgbClr val="FF0000"/>
                </a:solidFill>
                <a:latin typeface="Times New Roman" pitchFamily="18" charset="0"/>
                <a:cs typeface="Times New Roman" pitchFamily="18" charset="0"/>
              </a:rPr>
              <a:t>conceptual schema</a:t>
            </a:r>
            <a:r>
              <a:rPr lang="en-US" sz="2400" dirty="0">
                <a:latin typeface="Times New Roman" pitchFamily="18" charset="0"/>
                <a:cs typeface="Times New Roman" pitchFamily="18" charset="0"/>
              </a:rPr>
              <a:t>, which describes the structure of the whole database for a community of users. </a:t>
            </a:r>
          </a:p>
          <a:p>
            <a:pPr marL="1257300" lvl="2" indent="-342900" algn="just">
              <a:buFont typeface="Arial" pitchFamily="34" charset="0"/>
              <a:buChar char="•"/>
              <a:defRPr/>
            </a:pPr>
            <a:r>
              <a:rPr lang="en-US" sz="2400" dirty="0">
                <a:latin typeface="Times New Roman" pitchFamily="18" charset="0"/>
                <a:cs typeface="Times New Roman" pitchFamily="18" charset="0"/>
              </a:rPr>
              <a:t>The conceptual schema hides the details of physical storage structures and concentrates on describing entities, data types, relationships, user operations, and constraints. </a:t>
            </a:r>
          </a:p>
          <a:p>
            <a:pPr marL="1257300" lvl="2" indent="-342900" algn="just">
              <a:buFont typeface="Arial" pitchFamily="34" charset="0"/>
              <a:buChar char="•"/>
              <a:defRPr/>
            </a:pPr>
            <a:r>
              <a:rPr lang="en-US" sz="2400" dirty="0">
                <a:latin typeface="Times New Roman" pitchFamily="18" charset="0"/>
                <a:cs typeface="Times New Roman" pitchFamily="18" charset="0"/>
              </a:rPr>
              <a:t>A representational data model is used to describe the conceptual schema when a database system is implemented. </a:t>
            </a:r>
          </a:p>
          <a:p>
            <a:pPr marL="1257300" lvl="2" indent="-342900" algn="just">
              <a:buFont typeface="Arial" pitchFamily="34" charset="0"/>
              <a:buChar char="•"/>
              <a:defRPr/>
            </a:pPr>
            <a:r>
              <a:rPr lang="en-US" sz="2400" dirty="0">
                <a:latin typeface="Times New Roman" pitchFamily="18" charset="0"/>
                <a:cs typeface="Times New Roman" pitchFamily="18" charset="0"/>
              </a:rPr>
              <a:t>Uses a </a:t>
            </a:r>
            <a:r>
              <a:rPr lang="en-US" sz="2400" b="1" dirty="0">
                <a:latin typeface="Times New Roman" pitchFamily="18" charset="0"/>
                <a:cs typeface="Times New Roman" pitchFamily="18" charset="0"/>
              </a:rPr>
              <a:t>conceptual</a:t>
            </a:r>
            <a:r>
              <a:rPr lang="en-US" sz="2400" dirty="0">
                <a:latin typeface="Times New Roman" pitchFamily="18" charset="0"/>
                <a:cs typeface="Times New Roman" pitchFamily="18" charset="0"/>
              </a:rPr>
              <a:t> or an </a:t>
            </a:r>
            <a:r>
              <a:rPr lang="en-US" sz="2400" b="1" dirty="0">
                <a:latin typeface="Times New Roman" pitchFamily="18" charset="0"/>
                <a:cs typeface="Times New Roman" pitchFamily="18" charset="0"/>
              </a:rPr>
              <a:t>implementation</a:t>
            </a:r>
            <a:r>
              <a:rPr lang="en-US" sz="2400" dirty="0">
                <a:latin typeface="Times New Roman" pitchFamily="18" charset="0"/>
                <a:cs typeface="Times New Roman" pitchFamily="18" charset="0"/>
              </a:rPr>
              <a:t> data model.</a:t>
            </a:r>
          </a:p>
          <a:p>
            <a:pPr marL="914400" lvl="2" indent="0" algn="just">
              <a:defRPr/>
            </a:pPr>
            <a:endParaRPr lang="en-US" sz="2000" dirty="0">
              <a:latin typeface="Times New Roman" pitchFamily="18" charset="0"/>
              <a:cs typeface="Times New Roman" pitchFamily="18" charset="0"/>
            </a:endParaRPr>
          </a:p>
          <a:p>
            <a:pPr marL="457200" lvl="1" indent="0" algn="just">
              <a:defRPr/>
            </a:pPr>
            <a:r>
              <a:rPr lang="en-US" sz="2400" dirty="0">
                <a:latin typeface="Times New Roman" pitchFamily="18" charset="0"/>
                <a:cs typeface="Times New Roman" pitchFamily="18" charset="0"/>
              </a:rPr>
              <a:t>       3. The external or view level includes a number of </a:t>
            </a:r>
            <a:r>
              <a:rPr lang="en-US" sz="2400" dirty="0">
                <a:solidFill>
                  <a:srgbClr val="FF0000"/>
                </a:solidFill>
                <a:latin typeface="Times New Roman" pitchFamily="18" charset="0"/>
                <a:cs typeface="Times New Roman" pitchFamily="18" charset="0"/>
              </a:rPr>
              <a:t>external schemas </a:t>
            </a:r>
            <a:r>
              <a:rPr lang="en-US" sz="2400" dirty="0">
                <a:latin typeface="Times New Roman" pitchFamily="18" charset="0"/>
                <a:cs typeface="Times New Roman" pitchFamily="18" charset="0"/>
              </a:rPr>
              <a:t>or user views. Each external schema describes the part of the database that a particular user group is interested in and hides the rest of the database from that user group.</a:t>
            </a:r>
          </a:p>
          <a:p>
            <a:pPr marL="800100" lvl="1" indent="-342900" algn="just">
              <a:buFont typeface="Arial" pitchFamily="34" charset="0"/>
              <a:buChar char="•"/>
              <a:defRPr/>
            </a:pPr>
            <a:r>
              <a:rPr lang="en-US" sz="2400" dirty="0">
                <a:latin typeface="Times New Roman" pitchFamily="18" charset="0"/>
                <a:cs typeface="Times New Roman" pitchFamily="18" charset="0"/>
              </a:rPr>
              <a:t>Usually uses the same data model as the conceptual level.</a:t>
            </a:r>
          </a:p>
          <a:p>
            <a:pPr marL="457200" lvl="1" indent="0" algn="just">
              <a:defRPr/>
            </a:pPr>
            <a:endParaRPr lang="en-US" sz="2000" dirty="0">
              <a:latin typeface="Times New Roman" pitchFamily="18" charset="0"/>
              <a:cs typeface="Times New Roman" pitchFamily="18" charset="0"/>
            </a:endParaRPr>
          </a:p>
        </p:txBody>
      </p:sp>
      <p:sp>
        <p:nvSpPr>
          <p:cNvPr id="58373" name="Rectangle 2">
            <a:extLst>
              <a:ext uri="{FF2B5EF4-FFF2-40B4-BE49-F238E27FC236}">
                <a16:creationId xmlns:a16="http://schemas.microsoft.com/office/drawing/2014/main" xmlns="" id="{741EDB35-D119-46AF-9A06-C2E46105F8C9}"/>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Three-Schema Architecture continued</a:t>
            </a:r>
          </a:p>
        </p:txBody>
      </p:sp>
    </p:spTree>
  </p:cSld>
  <p:clrMapOvr>
    <a:masterClrMapping/>
  </p:clrMapOvr>
  <p:transition spd="slow">
    <p:wip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15">
            <a:extLst>
              <a:ext uri="{FF2B5EF4-FFF2-40B4-BE49-F238E27FC236}">
                <a16:creationId xmlns:a16="http://schemas.microsoft.com/office/drawing/2014/main" xmlns="" id="{2665C1EB-360D-4032-9A19-527E191EB1B5}"/>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59395" name="Picture 1">
            <a:extLst>
              <a:ext uri="{FF2B5EF4-FFF2-40B4-BE49-F238E27FC236}">
                <a16:creationId xmlns:a16="http://schemas.microsoft.com/office/drawing/2014/main" xmlns="" id="{7BCD879C-67C1-4CFB-B68A-57F5D7EA5A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6" name="Title 3">
            <a:extLst>
              <a:ext uri="{FF2B5EF4-FFF2-40B4-BE49-F238E27FC236}">
                <a16:creationId xmlns:a16="http://schemas.microsoft.com/office/drawing/2014/main" xmlns="" id="{9DFE3781-3765-41E2-9201-4C59FB497294}"/>
              </a:ext>
            </a:extLst>
          </p:cNvPr>
          <p:cNvSpPr txBox="1">
            <a:spLocks/>
          </p:cNvSpPr>
          <p:nvPr/>
        </p:nvSpPr>
        <p:spPr bwMode="auto">
          <a:xfrm>
            <a:off x="463550" y="852488"/>
            <a:ext cx="11353800" cy="543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800" b="1">
                <a:latin typeface="Times New Roman" panose="02020603050405020304" pitchFamily="18" charset="0"/>
                <a:cs typeface="Times New Roman" panose="02020603050405020304" pitchFamily="18" charset="0"/>
              </a:rPr>
              <a:t>Figure 2.3  The three schema architecture</a:t>
            </a:r>
          </a:p>
        </p:txBody>
      </p:sp>
      <p:sp>
        <p:nvSpPr>
          <p:cNvPr id="59397" name="Rectangle 2">
            <a:extLst>
              <a:ext uri="{FF2B5EF4-FFF2-40B4-BE49-F238E27FC236}">
                <a16:creationId xmlns:a16="http://schemas.microsoft.com/office/drawing/2014/main" xmlns="" id="{528C3463-47B2-4BDA-8EA8-F312A43A6B57}"/>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Three-Schema Architecture continued</a:t>
            </a:r>
          </a:p>
        </p:txBody>
      </p:sp>
      <p:pic>
        <p:nvPicPr>
          <p:cNvPr id="59398" name="Picture 7">
            <a:extLst>
              <a:ext uri="{FF2B5EF4-FFF2-40B4-BE49-F238E27FC236}">
                <a16:creationId xmlns:a16="http://schemas.microsoft.com/office/drawing/2014/main" xmlns="" id="{29AA9C15-DBB0-4271-9393-147AC0F7FC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67000" y="1000125"/>
            <a:ext cx="6858000" cy="485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15">
            <a:extLst>
              <a:ext uri="{FF2B5EF4-FFF2-40B4-BE49-F238E27FC236}">
                <a16:creationId xmlns:a16="http://schemas.microsoft.com/office/drawing/2014/main" xmlns="" id="{48C6A292-B539-4CA9-A77D-85C37A4939D7}"/>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60419" name="Picture 1">
            <a:extLst>
              <a:ext uri="{FF2B5EF4-FFF2-40B4-BE49-F238E27FC236}">
                <a16:creationId xmlns:a16="http://schemas.microsoft.com/office/drawing/2014/main" xmlns="" id="{BA7153DB-394E-49D0-B70A-CB34A46CD3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892" name="Title 3">
            <a:extLst>
              <a:ext uri="{FF2B5EF4-FFF2-40B4-BE49-F238E27FC236}">
                <a16:creationId xmlns:a16="http://schemas.microsoft.com/office/drawing/2014/main" xmlns="" id="{6F569370-D27A-41EA-B1E2-13543A001DE4}"/>
              </a:ext>
            </a:extLst>
          </p:cNvPr>
          <p:cNvSpPr txBox="1">
            <a:spLocks/>
          </p:cNvSpPr>
          <p:nvPr/>
        </p:nvSpPr>
        <p:spPr bwMode="auto">
          <a:xfrm>
            <a:off x="463550" y="852488"/>
            <a:ext cx="11091863"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marL="342900" indent="-342900" algn="just">
              <a:buFont typeface="Arial" pitchFamily="34" charset="0"/>
              <a:buChar char="•"/>
              <a:defRPr/>
            </a:pPr>
            <a:r>
              <a:rPr lang="en-US" sz="2400" dirty="0">
                <a:solidFill>
                  <a:srgbClr val="FF0000"/>
                </a:solidFill>
                <a:latin typeface="Times New Roman" pitchFamily="18" charset="0"/>
                <a:cs typeface="Times New Roman" pitchFamily="18" charset="0"/>
              </a:rPr>
              <a:t>Mappings</a:t>
            </a:r>
            <a:r>
              <a:rPr lang="en-US" sz="2400" dirty="0">
                <a:latin typeface="Times New Roman" pitchFamily="18" charset="0"/>
                <a:cs typeface="Times New Roman" pitchFamily="18" charset="0"/>
              </a:rPr>
              <a:t> among schema levels are needed to transform requests and data. </a:t>
            </a:r>
          </a:p>
          <a:p>
            <a:pPr algn="just">
              <a:defRPr/>
            </a:pPr>
            <a:endParaRPr lang="en-US" sz="2400" dirty="0">
              <a:latin typeface="Times New Roman" pitchFamily="18" charset="0"/>
              <a:cs typeface="Times New Roman" pitchFamily="18" charset="0"/>
            </a:endParaRPr>
          </a:p>
          <a:p>
            <a:pPr marL="800100" lvl="1" indent="-342900" algn="just">
              <a:buFont typeface="Arial" pitchFamily="34" charset="0"/>
              <a:buChar char="•"/>
              <a:defRPr/>
            </a:pPr>
            <a:r>
              <a:rPr lang="en-US" sz="2400" dirty="0">
                <a:latin typeface="Times New Roman" pitchFamily="18" charset="0"/>
                <a:cs typeface="Times New Roman" pitchFamily="18" charset="0"/>
              </a:rPr>
              <a:t>Programs refer to an external schema, and are mapped by the DBMS to the internal schema for execution.</a:t>
            </a:r>
          </a:p>
          <a:p>
            <a:pPr marL="457200" lvl="1" indent="0" algn="just">
              <a:defRPr/>
            </a:pPr>
            <a:endParaRPr lang="en-US" sz="2400" dirty="0">
              <a:latin typeface="Times New Roman" pitchFamily="18" charset="0"/>
              <a:cs typeface="Times New Roman" pitchFamily="18" charset="0"/>
            </a:endParaRPr>
          </a:p>
          <a:p>
            <a:pPr marL="800100" lvl="1" indent="-342900" algn="just">
              <a:buFont typeface="Arial" pitchFamily="34" charset="0"/>
              <a:buChar char="•"/>
              <a:defRPr/>
            </a:pPr>
            <a:r>
              <a:rPr lang="en-US" sz="2400" dirty="0">
                <a:latin typeface="Times New Roman" pitchFamily="18" charset="0"/>
                <a:cs typeface="Times New Roman" pitchFamily="18" charset="0"/>
              </a:rPr>
              <a:t>Data extracted from the internal DBMS level is reformatted to match the user’s external view (e.g. formatting the results of an SQL query for display in a Web page)</a:t>
            </a:r>
          </a:p>
          <a:p>
            <a:pPr marL="342900" indent="-342900" algn="just">
              <a:buFont typeface="Arial" pitchFamily="34" charset="0"/>
              <a:buChar char="•"/>
              <a:defRPr/>
            </a:pPr>
            <a:endParaRPr lang="en-IN" sz="2400" dirty="0">
              <a:latin typeface="Times New Roman" pitchFamily="18" charset="0"/>
              <a:cs typeface="Times New Roman" pitchFamily="18" charset="0"/>
            </a:endParaRPr>
          </a:p>
        </p:txBody>
      </p:sp>
      <p:sp>
        <p:nvSpPr>
          <p:cNvPr id="60421" name="Rectangle 2">
            <a:extLst>
              <a:ext uri="{FF2B5EF4-FFF2-40B4-BE49-F238E27FC236}">
                <a16:creationId xmlns:a16="http://schemas.microsoft.com/office/drawing/2014/main" xmlns="" id="{A86AC29D-ACC8-4D0B-B879-5D986F38BAAA}"/>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Three-Schema Architecture continued</a:t>
            </a:r>
          </a:p>
        </p:txBody>
      </p:sp>
    </p:spTree>
  </p:cSld>
  <p:clrMapOvr>
    <a:masterClrMapping/>
  </p:clrMapOvr>
  <p:transition spd="slow">
    <p:wip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15">
            <a:extLst>
              <a:ext uri="{FF2B5EF4-FFF2-40B4-BE49-F238E27FC236}">
                <a16:creationId xmlns:a16="http://schemas.microsoft.com/office/drawing/2014/main" xmlns="" id="{E588218C-E48B-4E30-8FBD-2EC6E081826B}"/>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61443" name="Picture 1">
            <a:extLst>
              <a:ext uri="{FF2B5EF4-FFF2-40B4-BE49-F238E27FC236}">
                <a16:creationId xmlns:a16="http://schemas.microsoft.com/office/drawing/2014/main" xmlns="" id="{B551F8B0-F811-45D6-A2B2-A794374094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44" name="Title 3">
            <a:extLst>
              <a:ext uri="{FF2B5EF4-FFF2-40B4-BE49-F238E27FC236}">
                <a16:creationId xmlns:a16="http://schemas.microsoft.com/office/drawing/2014/main" xmlns="" id="{DD3382A4-2719-433B-8308-850341C177F8}"/>
              </a:ext>
            </a:extLst>
          </p:cNvPr>
          <p:cNvSpPr txBox="1">
            <a:spLocks/>
          </p:cNvSpPr>
          <p:nvPr/>
        </p:nvSpPr>
        <p:spPr bwMode="auto">
          <a:xfrm>
            <a:off x="1701800" y="889000"/>
            <a:ext cx="11353800" cy="5483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nSpc>
                <a:spcPct val="100000"/>
              </a:lnSpc>
              <a:spcBef>
                <a:spcPct val="0"/>
              </a:spcBef>
              <a:buFontTx/>
              <a:buNone/>
            </a:pPr>
            <a:r>
              <a:rPr lang="en-US" altLang="en-US" sz="1600">
                <a:latin typeface="Times New Roman" panose="02020603050405020304" pitchFamily="18" charset="0"/>
                <a:cs typeface="Times New Roman" panose="02020603050405020304" pitchFamily="18" charset="0"/>
              </a:rPr>
              <a:t>External Schema (View 1 ):</a:t>
            </a: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r>
              <a:rPr lang="en-US" altLang="en-US" sz="1600">
                <a:latin typeface="Times New Roman" panose="02020603050405020304" pitchFamily="18" charset="0"/>
                <a:cs typeface="Times New Roman" panose="02020603050405020304" pitchFamily="18" charset="0"/>
              </a:rPr>
              <a:t>External Schema (View 2):</a:t>
            </a: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r>
              <a:rPr lang="en-US" altLang="en-US" sz="1600">
                <a:latin typeface="Arial" panose="020B0604020202020204" pitchFamily="34" charset="0"/>
              </a:rPr>
              <a:t>Conceptual schema:</a:t>
            </a: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US" altLang="en-US" sz="1600">
              <a:latin typeface="Times New Roman" panose="02020603050405020304" pitchFamily="18" charset="0"/>
              <a:cs typeface="Times New Roman" panose="02020603050405020304" pitchFamily="18" charset="0"/>
            </a:endParaRPr>
          </a:p>
          <a:p>
            <a:pPr lvl="1">
              <a:lnSpc>
                <a:spcPct val="100000"/>
              </a:lnSpc>
              <a:spcBef>
                <a:spcPct val="0"/>
              </a:spcBef>
              <a:buFontTx/>
              <a:buNone/>
            </a:pPr>
            <a:endParaRPr lang="en-IN" altLang="en-US" sz="1800">
              <a:latin typeface="Arial" panose="020B0604020202020204" pitchFamily="34" charset="0"/>
            </a:endParaRPr>
          </a:p>
          <a:p>
            <a:pPr>
              <a:lnSpc>
                <a:spcPct val="100000"/>
              </a:lnSpc>
              <a:spcBef>
                <a:spcPct val="0"/>
              </a:spcBef>
              <a:buFontTx/>
              <a:buNone/>
            </a:pPr>
            <a:r>
              <a:rPr lang="en-US" altLang="en-US" sz="1800">
                <a:latin typeface="Arial" panose="020B0604020202020204" pitchFamily="34" charset="0"/>
              </a:rPr>
              <a:t>.</a:t>
            </a:r>
            <a:endParaRPr lang="en-IN" altLang="en-US" sz="1100">
              <a:latin typeface="Arial" panose="020B0604020202020204" pitchFamily="34" charset="0"/>
            </a:endParaRPr>
          </a:p>
          <a:p>
            <a:pPr>
              <a:lnSpc>
                <a:spcPct val="100000"/>
              </a:lnSpc>
              <a:spcBef>
                <a:spcPct val="0"/>
              </a:spcBef>
              <a:buFontTx/>
              <a:buNone/>
            </a:pPr>
            <a:r>
              <a:rPr lang="en-US" altLang="en-US" sz="1800">
                <a:latin typeface="Arial" panose="020B0604020202020204" pitchFamily="34" charset="0"/>
              </a:rPr>
              <a:t> Physical schema:</a:t>
            </a:r>
            <a:endParaRPr lang="en-IN"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IN" altLang="en-US" sz="1100">
              <a:latin typeface="Arial" panose="020B0604020202020204" pitchFamily="34" charset="0"/>
            </a:endParaRPr>
          </a:p>
          <a:p>
            <a:pPr algn="ctr">
              <a:lnSpc>
                <a:spcPct val="100000"/>
              </a:lnSpc>
              <a:spcBef>
                <a:spcPct val="0"/>
              </a:spcBef>
              <a:buFontTx/>
              <a:buNone/>
            </a:pPr>
            <a:r>
              <a:rPr lang="en-IN" altLang="en-US" sz="1600" b="1">
                <a:latin typeface="Times New Roman" panose="02020603050405020304" pitchFamily="18" charset="0"/>
                <a:cs typeface="Times New Roman" panose="02020603050405020304" pitchFamily="18" charset="0"/>
              </a:rPr>
              <a:t>Figure 2.4 Reference:  </a:t>
            </a:r>
            <a:r>
              <a:rPr lang="en-IN" altLang="en-US" sz="1600" b="1">
                <a:latin typeface="Times New Roman" panose="02020603050405020304" pitchFamily="18" charset="0"/>
                <a:cs typeface="Times New Roman" panose="02020603050405020304" pitchFamily="18" charset="0"/>
                <a:hlinkClick r:id="rId3"/>
              </a:rPr>
              <a:t>https://www.slideshare.net/shubhamdwivedi3939/dbms-architecture</a:t>
            </a:r>
            <a:endParaRPr lang="en-IN" altLang="en-US" sz="1600" b="1">
              <a:latin typeface="Times New Roman" panose="02020603050405020304" pitchFamily="18" charset="0"/>
              <a:cs typeface="Times New Roman" panose="02020603050405020304" pitchFamily="18" charset="0"/>
            </a:endParaRPr>
          </a:p>
        </p:txBody>
      </p:sp>
      <p:sp>
        <p:nvSpPr>
          <p:cNvPr id="61445" name="Rectangle 2">
            <a:extLst>
              <a:ext uri="{FF2B5EF4-FFF2-40B4-BE49-F238E27FC236}">
                <a16:creationId xmlns:a16="http://schemas.microsoft.com/office/drawing/2014/main" xmlns="" id="{83B2AB9A-7E07-4465-B9A3-525D38A5BDFC}"/>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a:latin typeface="Arial" panose="020B0604020202020204" pitchFamily="34" charset="0"/>
              </a:rPr>
              <a:t>Example: University Database</a:t>
            </a:r>
            <a:endParaRPr lang="en-US" altLang="en-US" b="1">
              <a:latin typeface="Times New Roman" panose="02020603050405020304" pitchFamily="18" charset="0"/>
              <a:cs typeface="Times New Roman" panose="02020603050405020304" pitchFamily="18" charset="0"/>
            </a:endParaRPr>
          </a:p>
        </p:txBody>
      </p:sp>
      <p:grpSp>
        <p:nvGrpSpPr>
          <p:cNvPr id="61446" name="Group 2">
            <a:extLst>
              <a:ext uri="{FF2B5EF4-FFF2-40B4-BE49-F238E27FC236}">
                <a16:creationId xmlns:a16="http://schemas.microsoft.com/office/drawing/2014/main" xmlns="" id="{BBD73E79-ED80-4ADD-9A43-6E24B1D0E9D0}"/>
              </a:ext>
            </a:extLst>
          </p:cNvPr>
          <p:cNvGrpSpPr>
            <a:grpSpLocks/>
          </p:cNvGrpSpPr>
          <p:nvPr/>
        </p:nvGrpSpPr>
        <p:grpSpPr bwMode="auto">
          <a:xfrm>
            <a:off x="5264150" y="933450"/>
            <a:ext cx="4940300" cy="1041400"/>
            <a:chOff x="6010" y="-107"/>
            <a:chExt cx="7781" cy="1642"/>
          </a:xfrm>
        </p:grpSpPr>
        <p:pic>
          <p:nvPicPr>
            <p:cNvPr id="61458" name="Picture 3">
              <a:extLst>
                <a:ext uri="{FF2B5EF4-FFF2-40B4-BE49-F238E27FC236}">
                  <a16:creationId xmlns:a16="http://schemas.microsoft.com/office/drawing/2014/main" xmlns="" id="{3200FD93-E2EC-43EF-B61C-3BC6F943876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9" y="-107"/>
              <a:ext cx="7781" cy="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59" name="Picture 4">
              <a:extLst>
                <a:ext uri="{FF2B5EF4-FFF2-40B4-BE49-F238E27FC236}">
                  <a16:creationId xmlns:a16="http://schemas.microsoft.com/office/drawing/2014/main" xmlns="" id="{EA396106-09F1-4237-9C63-3900805885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0" y="3"/>
              <a:ext cx="7560"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0" name="Picture 5">
              <a:extLst>
                <a:ext uri="{FF2B5EF4-FFF2-40B4-BE49-F238E27FC236}">
                  <a16:creationId xmlns:a16="http://schemas.microsoft.com/office/drawing/2014/main" xmlns="" id="{AC9FA5B5-70B7-4BC2-B660-D114659A9D1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09" y="733"/>
              <a:ext cx="7781" cy="8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61" name="Picture 6">
              <a:extLst>
                <a:ext uri="{FF2B5EF4-FFF2-40B4-BE49-F238E27FC236}">
                  <a16:creationId xmlns:a16="http://schemas.microsoft.com/office/drawing/2014/main" xmlns="" id="{AA225734-F357-4DFB-9E8E-20DB5009BB8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120" y="843"/>
              <a:ext cx="7560" cy="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62" name="Text Box 7">
              <a:extLst>
                <a:ext uri="{FF2B5EF4-FFF2-40B4-BE49-F238E27FC236}">
                  <a16:creationId xmlns:a16="http://schemas.microsoft.com/office/drawing/2014/main" xmlns="" id="{A109815A-B665-4B7F-BD27-5B2ECAC9EA03}"/>
                </a:ext>
              </a:extLst>
            </p:cNvPr>
            <p:cNvSpPr txBox="1">
              <a:spLocks noChangeArrowheads="1"/>
            </p:cNvSpPr>
            <p:nvPr/>
          </p:nvSpPr>
          <p:spPr bwMode="auto">
            <a:xfrm>
              <a:off x="6120" y="843"/>
              <a:ext cx="7560" cy="581"/>
            </a:xfrm>
            <a:prstGeom prst="rect">
              <a:avLst/>
            </a:prstGeom>
            <a:noFill/>
            <a:ln w="9144">
              <a:solidFill>
                <a:srgbClr val="209AC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1">
                <a:lnSpc>
                  <a:spcPct val="100000"/>
                </a:lnSpc>
                <a:spcBef>
                  <a:spcPts val="388"/>
                </a:spcBef>
                <a:spcAft>
                  <a:spcPts val="1000"/>
                </a:spcAft>
                <a:buFontTx/>
                <a:buNone/>
              </a:pPr>
              <a:r>
                <a:rPr lang="en-IN" altLang="en-US" sz="1800" i="1"/>
                <a:t>student_info(cid:string, name:string)</a:t>
              </a:r>
              <a:endParaRPr lang="en-US" altLang="en-US" sz="1800">
                <a:latin typeface="Arial" panose="020B0604020202020204" pitchFamily="34" charset="0"/>
              </a:endParaRPr>
            </a:p>
          </p:txBody>
        </p:sp>
      </p:grpSp>
      <p:sp>
        <p:nvSpPr>
          <p:cNvPr id="61447" name="Rectangle 3">
            <a:extLst>
              <a:ext uri="{FF2B5EF4-FFF2-40B4-BE49-F238E27FC236}">
                <a16:creationId xmlns:a16="http://schemas.microsoft.com/office/drawing/2014/main" xmlns="" id="{267BB2A7-EAD1-4401-AFE8-38B4D61BE309}"/>
              </a:ext>
            </a:extLst>
          </p:cNvPr>
          <p:cNvSpPr>
            <a:spLocks noChangeArrowheads="1"/>
          </p:cNvSpPr>
          <p:nvPr/>
        </p:nvSpPr>
        <p:spPr bwMode="auto">
          <a:xfrm>
            <a:off x="5530850" y="1003300"/>
            <a:ext cx="38909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800" i="1">
                <a:latin typeface="Arial" panose="020B0604020202020204" pitchFamily="34" charset="0"/>
              </a:rPr>
              <a:t>Course_info(cid:string,cname:string)</a:t>
            </a:r>
            <a:endParaRPr lang="en-IN" altLang="en-US" sz="1800">
              <a:latin typeface="Arial" panose="020B0604020202020204" pitchFamily="34" charset="0"/>
            </a:endParaRPr>
          </a:p>
        </p:txBody>
      </p:sp>
      <p:grpSp>
        <p:nvGrpSpPr>
          <p:cNvPr id="61448" name="Group 8">
            <a:extLst>
              <a:ext uri="{FF2B5EF4-FFF2-40B4-BE49-F238E27FC236}">
                <a16:creationId xmlns:a16="http://schemas.microsoft.com/office/drawing/2014/main" xmlns="" id="{CBFD4852-923F-4D79-88E3-C312D25D3A00}"/>
              </a:ext>
            </a:extLst>
          </p:cNvPr>
          <p:cNvGrpSpPr>
            <a:grpSpLocks/>
          </p:cNvGrpSpPr>
          <p:nvPr/>
        </p:nvGrpSpPr>
        <p:grpSpPr bwMode="auto">
          <a:xfrm>
            <a:off x="5114925" y="2338388"/>
            <a:ext cx="5484813" cy="2586037"/>
            <a:chOff x="5770" y="-1549"/>
            <a:chExt cx="8638" cy="4728"/>
          </a:xfrm>
        </p:grpSpPr>
        <p:pic>
          <p:nvPicPr>
            <p:cNvPr id="61455" name="Picture 9">
              <a:extLst>
                <a:ext uri="{FF2B5EF4-FFF2-40B4-BE49-F238E27FC236}">
                  <a16:creationId xmlns:a16="http://schemas.microsoft.com/office/drawing/2014/main" xmlns="" id="{F4133008-40B8-479E-A14E-78AE7AE9B55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69" y="-1549"/>
              <a:ext cx="8631" cy="47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56" name="Picture 10">
              <a:extLst>
                <a:ext uri="{FF2B5EF4-FFF2-40B4-BE49-F238E27FC236}">
                  <a16:creationId xmlns:a16="http://schemas.microsoft.com/office/drawing/2014/main" xmlns="" id="{18B9CEF9-4D6C-4E50-BF9F-00B60D94648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80" y="-1439"/>
              <a:ext cx="8520" cy="45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57" name="Rectangle 11">
              <a:extLst>
                <a:ext uri="{FF2B5EF4-FFF2-40B4-BE49-F238E27FC236}">
                  <a16:creationId xmlns:a16="http://schemas.microsoft.com/office/drawing/2014/main" xmlns="" id="{69DAEF77-C6CA-4B57-A365-9B7CB1279802}"/>
                </a:ext>
              </a:extLst>
            </p:cNvPr>
            <p:cNvSpPr>
              <a:spLocks noChangeArrowheads="1"/>
            </p:cNvSpPr>
            <p:nvPr/>
          </p:nvSpPr>
          <p:spPr bwMode="auto">
            <a:xfrm>
              <a:off x="5880" y="-1439"/>
              <a:ext cx="8520" cy="4508"/>
            </a:xfrm>
            <a:prstGeom prst="rect">
              <a:avLst/>
            </a:prstGeom>
            <a:noFill/>
            <a:ln w="9144">
              <a:solidFill>
                <a:srgbClr val="209AC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IN" altLang="en-US" sz="1800">
                <a:latin typeface="Arial" panose="020B0604020202020204" pitchFamily="34" charset="0"/>
              </a:endParaRPr>
            </a:p>
          </p:txBody>
        </p:sp>
      </p:grpSp>
      <p:sp>
        <p:nvSpPr>
          <p:cNvPr id="61449" name="Rectangle 6">
            <a:extLst>
              <a:ext uri="{FF2B5EF4-FFF2-40B4-BE49-F238E27FC236}">
                <a16:creationId xmlns:a16="http://schemas.microsoft.com/office/drawing/2014/main" xmlns="" id="{22CD9678-3EB5-43C4-AB8B-46569F2DEAE6}"/>
              </a:ext>
            </a:extLst>
          </p:cNvPr>
          <p:cNvSpPr>
            <a:spLocks noChangeArrowheads="1"/>
          </p:cNvSpPr>
          <p:nvPr/>
        </p:nvSpPr>
        <p:spPr bwMode="auto">
          <a:xfrm>
            <a:off x="5264150" y="2697163"/>
            <a:ext cx="6096000" cy="2030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800" i="1">
                <a:latin typeface="Arial" panose="020B0604020202020204" pitchFamily="34" charset="0"/>
              </a:rPr>
              <a:t>Students(sid: string</a:t>
            </a:r>
            <a:endParaRPr lang="en-IN" altLang="en-US" sz="1800">
              <a:latin typeface="Arial" panose="020B0604020202020204" pitchFamily="34" charset="0"/>
            </a:endParaRPr>
          </a:p>
          <a:p>
            <a:pPr>
              <a:lnSpc>
                <a:spcPct val="100000"/>
              </a:lnSpc>
              <a:spcBef>
                <a:spcPct val="0"/>
              </a:spcBef>
              <a:buFontTx/>
              <a:buNone/>
            </a:pPr>
            <a:r>
              <a:rPr lang="en-US" altLang="en-US" sz="1800" i="1">
                <a:latin typeface="Arial" panose="020B0604020202020204" pitchFamily="34" charset="0"/>
              </a:rPr>
              <a:t>name: string, login: string, age: integer)</a:t>
            </a:r>
            <a:endParaRPr lang="en-IN" altLang="en-US" sz="1800">
              <a:latin typeface="Arial" panose="020B0604020202020204" pitchFamily="34" charset="0"/>
            </a:endParaRPr>
          </a:p>
          <a:p>
            <a:pPr>
              <a:lnSpc>
                <a:spcPct val="100000"/>
              </a:lnSpc>
              <a:spcBef>
                <a:spcPct val="0"/>
              </a:spcBef>
              <a:buFontTx/>
              <a:buNone/>
            </a:pPr>
            <a:r>
              <a:rPr lang="en-US" altLang="en-US" sz="1800" i="1">
                <a:latin typeface="Arial" panose="020B0604020202020204" pitchFamily="34" charset="0"/>
              </a:rPr>
              <a:t>Courses(cid: string,</a:t>
            </a:r>
            <a:endParaRPr lang="en-IN" altLang="en-US" sz="1800">
              <a:latin typeface="Arial" panose="020B0604020202020204" pitchFamily="34" charset="0"/>
            </a:endParaRPr>
          </a:p>
          <a:p>
            <a:pPr>
              <a:lnSpc>
                <a:spcPct val="100000"/>
              </a:lnSpc>
              <a:spcBef>
                <a:spcPct val="0"/>
              </a:spcBef>
              <a:buFontTx/>
              <a:buNone/>
            </a:pPr>
            <a:r>
              <a:rPr lang="en-US" altLang="en-US" sz="1800" i="1">
                <a:latin typeface="Arial" panose="020B0604020202020204" pitchFamily="34" charset="0"/>
              </a:rPr>
              <a:t>cname:string,</a:t>
            </a:r>
            <a:endParaRPr lang="en-IN" altLang="en-US" sz="1800">
              <a:latin typeface="Arial" panose="020B0604020202020204" pitchFamily="34" charset="0"/>
            </a:endParaRPr>
          </a:p>
          <a:p>
            <a:pPr>
              <a:lnSpc>
                <a:spcPct val="100000"/>
              </a:lnSpc>
              <a:spcBef>
                <a:spcPct val="0"/>
              </a:spcBef>
              <a:buFontTx/>
              <a:buNone/>
            </a:pPr>
            <a:r>
              <a:rPr lang="en-US" altLang="en-US" sz="1800" i="1">
                <a:latin typeface="Arial" panose="020B0604020202020204" pitchFamily="34" charset="0"/>
              </a:rPr>
              <a:t>credits:integer)</a:t>
            </a:r>
            <a:endParaRPr lang="en-IN" altLang="en-US" sz="1800">
              <a:latin typeface="Arial" panose="020B0604020202020204" pitchFamily="34" charset="0"/>
            </a:endParaRPr>
          </a:p>
          <a:p>
            <a:pPr>
              <a:lnSpc>
                <a:spcPct val="100000"/>
              </a:lnSpc>
              <a:spcBef>
                <a:spcPct val="0"/>
              </a:spcBef>
              <a:buFontTx/>
              <a:buNone/>
            </a:pPr>
            <a:r>
              <a:rPr lang="en-US" altLang="en-US" sz="1800" i="1">
                <a:latin typeface="Arial" panose="020B0604020202020204" pitchFamily="34" charset="0"/>
              </a:rPr>
              <a:t>Enrolled(Eid:string,</a:t>
            </a:r>
            <a:endParaRPr lang="en-IN" altLang="en-US" sz="1800">
              <a:latin typeface="Arial" panose="020B0604020202020204" pitchFamily="34" charset="0"/>
            </a:endParaRPr>
          </a:p>
          <a:p>
            <a:pPr>
              <a:lnSpc>
                <a:spcPct val="100000"/>
              </a:lnSpc>
              <a:spcBef>
                <a:spcPct val="0"/>
              </a:spcBef>
              <a:buFontTx/>
              <a:buNone/>
            </a:pPr>
            <a:r>
              <a:rPr lang="en-US" altLang="en-US" sz="1800" i="1">
                <a:latin typeface="Arial" panose="020B0604020202020204" pitchFamily="34" charset="0"/>
              </a:rPr>
              <a:t>cid:string, grade:string)</a:t>
            </a:r>
            <a:endParaRPr lang="en-IN" altLang="en-US" sz="1800">
              <a:latin typeface="Arial" panose="020B0604020202020204" pitchFamily="34" charset="0"/>
            </a:endParaRPr>
          </a:p>
        </p:txBody>
      </p:sp>
      <p:grpSp>
        <p:nvGrpSpPr>
          <p:cNvPr id="61450" name="Group 12">
            <a:extLst>
              <a:ext uri="{FF2B5EF4-FFF2-40B4-BE49-F238E27FC236}">
                <a16:creationId xmlns:a16="http://schemas.microsoft.com/office/drawing/2014/main" xmlns="" id="{FE3040CB-B5B6-4BE8-AD28-B5D032874EB8}"/>
              </a:ext>
            </a:extLst>
          </p:cNvPr>
          <p:cNvGrpSpPr>
            <a:grpSpLocks/>
          </p:cNvGrpSpPr>
          <p:nvPr/>
        </p:nvGrpSpPr>
        <p:grpSpPr bwMode="auto">
          <a:xfrm>
            <a:off x="4992688" y="5221288"/>
            <a:ext cx="5484812" cy="785812"/>
            <a:chOff x="5770" y="-197"/>
            <a:chExt cx="8638" cy="1239"/>
          </a:xfrm>
        </p:grpSpPr>
        <p:pic>
          <p:nvPicPr>
            <p:cNvPr id="61452" name="Picture 13">
              <a:extLst>
                <a:ext uri="{FF2B5EF4-FFF2-40B4-BE49-F238E27FC236}">
                  <a16:creationId xmlns:a16="http://schemas.microsoft.com/office/drawing/2014/main" xmlns="" id="{68965D6A-4B40-43C9-AEA6-65A68464151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769" y="-198"/>
              <a:ext cx="8631" cy="1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453" name="Picture 14">
              <a:extLst>
                <a:ext uri="{FF2B5EF4-FFF2-40B4-BE49-F238E27FC236}">
                  <a16:creationId xmlns:a16="http://schemas.microsoft.com/office/drawing/2014/main" xmlns="" id="{EA08C75B-179D-41DC-922A-9A7E1371022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880" y="-87"/>
              <a:ext cx="8520" cy="10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54" name="Rectangle 15">
              <a:extLst>
                <a:ext uri="{FF2B5EF4-FFF2-40B4-BE49-F238E27FC236}">
                  <a16:creationId xmlns:a16="http://schemas.microsoft.com/office/drawing/2014/main" xmlns="" id="{6BFF1BBF-885B-45E8-B3DA-50F1439A03CC}"/>
                </a:ext>
              </a:extLst>
            </p:cNvPr>
            <p:cNvSpPr>
              <a:spLocks noChangeArrowheads="1"/>
            </p:cNvSpPr>
            <p:nvPr/>
          </p:nvSpPr>
          <p:spPr bwMode="auto">
            <a:xfrm>
              <a:off x="5880" y="-87"/>
              <a:ext cx="8520" cy="1018"/>
            </a:xfrm>
            <a:prstGeom prst="rect">
              <a:avLst/>
            </a:prstGeom>
            <a:noFill/>
            <a:ln w="9144">
              <a:solidFill>
                <a:srgbClr val="209AC1"/>
              </a:solidFill>
              <a:miter lim="800000"/>
              <a:headEnd/>
              <a:tailEnd/>
            </a:ln>
            <a:extLst>
              <a:ext uri="{909E8E84-426E-40DD-AFC4-6F175D3DCCD1}">
                <a14:hiddenFill xmlns:a14="http://schemas.microsoft.com/office/drawing/2010/main">
                  <a:solidFill>
                    <a:srgbClr val="FFFFFF"/>
                  </a:solidFill>
                </a14:hiddenFill>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endParaRPr lang="en-IN" altLang="en-US" sz="1800">
                <a:latin typeface="Arial" panose="020B0604020202020204" pitchFamily="34" charset="0"/>
              </a:endParaRPr>
            </a:p>
          </p:txBody>
        </p:sp>
      </p:grpSp>
      <p:sp>
        <p:nvSpPr>
          <p:cNvPr id="61451" name="Rectangle 9">
            <a:extLst>
              <a:ext uri="{FF2B5EF4-FFF2-40B4-BE49-F238E27FC236}">
                <a16:creationId xmlns:a16="http://schemas.microsoft.com/office/drawing/2014/main" xmlns="" id="{FA7AF6BB-DBB8-44CC-950D-A5C1EE5A77D7}"/>
              </a:ext>
            </a:extLst>
          </p:cNvPr>
          <p:cNvSpPr>
            <a:spLocks noChangeArrowheads="1"/>
          </p:cNvSpPr>
          <p:nvPr/>
        </p:nvSpPr>
        <p:spPr bwMode="auto">
          <a:xfrm>
            <a:off x="5461000" y="5291138"/>
            <a:ext cx="3749675"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800">
                <a:latin typeface="Arial" panose="020B0604020202020204" pitchFamily="34" charset="0"/>
              </a:rPr>
              <a:t>Relations stored as unordered files</a:t>
            </a:r>
          </a:p>
          <a:p>
            <a:pPr>
              <a:lnSpc>
                <a:spcPct val="100000"/>
              </a:lnSpc>
              <a:spcBef>
                <a:spcPct val="0"/>
              </a:spcBef>
              <a:buFontTx/>
              <a:buNone/>
            </a:pPr>
            <a:r>
              <a:rPr lang="en-US" altLang="en-US" sz="1800">
                <a:latin typeface="Arial" panose="020B0604020202020204" pitchFamily="34" charset="0"/>
              </a:rPr>
              <a:t>Index on first column of students</a:t>
            </a:r>
            <a:endParaRPr lang="en-IN" altLang="en-US" sz="1600">
              <a:latin typeface="Times New Roman" panose="02020603050405020304" pitchFamily="18" charset="0"/>
              <a:cs typeface="Times New Roman" panose="02020603050405020304" pitchFamily="18" charset="0"/>
            </a:endParaRPr>
          </a:p>
          <a:p>
            <a:pPr>
              <a:lnSpc>
                <a:spcPct val="100000"/>
              </a:lnSpc>
              <a:spcBef>
                <a:spcPct val="0"/>
              </a:spcBef>
              <a:buFontTx/>
              <a:buNone/>
            </a:pPr>
            <a:endParaRPr lang="en-IN" altLang="en-US" sz="1100">
              <a:latin typeface="Arial" panose="020B0604020202020204" pitchFamily="34" charset="0"/>
            </a:endParaRPr>
          </a:p>
          <a:p>
            <a:pPr>
              <a:lnSpc>
                <a:spcPct val="100000"/>
              </a:lnSpc>
              <a:spcBef>
                <a:spcPct val="0"/>
              </a:spcBef>
              <a:buFontTx/>
              <a:buNone/>
            </a:pPr>
            <a:endParaRPr lang="en-IN" altLang="en-US" sz="1800">
              <a:latin typeface="Arial" panose="020B0604020202020204" pitchFamily="34" charset="0"/>
            </a:endParaRPr>
          </a:p>
        </p:txBody>
      </p:sp>
    </p:spTree>
  </p:cSld>
  <p:clrMapOvr>
    <a:masterClrMapping/>
  </p:clrMapOvr>
  <p:transition spd="slow">
    <p:wip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15">
            <a:extLst>
              <a:ext uri="{FF2B5EF4-FFF2-40B4-BE49-F238E27FC236}">
                <a16:creationId xmlns:a16="http://schemas.microsoft.com/office/drawing/2014/main" xmlns="" id="{040862BC-3136-4C0D-9920-89A2FBA4FF0E}"/>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62467" name="Picture 1">
            <a:extLst>
              <a:ext uri="{FF2B5EF4-FFF2-40B4-BE49-F238E27FC236}">
                <a16:creationId xmlns:a16="http://schemas.microsoft.com/office/drawing/2014/main" xmlns="" id="{CF11AB92-0BEE-4548-BCC8-D5D07953C6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468" name="Title 3">
            <a:extLst>
              <a:ext uri="{FF2B5EF4-FFF2-40B4-BE49-F238E27FC236}">
                <a16:creationId xmlns:a16="http://schemas.microsoft.com/office/drawing/2014/main" xmlns="" id="{309B37C8-13B2-405B-8821-FB062096726E}"/>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62469" name="Rectangle 2">
            <a:extLst>
              <a:ext uri="{FF2B5EF4-FFF2-40B4-BE49-F238E27FC236}">
                <a16:creationId xmlns:a16="http://schemas.microsoft.com/office/drawing/2014/main" xmlns="" id="{CE406513-DE07-41F4-9C0B-EB87094ADF0D}"/>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Data Independence</a:t>
            </a:r>
            <a:endParaRPr lang="en-US" altLang="en-US" b="1">
              <a:latin typeface="Calibri Light" panose="020F0302020204030204" pitchFamily="34" charset="0"/>
            </a:endParaRPr>
          </a:p>
        </p:txBody>
      </p:sp>
      <p:sp>
        <p:nvSpPr>
          <p:cNvPr id="6" name="Content Placeholder 13">
            <a:extLst>
              <a:ext uri="{FF2B5EF4-FFF2-40B4-BE49-F238E27FC236}">
                <a16:creationId xmlns:a16="http://schemas.microsoft.com/office/drawing/2014/main" xmlns="" id="{9BAACF6A-EB5D-46DC-AB3F-63F5C42C8E3F}"/>
              </a:ext>
            </a:extLst>
          </p:cNvPr>
          <p:cNvSpPr txBox="1">
            <a:spLocks/>
          </p:cNvSpPr>
          <p:nvPr/>
        </p:nvSpPr>
        <p:spPr>
          <a:xfrm>
            <a:off x="561975" y="1182688"/>
            <a:ext cx="10855325" cy="4525962"/>
          </a:xfrm>
          <a:prstGeom prst="rect">
            <a:avLst/>
          </a:prstGeom>
        </p:spPr>
        <p:txBody>
          <a:bodyPr/>
          <a:lst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a:pPr>
            <a:r>
              <a:rPr lang="en-US" sz="2400" b="1" dirty="0">
                <a:solidFill>
                  <a:srgbClr val="FF0000"/>
                </a:solidFill>
                <a:latin typeface="Times New Roman" pitchFamily="18" charset="0"/>
                <a:cs typeface="Times New Roman" pitchFamily="18" charset="0"/>
              </a:rPr>
              <a:t>Logical Data Independence: </a:t>
            </a:r>
          </a:p>
          <a:p>
            <a:pPr lvl="1" algn="just">
              <a:defRPr/>
            </a:pPr>
            <a:r>
              <a:rPr lang="en-US" dirty="0">
                <a:latin typeface="Times New Roman" pitchFamily="18" charset="0"/>
                <a:cs typeface="Times New Roman" pitchFamily="18" charset="0"/>
              </a:rPr>
              <a:t>The capacity to change the conceptual schema without having to change the external schemas and their associated application programs.</a:t>
            </a:r>
          </a:p>
          <a:p>
            <a:pPr algn="just">
              <a:defRPr/>
            </a:pPr>
            <a:r>
              <a:rPr lang="en-US" sz="2400" b="1" dirty="0">
                <a:solidFill>
                  <a:srgbClr val="FF0000"/>
                </a:solidFill>
                <a:latin typeface="Times New Roman" pitchFamily="18" charset="0"/>
                <a:cs typeface="Times New Roman" pitchFamily="18" charset="0"/>
              </a:rPr>
              <a:t>Physical Data Independence:</a:t>
            </a:r>
          </a:p>
          <a:p>
            <a:pPr lvl="1" algn="just">
              <a:defRPr/>
            </a:pPr>
            <a:r>
              <a:rPr lang="en-US" dirty="0">
                <a:latin typeface="Times New Roman" pitchFamily="18" charset="0"/>
                <a:cs typeface="Times New Roman" pitchFamily="18" charset="0"/>
              </a:rPr>
              <a:t>The capacity to change the internal schema without having to change the conceptual schema.</a:t>
            </a:r>
          </a:p>
          <a:p>
            <a:pPr lvl="1" algn="just">
              <a:defRPr/>
            </a:pPr>
            <a:r>
              <a:rPr lang="en-US" dirty="0">
                <a:latin typeface="Times New Roman" pitchFamily="18" charset="0"/>
                <a:cs typeface="Times New Roman" pitchFamily="18" charset="0"/>
              </a:rPr>
              <a:t>For example, the internal schema may be changed when certain file structures are reorganized or new indexes are created to improve database performance</a:t>
            </a:r>
          </a:p>
          <a:p>
            <a:pPr algn="just">
              <a:defRPr/>
            </a:pPr>
            <a:r>
              <a:rPr lang="en-US" sz="2400" dirty="0">
                <a:latin typeface="Times New Roman" pitchFamily="18" charset="0"/>
                <a:cs typeface="Times New Roman" pitchFamily="18" charset="0"/>
              </a:rPr>
              <a:t>When a schema at a lower level is changed, only the </a:t>
            </a:r>
            <a:r>
              <a:rPr lang="en-US" sz="2400" b="1" dirty="0">
                <a:latin typeface="Times New Roman" pitchFamily="18" charset="0"/>
                <a:cs typeface="Times New Roman" pitchFamily="18" charset="0"/>
              </a:rPr>
              <a:t>mappings</a:t>
            </a:r>
            <a:r>
              <a:rPr lang="en-US" sz="2400" dirty="0">
                <a:latin typeface="Times New Roman" pitchFamily="18" charset="0"/>
                <a:cs typeface="Times New Roman" pitchFamily="18" charset="0"/>
              </a:rPr>
              <a:t> between this schema and higher-level schemas need to be changed in a DBMS that fully supports data independence.</a:t>
            </a:r>
          </a:p>
          <a:p>
            <a:pPr marL="0" indent="0" algn="just">
              <a:buFont typeface="Arial" charset="0"/>
              <a:buNone/>
              <a:defRPr/>
            </a:pPr>
            <a:r>
              <a:rPr lang="en-US" dirty="0">
                <a:latin typeface="Times New Roman" pitchFamily="18" charset="0"/>
                <a:cs typeface="Times New Roman" pitchFamily="18" charset="0"/>
              </a:rPr>
              <a:t>.</a:t>
            </a:r>
          </a:p>
          <a:p>
            <a:pPr algn="just">
              <a:defRPr/>
            </a:pPr>
            <a:endParaRPr lang="en-IN" dirty="0">
              <a:latin typeface="Times New Roman" pitchFamily="18" charset="0"/>
              <a:cs typeface="Times New Roman" pitchFamily="18" charset="0"/>
            </a:endParaRPr>
          </a:p>
          <a:p>
            <a:pPr algn="just">
              <a:defRPr/>
            </a:pPr>
            <a:endParaRPr lang="en-IN" sz="2400" dirty="0">
              <a:latin typeface="Times New Roman" pitchFamily="18" charset="0"/>
              <a:cs typeface="Times New Roman" pitchFamily="18" charset="0"/>
            </a:endParaRPr>
          </a:p>
        </p:txBody>
      </p:sp>
    </p:spTree>
  </p:cSld>
  <p:clrMapOvr>
    <a:masterClrMapping/>
  </p:clrMapOvr>
  <p:transition spd="slow">
    <p:wip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15">
            <a:extLst>
              <a:ext uri="{FF2B5EF4-FFF2-40B4-BE49-F238E27FC236}">
                <a16:creationId xmlns:a16="http://schemas.microsoft.com/office/drawing/2014/main" xmlns="" id="{7CD12168-BC95-455C-8CF5-06224E04B7D8}"/>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63491" name="Picture 1">
            <a:extLst>
              <a:ext uri="{FF2B5EF4-FFF2-40B4-BE49-F238E27FC236}">
                <a16:creationId xmlns:a16="http://schemas.microsoft.com/office/drawing/2014/main" xmlns="" id="{E67C5CBF-5F97-468D-BABA-582C17E89F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940" name="Title 3">
            <a:extLst>
              <a:ext uri="{FF2B5EF4-FFF2-40B4-BE49-F238E27FC236}">
                <a16:creationId xmlns:a16="http://schemas.microsoft.com/office/drawing/2014/main" xmlns="" id="{4FA6A396-AB98-4594-A80F-5D08E3165B84}"/>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lgn="just">
              <a:defRPr/>
            </a:pPr>
            <a:endParaRPr lang="en-US" sz="2400" dirty="0">
              <a:latin typeface="Times New Roman" pitchFamily="18" charset="0"/>
              <a:cs typeface="Times New Roman" pitchFamily="18" charset="0"/>
            </a:endParaRPr>
          </a:p>
          <a:p>
            <a:pPr algn="just">
              <a:defRPr/>
            </a:pPr>
            <a:r>
              <a:rPr lang="en-US" sz="2400" dirty="0">
                <a:latin typeface="Times New Roman" pitchFamily="18" charset="0"/>
                <a:cs typeface="Times New Roman" pitchFamily="18" charset="0"/>
              </a:rPr>
              <a:t>The higher-level schemas themselves are </a:t>
            </a:r>
            <a:r>
              <a:rPr lang="en-US" sz="2400" b="1" dirty="0">
                <a:latin typeface="Times New Roman" pitchFamily="18" charset="0"/>
                <a:cs typeface="Times New Roman" pitchFamily="18" charset="0"/>
              </a:rPr>
              <a:t>unchanged</a:t>
            </a:r>
            <a:r>
              <a:rPr lang="en-US" sz="2400" dirty="0">
                <a:latin typeface="Times New Roman" pitchFamily="18" charset="0"/>
                <a:cs typeface="Times New Roman" pitchFamily="18" charset="0"/>
              </a:rPr>
              <a:t>.</a:t>
            </a:r>
          </a:p>
          <a:p>
            <a:pPr lvl="1" algn="just">
              <a:buFont typeface="Arial" pitchFamily="34" charset="0"/>
              <a:buChar char="•"/>
              <a:defRPr/>
            </a:pPr>
            <a:r>
              <a:rPr lang="en-US" sz="2400" dirty="0">
                <a:latin typeface="Times New Roman" pitchFamily="18" charset="0"/>
                <a:cs typeface="Times New Roman" pitchFamily="18" charset="0"/>
              </a:rPr>
              <a:t>Hence, the application programs need not be changed since they refer to the external schemas</a:t>
            </a:r>
          </a:p>
          <a:p>
            <a:pPr marL="457200" lvl="1" indent="0" algn="just">
              <a:defRPr/>
            </a:pPr>
            <a:endParaRPr lang="en-IN" altLang="en-US" sz="2400" b="1" dirty="0">
              <a:latin typeface="Times New Roman" pitchFamily="18" charset="0"/>
              <a:cs typeface="Times New Roman" pitchFamily="18" charset="0"/>
            </a:endParaRPr>
          </a:p>
        </p:txBody>
      </p:sp>
      <p:sp>
        <p:nvSpPr>
          <p:cNvPr id="63493" name="Rectangle 2">
            <a:extLst>
              <a:ext uri="{FF2B5EF4-FFF2-40B4-BE49-F238E27FC236}">
                <a16:creationId xmlns:a16="http://schemas.microsoft.com/office/drawing/2014/main" xmlns="" id="{B805D6AA-8083-435B-94F9-B8FA52DDDA8C}"/>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Data Independence (continued)</a:t>
            </a:r>
          </a:p>
        </p:txBody>
      </p:sp>
    </p:spTree>
  </p:cSld>
  <p:clrMapOvr>
    <a:masterClrMapping/>
  </p:clrMapOvr>
  <p:transition spd="slow">
    <p:wip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15">
            <a:extLst>
              <a:ext uri="{FF2B5EF4-FFF2-40B4-BE49-F238E27FC236}">
                <a16:creationId xmlns:a16="http://schemas.microsoft.com/office/drawing/2014/main" xmlns="" id="{522CD67C-7272-4731-9FAB-7BDB550767FF}"/>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64515" name="Picture 1">
            <a:extLst>
              <a:ext uri="{FF2B5EF4-FFF2-40B4-BE49-F238E27FC236}">
                <a16:creationId xmlns:a16="http://schemas.microsoft.com/office/drawing/2014/main" xmlns="" id="{398D07D6-F0EB-419F-9554-64A131D0DB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B0DAE567-B968-4563-9360-02919111940A}"/>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lgn="just" eaLnBrk="1" hangingPunct="1">
              <a:lnSpc>
                <a:spcPct val="101000"/>
              </a:lnSpc>
              <a:defRPr/>
            </a:pPr>
            <a:r>
              <a:rPr lang="en-IN" sz="2400" dirty="0">
                <a:latin typeface="Times New Roman" pitchFamily="18" charset="0"/>
                <a:cs typeface="Times New Roman" pitchFamily="18" charset="0"/>
              </a:rPr>
              <a:t>8. Entity-Relationship model is a popular ----------------</a:t>
            </a:r>
          </a:p>
          <a:p>
            <a:pPr algn="just" eaLnBrk="1" hangingPunct="1">
              <a:lnSpc>
                <a:spcPct val="101000"/>
              </a:lnSpc>
              <a:defRPr/>
            </a:pPr>
            <a:r>
              <a:rPr lang="en-IN" sz="2400" dirty="0">
                <a:latin typeface="Times New Roman" pitchFamily="18" charset="0"/>
                <a:cs typeface="Times New Roman" pitchFamily="18" charset="0"/>
              </a:rPr>
              <a:t>a) </a:t>
            </a:r>
            <a:r>
              <a:rPr lang="en-IN" sz="2400" dirty="0">
                <a:solidFill>
                  <a:srgbClr val="FF0000"/>
                </a:solidFill>
                <a:latin typeface="Times New Roman" pitchFamily="18" charset="0"/>
                <a:cs typeface="Times New Roman" pitchFamily="18" charset="0"/>
              </a:rPr>
              <a:t>high-level conceptual data model            b) </a:t>
            </a:r>
            <a:r>
              <a:rPr lang="en-IN" altLang="en-US" sz="2400" dirty="0">
                <a:solidFill>
                  <a:srgbClr val="FF0000"/>
                </a:solidFill>
                <a:latin typeface="Times New Roman" pitchFamily="18" charset="0"/>
                <a:cs typeface="Times New Roman" pitchFamily="18" charset="0"/>
              </a:rPr>
              <a:t>Low level physical data model</a:t>
            </a:r>
          </a:p>
          <a:p>
            <a:pPr algn="just" eaLnBrk="1" hangingPunct="1">
              <a:lnSpc>
                <a:spcPct val="101000"/>
              </a:lnSpc>
              <a:defRPr/>
            </a:pPr>
            <a:r>
              <a:rPr lang="en-IN" altLang="en-US" sz="2400" dirty="0">
                <a:solidFill>
                  <a:srgbClr val="FF0000"/>
                </a:solidFill>
                <a:latin typeface="Times New Roman" pitchFamily="18" charset="0"/>
                <a:cs typeface="Times New Roman" pitchFamily="18" charset="0"/>
              </a:rPr>
              <a:t>c) Low level conceptual data model            d)High level physical model</a:t>
            </a:r>
          </a:p>
          <a:p>
            <a:pPr algn="just" eaLnBrk="1" hangingPunct="1">
              <a:lnSpc>
                <a:spcPct val="101000"/>
              </a:lnSpc>
              <a:defRPr/>
            </a:pPr>
            <a:endParaRPr lang="en-IN" altLang="en-US" sz="2400" dirty="0">
              <a:solidFill>
                <a:srgbClr val="FF0000"/>
              </a:solidFill>
              <a:latin typeface="Times New Roman" pitchFamily="18" charset="0"/>
              <a:cs typeface="Times New Roman" pitchFamily="18" charset="0"/>
            </a:endParaRPr>
          </a:p>
          <a:p>
            <a:pPr algn="just" eaLnBrk="1" hangingPunct="1">
              <a:lnSpc>
                <a:spcPct val="101000"/>
              </a:lnSpc>
              <a:defRPr/>
            </a:pPr>
            <a:r>
              <a:rPr lang="en-IN" altLang="en-US" sz="2400" dirty="0" err="1">
                <a:solidFill>
                  <a:srgbClr val="92D050"/>
                </a:solidFill>
                <a:latin typeface="Times New Roman" pitchFamily="18" charset="0"/>
                <a:cs typeface="Times New Roman" pitchFamily="18" charset="0"/>
              </a:rPr>
              <a:t>Ans</a:t>
            </a:r>
            <a:r>
              <a:rPr lang="en-IN" altLang="en-US" sz="2400" dirty="0">
                <a:solidFill>
                  <a:srgbClr val="92D050"/>
                </a:solidFill>
                <a:latin typeface="Times New Roman" pitchFamily="18" charset="0"/>
                <a:cs typeface="Times New Roman" pitchFamily="18" charset="0"/>
              </a:rPr>
              <a:t>:</a:t>
            </a:r>
            <a:r>
              <a:rPr lang="en-IN" sz="2400" dirty="0">
                <a:solidFill>
                  <a:srgbClr val="92D050"/>
                </a:solidFill>
                <a:latin typeface="Times New Roman" pitchFamily="18" charset="0"/>
                <a:cs typeface="Times New Roman" pitchFamily="18" charset="0"/>
              </a:rPr>
              <a:t> high-level conceptual data model </a:t>
            </a:r>
            <a:endParaRPr lang="en-IN" altLang="en-US" sz="2400" dirty="0">
              <a:solidFill>
                <a:srgbClr val="92D050"/>
              </a:solidFill>
              <a:latin typeface="Times New Roman" pitchFamily="18" charset="0"/>
              <a:cs typeface="Times New Roman" pitchFamily="18" charset="0"/>
            </a:endParaRPr>
          </a:p>
          <a:p>
            <a:pPr algn="just" eaLnBrk="1" hangingPunct="1">
              <a:lnSpc>
                <a:spcPct val="101000"/>
              </a:lnSpc>
              <a:defRPr/>
            </a:pPr>
            <a:endParaRPr lang="en-IN" altLang="en-US" sz="2400" dirty="0">
              <a:latin typeface="Times New Roman" pitchFamily="18" charset="0"/>
              <a:cs typeface="Times New Roman" pitchFamily="18" charset="0"/>
            </a:endParaRPr>
          </a:p>
          <a:p>
            <a:pPr algn="just" eaLnBrk="1" hangingPunct="1">
              <a:lnSpc>
                <a:spcPct val="101000"/>
              </a:lnSpc>
              <a:defRPr/>
            </a:pPr>
            <a:r>
              <a:rPr lang="en-US" sz="2400" dirty="0">
                <a:latin typeface="Times New Roman" pitchFamily="18" charset="0"/>
                <a:cs typeface="Times New Roman" pitchFamily="18" charset="0"/>
              </a:rPr>
              <a:t>9. The data in the database at a particular moment in time is called a</a:t>
            </a:r>
          </a:p>
          <a:p>
            <a:pPr marL="457200" indent="-457200" algn="just" eaLnBrk="1" hangingPunct="1">
              <a:lnSpc>
                <a:spcPct val="101000"/>
              </a:lnSpc>
              <a:buFont typeface="+mj-lt"/>
              <a:buAutoNum type="alphaLcParenR"/>
              <a:defRPr/>
            </a:pPr>
            <a:r>
              <a:rPr lang="en-US" altLang="en-US" sz="2400" dirty="0">
                <a:solidFill>
                  <a:srgbClr val="FF0000"/>
                </a:solidFill>
                <a:latin typeface="Times New Roman" pitchFamily="18" charset="0"/>
                <a:cs typeface="Times New Roman" pitchFamily="18" charset="0"/>
              </a:rPr>
              <a:t>Database state                     b)Snapshot</a:t>
            </a:r>
          </a:p>
          <a:p>
            <a:pPr marL="457200" indent="-457200" algn="just" eaLnBrk="1" hangingPunct="1">
              <a:lnSpc>
                <a:spcPct val="101000"/>
              </a:lnSpc>
              <a:buFont typeface="+mj-lt"/>
              <a:buAutoNum type="alphaLcParenR"/>
              <a:defRPr/>
            </a:pPr>
            <a:r>
              <a:rPr lang="en-US" altLang="en-US" sz="2400" dirty="0">
                <a:solidFill>
                  <a:srgbClr val="FF0000"/>
                </a:solidFill>
                <a:latin typeface="Times New Roman" pitchFamily="18" charset="0"/>
                <a:cs typeface="Times New Roman" pitchFamily="18" charset="0"/>
              </a:rPr>
              <a:t>Valid state                            d)Both a and b</a:t>
            </a:r>
          </a:p>
          <a:p>
            <a:pPr marL="457200" indent="-457200" algn="just" eaLnBrk="1" hangingPunct="1">
              <a:lnSpc>
                <a:spcPct val="101000"/>
              </a:lnSpc>
              <a:buFont typeface="+mj-lt"/>
              <a:buAutoNum type="alphaLcParenR"/>
              <a:defRPr/>
            </a:pPr>
            <a:endParaRPr lang="en-US" altLang="en-US" sz="2400" dirty="0">
              <a:latin typeface="Times New Roman" pitchFamily="18" charset="0"/>
              <a:cs typeface="Times New Roman" pitchFamily="18" charset="0"/>
            </a:endParaRPr>
          </a:p>
          <a:p>
            <a:pPr algn="just" eaLnBrk="1" hangingPunct="1">
              <a:lnSpc>
                <a:spcPct val="101000"/>
              </a:lnSpc>
              <a:defRPr/>
            </a:pPr>
            <a:r>
              <a:rPr lang="en-US" altLang="en-US" sz="2400" dirty="0" err="1">
                <a:latin typeface="Times New Roman" pitchFamily="18" charset="0"/>
                <a:cs typeface="Times New Roman" pitchFamily="18" charset="0"/>
              </a:rPr>
              <a:t>Ans</a:t>
            </a:r>
            <a:r>
              <a:rPr lang="en-US" altLang="en-US" sz="2400" dirty="0">
                <a:latin typeface="Times New Roman" pitchFamily="18" charset="0"/>
                <a:cs typeface="Times New Roman" pitchFamily="18" charset="0"/>
              </a:rPr>
              <a:t>: </a:t>
            </a:r>
            <a:r>
              <a:rPr lang="en-US" altLang="en-US" sz="2400" dirty="0">
                <a:solidFill>
                  <a:srgbClr val="92D050"/>
                </a:solidFill>
                <a:latin typeface="Times New Roman" pitchFamily="18" charset="0"/>
                <a:cs typeface="Times New Roman" pitchFamily="18" charset="0"/>
              </a:rPr>
              <a:t>d)Both a and b</a:t>
            </a:r>
            <a:endParaRPr lang="en-IN" altLang="en-US" sz="2400" dirty="0">
              <a:solidFill>
                <a:srgbClr val="92D050"/>
              </a:solidFill>
              <a:latin typeface="Times New Roman" pitchFamily="18" charset="0"/>
              <a:cs typeface="Times New Roman" pitchFamily="18" charset="0"/>
            </a:endParaRPr>
          </a:p>
          <a:p>
            <a:pPr algn="just" eaLnBrk="1" hangingPunct="1">
              <a:lnSpc>
                <a:spcPct val="101000"/>
              </a:lnSpc>
              <a:defRPr/>
            </a:pPr>
            <a:endParaRPr lang="en-IN" altLang="en-US" sz="2400" dirty="0">
              <a:latin typeface="Times New Roman" pitchFamily="18" charset="0"/>
              <a:cs typeface="Times New Roman" pitchFamily="18" charset="0"/>
            </a:endParaRPr>
          </a:p>
        </p:txBody>
      </p:sp>
      <p:sp>
        <p:nvSpPr>
          <p:cNvPr id="64517" name="Rectangle 2">
            <a:extLst>
              <a:ext uri="{FF2B5EF4-FFF2-40B4-BE49-F238E27FC236}">
                <a16:creationId xmlns:a16="http://schemas.microsoft.com/office/drawing/2014/main" xmlns="" id="{A1077370-561E-4EB9-B4FF-066BAFA8E3A1}"/>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nodeType="clickEffect">
                                  <p:stCondLst>
                                    <p:cond delay="0"/>
                                  </p:stCondLst>
                                  <p:childTnLst>
                                    <p:set>
                                      <p:cBhvr>
                                        <p:cTn id="12" dur="1" fill="hold">
                                          <p:stCondLst>
                                            <p:cond delay="0"/>
                                          </p:stCondLst>
                                        </p:cTn>
                                        <p:tgtEl>
                                          <p:spTgt spid="103428">
                                            <p:txEl>
                                              <p:pRg st="1" end="1"/>
                                            </p:txEl>
                                          </p:spTgt>
                                        </p:tgtEl>
                                        <p:attrNameLst>
                                          <p:attrName>style.visibility</p:attrName>
                                        </p:attrNameLst>
                                      </p:cBhvr>
                                      <p:to>
                                        <p:strVal val="visible"/>
                                      </p:to>
                                    </p:set>
                                    <p:animEffect transition="in" filter="fade">
                                      <p:cBhvr>
                                        <p:cTn id="13" dur="1000"/>
                                        <p:tgtEl>
                                          <p:spTgt spid="103428">
                                            <p:txEl>
                                              <p:pRg st="1" end="1"/>
                                            </p:txEl>
                                          </p:spTgt>
                                        </p:tgtEl>
                                      </p:cBhvr>
                                    </p:animEffect>
                                    <p:anim calcmode="lin" valueType="num">
                                      <p:cBhvr>
                                        <p:cTn id="14" dur="10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3428">
                                            <p:txEl>
                                              <p:pRg st="1" end="1"/>
                                            </p:txEl>
                                          </p:spTgt>
                                        </p:tgtEl>
                                        <p:attrNameLst>
                                          <p:attrName>ppt_y</p:attrName>
                                        </p:attrNameLst>
                                      </p:cBhvr>
                                      <p:tavLst>
                                        <p:tav tm="0">
                                          <p:val>
                                            <p:strVal val="#ppt_y+.1"/>
                                          </p:val>
                                        </p:tav>
                                        <p:tav tm="100000">
                                          <p:val>
                                            <p:strVal val="#ppt_y"/>
                                          </p:val>
                                        </p:tav>
                                      </p:tavLst>
                                    </p:anim>
                                  </p:childTnLst>
                                </p:cTn>
                              </p:par>
                              <p:par>
                                <p:cTn id="16" presetID="42" presetClass="entr" presetSubtype="0" fill="hold" nodeType="withEffect">
                                  <p:stCondLst>
                                    <p:cond delay="0"/>
                                  </p:stCondLst>
                                  <p:childTnLst>
                                    <p:set>
                                      <p:cBhvr>
                                        <p:cTn id="17" dur="1" fill="hold">
                                          <p:stCondLst>
                                            <p:cond delay="0"/>
                                          </p:stCondLst>
                                        </p:cTn>
                                        <p:tgtEl>
                                          <p:spTgt spid="103428">
                                            <p:txEl>
                                              <p:pRg st="2" end="2"/>
                                            </p:txEl>
                                          </p:spTgt>
                                        </p:tgtEl>
                                        <p:attrNameLst>
                                          <p:attrName>style.visibility</p:attrName>
                                        </p:attrNameLst>
                                      </p:cBhvr>
                                      <p:to>
                                        <p:strVal val="visible"/>
                                      </p:to>
                                    </p:set>
                                    <p:animEffect transition="in" filter="fade">
                                      <p:cBhvr>
                                        <p:cTn id="18" dur="1000"/>
                                        <p:tgtEl>
                                          <p:spTgt spid="103428">
                                            <p:txEl>
                                              <p:pRg st="2" end="2"/>
                                            </p:txEl>
                                          </p:spTgt>
                                        </p:tgtEl>
                                      </p:cBhvr>
                                    </p:animEffect>
                                    <p:anim calcmode="lin" valueType="num">
                                      <p:cBhvr>
                                        <p:cTn id="19" dur="1000" fill="hold"/>
                                        <p:tgtEl>
                                          <p:spTgt spid="103428">
                                            <p:txEl>
                                              <p:pRg st="2" end="2"/>
                                            </p:txEl>
                                          </p:spTgt>
                                        </p:tgtEl>
                                        <p:attrNameLst>
                                          <p:attrName>ppt_x</p:attrName>
                                        </p:attrNameLst>
                                      </p:cBhvr>
                                      <p:tavLst>
                                        <p:tav tm="0">
                                          <p:val>
                                            <p:strVal val="#ppt_x"/>
                                          </p:val>
                                        </p:tav>
                                        <p:tav tm="100000">
                                          <p:val>
                                            <p:strVal val="#ppt_x"/>
                                          </p:val>
                                        </p:tav>
                                      </p:tavLst>
                                    </p:anim>
                                    <p:anim calcmode="lin" valueType="num">
                                      <p:cBhvr>
                                        <p:cTn id="20" dur="1000" fill="hold"/>
                                        <p:tgtEl>
                                          <p:spTgt spid="103428">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3428">
                                            <p:txEl>
                                              <p:pRg st="4" end="4"/>
                                            </p:txEl>
                                          </p:spTgt>
                                        </p:tgtEl>
                                        <p:attrNameLst>
                                          <p:attrName>style.visibility</p:attrName>
                                        </p:attrNameLst>
                                      </p:cBhvr>
                                      <p:to>
                                        <p:strVal val="visible"/>
                                      </p:to>
                                    </p:set>
                                    <p:anim calcmode="lin" valueType="num">
                                      <p:cBhvr additive="base">
                                        <p:cTn id="25" dur="500" fill="hold"/>
                                        <p:tgtEl>
                                          <p:spTgt spid="10342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42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3428">
                                            <p:txEl>
                                              <p:pRg st="6" end="6"/>
                                            </p:txEl>
                                          </p:spTgt>
                                        </p:tgtEl>
                                        <p:attrNameLst>
                                          <p:attrName>style.visibility</p:attrName>
                                        </p:attrNameLst>
                                      </p:cBhvr>
                                      <p:to>
                                        <p:strVal val="visible"/>
                                      </p:to>
                                    </p:set>
                                    <p:anim calcmode="lin" valueType="num">
                                      <p:cBhvr additive="base">
                                        <p:cTn id="31" dur="500" fill="hold"/>
                                        <p:tgtEl>
                                          <p:spTgt spid="103428">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342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42" presetClass="entr" presetSubtype="0" fill="hold" nodeType="clickEffect">
                                  <p:stCondLst>
                                    <p:cond delay="0"/>
                                  </p:stCondLst>
                                  <p:childTnLst>
                                    <p:set>
                                      <p:cBhvr>
                                        <p:cTn id="36" dur="1" fill="hold">
                                          <p:stCondLst>
                                            <p:cond delay="0"/>
                                          </p:stCondLst>
                                        </p:cTn>
                                        <p:tgtEl>
                                          <p:spTgt spid="103428">
                                            <p:txEl>
                                              <p:pRg st="7" end="7"/>
                                            </p:txEl>
                                          </p:spTgt>
                                        </p:tgtEl>
                                        <p:attrNameLst>
                                          <p:attrName>style.visibility</p:attrName>
                                        </p:attrNameLst>
                                      </p:cBhvr>
                                      <p:to>
                                        <p:strVal val="visible"/>
                                      </p:to>
                                    </p:set>
                                    <p:animEffect transition="in" filter="fade">
                                      <p:cBhvr>
                                        <p:cTn id="37" dur="1000"/>
                                        <p:tgtEl>
                                          <p:spTgt spid="103428">
                                            <p:txEl>
                                              <p:pRg st="7" end="7"/>
                                            </p:txEl>
                                          </p:spTgt>
                                        </p:tgtEl>
                                      </p:cBhvr>
                                    </p:animEffect>
                                    <p:anim calcmode="lin" valueType="num">
                                      <p:cBhvr>
                                        <p:cTn id="38" dur="1000" fill="hold"/>
                                        <p:tgtEl>
                                          <p:spTgt spid="103428">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103428">
                                            <p:txEl>
                                              <p:pRg st="7" end="7"/>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03428">
                                            <p:txEl>
                                              <p:pRg st="8" end="8"/>
                                            </p:txEl>
                                          </p:spTgt>
                                        </p:tgtEl>
                                        <p:attrNameLst>
                                          <p:attrName>style.visibility</p:attrName>
                                        </p:attrNameLst>
                                      </p:cBhvr>
                                      <p:to>
                                        <p:strVal val="visible"/>
                                      </p:to>
                                    </p:set>
                                    <p:animEffect transition="in" filter="fade">
                                      <p:cBhvr>
                                        <p:cTn id="42" dur="1000"/>
                                        <p:tgtEl>
                                          <p:spTgt spid="103428">
                                            <p:txEl>
                                              <p:pRg st="8" end="8"/>
                                            </p:txEl>
                                          </p:spTgt>
                                        </p:tgtEl>
                                      </p:cBhvr>
                                    </p:animEffect>
                                    <p:anim calcmode="lin" valueType="num">
                                      <p:cBhvr>
                                        <p:cTn id="43" dur="1000" fill="hold"/>
                                        <p:tgtEl>
                                          <p:spTgt spid="103428">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10342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103428">
                                            <p:txEl>
                                              <p:pRg st="10" end="10"/>
                                            </p:txEl>
                                          </p:spTgt>
                                        </p:tgtEl>
                                        <p:attrNameLst>
                                          <p:attrName>style.visibility</p:attrName>
                                        </p:attrNameLst>
                                      </p:cBhvr>
                                      <p:to>
                                        <p:strVal val="visible"/>
                                      </p:to>
                                    </p:set>
                                    <p:anim calcmode="lin" valueType="num">
                                      <p:cBhvr additive="base">
                                        <p:cTn id="49" dur="500" fill="hold"/>
                                        <p:tgtEl>
                                          <p:spTgt spid="103428">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342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15">
            <a:extLst>
              <a:ext uri="{FF2B5EF4-FFF2-40B4-BE49-F238E27FC236}">
                <a16:creationId xmlns:a16="http://schemas.microsoft.com/office/drawing/2014/main" xmlns="" id="{72B0996C-6007-4BEE-82DC-163DE0795C96}"/>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65539" name="Picture 1">
            <a:extLst>
              <a:ext uri="{FF2B5EF4-FFF2-40B4-BE49-F238E27FC236}">
                <a16:creationId xmlns:a16="http://schemas.microsoft.com/office/drawing/2014/main" xmlns="" id="{2A90A8AD-8465-4966-A8F4-1FC124E355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359AAA60-F7E5-44DA-BCFB-BC21F46258D4}"/>
              </a:ext>
            </a:extLst>
          </p:cNvPr>
          <p:cNvSpPr txBox="1">
            <a:spLocks/>
          </p:cNvSpPr>
          <p:nvPr/>
        </p:nvSpPr>
        <p:spPr bwMode="auto">
          <a:xfrm>
            <a:off x="463550" y="852488"/>
            <a:ext cx="11353800" cy="54340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defRPr/>
            </a:pPr>
            <a:r>
              <a:rPr lang="en-IN" sz="2400" dirty="0">
                <a:latin typeface="Times New Roman" pitchFamily="18" charset="0"/>
                <a:cs typeface="Times New Roman" pitchFamily="18" charset="0"/>
              </a:rPr>
              <a:t>10. -----------</a:t>
            </a:r>
            <a:r>
              <a:rPr lang="en-US" sz="2400" dirty="0">
                <a:latin typeface="Times New Roman" pitchFamily="18" charset="0"/>
                <a:cs typeface="Times New Roman" pitchFamily="18" charset="0"/>
              </a:rPr>
              <a:t>describes the physical storage structure of the database. </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internal schema    b)conceptual schema     c) external schema    d)All of the above</a:t>
            </a:r>
          </a:p>
          <a:p>
            <a:pPr>
              <a:defRPr/>
            </a:pPr>
            <a:r>
              <a:rPr lang="en-IN" sz="2400" dirty="0" err="1">
                <a:latin typeface="Times New Roman" pitchFamily="18" charset="0"/>
                <a:cs typeface="Times New Roman" pitchFamily="18" charset="0"/>
              </a:rPr>
              <a:t>Ans</a:t>
            </a:r>
            <a:r>
              <a:rPr lang="en-IN" sz="2400" dirty="0">
                <a:latin typeface="Times New Roman" pitchFamily="18" charset="0"/>
                <a:cs typeface="Times New Roman" pitchFamily="18" charset="0"/>
              </a:rPr>
              <a:t>: </a:t>
            </a:r>
            <a:r>
              <a:rPr lang="en-IN" sz="2400" dirty="0">
                <a:solidFill>
                  <a:srgbClr val="92D050"/>
                </a:solidFill>
                <a:latin typeface="Times New Roman" pitchFamily="18" charset="0"/>
                <a:cs typeface="Times New Roman" pitchFamily="18" charset="0"/>
              </a:rPr>
              <a:t>internal schema</a:t>
            </a:r>
          </a:p>
          <a:p>
            <a:pPr>
              <a:defRPr/>
            </a:pPr>
            <a:endParaRPr lang="en-IN" sz="2400" dirty="0">
              <a:latin typeface="Times New Roman" pitchFamily="18" charset="0"/>
              <a:cs typeface="Times New Roman" pitchFamily="18" charset="0"/>
            </a:endParaRPr>
          </a:p>
          <a:p>
            <a:pPr>
              <a:defRPr/>
            </a:pPr>
            <a:r>
              <a:rPr lang="en-IN" sz="2400" dirty="0">
                <a:latin typeface="Times New Roman" pitchFamily="18" charset="0"/>
                <a:cs typeface="Times New Roman" pitchFamily="18" charset="0"/>
              </a:rPr>
              <a:t>11. Data independence means</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data is defined separately and not included in programs.</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programs are not dependent on the physical attributes of data</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 programs are not dependent on the logical attributes of data</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both B and C </a:t>
            </a:r>
          </a:p>
          <a:p>
            <a:pPr>
              <a:defRPr/>
            </a:pPr>
            <a:r>
              <a:rPr lang="en-IN" altLang="en-US" sz="2400" b="1" dirty="0">
                <a:latin typeface="Times New Roman" pitchFamily="18" charset="0"/>
                <a:cs typeface="Times New Roman" pitchFamily="18" charset="0"/>
              </a:rPr>
              <a:t> </a:t>
            </a:r>
            <a:r>
              <a:rPr lang="en-IN" altLang="en-US" sz="2400" b="1" dirty="0" err="1">
                <a:latin typeface="Times New Roman" pitchFamily="18" charset="0"/>
                <a:cs typeface="Times New Roman" pitchFamily="18" charset="0"/>
              </a:rPr>
              <a:t>Ans</a:t>
            </a:r>
            <a:r>
              <a:rPr lang="en-IN" altLang="en-US" sz="2400" b="1" dirty="0">
                <a:latin typeface="Times New Roman" pitchFamily="18" charset="0"/>
                <a:cs typeface="Times New Roman" pitchFamily="18" charset="0"/>
              </a:rPr>
              <a:t>: </a:t>
            </a:r>
            <a:r>
              <a:rPr lang="en-IN" sz="2400" dirty="0">
                <a:solidFill>
                  <a:schemeClr val="accent6"/>
                </a:solidFill>
                <a:latin typeface="Times New Roman" pitchFamily="18" charset="0"/>
                <a:cs typeface="Times New Roman" pitchFamily="18" charset="0"/>
              </a:rPr>
              <a:t>both B and C</a:t>
            </a:r>
          </a:p>
          <a:p>
            <a:pPr>
              <a:defRPr/>
            </a:pPr>
            <a:endParaRPr lang="en-IN" sz="2400" dirty="0">
              <a:solidFill>
                <a:schemeClr val="accent6"/>
              </a:solidFill>
              <a:latin typeface="Times New Roman" pitchFamily="18" charset="0"/>
              <a:cs typeface="Times New Roman" pitchFamily="18" charset="0"/>
            </a:endParaRPr>
          </a:p>
          <a:p>
            <a:pPr>
              <a:defRPr/>
            </a:pPr>
            <a:r>
              <a:rPr lang="en-IN" sz="2400" dirty="0">
                <a:latin typeface="Times New Roman" pitchFamily="18" charset="0"/>
                <a:cs typeface="Times New Roman" pitchFamily="18" charset="0"/>
              </a:rPr>
              <a:t>12. Which database level is closest to the users?</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External         b) Internal       c) Physical              d) Conceptual</a:t>
            </a:r>
          </a:p>
          <a:p>
            <a:pPr>
              <a:defRPr/>
            </a:pPr>
            <a:r>
              <a:rPr lang="en-IN" sz="2400" dirty="0">
                <a:solidFill>
                  <a:srgbClr val="FF0000"/>
                </a:solidFill>
                <a:latin typeface="Times New Roman" pitchFamily="18" charset="0"/>
                <a:cs typeface="Times New Roman" pitchFamily="18" charset="0"/>
              </a:rPr>
              <a:t>                             </a:t>
            </a:r>
            <a:r>
              <a:rPr lang="en-IN" sz="2400" dirty="0" err="1">
                <a:latin typeface="Times New Roman" pitchFamily="18" charset="0"/>
                <a:cs typeface="Times New Roman" pitchFamily="18" charset="0"/>
              </a:rPr>
              <a:t>Ans</a:t>
            </a:r>
            <a:r>
              <a:rPr lang="en-IN" sz="2400" dirty="0">
                <a:solidFill>
                  <a:srgbClr val="92D050"/>
                </a:solidFill>
                <a:latin typeface="Times New Roman" pitchFamily="18" charset="0"/>
                <a:cs typeface="Times New Roman" pitchFamily="18" charset="0"/>
              </a:rPr>
              <a:t>: External</a:t>
            </a:r>
          </a:p>
          <a:p>
            <a:pPr>
              <a:defRPr/>
            </a:pPr>
            <a:r>
              <a:rPr lang="en-IN" sz="2400" dirty="0">
                <a:solidFill>
                  <a:schemeClr val="accent6"/>
                </a:solidFill>
                <a:latin typeface="Times New Roman" pitchFamily="18" charset="0"/>
                <a:cs typeface="Times New Roman" pitchFamily="18" charset="0"/>
              </a:rPr>
              <a:t> </a:t>
            </a:r>
          </a:p>
          <a:p>
            <a:pPr>
              <a:defRPr/>
            </a:pPr>
            <a:endParaRPr lang="en-IN" altLang="en-US" sz="2400" b="1" dirty="0">
              <a:latin typeface="Times New Roman" pitchFamily="18" charset="0"/>
              <a:cs typeface="Times New Roman" pitchFamily="18" charset="0"/>
            </a:endParaRPr>
          </a:p>
        </p:txBody>
      </p:sp>
      <p:sp>
        <p:nvSpPr>
          <p:cNvPr id="65541" name="Rectangle 2">
            <a:extLst>
              <a:ext uri="{FF2B5EF4-FFF2-40B4-BE49-F238E27FC236}">
                <a16:creationId xmlns:a16="http://schemas.microsoft.com/office/drawing/2014/main" xmlns="" id="{ADEE9104-9B7E-4FCF-902E-78430B09E46D}"/>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nodeType="clickEffect">
                                  <p:stCondLst>
                                    <p:cond delay="0"/>
                                  </p:stCondLst>
                                  <p:childTnLst>
                                    <p:set>
                                      <p:cBhvr>
                                        <p:cTn id="12" dur="1" fill="hold">
                                          <p:stCondLst>
                                            <p:cond delay="0"/>
                                          </p:stCondLst>
                                        </p:cTn>
                                        <p:tgtEl>
                                          <p:spTgt spid="103428">
                                            <p:txEl>
                                              <p:pRg st="1" end="1"/>
                                            </p:txEl>
                                          </p:spTgt>
                                        </p:tgtEl>
                                        <p:attrNameLst>
                                          <p:attrName>style.visibility</p:attrName>
                                        </p:attrNameLst>
                                      </p:cBhvr>
                                      <p:to>
                                        <p:strVal val="visible"/>
                                      </p:to>
                                    </p:set>
                                    <p:animEffect transition="in" filter="fade">
                                      <p:cBhvr>
                                        <p:cTn id="13" dur="1000"/>
                                        <p:tgtEl>
                                          <p:spTgt spid="103428">
                                            <p:txEl>
                                              <p:pRg st="1" end="1"/>
                                            </p:txEl>
                                          </p:spTgt>
                                        </p:tgtEl>
                                      </p:cBhvr>
                                    </p:animEffect>
                                    <p:anim calcmode="lin" valueType="num">
                                      <p:cBhvr>
                                        <p:cTn id="14" dur="10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342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103428">
                                            <p:txEl>
                                              <p:pRg st="2" end="2"/>
                                            </p:txEl>
                                          </p:spTgt>
                                        </p:tgtEl>
                                        <p:attrNameLst>
                                          <p:attrName>style.visibility</p:attrName>
                                        </p:attrNameLst>
                                      </p:cBhvr>
                                      <p:to>
                                        <p:strVal val="visible"/>
                                      </p:to>
                                    </p:set>
                                    <p:anim calcmode="lin" valueType="num">
                                      <p:cBhvr additive="base">
                                        <p:cTn id="20" dur="500" fill="hold"/>
                                        <p:tgtEl>
                                          <p:spTgt spid="103428">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34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nodeType="clickEffect">
                                  <p:stCondLst>
                                    <p:cond delay="0"/>
                                  </p:stCondLst>
                                  <p:childTnLst>
                                    <p:set>
                                      <p:cBhvr>
                                        <p:cTn id="25" dur="1" fill="hold">
                                          <p:stCondLst>
                                            <p:cond delay="0"/>
                                          </p:stCondLst>
                                        </p:cTn>
                                        <p:tgtEl>
                                          <p:spTgt spid="103428">
                                            <p:txEl>
                                              <p:pRg st="4" end="4"/>
                                            </p:txEl>
                                          </p:spTgt>
                                        </p:tgtEl>
                                        <p:attrNameLst>
                                          <p:attrName>style.visibility</p:attrName>
                                        </p:attrNameLst>
                                      </p:cBhvr>
                                      <p:to>
                                        <p:strVal val="visible"/>
                                      </p:to>
                                    </p:set>
                                    <p:anim calcmode="lin" valueType="num">
                                      <p:cBhvr additive="base">
                                        <p:cTn id="26" dur="500" fill="hold"/>
                                        <p:tgtEl>
                                          <p:spTgt spid="103428">
                                            <p:txEl>
                                              <p:pRg st="4" end="4"/>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0342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42" presetClass="entr" presetSubtype="0" fill="hold" nodeType="clickEffect">
                                  <p:stCondLst>
                                    <p:cond delay="0"/>
                                  </p:stCondLst>
                                  <p:childTnLst>
                                    <p:set>
                                      <p:cBhvr>
                                        <p:cTn id="31" dur="1" fill="hold">
                                          <p:stCondLst>
                                            <p:cond delay="0"/>
                                          </p:stCondLst>
                                        </p:cTn>
                                        <p:tgtEl>
                                          <p:spTgt spid="103428">
                                            <p:txEl>
                                              <p:pRg st="5" end="5"/>
                                            </p:txEl>
                                          </p:spTgt>
                                        </p:tgtEl>
                                        <p:attrNameLst>
                                          <p:attrName>style.visibility</p:attrName>
                                        </p:attrNameLst>
                                      </p:cBhvr>
                                      <p:to>
                                        <p:strVal val="visible"/>
                                      </p:to>
                                    </p:set>
                                    <p:animEffect transition="in" filter="fade">
                                      <p:cBhvr>
                                        <p:cTn id="32" dur="1000"/>
                                        <p:tgtEl>
                                          <p:spTgt spid="103428">
                                            <p:txEl>
                                              <p:pRg st="5" end="5"/>
                                            </p:txEl>
                                          </p:spTgt>
                                        </p:tgtEl>
                                      </p:cBhvr>
                                    </p:animEffect>
                                    <p:anim calcmode="lin" valueType="num">
                                      <p:cBhvr>
                                        <p:cTn id="33" dur="1000" fill="hold"/>
                                        <p:tgtEl>
                                          <p:spTgt spid="103428">
                                            <p:txEl>
                                              <p:pRg st="5" end="5"/>
                                            </p:txEl>
                                          </p:spTgt>
                                        </p:tgtEl>
                                        <p:attrNameLst>
                                          <p:attrName>ppt_x</p:attrName>
                                        </p:attrNameLst>
                                      </p:cBhvr>
                                      <p:tavLst>
                                        <p:tav tm="0">
                                          <p:val>
                                            <p:strVal val="#ppt_x"/>
                                          </p:val>
                                        </p:tav>
                                        <p:tav tm="100000">
                                          <p:val>
                                            <p:strVal val="#ppt_x"/>
                                          </p:val>
                                        </p:tav>
                                      </p:tavLst>
                                    </p:anim>
                                    <p:anim calcmode="lin" valueType="num">
                                      <p:cBhvr>
                                        <p:cTn id="34" dur="1000" fill="hold"/>
                                        <p:tgtEl>
                                          <p:spTgt spid="103428">
                                            <p:txEl>
                                              <p:pRg st="5" end="5"/>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3428">
                                            <p:txEl>
                                              <p:pRg st="6" end="6"/>
                                            </p:txEl>
                                          </p:spTgt>
                                        </p:tgtEl>
                                        <p:attrNameLst>
                                          <p:attrName>style.visibility</p:attrName>
                                        </p:attrNameLst>
                                      </p:cBhvr>
                                      <p:to>
                                        <p:strVal val="visible"/>
                                      </p:to>
                                    </p:set>
                                    <p:animEffect transition="in" filter="fade">
                                      <p:cBhvr>
                                        <p:cTn id="37" dur="1000"/>
                                        <p:tgtEl>
                                          <p:spTgt spid="103428">
                                            <p:txEl>
                                              <p:pRg st="6" end="6"/>
                                            </p:txEl>
                                          </p:spTgt>
                                        </p:tgtEl>
                                      </p:cBhvr>
                                    </p:animEffect>
                                    <p:anim calcmode="lin" valueType="num">
                                      <p:cBhvr>
                                        <p:cTn id="38" dur="1000" fill="hold"/>
                                        <p:tgtEl>
                                          <p:spTgt spid="103428">
                                            <p:txEl>
                                              <p:pRg st="6" end="6"/>
                                            </p:txEl>
                                          </p:spTgt>
                                        </p:tgtEl>
                                        <p:attrNameLst>
                                          <p:attrName>ppt_x</p:attrName>
                                        </p:attrNameLst>
                                      </p:cBhvr>
                                      <p:tavLst>
                                        <p:tav tm="0">
                                          <p:val>
                                            <p:strVal val="#ppt_x"/>
                                          </p:val>
                                        </p:tav>
                                        <p:tav tm="100000">
                                          <p:val>
                                            <p:strVal val="#ppt_x"/>
                                          </p:val>
                                        </p:tav>
                                      </p:tavLst>
                                    </p:anim>
                                    <p:anim calcmode="lin" valueType="num">
                                      <p:cBhvr>
                                        <p:cTn id="39" dur="1000" fill="hold"/>
                                        <p:tgtEl>
                                          <p:spTgt spid="103428">
                                            <p:txEl>
                                              <p:pRg st="6" end="6"/>
                                            </p:txEl>
                                          </p:spTgt>
                                        </p:tgtEl>
                                        <p:attrNameLst>
                                          <p:attrName>ppt_y</p:attrName>
                                        </p:attrNameLst>
                                      </p:cBhvr>
                                      <p:tavLst>
                                        <p:tav tm="0">
                                          <p:val>
                                            <p:strVal val="#ppt_y+.1"/>
                                          </p:val>
                                        </p:tav>
                                        <p:tav tm="100000">
                                          <p:val>
                                            <p:strVal val="#ppt_y"/>
                                          </p:val>
                                        </p:tav>
                                      </p:tavLst>
                                    </p:anim>
                                  </p:childTnLst>
                                </p:cTn>
                              </p:par>
                              <p:par>
                                <p:cTn id="40" presetID="42" presetClass="entr" presetSubtype="0" fill="hold" nodeType="withEffect">
                                  <p:stCondLst>
                                    <p:cond delay="0"/>
                                  </p:stCondLst>
                                  <p:childTnLst>
                                    <p:set>
                                      <p:cBhvr>
                                        <p:cTn id="41" dur="1" fill="hold">
                                          <p:stCondLst>
                                            <p:cond delay="0"/>
                                          </p:stCondLst>
                                        </p:cTn>
                                        <p:tgtEl>
                                          <p:spTgt spid="103428">
                                            <p:txEl>
                                              <p:pRg st="7" end="7"/>
                                            </p:txEl>
                                          </p:spTgt>
                                        </p:tgtEl>
                                        <p:attrNameLst>
                                          <p:attrName>style.visibility</p:attrName>
                                        </p:attrNameLst>
                                      </p:cBhvr>
                                      <p:to>
                                        <p:strVal val="visible"/>
                                      </p:to>
                                    </p:set>
                                    <p:animEffect transition="in" filter="fade">
                                      <p:cBhvr>
                                        <p:cTn id="42" dur="1000"/>
                                        <p:tgtEl>
                                          <p:spTgt spid="103428">
                                            <p:txEl>
                                              <p:pRg st="7" end="7"/>
                                            </p:txEl>
                                          </p:spTgt>
                                        </p:tgtEl>
                                      </p:cBhvr>
                                    </p:animEffect>
                                    <p:anim calcmode="lin" valueType="num">
                                      <p:cBhvr>
                                        <p:cTn id="43" dur="1000" fill="hold"/>
                                        <p:tgtEl>
                                          <p:spTgt spid="103428">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103428">
                                            <p:txEl>
                                              <p:pRg st="7" end="7"/>
                                            </p:txEl>
                                          </p:spTgt>
                                        </p:tgtEl>
                                        <p:attrNameLst>
                                          <p:attrName>ppt_y</p:attrName>
                                        </p:attrNameLst>
                                      </p:cBhvr>
                                      <p:tavLst>
                                        <p:tav tm="0">
                                          <p:val>
                                            <p:strVal val="#ppt_y+.1"/>
                                          </p:val>
                                        </p:tav>
                                        <p:tav tm="100000">
                                          <p:val>
                                            <p:strVal val="#ppt_y"/>
                                          </p:val>
                                        </p:tav>
                                      </p:tavLst>
                                    </p:anim>
                                  </p:childTnLst>
                                </p:cTn>
                              </p:par>
                              <p:par>
                                <p:cTn id="45" presetID="42" presetClass="entr" presetSubtype="0" fill="hold" nodeType="withEffect">
                                  <p:stCondLst>
                                    <p:cond delay="0"/>
                                  </p:stCondLst>
                                  <p:childTnLst>
                                    <p:set>
                                      <p:cBhvr>
                                        <p:cTn id="46" dur="1" fill="hold">
                                          <p:stCondLst>
                                            <p:cond delay="0"/>
                                          </p:stCondLst>
                                        </p:cTn>
                                        <p:tgtEl>
                                          <p:spTgt spid="103428">
                                            <p:txEl>
                                              <p:pRg st="8" end="8"/>
                                            </p:txEl>
                                          </p:spTgt>
                                        </p:tgtEl>
                                        <p:attrNameLst>
                                          <p:attrName>style.visibility</p:attrName>
                                        </p:attrNameLst>
                                      </p:cBhvr>
                                      <p:to>
                                        <p:strVal val="visible"/>
                                      </p:to>
                                    </p:set>
                                    <p:animEffect transition="in" filter="fade">
                                      <p:cBhvr>
                                        <p:cTn id="47" dur="1000"/>
                                        <p:tgtEl>
                                          <p:spTgt spid="103428">
                                            <p:txEl>
                                              <p:pRg st="8" end="8"/>
                                            </p:txEl>
                                          </p:spTgt>
                                        </p:tgtEl>
                                      </p:cBhvr>
                                    </p:animEffect>
                                    <p:anim calcmode="lin" valueType="num">
                                      <p:cBhvr>
                                        <p:cTn id="48" dur="1000" fill="hold"/>
                                        <p:tgtEl>
                                          <p:spTgt spid="103428">
                                            <p:txEl>
                                              <p:pRg st="8" end="8"/>
                                            </p:txEl>
                                          </p:spTgt>
                                        </p:tgtEl>
                                        <p:attrNameLst>
                                          <p:attrName>ppt_x</p:attrName>
                                        </p:attrNameLst>
                                      </p:cBhvr>
                                      <p:tavLst>
                                        <p:tav tm="0">
                                          <p:val>
                                            <p:strVal val="#ppt_x"/>
                                          </p:val>
                                        </p:tav>
                                        <p:tav tm="100000">
                                          <p:val>
                                            <p:strVal val="#ppt_x"/>
                                          </p:val>
                                        </p:tav>
                                      </p:tavLst>
                                    </p:anim>
                                    <p:anim calcmode="lin" valueType="num">
                                      <p:cBhvr>
                                        <p:cTn id="49" dur="1000" fill="hold"/>
                                        <p:tgtEl>
                                          <p:spTgt spid="103428">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 presetClass="entr" presetSubtype="4" fill="hold" nodeType="clickEffect">
                                  <p:stCondLst>
                                    <p:cond delay="0"/>
                                  </p:stCondLst>
                                  <p:childTnLst>
                                    <p:set>
                                      <p:cBhvr>
                                        <p:cTn id="53" dur="1" fill="hold">
                                          <p:stCondLst>
                                            <p:cond delay="0"/>
                                          </p:stCondLst>
                                        </p:cTn>
                                        <p:tgtEl>
                                          <p:spTgt spid="103428">
                                            <p:txEl>
                                              <p:pRg st="9" end="9"/>
                                            </p:txEl>
                                          </p:spTgt>
                                        </p:tgtEl>
                                        <p:attrNameLst>
                                          <p:attrName>style.visibility</p:attrName>
                                        </p:attrNameLst>
                                      </p:cBhvr>
                                      <p:to>
                                        <p:strVal val="visible"/>
                                      </p:to>
                                    </p:set>
                                    <p:anim calcmode="lin" valueType="num">
                                      <p:cBhvr additive="base">
                                        <p:cTn id="54" dur="500" fill="hold"/>
                                        <p:tgtEl>
                                          <p:spTgt spid="103428">
                                            <p:txEl>
                                              <p:pRg st="9" end="9"/>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10342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 presetClass="entr" presetSubtype="4" fill="hold" nodeType="clickEffect">
                                  <p:stCondLst>
                                    <p:cond delay="0"/>
                                  </p:stCondLst>
                                  <p:childTnLst>
                                    <p:set>
                                      <p:cBhvr>
                                        <p:cTn id="59" dur="1" fill="hold">
                                          <p:stCondLst>
                                            <p:cond delay="0"/>
                                          </p:stCondLst>
                                        </p:cTn>
                                        <p:tgtEl>
                                          <p:spTgt spid="103428">
                                            <p:txEl>
                                              <p:pRg st="14" end="14"/>
                                            </p:txEl>
                                          </p:spTgt>
                                        </p:tgtEl>
                                        <p:attrNameLst>
                                          <p:attrName>style.visibility</p:attrName>
                                        </p:attrNameLst>
                                      </p:cBhvr>
                                      <p:to>
                                        <p:strVal val="visible"/>
                                      </p:to>
                                    </p:set>
                                    <p:anim calcmode="lin" valueType="num">
                                      <p:cBhvr additive="base">
                                        <p:cTn id="60" dur="500" fill="hold"/>
                                        <p:tgtEl>
                                          <p:spTgt spid="103428">
                                            <p:txEl>
                                              <p:pRg st="14" end="14"/>
                                            </p:txEl>
                                          </p:spTgt>
                                        </p:tgtEl>
                                        <p:attrNameLst>
                                          <p:attrName>ppt_x</p:attrName>
                                        </p:attrNameLst>
                                      </p:cBhvr>
                                      <p:tavLst>
                                        <p:tav tm="0">
                                          <p:val>
                                            <p:strVal val="#ppt_x"/>
                                          </p:val>
                                        </p:tav>
                                        <p:tav tm="100000">
                                          <p:val>
                                            <p:strVal val="#ppt_x"/>
                                          </p:val>
                                        </p:tav>
                                      </p:tavLst>
                                    </p:anim>
                                    <p:anim calcmode="lin" valueType="num">
                                      <p:cBhvr additive="base">
                                        <p:cTn id="61" dur="500" fill="hold"/>
                                        <p:tgtEl>
                                          <p:spTgt spid="103428">
                                            <p:txEl>
                                              <p:pRg st="14" end="14"/>
                                            </p:txEl>
                                          </p:spTgt>
                                        </p:tgtEl>
                                        <p:attrNameLst>
                                          <p:attrName>ppt_y</p:attrName>
                                        </p:attrNameLst>
                                      </p:cBhvr>
                                      <p:tavLst>
                                        <p:tav tm="0">
                                          <p:val>
                                            <p:strVal val="1+#ppt_h/2"/>
                                          </p:val>
                                        </p:tav>
                                        <p:tav tm="100000">
                                          <p:val>
                                            <p:strVal val="#ppt_y"/>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2" presetClass="entr" presetSubtype="4" fill="hold" nodeType="clickEffect">
                                  <p:stCondLst>
                                    <p:cond delay="0"/>
                                  </p:stCondLst>
                                  <p:childTnLst>
                                    <p:set>
                                      <p:cBhvr>
                                        <p:cTn id="65" dur="1" fill="hold">
                                          <p:stCondLst>
                                            <p:cond delay="0"/>
                                          </p:stCondLst>
                                        </p:cTn>
                                        <p:tgtEl>
                                          <p:spTgt spid="103428">
                                            <p:txEl>
                                              <p:pRg st="11" end="11"/>
                                            </p:txEl>
                                          </p:spTgt>
                                        </p:tgtEl>
                                        <p:attrNameLst>
                                          <p:attrName>style.visibility</p:attrName>
                                        </p:attrNameLst>
                                      </p:cBhvr>
                                      <p:to>
                                        <p:strVal val="visible"/>
                                      </p:to>
                                    </p:set>
                                    <p:anim calcmode="lin" valueType="num">
                                      <p:cBhvr additive="base">
                                        <p:cTn id="66" dur="500" fill="hold"/>
                                        <p:tgtEl>
                                          <p:spTgt spid="103428">
                                            <p:txEl>
                                              <p:pRg st="11" end="11"/>
                                            </p:txEl>
                                          </p:spTgt>
                                        </p:tgtEl>
                                        <p:attrNameLst>
                                          <p:attrName>ppt_x</p:attrName>
                                        </p:attrNameLst>
                                      </p:cBhvr>
                                      <p:tavLst>
                                        <p:tav tm="0">
                                          <p:val>
                                            <p:strVal val="#ppt_x"/>
                                          </p:val>
                                        </p:tav>
                                        <p:tav tm="100000">
                                          <p:val>
                                            <p:strVal val="#ppt_x"/>
                                          </p:val>
                                        </p:tav>
                                      </p:tavLst>
                                    </p:anim>
                                    <p:anim calcmode="lin" valueType="num">
                                      <p:cBhvr additive="base">
                                        <p:cTn id="67" dur="500" fill="hold"/>
                                        <p:tgtEl>
                                          <p:spTgt spid="103428">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8" fill="hold" nodeType="clickPar">
                      <p:stCondLst>
                        <p:cond delay="indefinite"/>
                      </p:stCondLst>
                      <p:childTnLst>
                        <p:par>
                          <p:cTn id="69" fill="hold" nodeType="withGroup">
                            <p:stCondLst>
                              <p:cond delay="0"/>
                            </p:stCondLst>
                            <p:childTnLst>
                              <p:par>
                                <p:cTn id="70" presetID="2" presetClass="entr" presetSubtype="4" fill="hold" nodeType="clickEffect">
                                  <p:stCondLst>
                                    <p:cond delay="0"/>
                                  </p:stCondLst>
                                  <p:childTnLst>
                                    <p:set>
                                      <p:cBhvr>
                                        <p:cTn id="71" dur="1" fill="hold">
                                          <p:stCondLst>
                                            <p:cond delay="0"/>
                                          </p:stCondLst>
                                        </p:cTn>
                                        <p:tgtEl>
                                          <p:spTgt spid="103428">
                                            <p:txEl>
                                              <p:pRg st="12" end="12"/>
                                            </p:txEl>
                                          </p:spTgt>
                                        </p:tgtEl>
                                        <p:attrNameLst>
                                          <p:attrName>style.visibility</p:attrName>
                                        </p:attrNameLst>
                                      </p:cBhvr>
                                      <p:to>
                                        <p:strVal val="visible"/>
                                      </p:to>
                                    </p:set>
                                    <p:anim calcmode="lin" valueType="num">
                                      <p:cBhvr additive="base">
                                        <p:cTn id="72" dur="500" fill="hold"/>
                                        <p:tgtEl>
                                          <p:spTgt spid="103428">
                                            <p:txEl>
                                              <p:pRg st="12" end="12"/>
                                            </p:txEl>
                                          </p:spTgt>
                                        </p:tgtEl>
                                        <p:attrNameLst>
                                          <p:attrName>ppt_x</p:attrName>
                                        </p:attrNameLst>
                                      </p:cBhvr>
                                      <p:tavLst>
                                        <p:tav tm="0">
                                          <p:val>
                                            <p:strVal val="#ppt_x"/>
                                          </p:val>
                                        </p:tav>
                                        <p:tav tm="100000">
                                          <p:val>
                                            <p:strVal val="#ppt_x"/>
                                          </p:val>
                                        </p:tav>
                                      </p:tavLst>
                                    </p:anim>
                                    <p:anim calcmode="lin" valueType="num">
                                      <p:cBhvr additive="base">
                                        <p:cTn id="73" dur="500" fill="hold"/>
                                        <p:tgtEl>
                                          <p:spTgt spid="103428">
                                            <p:txEl>
                                              <p:pRg st="12" end="12"/>
                                            </p:txEl>
                                          </p:spTgt>
                                        </p:tgtEl>
                                        <p:attrNameLst>
                                          <p:attrName>ppt_y</p:attrName>
                                        </p:attrNameLst>
                                      </p:cBhvr>
                                      <p:tavLst>
                                        <p:tav tm="0">
                                          <p:val>
                                            <p:strVal val="1+#ppt_h/2"/>
                                          </p:val>
                                        </p:tav>
                                        <p:tav tm="100000">
                                          <p:val>
                                            <p:strVal val="#ppt_y"/>
                                          </p:val>
                                        </p:tav>
                                      </p:tavLst>
                                    </p:anim>
                                  </p:childTnLst>
                                </p:cTn>
                              </p:par>
                            </p:childTnLst>
                          </p:cTn>
                        </p:par>
                      </p:childTnLst>
                    </p:cTn>
                  </p:par>
                  <p:par>
                    <p:cTn id="74" fill="hold" nodeType="clickPar">
                      <p:stCondLst>
                        <p:cond delay="indefinite"/>
                      </p:stCondLst>
                      <p:childTnLst>
                        <p:par>
                          <p:cTn id="75" fill="hold" nodeType="withGroup">
                            <p:stCondLst>
                              <p:cond delay="0"/>
                            </p:stCondLst>
                            <p:childTnLst>
                              <p:par>
                                <p:cTn id="76" presetID="2" presetClass="entr" presetSubtype="4" fill="hold" nodeType="clickEffect">
                                  <p:stCondLst>
                                    <p:cond delay="0"/>
                                  </p:stCondLst>
                                  <p:childTnLst>
                                    <p:set>
                                      <p:cBhvr>
                                        <p:cTn id="77" dur="1" fill="hold">
                                          <p:stCondLst>
                                            <p:cond delay="0"/>
                                          </p:stCondLst>
                                        </p:cTn>
                                        <p:tgtEl>
                                          <p:spTgt spid="103428">
                                            <p:txEl>
                                              <p:pRg st="13" end="13"/>
                                            </p:txEl>
                                          </p:spTgt>
                                        </p:tgtEl>
                                        <p:attrNameLst>
                                          <p:attrName>style.visibility</p:attrName>
                                        </p:attrNameLst>
                                      </p:cBhvr>
                                      <p:to>
                                        <p:strVal val="visible"/>
                                      </p:to>
                                    </p:set>
                                    <p:anim calcmode="lin" valueType="num">
                                      <p:cBhvr additive="base">
                                        <p:cTn id="78" dur="500" fill="hold"/>
                                        <p:tgtEl>
                                          <p:spTgt spid="103428">
                                            <p:txEl>
                                              <p:pRg st="13" end="13"/>
                                            </p:txEl>
                                          </p:spTgt>
                                        </p:tgtEl>
                                        <p:attrNameLst>
                                          <p:attrName>ppt_x</p:attrName>
                                        </p:attrNameLst>
                                      </p:cBhvr>
                                      <p:tavLst>
                                        <p:tav tm="0">
                                          <p:val>
                                            <p:strVal val="#ppt_x"/>
                                          </p:val>
                                        </p:tav>
                                        <p:tav tm="100000">
                                          <p:val>
                                            <p:strVal val="#ppt_x"/>
                                          </p:val>
                                        </p:tav>
                                      </p:tavLst>
                                    </p:anim>
                                    <p:anim calcmode="lin" valueType="num">
                                      <p:cBhvr additive="base">
                                        <p:cTn id="79" dur="500" fill="hold"/>
                                        <p:tgtEl>
                                          <p:spTgt spid="103428">
                                            <p:txEl>
                                              <p:pRg st="13" end="1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15">
            <a:extLst>
              <a:ext uri="{FF2B5EF4-FFF2-40B4-BE49-F238E27FC236}">
                <a16:creationId xmlns:a16="http://schemas.microsoft.com/office/drawing/2014/main" xmlns="" id="{20DBA938-DBCA-44FF-B6BB-8697F41D98C7}"/>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66563" name="Picture 1">
            <a:extLst>
              <a:ext uri="{FF2B5EF4-FFF2-40B4-BE49-F238E27FC236}">
                <a16:creationId xmlns:a16="http://schemas.microsoft.com/office/drawing/2014/main" xmlns="" id="{F20AC433-49D5-4BC7-9871-EEF8284DE6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4C43198C-9802-4A88-A7A8-3571EB41B8A6}"/>
              </a:ext>
            </a:extLst>
          </p:cNvPr>
          <p:cNvSpPr txBox="1">
            <a:spLocks/>
          </p:cNvSpPr>
          <p:nvPr/>
        </p:nvSpPr>
        <p:spPr bwMode="auto">
          <a:xfrm>
            <a:off x="463550" y="852488"/>
            <a:ext cx="11353800" cy="543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nSpc>
                <a:spcPct val="100000"/>
              </a:lnSpc>
              <a:spcBef>
                <a:spcPct val="0"/>
              </a:spcBef>
            </a:pPr>
            <a:endParaRPr lang="en-US" altLang="en-US" sz="2400">
              <a:latin typeface="Times New Roman" panose="02020603050405020304" pitchFamily="18" charset="0"/>
              <a:cs typeface="Times New Roman" panose="02020603050405020304" pitchFamily="18" charset="0"/>
            </a:endParaRPr>
          </a:p>
          <a:p>
            <a:pPr>
              <a:lnSpc>
                <a:spcPct val="100000"/>
              </a:lnSpc>
              <a:spcBef>
                <a:spcPct val="0"/>
              </a:spcBef>
            </a:pPr>
            <a:r>
              <a:rPr lang="en-US" altLang="en-US" sz="2400">
                <a:latin typeface="Times New Roman" panose="02020603050405020304" pitchFamily="18" charset="0"/>
                <a:cs typeface="Times New Roman" panose="02020603050405020304" pitchFamily="18" charset="0"/>
              </a:rPr>
              <a:t>Definition of Instances, schemas, data models</a:t>
            </a:r>
          </a:p>
          <a:p>
            <a:pPr>
              <a:lnSpc>
                <a:spcPct val="100000"/>
              </a:lnSpc>
              <a:spcBef>
                <a:spcPct val="0"/>
              </a:spcBef>
            </a:pPr>
            <a:r>
              <a:rPr lang="en-US" altLang="en-US" sz="2400">
                <a:latin typeface="Times New Roman" panose="02020603050405020304" pitchFamily="18" charset="0"/>
                <a:cs typeface="Times New Roman" panose="02020603050405020304" pitchFamily="18" charset="0"/>
              </a:rPr>
              <a:t>Categories of data models</a:t>
            </a:r>
          </a:p>
          <a:p>
            <a:pPr>
              <a:lnSpc>
                <a:spcPct val="100000"/>
              </a:lnSpc>
              <a:spcBef>
                <a:spcPct val="0"/>
              </a:spcBef>
            </a:pPr>
            <a:r>
              <a:rPr lang="en-US" altLang="en-US" sz="2400">
                <a:latin typeface="Times New Roman" panose="02020603050405020304" pitchFamily="18" charset="0"/>
                <a:cs typeface="Times New Roman" panose="02020603050405020304" pitchFamily="18" charset="0"/>
              </a:rPr>
              <a:t>Three schema architecture</a:t>
            </a:r>
          </a:p>
          <a:p>
            <a:pPr>
              <a:lnSpc>
                <a:spcPct val="100000"/>
              </a:lnSpc>
              <a:spcBef>
                <a:spcPct val="0"/>
              </a:spcBef>
            </a:pPr>
            <a:r>
              <a:rPr lang="en-US" altLang="en-US" sz="2400">
                <a:latin typeface="Times New Roman" panose="02020603050405020304" pitchFamily="18" charset="0"/>
                <a:cs typeface="Times New Roman" panose="02020603050405020304" pitchFamily="18" charset="0"/>
              </a:rPr>
              <a:t>Data independence </a:t>
            </a:r>
            <a:endParaRPr lang="en-IN" altLang="en-US" sz="2400">
              <a:latin typeface="Times New Roman" panose="02020603050405020304" pitchFamily="18" charset="0"/>
              <a:cs typeface="Times New Roman" panose="02020603050405020304" pitchFamily="18" charset="0"/>
            </a:endParaRPr>
          </a:p>
        </p:txBody>
      </p:sp>
      <p:sp>
        <p:nvSpPr>
          <p:cNvPr id="66565" name="Rectangle 2">
            <a:extLst>
              <a:ext uri="{FF2B5EF4-FFF2-40B4-BE49-F238E27FC236}">
                <a16:creationId xmlns:a16="http://schemas.microsoft.com/office/drawing/2014/main" xmlns="" id="{6D1EE462-FAD5-4370-AB23-1F2DACA54FC0}"/>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Recalling concepts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1" end="1"/>
                                            </p:txEl>
                                          </p:spTgt>
                                        </p:tgtEl>
                                        <p:attrNameLst>
                                          <p:attrName>style.visibility</p:attrName>
                                        </p:attrNameLst>
                                      </p:cBhvr>
                                      <p:to>
                                        <p:strVal val="visible"/>
                                      </p:to>
                                    </p:set>
                                    <p:anim calcmode="lin" valueType="num">
                                      <p:cBhvr additive="base">
                                        <p:cTn id="7" dur="5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3428">
                                            <p:txEl>
                                              <p:pRg st="2" end="2"/>
                                            </p:txEl>
                                          </p:spTgt>
                                        </p:tgtEl>
                                        <p:attrNameLst>
                                          <p:attrName>style.visibility</p:attrName>
                                        </p:attrNameLst>
                                      </p:cBhvr>
                                      <p:to>
                                        <p:strVal val="visible"/>
                                      </p:to>
                                    </p:set>
                                    <p:anim calcmode="lin" valueType="num">
                                      <p:cBhvr additive="base">
                                        <p:cTn id="13" dur="500" fill="hold"/>
                                        <p:tgtEl>
                                          <p:spTgt spid="103428">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3428">
                                            <p:txEl>
                                              <p:pRg st="3" end="3"/>
                                            </p:txEl>
                                          </p:spTgt>
                                        </p:tgtEl>
                                        <p:attrNameLst>
                                          <p:attrName>style.visibility</p:attrName>
                                        </p:attrNameLst>
                                      </p:cBhvr>
                                      <p:to>
                                        <p:strVal val="visible"/>
                                      </p:to>
                                    </p:set>
                                    <p:anim calcmode="lin" valueType="num">
                                      <p:cBhvr additive="base">
                                        <p:cTn id="19" dur="500" fill="hold"/>
                                        <p:tgtEl>
                                          <p:spTgt spid="10342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42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3428">
                                            <p:txEl>
                                              <p:pRg st="4" end="4"/>
                                            </p:txEl>
                                          </p:spTgt>
                                        </p:tgtEl>
                                        <p:attrNameLst>
                                          <p:attrName>style.visibility</p:attrName>
                                        </p:attrNameLst>
                                      </p:cBhvr>
                                      <p:to>
                                        <p:strVal val="visible"/>
                                      </p:to>
                                    </p:set>
                                    <p:anim calcmode="lin" valueType="num">
                                      <p:cBhvr additive="base">
                                        <p:cTn id="25" dur="500" fill="hold"/>
                                        <p:tgtEl>
                                          <p:spTgt spid="10342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428">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5">
            <a:extLst>
              <a:ext uri="{FF2B5EF4-FFF2-40B4-BE49-F238E27FC236}">
                <a16:creationId xmlns:a16="http://schemas.microsoft.com/office/drawing/2014/main" xmlns="" id="{841BDCC9-6DF4-4901-9527-896DBEA8D648}"/>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67587" name="Picture 1">
            <a:extLst>
              <a:ext uri="{FF2B5EF4-FFF2-40B4-BE49-F238E27FC236}">
                <a16:creationId xmlns:a16="http://schemas.microsoft.com/office/drawing/2014/main" xmlns="" id="{BE6579C7-70AD-4068-8FE9-F593E67621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4" name="Title 3">
            <a:extLst>
              <a:ext uri="{FF2B5EF4-FFF2-40B4-BE49-F238E27FC236}">
                <a16:creationId xmlns:a16="http://schemas.microsoft.com/office/drawing/2014/main" xmlns="" id="{0F00EF35-CEFD-4AF0-9959-190BD12C16C4}"/>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lgn="just">
              <a:defRPr/>
            </a:pPr>
            <a:r>
              <a:rPr lang="en-US" sz="2400" dirty="0">
                <a:solidFill>
                  <a:srgbClr val="FF0000"/>
                </a:solidFill>
                <a:latin typeface="Times New Roman" pitchFamily="18" charset="0"/>
                <a:cs typeface="Times New Roman" pitchFamily="18" charset="0"/>
              </a:rPr>
              <a:t>Data Definition Language (DDL): </a:t>
            </a:r>
          </a:p>
          <a:p>
            <a:pPr lvl="1" algn="just">
              <a:lnSpc>
                <a:spcPct val="90000"/>
              </a:lnSpc>
              <a:buFont typeface="Arial" pitchFamily="34" charset="0"/>
              <a:buChar char="•"/>
              <a:defRPr/>
            </a:pPr>
            <a:r>
              <a:rPr lang="en-US" sz="2400" dirty="0">
                <a:latin typeface="Times New Roman" pitchFamily="18" charset="0"/>
                <a:cs typeface="Times New Roman" pitchFamily="18" charset="0"/>
              </a:rPr>
              <a:t>Used by the DBA and database designers to specify the conceptual schema of a database.</a:t>
            </a:r>
          </a:p>
          <a:p>
            <a:pPr lvl="1" algn="just">
              <a:lnSpc>
                <a:spcPct val="90000"/>
              </a:lnSpc>
              <a:buFont typeface="Arial" pitchFamily="34" charset="0"/>
              <a:buChar char="•"/>
              <a:defRPr/>
            </a:pPr>
            <a:r>
              <a:rPr lang="en-US" sz="2400" dirty="0">
                <a:latin typeface="Times New Roman" pitchFamily="18" charset="0"/>
                <a:cs typeface="Times New Roman" pitchFamily="18" charset="0"/>
              </a:rPr>
              <a:t>In many DBMSs, the DDL is also used to define internal and external schemas (views).</a:t>
            </a:r>
          </a:p>
          <a:p>
            <a:pPr lvl="1" algn="just">
              <a:lnSpc>
                <a:spcPct val="90000"/>
              </a:lnSpc>
              <a:buFont typeface="Arial" pitchFamily="34" charset="0"/>
              <a:buChar char="•"/>
              <a:defRPr/>
            </a:pPr>
            <a:r>
              <a:rPr lang="en-US" sz="2400" dirty="0">
                <a:latin typeface="Times New Roman" pitchFamily="18" charset="0"/>
                <a:cs typeface="Times New Roman" pitchFamily="18" charset="0"/>
              </a:rPr>
              <a:t>In some DBMSs, separate </a:t>
            </a:r>
            <a:r>
              <a:rPr lang="en-US" sz="2400" b="1" dirty="0">
                <a:latin typeface="Times New Roman" pitchFamily="18" charset="0"/>
                <a:cs typeface="Times New Roman" pitchFamily="18" charset="0"/>
              </a:rPr>
              <a:t>storage definition language (SDL) </a:t>
            </a:r>
            <a:r>
              <a:rPr lang="en-US" sz="2400" dirty="0">
                <a:latin typeface="Times New Roman" pitchFamily="18" charset="0"/>
                <a:cs typeface="Times New Roman" pitchFamily="18" charset="0"/>
              </a:rPr>
              <a:t>and</a:t>
            </a:r>
            <a:r>
              <a:rPr lang="en-US" sz="2400" b="1" dirty="0">
                <a:latin typeface="Times New Roman" pitchFamily="18" charset="0"/>
                <a:cs typeface="Times New Roman" pitchFamily="18" charset="0"/>
              </a:rPr>
              <a:t> view definition language (VDL)</a:t>
            </a:r>
            <a:r>
              <a:rPr lang="en-US" sz="2400" dirty="0">
                <a:latin typeface="Times New Roman" pitchFamily="18" charset="0"/>
                <a:cs typeface="Times New Roman" pitchFamily="18" charset="0"/>
              </a:rPr>
              <a:t> are used to define internal and external schemas.</a:t>
            </a:r>
          </a:p>
          <a:p>
            <a:pPr marL="1200150" lvl="2" indent="-285750" algn="just">
              <a:lnSpc>
                <a:spcPct val="90000"/>
              </a:lnSpc>
              <a:buFont typeface="Arial" pitchFamily="34" charset="0"/>
              <a:buChar char="•"/>
              <a:defRPr/>
            </a:pPr>
            <a:r>
              <a:rPr lang="en-US" sz="2400" dirty="0">
                <a:latin typeface="Times New Roman" pitchFamily="18" charset="0"/>
                <a:cs typeface="Times New Roman" pitchFamily="18" charset="0"/>
              </a:rPr>
              <a:t>SDL is typically realized via DBMS commands provided to the DBA and database designers</a:t>
            </a:r>
          </a:p>
          <a:p>
            <a:pPr algn="just">
              <a:defRPr/>
            </a:pPr>
            <a:r>
              <a:rPr lang="en-US" sz="2400" dirty="0">
                <a:solidFill>
                  <a:srgbClr val="FF0000"/>
                </a:solidFill>
                <a:latin typeface="Times New Roman" pitchFamily="18" charset="0"/>
                <a:cs typeface="Times New Roman" pitchFamily="18" charset="0"/>
              </a:rPr>
              <a:t>Data Manipulation Language (DML)</a:t>
            </a:r>
          </a:p>
          <a:p>
            <a:pPr marL="800100" lvl="1" indent="-342900" algn="just">
              <a:buFont typeface="Arial" pitchFamily="34" charset="0"/>
              <a:buChar char="•"/>
              <a:defRPr/>
            </a:pPr>
            <a:r>
              <a:rPr lang="en-US" sz="2400" dirty="0">
                <a:latin typeface="Times New Roman" pitchFamily="18" charset="0"/>
                <a:cs typeface="Times New Roman" pitchFamily="18" charset="0"/>
              </a:rPr>
              <a:t>High-Level or Non-procedural Languages: These include the relational language SQL</a:t>
            </a:r>
          </a:p>
          <a:p>
            <a:pPr marL="1257300" lvl="2" indent="-342900" algn="just">
              <a:buFont typeface="Arial" pitchFamily="34" charset="0"/>
              <a:buChar char="•"/>
              <a:defRPr/>
            </a:pPr>
            <a:r>
              <a:rPr lang="en-US" sz="2400" dirty="0">
                <a:latin typeface="Times New Roman" pitchFamily="18" charset="0"/>
                <a:cs typeface="Times New Roman" pitchFamily="18" charset="0"/>
              </a:rPr>
              <a:t>May be used in a standalone way or may be embedded in a programming language</a:t>
            </a:r>
          </a:p>
        </p:txBody>
      </p:sp>
      <p:sp>
        <p:nvSpPr>
          <p:cNvPr id="67589" name="Rectangle 2">
            <a:extLst>
              <a:ext uri="{FF2B5EF4-FFF2-40B4-BE49-F238E27FC236}">
                <a16:creationId xmlns:a16="http://schemas.microsoft.com/office/drawing/2014/main" xmlns="" id="{4A390BAB-7F99-4974-8842-D2CC7E24DA08}"/>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2.3 DBMS Languages</a:t>
            </a:r>
            <a:endParaRPr lang="en-US" altLang="en-US" b="1">
              <a:latin typeface="Calibri Light" panose="020F0302020204030204" pitchFamily="34" charset="0"/>
            </a:endParaRPr>
          </a:p>
        </p:txBody>
      </p:sp>
    </p:spTree>
  </p:cSld>
  <p:clrMapOvr>
    <a:masterClrMapping/>
  </p:clrMapOvr>
  <p:transition spd="slow">
    <p:wip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15">
            <a:extLst>
              <a:ext uri="{FF2B5EF4-FFF2-40B4-BE49-F238E27FC236}">
                <a16:creationId xmlns:a16="http://schemas.microsoft.com/office/drawing/2014/main" xmlns="" id="{876C435B-8DD2-4D91-87CB-6771D0CD6BFA}"/>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68611" name="Picture 1">
            <a:extLst>
              <a:ext uri="{FF2B5EF4-FFF2-40B4-BE49-F238E27FC236}">
                <a16:creationId xmlns:a16="http://schemas.microsoft.com/office/drawing/2014/main" xmlns="" id="{5325239C-72F5-4BD4-8C8D-7E1B057C55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988" name="Title 3">
            <a:extLst>
              <a:ext uri="{FF2B5EF4-FFF2-40B4-BE49-F238E27FC236}">
                <a16:creationId xmlns:a16="http://schemas.microsoft.com/office/drawing/2014/main" xmlns="" id="{5A0A1439-A385-48BE-8DC9-AAA39CDC3C24}"/>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marL="800100" lvl="1" indent="-342900" algn="just">
              <a:buFont typeface="Arial" pitchFamily="34" charset="0"/>
              <a:buChar char="•"/>
              <a:defRPr/>
            </a:pPr>
            <a:r>
              <a:rPr lang="en-US" sz="2400" dirty="0">
                <a:latin typeface="Times New Roman" pitchFamily="18" charset="0"/>
                <a:cs typeface="Times New Roman" pitchFamily="18" charset="0"/>
              </a:rPr>
              <a:t>Low Level or Procedural Languages:</a:t>
            </a:r>
          </a:p>
          <a:p>
            <a:pPr marL="1257300" lvl="2" indent="-342900" algn="just">
              <a:buFont typeface="Arial" pitchFamily="34" charset="0"/>
              <a:buChar char="•"/>
              <a:defRPr/>
            </a:pPr>
            <a:r>
              <a:rPr lang="en-US" sz="2400" dirty="0">
                <a:latin typeface="Times New Roman" pitchFamily="18" charset="0"/>
                <a:cs typeface="Times New Roman" pitchFamily="18" charset="0"/>
              </a:rPr>
              <a:t>These must be embedded in a programming language</a:t>
            </a:r>
          </a:p>
          <a:p>
            <a:pPr lvl="1" algn="just">
              <a:defRPr/>
            </a:pPr>
            <a:r>
              <a:rPr lang="en-US" sz="2400" dirty="0">
                <a:latin typeface="Times New Roman" pitchFamily="18" charset="0"/>
                <a:cs typeface="Times New Roman" pitchFamily="18" charset="0"/>
              </a:rPr>
              <a:t>Used to specify database retrievals and updates</a:t>
            </a:r>
          </a:p>
          <a:p>
            <a:pPr lvl="1" algn="just">
              <a:defRPr/>
            </a:pPr>
            <a:r>
              <a:rPr lang="en-US" sz="2400" dirty="0">
                <a:latin typeface="Times New Roman" pitchFamily="18" charset="0"/>
                <a:cs typeface="Times New Roman" pitchFamily="18" charset="0"/>
              </a:rPr>
              <a:t>DML commands (data sublanguage) can be </a:t>
            </a:r>
            <a:r>
              <a:rPr lang="en-US" sz="2400" i="1" dirty="0">
                <a:latin typeface="Times New Roman" pitchFamily="18" charset="0"/>
                <a:cs typeface="Times New Roman" pitchFamily="18" charset="0"/>
              </a:rPr>
              <a:t>embedded</a:t>
            </a:r>
            <a:r>
              <a:rPr lang="en-US" sz="2400" dirty="0">
                <a:latin typeface="Times New Roman" pitchFamily="18" charset="0"/>
                <a:cs typeface="Times New Roman" pitchFamily="18" charset="0"/>
              </a:rPr>
              <a:t> in a general-purpose programming language (host language), such as COBOL, C, C++, or Java.</a:t>
            </a:r>
          </a:p>
          <a:p>
            <a:pPr lvl="2" algn="just">
              <a:defRPr/>
            </a:pPr>
            <a:r>
              <a:rPr lang="en-US" sz="2400" dirty="0">
                <a:latin typeface="Times New Roman" pitchFamily="18" charset="0"/>
                <a:cs typeface="Times New Roman" pitchFamily="18" charset="0"/>
              </a:rPr>
              <a:t>A library of functions can also be provided to access the DBMS from a programming language</a:t>
            </a:r>
          </a:p>
          <a:p>
            <a:pPr lvl="1" algn="just">
              <a:defRPr/>
            </a:pPr>
            <a:r>
              <a:rPr lang="en-US" sz="2400" dirty="0">
                <a:latin typeface="Times New Roman" pitchFamily="18" charset="0"/>
                <a:cs typeface="Times New Roman" pitchFamily="18" charset="0"/>
              </a:rPr>
              <a:t>Alternatively, stand-alone DML commands can be applied directly (called a </a:t>
            </a:r>
            <a:r>
              <a:rPr lang="en-US" sz="2400" i="1" dirty="0">
                <a:latin typeface="Times New Roman" pitchFamily="18" charset="0"/>
                <a:cs typeface="Times New Roman" pitchFamily="18" charset="0"/>
              </a:rPr>
              <a:t>query language</a:t>
            </a:r>
            <a:r>
              <a:rPr lang="en-US" sz="2400" dirty="0">
                <a:latin typeface="Times New Roman" pitchFamily="18" charset="0"/>
                <a:cs typeface="Times New Roman" pitchFamily="18" charset="0"/>
              </a:rPr>
              <a:t>).</a:t>
            </a:r>
            <a:endParaRPr lang="en-US" sz="2400" b="1" dirty="0">
              <a:solidFill>
                <a:srgbClr val="FF0000"/>
              </a:solidFill>
              <a:latin typeface="Times New Roman" pitchFamily="18" charset="0"/>
              <a:cs typeface="Times New Roman" pitchFamily="18" charset="0"/>
            </a:endParaRPr>
          </a:p>
          <a:p>
            <a:pPr algn="just">
              <a:buClr>
                <a:srgbClr val="800000"/>
              </a:buClr>
              <a:buFont typeface="Wingdings" pitchFamily="2" charset="2"/>
              <a:buChar char="§"/>
              <a:defRPr/>
            </a:pPr>
            <a:r>
              <a:rPr lang="en-US" sz="2400" b="1" dirty="0">
                <a:solidFill>
                  <a:srgbClr val="FF0000"/>
                </a:solidFill>
                <a:latin typeface="Times New Roman" pitchFamily="18" charset="0"/>
                <a:cs typeface="Times New Roman" pitchFamily="18" charset="0"/>
              </a:rPr>
              <a:t>Storage definition language (SDL)</a:t>
            </a:r>
          </a:p>
          <a:p>
            <a:pPr lvl="1" algn="just">
              <a:buClr>
                <a:srgbClr val="0070C0"/>
              </a:buClr>
              <a:buSzPct val="80000"/>
              <a:buFont typeface="Arial" pitchFamily="34" charset="0"/>
              <a:buChar char="•"/>
              <a:defRPr/>
            </a:pPr>
            <a:r>
              <a:rPr lang="en-US" sz="2000" dirty="0">
                <a:latin typeface="Times New Roman" pitchFamily="18" charset="0"/>
                <a:cs typeface="Times New Roman" pitchFamily="18" charset="0"/>
              </a:rPr>
              <a:t>Specifies the internal schema</a:t>
            </a:r>
          </a:p>
          <a:p>
            <a:pPr algn="just">
              <a:buClr>
                <a:srgbClr val="800000"/>
              </a:buClr>
              <a:buFont typeface="Wingdings" pitchFamily="2" charset="2"/>
              <a:buChar char="§"/>
              <a:defRPr/>
            </a:pPr>
            <a:r>
              <a:rPr lang="en-US" sz="2400" b="1" dirty="0">
                <a:solidFill>
                  <a:srgbClr val="FF0000"/>
                </a:solidFill>
                <a:latin typeface="Times New Roman" pitchFamily="18" charset="0"/>
                <a:cs typeface="Times New Roman" pitchFamily="18" charset="0"/>
              </a:rPr>
              <a:t>View definition language (VDL)</a:t>
            </a:r>
          </a:p>
          <a:p>
            <a:pPr lvl="1" algn="just">
              <a:buClr>
                <a:srgbClr val="0070C0"/>
              </a:buClr>
              <a:buSzPct val="80000"/>
              <a:buFont typeface="Arial" pitchFamily="34" charset="0"/>
              <a:buChar char="•"/>
              <a:defRPr/>
            </a:pPr>
            <a:r>
              <a:rPr lang="en-US" sz="2000" dirty="0">
                <a:latin typeface="Times New Roman" pitchFamily="18" charset="0"/>
                <a:cs typeface="Times New Roman" pitchFamily="18" charset="0"/>
              </a:rPr>
              <a:t>Specifies user views/mappings to conceptual schema</a:t>
            </a:r>
            <a:endParaRPr lang="en-IN" sz="2400" dirty="0">
              <a:latin typeface="Times New Roman" pitchFamily="18" charset="0"/>
              <a:cs typeface="Times New Roman" pitchFamily="18" charset="0"/>
            </a:endParaRPr>
          </a:p>
        </p:txBody>
      </p:sp>
      <p:sp>
        <p:nvSpPr>
          <p:cNvPr id="68613" name="Rectangle 2">
            <a:extLst>
              <a:ext uri="{FF2B5EF4-FFF2-40B4-BE49-F238E27FC236}">
                <a16:creationId xmlns:a16="http://schemas.microsoft.com/office/drawing/2014/main" xmlns="" id="{D6A011D9-B3CB-4C11-92BF-CD1D8D000BE2}"/>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Tree>
  </p:cSld>
  <p:clrMapOvr>
    <a:masterClrMapping/>
  </p:clrMapOvr>
  <p:transition spd="slow">
    <p:wip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sz="1400">
                <a:solidFill>
                  <a:srgbClr val="990033"/>
                </a:solidFill>
              </a:rPr>
              <a:t>Slide 2- </a:t>
            </a:r>
            <a:fld id="{B8681594-748E-4C37-ADA0-E6C3229B13D9}" type="slidenum">
              <a:rPr lang="en-US" sz="1400">
                <a:solidFill>
                  <a:srgbClr val="990033"/>
                </a:solidFill>
              </a:rPr>
              <a:pPr eaLnBrk="1" hangingPunct="1"/>
              <a:t>64</a:t>
            </a:fld>
            <a:endParaRPr lang="en-CA" sz="1400">
              <a:solidFill>
                <a:srgbClr val="990033"/>
              </a:solidFill>
            </a:endParaRPr>
          </a:p>
        </p:txBody>
      </p:sp>
      <p:sp>
        <p:nvSpPr>
          <p:cNvPr id="21507" name="Rectangle 4"/>
          <p:cNvSpPr>
            <a:spLocks noGrp="1" noChangeArrowheads="1"/>
          </p:cNvSpPr>
          <p:nvPr>
            <p:ph type="title"/>
          </p:nvPr>
        </p:nvSpPr>
        <p:spPr/>
        <p:txBody>
          <a:bodyPr/>
          <a:lstStyle/>
          <a:p>
            <a:pPr eaLnBrk="1" hangingPunct="1"/>
            <a:r>
              <a:rPr lang="en-US" smtClean="0"/>
              <a:t>DBMS Languages</a:t>
            </a:r>
          </a:p>
        </p:txBody>
      </p:sp>
      <p:sp>
        <p:nvSpPr>
          <p:cNvPr id="21508" name="Rectangle 5"/>
          <p:cNvSpPr>
            <a:spLocks noGrp="1" noChangeArrowheads="1"/>
          </p:cNvSpPr>
          <p:nvPr>
            <p:ph type="body" idx="1"/>
          </p:nvPr>
        </p:nvSpPr>
        <p:spPr/>
        <p:txBody>
          <a:bodyPr/>
          <a:lstStyle/>
          <a:p>
            <a:pPr eaLnBrk="1" hangingPunct="1"/>
            <a:r>
              <a:rPr lang="en-US" smtClean="0"/>
              <a:t>Data Definition Language (DDL)</a:t>
            </a:r>
          </a:p>
          <a:p>
            <a:pPr eaLnBrk="1" hangingPunct="1"/>
            <a:r>
              <a:rPr lang="en-US" smtClean="0"/>
              <a:t>Data Manipulation Language (DML)</a:t>
            </a:r>
          </a:p>
          <a:p>
            <a:pPr lvl="1" eaLnBrk="1" hangingPunct="1"/>
            <a:r>
              <a:rPr lang="en-US" smtClean="0"/>
              <a:t>High-Level or Non-procedural Languages: These include the relational language SQL</a:t>
            </a:r>
          </a:p>
          <a:p>
            <a:pPr lvl="2" eaLnBrk="1" hangingPunct="1"/>
            <a:r>
              <a:rPr lang="en-US" smtClean="0"/>
              <a:t>May be used in a standalone way or may be embedded in a programming language</a:t>
            </a:r>
          </a:p>
          <a:p>
            <a:pPr lvl="1" eaLnBrk="1" hangingPunct="1"/>
            <a:r>
              <a:rPr lang="en-US" smtClean="0"/>
              <a:t>Low Level or Procedural Languages:</a:t>
            </a:r>
          </a:p>
          <a:p>
            <a:pPr lvl="2" eaLnBrk="1" hangingPunct="1"/>
            <a:r>
              <a:rPr lang="en-US" smtClean="0"/>
              <a:t>These must be embedded in a programming language</a:t>
            </a:r>
          </a:p>
          <a:p>
            <a:pPr eaLnBrk="1" hangingPunct="1"/>
            <a:endParaRPr lang="en-US" smtClean="0"/>
          </a:p>
          <a:p>
            <a:pPr eaLnBrk="1" hangingPunct="1"/>
            <a:endParaRPr lang="en-US" smtClean="0"/>
          </a:p>
        </p:txBody>
      </p:sp>
    </p:spTree>
    <p:extLst>
      <p:ext uri="{BB962C8B-B14F-4D97-AF65-F5344CB8AC3E}">
        <p14:creationId xmlns:p14="http://schemas.microsoft.com/office/powerpoint/2010/main" val="19299900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sz="1400">
                <a:solidFill>
                  <a:srgbClr val="990033"/>
                </a:solidFill>
              </a:rPr>
              <a:t>Slide 2- </a:t>
            </a:r>
            <a:fld id="{2620081F-D49D-4C14-949A-C64EC506E6B0}" type="slidenum">
              <a:rPr lang="en-US" sz="1400">
                <a:solidFill>
                  <a:srgbClr val="990033"/>
                </a:solidFill>
              </a:rPr>
              <a:pPr eaLnBrk="1" hangingPunct="1"/>
              <a:t>65</a:t>
            </a:fld>
            <a:endParaRPr lang="en-CA" sz="1400">
              <a:solidFill>
                <a:srgbClr val="990033"/>
              </a:solidFill>
            </a:endParaRPr>
          </a:p>
        </p:txBody>
      </p:sp>
      <p:sp>
        <p:nvSpPr>
          <p:cNvPr id="22531" name="Rectangle 4"/>
          <p:cNvSpPr>
            <a:spLocks noGrp="1" noChangeArrowheads="1"/>
          </p:cNvSpPr>
          <p:nvPr>
            <p:ph type="title"/>
          </p:nvPr>
        </p:nvSpPr>
        <p:spPr/>
        <p:txBody>
          <a:bodyPr/>
          <a:lstStyle/>
          <a:p>
            <a:pPr eaLnBrk="1" hangingPunct="1"/>
            <a:r>
              <a:rPr lang="en-US" smtClean="0"/>
              <a:t>DBMS Languages</a:t>
            </a:r>
          </a:p>
        </p:txBody>
      </p:sp>
      <p:sp>
        <p:nvSpPr>
          <p:cNvPr id="22532" name="Rectangle 5"/>
          <p:cNvSpPr>
            <a:spLocks noGrp="1" noChangeArrowheads="1"/>
          </p:cNvSpPr>
          <p:nvPr>
            <p:ph type="body" idx="1"/>
          </p:nvPr>
        </p:nvSpPr>
        <p:spPr/>
        <p:txBody>
          <a:bodyPr/>
          <a:lstStyle/>
          <a:p>
            <a:pPr eaLnBrk="1" hangingPunct="1">
              <a:lnSpc>
                <a:spcPct val="90000"/>
              </a:lnSpc>
            </a:pPr>
            <a:r>
              <a:rPr lang="en-US" b="1" smtClean="0"/>
              <a:t>Data Definition Language (DDL): </a:t>
            </a:r>
          </a:p>
          <a:p>
            <a:pPr lvl="1" eaLnBrk="1" hangingPunct="1">
              <a:lnSpc>
                <a:spcPct val="90000"/>
              </a:lnSpc>
            </a:pPr>
            <a:r>
              <a:rPr lang="en-US" smtClean="0"/>
              <a:t>Used by the DBA and database designers to specify the conceptual schema of a database.</a:t>
            </a:r>
          </a:p>
          <a:p>
            <a:pPr lvl="1" eaLnBrk="1" hangingPunct="1">
              <a:lnSpc>
                <a:spcPct val="90000"/>
              </a:lnSpc>
            </a:pPr>
            <a:r>
              <a:rPr lang="en-US" smtClean="0"/>
              <a:t>In many DBMSs, the DDL is also used to define internal and external schemas (views).</a:t>
            </a:r>
          </a:p>
          <a:p>
            <a:pPr lvl="1" eaLnBrk="1" hangingPunct="1">
              <a:lnSpc>
                <a:spcPct val="90000"/>
              </a:lnSpc>
            </a:pPr>
            <a:r>
              <a:rPr lang="en-US" smtClean="0"/>
              <a:t>In some DBMSs, separate </a:t>
            </a:r>
            <a:r>
              <a:rPr lang="en-US" b="1" smtClean="0"/>
              <a:t>storage definition language (SDL) </a:t>
            </a:r>
            <a:r>
              <a:rPr lang="en-US" smtClean="0"/>
              <a:t>and</a:t>
            </a:r>
            <a:r>
              <a:rPr lang="en-US" b="1" smtClean="0"/>
              <a:t> view definition language (VDL)</a:t>
            </a:r>
            <a:r>
              <a:rPr lang="en-US" smtClean="0"/>
              <a:t> are used to define internal and external schemas.</a:t>
            </a:r>
          </a:p>
          <a:p>
            <a:pPr lvl="2" eaLnBrk="1" hangingPunct="1">
              <a:lnSpc>
                <a:spcPct val="90000"/>
              </a:lnSpc>
            </a:pPr>
            <a:r>
              <a:rPr lang="en-US" smtClean="0"/>
              <a:t>SDL is typically realized via DBMS commands provided to the DBA and database designers</a:t>
            </a:r>
          </a:p>
          <a:p>
            <a:pPr eaLnBrk="1" hangingPunct="1">
              <a:lnSpc>
                <a:spcPct val="90000"/>
              </a:lnSpc>
            </a:pPr>
            <a:endParaRPr lang="en-US" smtClean="0"/>
          </a:p>
          <a:p>
            <a:pPr eaLnBrk="1" hangingPunct="1">
              <a:lnSpc>
                <a:spcPct val="90000"/>
              </a:lnSpc>
            </a:pPr>
            <a:endParaRPr lang="en-US" smtClean="0"/>
          </a:p>
        </p:txBody>
      </p:sp>
    </p:spTree>
    <p:extLst>
      <p:ext uri="{BB962C8B-B14F-4D97-AF65-F5344CB8AC3E}">
        <p14:creationId xmlns:p14="http://schemas.microsoft.com/office/powerpoint/2010/main" val="291889909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sz="1400">
                <a:solidFill>
                  <a:srgbClr val="990033"/>
                </a:solidFill>
              </a:rPr>
              <a:t>Slide 2- </a:t>
            </a:r>
            <a:fld id="{719B6990-E8C8-4FE5-9A53-BA19B816B3B6}" type="slidenum">
              <a:rPr lang="en-US" sz="1400">
                <a:solidFill>
                  <a:srgbClr val="990033"/>
                </a:solidFill>
              </a:rPr>
              <a:pPr eaLnBrk="1" hangingPunct="1"/>
              <a:t>66</a:t>
            </a:fld>
            <a:endParaRPr lang="en-CA" sz="1400">
              <a:solidFill>
                <a:srgbClr val="990033"/>
              </a:solidFill>
            </a:endParaRPr>
          </a:p>
        </p:txBody>
      </p:sp>
      <p:sp>
        <p:nvSpPr>
          <p:cNvPr id="23555" name="Rectangle 4"/>
          <p:cNvSpPr>
            <a:spLocks noGrp="1" noChangeArrowheads="1"/>
          </p:cNvSpPr>
          <p:nvPr>
            <p:ph type="title"/>
          </p:nvPr>
        </p:nvSpPr>
        <p:spPr/>
        <p:txBody>
          <a:bodyPr/>
          <a:lstStyle/>
          <a:p>
            <a:pPr eaLnBrk="1" hangingPunct="1"/>
            <a:r>
              <a:rPr lang="en-US" smtClean="0"/>
              <a:t>DBMS Languages</a:t>
            </a:r>
          </a:p>
        </p:txBody>
      </p:sp>
      <p:sp>
        <p:nvSpPr>
          <p:cNvPr id="23556" name="Rectangle 5"/>
          <p:cNvSpPr>
            <a:spLocks noGrp="1" noChangeArrowheads="1"/>
          </p:cNvSpPr>
          <p:nvPr>
            <p:ph type="body" idx="1"/>
          </p:nvPr>
        </p:nvSpPr>
        <p:spPr/>
        <p:txBody>
          <a:bodyPr/>
          <a:lstStyle/>
          <a:p>
            <a:pPr eaLnBrk="1" hangingPunct="1"/>
            <a:r>
              <a:rPr lang="en-US" b="1" smtClean="0"/>
              <a:t>Data Manipulation Language (DML):</a:t>
            </a:r>
            <a:endParaRPr lang="en-US" smtClean="0"/>
          </a:p>
          <a:p>
            <a:pPr lvl="1" eaLnBrk="1" hangingPunct="1"/>
            <a:r>
              <a:rPr lang="en-US" smtClean="0"/>
              <a:t>Used to specify database retrievals and updates</a:t>
            </a:r>
          </a:p>
          <a:p>
            <a:pPr lvl="1" eaLnBrk="1" hangingPunct="1"/>
            <a:r>
              <a:rPr lang="en-US" smtClean="0"/>
              <a:t>DML commands (data sublanguage) can be </a:t>
            </a:r>
            <a:r>
              <a:rPr lang="en-US" i="1" smtClean="0"/>
              <a:t>embedded</a:t>
            </a:r>
            <a:r>
              <a:rPr lang="en-US" smtClean="0"/>
              <a:t> in a general-purpose programming language (host language), such as COBOL, C, C++, or Java.</a:t>
            </a:r>
          </a:p>
          <a:p>
            <a:pPr lvl="2" eaLnBrk="1" hangingPunct="1"/>
            <a:r>
              <a:rPr lang="en-US" smtClean="0"/>
              <a:t>A library of functions can also be provided to access the DBMS from a programming language</a:t>
            </a:r>
          </a:p>
          <a:p>
            <a:pPr lvl="1" eaLnBrk="1" hangingPunct="1"/>
            <a:r>
              <a:rPr lang="en-US" smtClean="0"/>
              <a:t>Alternatively, stand-alone DML commands can be applied directly (called a </a:t>
            </a:r>
            <a:r>
              <a:rPr lang="en-US" i="1" smtClean="0"/>
              <a:t>query language</a:t>
            </a:r>
            <a:r>
              <a:rPr lang="en-US" smtClean="0"/>
              <a:t>).</a:t>
            </a:r>
          </a:p>
        </p:txBody>
      </p:sp>
    </p:spTree>
    <p:extLst>
      <p:ext uri="{BB962C8B-B14F-4D97-AF65-F5344CB8AC3E}">
        <p14:creationId xmlns:p14="http://schemas.microsoft.com/office/powerpoint/2010/main" val="357546801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3"/>
          <p:cNvSpPr>
            <a:spLocks noGrp="1"/>
          </p:cNvSpPr>
          <p:nvPr>
            <p:ph type="sldNum"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Arial" panose="020B0604020202020204" pitchFamily="34" charset="0"/>
              </a:defRPr>
            </a:lvl1pPr>
            <a:lvl2pPr marL="742950" indent="-285750" eaLnBrk="0" hangingPunct="0">
              <a:defRPr sz="2400">
                <a:solidFill>
                  <a:schemeClr val="tx1"/>
                </a:solidFill>
                <a:latin typeface="Arial" panose="020B0604020202020204" pitchFamily="34" charset="0"/>
              </a:defRPr>
            </a:lvl2pPr>
            <a:lvl3pPr marL="1143000" indent="-228600" eaLnBrk="0" hangingPunct="0">
              <a:defRPr sz="2400">
                <a:solidFill>
                  <a:schemeClr val="tx1"/>
                </a:solidFill>
                <a:latin typeface="Arial" panose="020B0604020202020204" pitchFamily="34" charset="0"/>
              </a:defRPr>
            </a:lvl3pPr>
            <a:lvl4pPr marL="1600200" indent="-228600" eaLnBrk="0" hangingPunct="0">
              <a:defRPr sz="2400">
                <a:solidFill>
                  <a:schemeClr val="tx1"/>
                </a:solidFill>
                <a:latin typeface="Arial" panose="020B0604020202020204" pitchFamily="34" charset="0"/>
              </a:defRPr>
            </a:lvl4pPr>
            <a:lvl5pPr marL="2057400" indent="-228600" eaLnBrk="0" hangingPunct="0">
              <a:defRPr sz="2400">
                <a:solidFill>
                  <a:schemeClr val="tx1"/>
                </a:solidFill>
                <a:latin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Arial" panose="020B0604020202020204" pitchFamily="34" charset="0"/>
              </a:defRPr>
            </a:lvl9pPr>
          </a:lstStyle>
          <a:p>
            <a:pPr eaLnBrk="1" hangingPunct="1"/>
            <a:r>
              <a:rPr lang="en-US" sz="1400">
                <a:solidFill>
                  <a:srgbClr val="990033"/>
                </a:solidFill>
              </a:rPr>
              <a:t>Slide 2- </a:t>
            </a:r>
            <a:fld id="{F7BC5568-062F-4F95-ACF9-A479E0B2744D}" type="slidenum">
              <a:rPr lang="en-US" sz="1400">
                <a:solidFill>
                  <a:srgbClr val="990033"/>
                </a:solidFill>
              </a:rPr>
              <a:pPr eaLnBrk="1" hangingPunct="1"/>
              <a:t>67</a:t>
            </a:fld>
            <a:endParaRPr lang="en-CA" sz="1400">
              <a:solidFill>
                <a:srgbClr val="990033"/>
              </a:solidFill>
            </a:endParaRPr>
          </a:p>
        </p:txBody>
      </p:sp>
      <p:sp>
        <p:nvSpPr>
          <p:cNvPr id="24579" name="Rectangle 4"/>
          <p:cNvSpPr>
            <a:spLocks noGrp="1" noChangeArrowheads="1"/>
          </p:cNvSpPr>
          <p:nvPr>
            <p:ph type="title"/>
          </p:nvPr>
        </p:nvSpPr>
        <p:spPr/>
        <p:txBody>
          <a:bodyPr/>
          <a:lstStyle/>
          <a:p>
            <a:pPr eaLnBrk="1" hangingPunct="1"/>
            <a:r>
              <a:rPr lang="en-US" smtClean="0"/>
              <a:t>Types of DML</a:t>
            </a:r>
          </a:p>
        </p:txBody>
      </p:sp>
      <p:sp>
        <p:nvSpPr>
          <p:cNvPr id="24580" name="Rectangle 5"/>
          <p:cNvSpPr>
            <a:spLocks noGrp="1" noChangeArrowheads="1"/>
          </p:cNvSpPr>
          <p:nvPr>
            <p:ph type="body" idx="1"/>
          </p:nvPr>
        </p:nvSpPr>
        <p:spPr/>
        <p:txBody>
          <a:bodyPr/>
          <a:lstStyle/>
          <a:p>
            <a:pPr eaLnBrk="1" hangingPunct="1"/>
            <a:r>
              <a:rPr lang="en-US" b="1" smtClean="0"/>
              <a:t>High Level or Non-procedural Language:</a:t>
            </a:r>
          </a:p>
          <a:p>
            <a:pPr lvl="1" eaLnBrk="1" hangingPunct="1"/>
            <a:r>
              <a:rPr lang="en-US" smtClean="0"/>
              <a:t>For example, the SQL relational language</a:t>
            </a:r>
          </a:p>
          <a:p>
            <a:pPr lvl="1" eaLnBrk="1" hangingPunct="1"/>
            <a:r>
              <a:rPr lang="en-US" smtClean="0"/>
              <a:t>Are “set”-oriented and specify what data to retrieve rather than how to retrieve it. </a:t>
            </a:r>
          </a:p>
          <a:p>
            <a:pPr lvl="1" eaLnBrk="1" hangingPunct="1"/>
            <a:r>
              <a:rPr lang="en-US" smtClean="0"/>
              <a:t>Also called </a:t>
            </a:r>
            <a:r>
              <a:rPr lang="en-US" b="1" smtClean="0"/>
              <a:t>declarative</a:t>
            </a:r>
            <a:r>
              <a:rPr lang="en-US" smtClean="0"/>
              <a:t> languages.</a:t>
            </a:r>
          </a:p>
          <a:p>
            <a:pPr eaLnBrk="1" hangingPunct="1"/>
            <a:r>
              <a:rPr lang="en-US" b="1" smtClean="0"/>
              <a:t>Low Level or Procedural Language:</a:t>
            </a:r>
          </a:p>
          <a:p>
            <a:pPr lvl="1" eaLnBrk="1" hangingPunct="1"/>
            <a:r>
              <a:rPr lang="en-US" smtClean="0"/>
              <a:t>Retrieve data one record-at-a-time; </a:t>
            </a:r>
          </a:p>
          <a:p>
            <a:pPr lvl="1" eaLnBrk="1" hangingPunct="1"/>
            <a:r>
              <a:rPr lang="en-US" smtClean="0"/>
              <a:t>Constructs such as looping are needed to retrieve multiple records, along with positioning pointers.</a:t>
            </a:r>
          </a:p>
        </p:txBody>
      </p:sp>
    </p:spTree>
    <p:extLst>
      <p:ext uri="{BB962C8B-B14F-4D97-AF65-F5344CB8AC3E}">
        <p14:creationId xmlns:p14="http://schemas.microsoft.com/office/powerpoint/2010/main" val="11374786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15">
            <a:extLst>
              <a:ext uri="{FF2B5EF4-FFF2-40B4-BE49-F238E27FC236}">
                <a16:creationId xmlns:a16="http://schemas.microsoft.com/office/drawing/2014/main" xmlns="" id="{E6F43307-FFD3-4DDA-A461-65697C311F26}"/>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69635" name="Picture 1">
            <a:extLst>
              <a:ext uri="{FF2B5EF4-FFF2-40B4-BE49-F238E27FC236}">
                <a16:creationId xmlns:a16="http://schemas.microsoft.com/office/drawing/2014/main" xmlns="" id="{55F1BA8B-A98E-48FA-9E93-D6892CC6CD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6" name="Title 3">
            <a:extLst>
              <a:ext uri="{FF2B5EF4-FFF2-40B4-BE49-F238E27FC236}">
                <a16:creationId xmlns:a16="http://schemas.microsoft.com/office/drawing/2014/main" xmlns="" id="{BAFFE228-6A13-479D-B294-A10046C556E1}"/>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69637" name="Rectangle 2">
            <a:extLst>
              <a:ext uri="{FF2B5EF4-FFF2-40B4-BE49-F238E27FC236}">
                <a16:creationId xmlns:a16="http://schemas.microsoft.com/office/drawing/2014/main" xmlns="" id="{40251E6D-3A45-4659-833E-5F38E695439F}"/>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DBMS Interfaces</a:t>
            </a:r>
            <a:endParaRPr lang="en-US" altLang="en-US" b="1">
              <a:latin typeface="Calibri Light" panose="020F0302020204030204" pitchFamily="34" charset="0"/>
            </a:endParaRPr>
          </a:p>
        </p:txBody>
      </p:sp>
      <p:sp>
        <p:nvSpPr>
          <p:cNvPr id="6" name="Content Placeholder 13">
            <a:extLst>
              <a:ext uri="{FF2B5EF4-FFF2-40B4-BE49-F238E27FC236}">
                <a16:creationId xmlns:a16="http://schemas.microsoft.com/office/drawing/2014/main" xmlns="" id="{AF895B21-50BA-4EBD-8912-773BC6E8129E}"/>
              </a:ext>
            </a:extLst>
          </p:cNvPr>
          <p:cNvSpPr txBox="1">
            <a:spLocks/>
          </p:cNvSpPr>
          <p:nvPr/>
        </p:nvSpPr>
        <p:spPr>
          <a:xfrm>
            <a:off x="457200" y="852488"/>
            <a:ext cx="10228263" cy="5273675"/>
          </a:xfrm>
          <a:prstGeom prst="rect">
            <a:avLst/>
          </a:prstGeom>
        </p:spPr>
        <p:txBody>
          <a:bodyPr/>
          <a:lst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a:pPr>
            <a:r>
              <a:rPr lang="en-US" sz="2400" dirty="0">
                <a:latin typeface="Times New Roman" pitchFamily="18" charset="0"/>
                <a:cs typeface="Times New Roman" pitchFamily="18" charset="0"/>
              </a:rPr>
              <a:t>Stand-alone query language interfaces</a:t>
            </a:r>
          </a:p>
          <a:p>
            <a:pPr lvl="1" algn="just">
              <a:defRPr/>
            </a:pPr>
            <a:r>
              <a:rPr lang="en-US" dirty="0">
                <a:latin typeface="Times New Roman" pitchFamily="18" charset="0"/>
                <a:cs typeface="Times New Roman" pitchFamily="18" charset="0"/>
              </a:rPr>
              <a:t>Example: Entering SQL queries at the DBMS interactive SQL interface (e.g. SQL*Plus in ORACLE)</a:t>
            </a:r>
          </a:p>
          <a:p>
            <a:pPr algn="just">
              <a:defRPr/>
            </a:pPr>
            <a:r>
              <a:rPr lang="en-US" sz="2400" dirty="0">
                <a:latin typeface="Times New Roman" pitchFamily="18" charset="0"/>
                <a:cs typeface="Times New Roman" pitchFamily="18" charset="0"/>
              </a:rPr>
              <a:t>Programmer interfaces for embedding DML in programming languages</a:t>
            </a:r>
          </a:p>
          <a:p>
            <a:pPr algn="just">
              <a:defRPr/>
            </a:pPr>
            <a:r>
              <a:rPr lang="en-US" sz="2400" dirty="0">
                <a:latin typeface="Times New Roman" pitchFamily="18" charset="0"/>
                <a:cs typeface="Times New Roman" pitchFamily="18" charset="0"/>
              </a:rPr>
              <a:t>User-friendly interfaces</a:t>
            </a:r>
          </a:p>
          <a:p>
            <a:pPr lvl="1" algn="just">
              <a:defRPr/>
            </a:pPr>
            <a:r>
              <a:rPr lang="en-US" dirty="0">
                <a:latin typeface="Times New Roman" pitchFamily="18" charset="0"/>
                <a:cs typeface="Times New Roman" pitchFamily="18" charset="0"/>
              </a:rPr>
              <a:t>Menu-based, forms-based, graphics-based, etc.</a:t>
            </a:r>
          </a:p>
          <a:p>
            <a:pPr algn="just">
              <a:defRPr/>
            </a:pPr>
            <a:r>
              <a:rPr lang="en-US" sz="2400" dirty="0">
                <a:latin typeface="Times New Roman" pitchFamily="18" charset="0"/>
                <a:cs typeface="Times New Roman" pitchFamily="18" charset="0"/>
              </a:rPr>
              <a:t>Programmer interfaces for embedding DML in a programming languages:</a:t>
            </a:r>
          </a:p>
          <a:p>
            <a:pPr lvl="1" algn="just">
              <a:defRPr/>
            </a:pPr>
            <a:r>
              <a:rPr lang="en-US" b="1" dirty="0">
                <a:latin typeface="Times New Roman" pitchFamily="18" charset="0"/>
                <a:cs typeface="Times New Roman" pitchFamily="18" charset="0"/>
              </a:rPr>
              <a:t>Embedded Approach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e.g</a:t>
            </a:r>
            <a:r>
              <a:rPr lang="en-US" dirty="0">
                <a:latin typeface="Times New Roman" pitchFamily="18" charset="0"/>
                <a:cs typeface="Times New Roman" pitchFamily="18" charset="0"/>
              </a:rPr>
              <a:t> embedded SQL (for C, C++, etc.), SQLJ (for Java)</a:t>
            </a:r>
          </a:p>
          <a:p>
            <a:pPr marL="457200" lvl="1" indent="0" algn="just">
              <a:buFont typeface="Arial" charset="0"/>
              <a:buNone/>
              <a:defRPr/>
            </a:pPr>
            <a:endParaRPr lang="en-US" dirty="0">
              <a:latin typeface="Times New Roman" pitchFamily="18" charset="0"/>
              <a:cs typeface="Times New Roman" pitchFamily="18" charset="0"/>
            </a:endParaRPr>
          </a:p>
        </p:txBody>
      </p:sp>
    </p:spTree>
  </p:cSld>
  <p:clrMapOvr>
    <a:masterClrMapping/>
  </p:clrMapOvr>
  <p:transition spd="slow">
    <p:wip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15">
            <a:extLst>
              <a:ext uri="{FF2B5EF4-FFF2-40B4-BE49-F238E27FC236}">
                <a16:creationId xmlns:a16="http://schemas.microsoft.com/office/drawing/2014/main" xmlns="" id="{61ACCD9E-44FC-4C12-A18C-F24DAC24787C}"/>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70659" name="Picture 1">
            <a:extLst>
              <a:ext uri="{FF2B5EF4-FFF2-40B4-BE49-F238E27FC236}">
                <a16:creationId xmlns:a16="http://schemas.microsoft.com/office/drawing/2014/main" xmlns="" id="{BC796A67-AB82-4931-A18F-4AE8CCE107B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0" name="Title 3">
            <a:extLst>
              <a:ext uri="{FF2B5EF4-FFF2-40B4-BE49-F238E27FC236}">
                <a16:creationId xmlns:a16="http://schemas.microsoft.com/office/drawing/2014/main" xmlns="" id="{0286EEE9-5B4E-4DDA-B294-0C424B9D9652}"/>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2001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lvl="1" algn="just">
              <a:lnSpc>
                <a:spcPct val="100000"/>
              </a:lnSpc>
              <a:spcBef>
                <a:spcPct val="0"/>
              </a:spcBef>
            </a:pPr>
            <a:r>
              <a:rPr lang="en-US" altLang="en-US" b="1">
                <a:latin typeface="Times New Roman" panose="02020603050405020304" pitchFamily="18" charset="0"/>
                <a:cs typeface="Times New Roman" panose="02020603050405020304" pitchFamily="18" charset="0"/>
              </a:rPr>
              <a:t>Procedure Call Approach</a:t>
            </a:r>
            <a:r>
              <a:rPr lang="en-US" altLang="en-US">
                <a:latin typeface="Times New Roman" panose="02020603050405020304" pitchFamily="18" charset="0"/>
                <a:cs typeface="Times New Roman" panose="02020603050405020304" pitchFamily="18" charset="0"/>
              </a:rPr>
              <a:t>: e.g. JDBC for Java, ODBC for other programming languages</a:t>
            </a:r>
          </a:p>
          <a:p>
            <a:pPr lvl="1" algn="just">
              <a:lnSpc>
                <a:spcPct val="100000"/>
              </a:lnSpc>
              <a:spcBef>
                <a:spcPct val="0"/>
              </a:spcBef>
            </a:pPr>
            <a:r>
              <a:rPr lang="en-US" altLang="en-US" b="1">
                <a:latin typeface="Times New Roman" panose="02020603050405020304" pitchFamily="18" charset="0"/>
                <a:cs typeface="Times New Roman" panose="02020603050405020304" pitchFamily="18" charset="0"/>
              </a:rPr>
              <a:t>Database Programming Language Approach</a:t>
            </a:r>
            <a:r>
              <a:rPr lang="en-US" altLang="en-US">
                <a:latin typeface="Times New Roman" panose="02020603050405020304" pitchFamily="18" charset="0"/>
                <a:cs typeface="Times New Roman" panose="02020603050405020304" pitchFamily="18" charset="0"/>
              </a:rPr>
              <a:t>: e.g. ORACLE has PL/SQL, a programming language based on SQL; language incorporates SQL and its data types as integral components</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Menu-based, popular for browsing on the web</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Forms-based, designed for naïve users</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Graphics-based </a:t>
            </a:r>
          </a:p>
          <a:p>
            <a:pPr lvl="2" algn="just">
              <a:lnSpc>
                <a:spcPct val="100000"/>
              </a:lnSpc>
              <a:spcBef>
                <a:spcPct val="0"/>
              </a:spcBef>
            </a:pPr>
            <a:r>
              <a:rPr lang="en-US" altLang="en-US" sz="2400">
                <a:latin typeface="Times New Roman" panose="02020603050405020304" pitchFamily="18" charset="0"/>
                <a:cs typeface="Times New Roman" panose="02020603050405020304" pitchFamily="18" charset="0"/>
              </a:rPr>
              <a:t>(Point and Click, Drag and Drop, etc.)</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Natural language: requests in written English</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Combinations of the above:</a:t>
            </a:r>
          </a:p>
          <a:p>
            <a:pPr lvl="2" algn="just">
              <a:lnSpc>
                <a:spcPct val="100000"/>
              </a:lnSpc>
              <a:spcBef>
                <a:spcPct val="0"/>
              </a:spcBef>
            </a:pPr>
            <a:r>
              <a:rPr lang="en-US" altLang="en-US" sz="2400">
                <a:latin typeface="Times New Roman" panose="02020603050405020304" pitchFamily="18" charset="0"/>
                <a:cs typeface="Times New Roman" panose="02020603050405020304" pitchFamily="18" charset="0"/>
              </a:rPr>
              <a:t>For example, both menus and forms used extensively in Web database interfaces</a:t>
            </a:r>
          </a:p>
          <a:p>
            <a:pPr lvl="1" algn="just">
              <a:lnSpc>
                <a:spcPct val="100000"/>
              </a:lnSpc>
              <a:spcBef>
                <a:spcPct val="0"/>
              </a:spcBef>
            </a:pPr>
            <a:endParaRPr lang="en-US" altLang="en-US">
              <a:latin typeface="Times New Roman" panose="02020603050405020304" pitchFamily="18" charset="0"/>
              <a:cs typeface="Times New Roman" panose="02020603050405020304" pitchFamily="18" charset="0"/>
            </a:endParaRPr>
          </a:p>
          <a:p>
            <a:pPr algn="just">
              <a:lnSpc>
                <a:spcPct val="100000"/>
              </a:lnSpc>
              <a:spcBef>
                <a:spcPct val="0"/>
              </a:spcBef>
              <a:buFontTx/>
              <a:buNone/>
            </a:pPr>
            <a:endParaRPr lang="en-US" altLang="en-US" sz="2400">
              <a:latin typeface="Times New Roman" panose="02020603050405020304" pitchFamily="18" charset="0"/>
              <a:cs typeface="Times New Roman" panose="02020603050405020304" pitchFamily="18" charset="0"/>
            </a:endParaRPr>
          </a:p>
        </p:txBody>
      </p:sp>
      <p:sp>
        <p:nvSpPr>
          <p:cNvPr id="70661" name="Rectangle 2">
            <a:extLst>
              <a:ext uri="{FF2B5EF4-FFF2-40B4-BE49-F238E27FC236}">
                <a16:creationId xmlns:a16="http://schemas.microsoft.com/office/drawing/2014/main" xmlns="" id="{BC37BAA0-8994-4D75-8F90-4BBCEBFD5284}"/>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DBMS Interfaces(Continued)</a:t>
            </a:r>
            <a:endParaRPr lang="en-US" altLang="en-US" b="1">
              <a:latin typeface="Calibri Light" panose="020F0302020204030204" pitchFamily="34" charset="0"/>
            </a:endParaRPr>
          </a:p>
        </p:txBody>
      </p:sp>
    </p:spTree>
  </p:cSld>
  <p:clrMapOvr>
    <a:masterClrMapping/>
  </p:clrMapOvr>
  <p:transition spd="slow">
    <p:wip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15">
            <a:extLst>
              <a:ext uri="{FF2B5EF4-FFF2-40B4-BE49-F238E27FC236}">
                <a16:creationId xmlns:a16="http://schemas.microsoft.com/office/drawing/2014/main" xmlns="" id="{F058DBD5-FC06-423B-83BF-0B552C84795D}"/>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71683" name="Picture 1">
            <a:extLst>
              <a:ext uri="{FF2B5EF4-FFF2-40B4-BE49-F238E27FC236}">
                <a16:creationId xmlns:a16="http://schemas.microsoft.com/office/drawing/2014/main" xmlns="" id="{6B93D118-CF97-4497-9297-4FCFCA63FB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4" name="Title 3">
            <a:extLst>
              <a:ext uri="{FF2B5EF4-FFF2-40B4-BE49-F238E27FC236}">
                <a16:creationId xmlns:a16="http://schemas.microsoft.com/office/drawing/2014/main" xmlns="" id="{92C2AD80-61EA-4782-A045-6B30D57BC43B}"/>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2001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Speech as Input and Output</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Web Browser as an interface</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Parametric interfaces, e.g., bank tellers using function keys.</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Interfaces for the DBA:</a:t>
            </a:r>
          </a:p>
          <a:p>
            <a:pPr lvl="2" algn="just">
              <a:lnSpc>
                <a:spcPct val="100000"/>
              </a:lnSpc>
              <a:spcBef>
                <a:spcPct val="0"/>
              </a:spcBef>
            </a:pPr>
            <a:r>
              <a:rPr lang="en-US" altLang="en-US" sz="2400">
                <a:latin typeface="Times New Roman" panose="02020603050405020304" pitchFamily="18" charset="0"/>
                <a:cs typeface="Times New Roman" panose="02020603050405020304" pitchFamily="18" charset="0"/>
              </a:rPr>
              <a:t>Creating user accounts, granting authorizations</a:t>
            </a:r>
          </a:p>
          <a:p>
            <a:pPr lvl="2" algn="just">
              <a:lnSpc>
                <a:spcPct val="100000"/>
              </a:lnSpc>
              <a:spcBef>
                <a:spcPct val="0"/>
              </a:spcBef>
            </a:pPr>
            <a:r>
              <a:rPr lang="en-US" altLang="en-US" sz="2400">
                <a:latin typeface="Times New Roman" panose="02020603050405020304" pitchFamily="18" charset="0"/>
                <a:cs typeface="Times New Roman" panose="02020603050405020304" pitchFamily="18" charset="0"/>
              </a:rPr>
              <a:t>Setting system parameters</a:t>
            </a:r>
          </a:p>
          <a:p>
            <a:pPr lvl="2" algn="just">
              <a:lnSpc>
                <a:spcPct val="100000"/>
              </a:lnSpc>
              <a:spcBef>
                <a:spcPct val="0"/>
              </a:spcBef>
            </a:pPr>
            <a:r>
              <a:rPr lang="en-US" altLang="en-US" sz="2400">
                <a:latin typeface="Times New Roman" panose="02020603050405020304" pitchFamily="18" charset="0"/>
                <a:cs typeface="Times New Roman" panose="02020603050405020304" pitchFamily="18" charset="0"/>
              </a:rPr>
              <a:t>Changing schemas or access paths</a:t>
            </a:r>
          </a:p>
        </p:txBody>
      </p:sp>
      <p:sp>
        <p:nvSpPr>
          <p:cNvPr id="71685" name="Rectangle 2">
            <a:extLst>
              <a:ext uri="{FF2B5EF4-FFF2-40B4-BE49-F238E27FC236}">
                <a16:creationId xmlns:a16="http://schemas.microsoft.com/office/drawing/2014/main" xmlns="" id="{F247680C-698D-4A79-AD19-BDCD88A5ADD8}"/>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DBMS Interfaces(Continued)</a:t>
            </a:r>
            <a:endParaRPr lang="en-US" altLang="en-US" b="1">
              <a:latin typeface="Calibri Light" panose="020F0302020204030204" pitchFamily="34" charset="0"/>
            </a:endParaRPr>
          </a:p>
        </p:txBody>
      </p:sp>
    </p:spTree>
  </p:cSld>
  <p:clrMapOvr>
    <a:masterClrMapping/>
  </p:clrMapOvr>
  <p:transition spd="slow">
    <p:wip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15">
            <a:extLst>
              <a:ext uri="{FF2B5EF4-FFF2-40B4-BE49-F238E27FC236}">
                <a16:creationId xmlns:a16="http://schemas.microsoft.com/office/drawing/2014/main" xmlns="" id="{A211CA4A-28AB-4519-AE56-EEC2B9054371}"/>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72707" name="Picture 1">
            <a:extLst>
              <a:ext uri="{FF2B5EF4-FFF2-40B4-BE49-F238E27FC236}">
                <a16:creationId xmlns:a16="http://schemas.microsoft.com/office/drawing/2014/main" xmlns="" id="{1D59C0E7-CB2E-4D34-86F2-178A968BC5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2708" name="Title 3">
            <a:extLst>
              <a:ext uri="{FF2B5EF4-FFF2-40B4-BE49-F238E27FC236}">
                <a16:creationId xmlns:a16="http://schemas.microsoft.com/office/drawing/2014/main" xmlns="" id="{B978B293-142F-45DA-BB23-A2239F1C0FB2}"/>
              </a:ext>
            </a:extLst>
          </p:cNvPr>
          <p:cNvSpPr txBox="1">
            <a:spLocks/>
          </p:cNvSpPr>
          <p:nvPr/>
        </p:nvSpPr>
        <p:spPr bwMode="auto">
          <a:xfrm>
            <a:off x="463550" y="852488"/>
            <a:ext cx="11353800" cy="543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600" b="1">
                <a:latin typeface="Times New Roman" panose="02020603050405020304" pitchFamily="18" charset="0"/>
                <a:cs typeface="Times New Roman" panose="02020603050405020304" pitchFamily="18" charset="0"/>
              </a:rPr>
              <a:t>Figure 2.5 Component modules of a DBMS and their interaction</a:t>
            </a:r>
          </a:p>
        </p:txBody>
      </p:sp>
      <p:sp>
        <p:nvSpPr>
          <p:cNvPr id="72709" name="Rectangle 2">
            <a:extLst>
              <a:ext uri="{FF2B5EF4-FFF2-40B4-BE49-F238E27FC236}">
                <a16:creationId xmlns:a16="http://schemas.microsoft.com/office/drawing/2014/main" xmlns="" id="{090C5DFE-0343-49B9-833B-BE046A9EB82E}"/>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2.4 Database System Environment-DBMS Component Modules</a:t>
            </a:r>
          </a:p>
        </p:txBody>
      </p:sp>
      <p:pic>
        <p:nvPicPr>
          <p:cNvPr id="72710" name="Picture 7">
            <a:extLst>
              <a:ext uri="{FF2B5EF4-FFF2-40B4-BE49-F238E27FC236}">
                <a16:creationId xmlns:a16="http://schemas.microsoft.com/office/drawing/2014/main" xmlns="" id="{3DFB1BBF-3D55-47E2-9CED-F6983204156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76413" y="1162050"/>
            <a:ext cx="8639175" cy="453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15">
            <a:extLst>
              <a:ext uri="{FF2B5EF4-FFF2-40B4-BE49-F238E27FC236}">
                <a16:creationId xmlns:a16="http://schemas.microsoft.com/office/drawing/2014/main" xmlns="" id="{96E3358F-620E-4A55-BC54-BA95A5AA4FEE}"/>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73731" name="Picture 1">
            <a:extLst>
              <a:ext uri="{FF2B5EF4-FFF2-40B4-BE49-F238E27FC236}">
                <a16:creationId xmlns:a16="http://schemas.microsoft.com/office/drawing/2014/main" xmlns="" id="{9B1D2BF6-7FB8-47D6-9725-C11D5E18EB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2" name="Title 3">
            <a:extLst>
              <a:ext uri="{FF2B5EF4-FFF2-40B4-BE49-F238E27FC236}">
                <a16:creationId xmlns:a16="http://schemas.microsoft.com/office/drawing/2014/main" xmlns="" id="{7E474EE0-90AA-4D06-A0A8-04D77A69AE1F}"/>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73733" name="Rectangle 2">
            <a:extLst>
              <a:ext uri="{FF2B5EF4-FFF2-40B4-BE49-F238E27FC236}">
                <a16:creationId xmlns:a16="http://schemas.microsoft.com/office/drawing/2014/main" xmlns="" id="{0E9F41E7-1E36-4E60-9643-8C8D8D7EC049}"/>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
        <p:nvSpPr>
          <p:cNvPr id="6" name="Content Placeholder 13">
            <a:extLst>
              <a:ext uri="{FF2B5EF4-FFF2-40B4-BE49-F238E27FC236}">
                <a16:creationId xmlns:a16="http://schemas.microsoft.com/office/drawing/2014/main" xmlns="" id="{C3383881-452C-414F-BD8F-709A1F089792}"/>
              </a:ext>
            </a:extLst>
          </p:cNvPr>
          <p:cNvSpPr txBox="1">
            <a:spLocks/>
          </p:cNvSpPr>
          <p:nvPr/>
        </p:nvSpPr>
        <p:spPr>
          <a:xfrm>
            <a:off x="457200" y="585788"/>
            <a:ext cx="11098213" cy="5129212"/>
          </a:xfrm>
          <a:prstGeom prst="rect">
            <a:avLst/>
          </a:prstGeom>
        </p:spPr>
        <p:txBody>
          <a:bodyPr/>
          <a:lstStyle>
            <a:lvl1pPr marL="228600" indent="-228600" algn="l" rtl="0" eaLnBrk="0" fontAlgn="base" hangingPunct="0">
              <a:lnSpc>
                <a:spcPct val="90000"/>
              </a:lnSpc>
              <a:spcBef>
                <a:spcPts val="1000"/>
              </a:spcBef>
              <a:spcAft>
                <a:spcPct val="0"/>
              </a:spcAft>
              <a:buFont typeface="Arial"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defRPr/>
            </a:pPr>
            <a:r>
              <a:rPr lang="en-US" sz="2400" dirty="0">
                <a:latin typeface="Times New Roman" pitchFamily="18" charset="0"/>
                <a:cs typeface="Times New Roman" pitchFamily="18" charset="0"/>
              </a:rPr>
              <a:t>The DBMS system structure is divided into two component modules. </a:t>
            </a:r>
          </a:p>
          <a:p>
            <a:pPr lvl="1" algn="just">
              <a:buFont typeface="Arial" pitchFamily="34" charset="0"/>
              <a:buChar char="•"/>
              <a:defRPr/>
            </a:pPr>
            <a:r>
              <a:rPr lang="en-US" dirty="0">
                <a:latin typeface="Times New Roman" pitchFamily="18" charset="0"/>
                <a:cs typeface="Times New Roman" pitchFamily="18" charset="0"/>
              </a:rPr>
              <a:t>Upper module - different users of the database environment and their interfaces. </a:t>
            </a:r>
          </a:p>
          <a:p>
            <a:pPr lvl="1" algn="just">
              <a:buFont typeface="Arial" pitchFamily="34" charset="0"/>
              <a:buChar char="•"/>
              <a:defRPr/>
            </a:pPr>
            <a:r>
              <a:rPr lang="en-US" dirty="0">
                <a:latin typeface="Times New Roman" pitchFamily="18" charset="0"/>
                <a:cs typeface="Times New Roman" pitchFamily="18" charset="0"/>
              </a:rPr>
              <a:t>Lower module - internals of the DBMS responsible for storage of data and processing of transaction. </a:t>
            </a:r>
          </a:p>
          <a:p>
            <a:pPr marL="457200" lvl="1" indent="0" algn="just">
              <a:buFont typeface="Arial" charset="0"/>
              <a:buNone/>
              <a:defRPr/>
            </a:pPr>
            <a:endParaRPr lang="en-IN" dirty="0">
              <a:latin typeface="Times New Roman" pitchFamily="18" charset="0"/>
              <a:cs typeface="Times New Roman" pitchFamily="18" charset="0"/>
            </a:endParaRPr>
          </a:p>
          <a:p>
            <a:pPr algn="just">
              <a:defRPr/>
            </a:pPr>
            <a:r>
              <a:rPr lang="en-US" sz="2400" b="1" dirty="0">
                <a:solidFill>
                  <a:srgbClr val="FF0000"/>
                </a:solidFill>
                <a:latin typeface="Times New Roman" pitchFamily="18" charset="0"/>
                <a:cs typeface="Times New Roman" pitchFamily="18" charset="0"/>
              </a:rPr>
              <a:t>UPPER Module</a:t>
            </a:r>
          </a:p>
          <a:p>
            <a:pPr lvl="1" algn="just">
              <a:buFont typeface="Arial" pitchFamily="34" charset="0"/>
              <a:buChar char="•"/>
              <a:defRPr/>
            </a:pPr>
            <a:r>
              <a:rPr lang="en-US" b="1" dirty="0">
                <a:latin typeface="Times New Roman" pitchFamily="18" charset="0"/>
                <a:cs typeface="Times New Roman" pitchFamily="18" charset="0"/>
              </a:rPr>
              <a:t>DBA staff</a:t>
            </a:r>
            <a:r>
              <a:rPr lang="en-US" dirty="0">
                <a:latin typeface="Times New Roman" pitchFamily="18" charset="0"/>
                <a:cs typeface="Times New Roman" pitchFamily="18" charset="0"/>
              </a:rPr>
              <a:t> </a:t>
            </a:r>
          </a:p>
          <a:p>
            <a:pPr lvl="2" algn="just">
              <a:defRPr/>
            </a:pPr>
            <a:r>
              <a:rPr lang="en-US" sz="2400" dirty="0">
                <a:latin typeface="Times New Roman" pitchFamily="18" charset="0"/>
                <a:cs typeface="Times New Roman" pitchFamily="18" charset="0"/>
              </a:rPr>
              <a:t>Defines the database and makes changes to its description using the DDL and other privileged commands. </a:t>
            </a:r>
          </a:p>
          <a:p>
            <a:pPr lvl="2" algn="just">
              <a:defRPr/>
            </a:pPr>
            <a:r>
              <a:rPr lang="en-US" sz="2400" dirty="0">
                <a:latin typeface="Times New Roman" pitchFamily="18" charset="0"/>
                <a:cs typeface="Times New Roman" pitchFamily="18" charset="0"/>
              </a:rPr>
              <a:t>The DBMS catalog stores the description of the schemas that are processed by the DLL compilers.</a:t>
            </a:r>
          </a:p>
          <a:p>
            <a:pPr lvl="2" algn="just">
              <a:defRPr/>
            </a:pPr>
            <a:r>
              <a:rPr lang="en-US" sz="2400" dirty="0">
                <a:latin typeface="Times New Roman" pitchFamily="18" charset="0"/>
                <a:cs typeface="Times New Roman" pitchFamily="18" charset="0"/>
              </a:rPr>
              <a:t>The catalog includes names and sizes of the files, data types, storage details of each file, mapping information among schemas and constraints. </a:t>
            </a:r>
            <a:endParaRPr lang="en-IN" sz="2400" dirty="0">
              <a:latin typeface="Times New Roman" pitchFamily="18" charset="0"/>
              <a:cs typeface="Times New Roman" pitchFamily="18" charset="0"/>
            </a:endParaRPr>
          </a:p>
        </p:txBody>
      </p:sp>
    </p:spTree>
  </p:cSld>
  <p:clrMapOvr>
    <a:masterClrMapping/>
  </p:clrMapOvr>
  <p:transition spd="slow">
    <p:wip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15">
            <a:extLst>
              <a:ext uri="{FF2B5EF4-FFF2-40B4-BE49-F238E27FC236}">
                <a16:creationId xmlns:a16="http://schemas.microsoft.com/office/drawing/2014/main" xmlns="" id="{449EE9D6-3B71-4585-AAD5-B3FE4E1E50DF}"/>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74755" name="Picture 1">
            <a:extLst>
              <a:ext uri="{FF2B5EF4-FFF2-40B4-BE49-F238E27FC236}">
                <a16:creationId xmlns:a16="http://schemas.microsoft.com/office/drawing/2014/main" xmlns="" id="{CAB44213-975C-4351-ADDF-79F69B7A58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32" name="Title 3">
            <a:extLst>
              <a:ext uri="{FF2B5EF4-FFF2-40B4-BE49-F238E27FC236}">
                <a16:creationId xmlns:a16="http://schemas.microsoft.com/office/drawing/2014/main" xmlns="" id="{592D8048-4385-4814-B88D-1FB25AA79A86}"/>
              </a:ext>
            </a:extLst>
          </p:cNvPr>
          <p:cNvSpPr txBox="1">
            <a:spLocks/>
          </p:cNvSpPr>
          <p:nvPr/>
        </p:nvSpPr>
        <p:spPr bwMode="auto">
          <a:xfrm>
            <a:off x="463550" y="830263"/>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lvl="1" algn="just">
              <a:buFont typeface="Arial" pitchFamily="34" charset="0"/>
              <a:buChar char="•"/>
              <a:defRPr/>
            </a:pPr>
            <a:r>
              <a:rPr lang="en-US" sz="2400" b="1" dirty="0">
                <a:latin typeface="Times New Roman" pitchFamily="18" charset="0"/>
                <a:cs typeface="Times New Roman" pitchFamily="18" charset="0"/>
              </a:rPr>
              <a:t>Casual users</a:t>
            </a:r>
            <a:r>
              <a:rPr lang="en-US" sz="2400" dirty="0">
                <a:latin typeface="Times New Roman" pitchFamily="18" charset="0"/>
                <a:cs typeface="Times New Roman" pitchFamily="18" charset="0"/>
              </a:rPr>
              <a:t> (persons with occasional need)</a:t>
            </a:r>
          </a:p>
          <a:p>
            <a:pPr lvl="2" algn="just">
              <a:defRPr/>
            </a:pPr>
            <a:r>
              <a:rPr lang="en-US" sz="2400" dirty="0">
                <a:latin typeface="Times New Roman" pitchFamily="18" charset="0"/>
                <a:cs typeface="Times New Roman" pitchFamily="18" charset="0"/>
              </a:rPr>
              <a:t>Utilize menu based or form based query interfaces.  </a:t>
            </a:r>
          </a:p>
          <a:p>
            <a:pPr lvl="2" algn="just">
              <a:defRPr/>
            </a:pPr>
            <a:r>
              <a:rPr lang="en-US" sz="2400" dirty="0">
                <a:latin typeface="Times New Roman" pitchFamily="18" charset="0"/>
                <a:cs typeface="Times New Roman" pitchFamily="18" charset="0"/>
              </a:rPr>
              <a:t>The query compiler parses the queries, analysis the data elements for its correctness and converts it into internal form. </a:t>
            </a:r>
          </a:p>
          <a:p>
            <a:pPr lvl="2" algn="just">
              <a:defRPr/>
            </a:pPr>
            <a:r>
              <a:rPr lang="en-US" sz="2400" dirty="0">
                <a:latin typeface="Times New Roman" pitchFamily="18" charset="0"/>
                <a:cs typeface="Times New Roman" pitchFamily="18" charset="0"/>
              </a:rPr>
              <a:t>The internal query is passed through the query optimizer for rearrangement of operations and elimination of redundancies.</a:t>
            </a:r>
          </a:p>
          <a:p>
            <a:pPr marL="342900" indent="-342900" algn="just">
              <a:buFont typeface="Arial" pitchFamily="34" charset="0"/>
              <a:buChar char="•"/>
              <a:defRPr/>
            </a:pPr>
            <a:r>
              <a:rPr lang="en-US" sz="2400" b="1" dirty="0">
                <a:latin typeface="Times New Roman" pitchFamily="18" charset="0"/>
                <a:cs typeface="Times New Roman" pitchFamily="18" charset="0"/>
              </a:rPr>
              <a:t>Application programmer</a:t>
            </a:r>
            <a:r>
              <a:rPr lang="en-US" sz="2400" dirty="0">
                <a:latin typeface="Times New Roman" pitchFamily="18" charset="0"/>
                <a:cs typeface="Times New Roman" pitchFamily="18" charset="0"/>
              </a:rPr>
              <a:t> </a:t>
            </a:r>
          </a:p>
          <a:p>
            <a:pPr lvl="1" algn="just">
              <a:buFont typeface="Arial" pitchFamily="34" charset="0"/>
              <a:buChar char="•"/>
              <a:defRPr/>
            </a:pPr>
            <a:r>
              <a:rPr lang="en-US" sz="2400" dirty="0">
                <a:latin typeface="Times New Roman" pitchFamily="18" charset="0"/>
                <a:cs typeface="Times New Roman" pitchFamily="18" charset="0"/>
              </a:rPr>
              <a:t>Writes programs in host languages. </a:t>
            </a:r>
          </a:p>
          <a:p>
            <a:pPr lvl="1" algn="just">
              <a:buFont typeface="Arial" pitchFamily="34" charset="0"/>
              <a:buChar char="•"/>
              <a:defRPr/>
            </a:pPr>
            <a:r>
              <a:rPr lang="en-US" sz="2400" dirty="0">
                <a:latin typeface="Times New Roman" pitchFamily="18" charset="0"/>
                <a:cs typeface="Times New Roman" pitchFamily="18" charset="0"/>
              </a:rPr>
              <a:t>The </a:t>
            </a:r>
            <a:r>
              <a:rPr lang="en-US" sz="2400" dirty="0" err="1">
                <a:latin typeface="Times New Roman" pitchFamily="18" charset="0"/>
                <a:cs typeface="Times New Roman" pitchFamily="18" charset="0"/>
              </a:rPr>
              <a:t>precompiler</a:t>
            </a:r>
            <a:r>
              <a:rPr lang="en-US" sz="2400" dirty="0">
                <a:latin typeface="Times New Roman" pitchFamily="18" charset="0"/>
                <a:cs typeface="Times New Roman" pitchFamily="18" charset="0"/>
              </a:rPr>
              <a:t> separates the DML command and the host program. </a:t>
            </a:r>
          </a:p>
          <a:p>
            <a:pPr lvl="1" algn="just">
              <a:buFont typeface="Arial" pitchFamily="34" charset="0"/>
              <a:buChar char="•"/>
              <a:defRPr/>
            </a:pPr>
            <a:r>
              <a:rPr lang="en-US" sz="2400" dirty="0">
                <a:latin typeface="Times New Roman" pitchFamily="18" charset="0"/>
                <a:cs typeface="Times New Roman" pitchFamily="18" charset="0"/>
              </a:rPr>
              <a:t>DML commands are submitted to the DML compiler and the rest of the program to the host compiler. </a:t>
            </a:r>
          </a:p>
          <a:p>
            <a:pPr lvl="1" algn="just">
              <a:buFont typeface="Arial" pitchFamily="34" charset="0"/>
              <a:buChar char="•"/>
              <a:defRPr/>
            </a:pPr>
            <a:r>
              <a:rPr lang="en-US" sz="2400" dirty="0">
                <a:latin typeface="Times New Roman" pitchFamily="18" charset="0"/>
                <a:cs typeface="Times New Roman" pitchFamily="18" charset="0"/>
              </a:rPr>
              <a:t>The outputs of DML compiler and host compiler are linked by the compiled transaction to form the executable codes which includes the calls to the runtime database processor.</a:t>
            </a:r>
            <a:endParaRPr lang="en-IN" sz="2400" dirty="0">
              <a:latin typeface="Times New Roman" pitchFamily="18" charset="0"/>
              <a:cs typeface="Times New Roman" pitchFamily="18" charset="0"/>
            </a:endParaRPr>
          </a:p>
          <a:p>
            <a:pPr algn="just">
              <a:defRPr/>
            </a:pPr>
            <a:endParaRPr lang="en-IN" sz="2400" dirty="0">
              <a:latin typeface="Times New Roman" pitchFamily="18" charset="0"/>
              <a:cs typeface="Times New Roman" pitchFamily="18" charset="0"/>
            </a:endParaRPr>
          </a:p>
        </p:txBody>
      </p:sp>
      <p:sp>
        <p:nvSpPr>
          <p:cNvPr id="74757" name="Rectangle 2">
            <a:extLst>
              <a:ext uri="{FF2B5EF4-FFF2-40B4-BE49-F238E27FC236}">
                <a16:creationId xmlns:a16="http://schemas.microsoft.com/office/drawing/2014/main" xmlns="" id="{AE131A4C-8E4B-4917-9533-F03D3624E2D8}"/>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Tree>
  </p:cSld>
  <p:clrMapOvr>
    <a:masterClrMapping/>
  </p:clrMapOvr>
  <p:transition spd="slow">
    <p:wip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15">
            <a:extLst>
              <a:ext uri="{FF2B5EF4-FFF2-40B4-BE49-F238E27FC236}">
                <a16:creationId xmlns:a16="http://schemas.microsoft.com/office/drawing/2014/main" xmlns="" id="{FD43CB4E-456C-4E3E-B171-EBE103163D47}"/>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75779" name="Picture 1">
            <a:extLst>
              <a:ext uri="{FF2B5EF4-FFF2-40B4-BE49-F238E27FC236}">
                <a16:creationId xmlns:a16="http://schemas.microsoft.com/office/drawing/2014/main" xmlns="" id="{CB604611-745A-42AA-BD28-036AD22E83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Title 3">
            <a:extLst>
              <a:ext uri="{FF2B5EF4-FFF2-40B4-BE49-F238E27FC236}">
                <a16:creationId xmlns:a16="http://schemas.microsoft.com/office/drawing/2014/main" xmlns="" id="{C9DFD3A1-3F9D-4C93-8C2F-E6B4C8DEC070}"/>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marL="342900" indent="-342900" algn="just">
              <a:buFont typeface="Arial" pitchFamily="34" charset="0"/>
              <a:buChar char="•"/>
              <a:defRPr/>
            </a:pPr>
            <a:r>
              <a:rPr lang="en-US" sz="2400" b="1" dirty="0">
                <a:latin typeface="Times New Roman" pitchFamily="18" charset="0"/>
                <a:cs typeface="Times New Roman" pitchFamily="18" charset="0"/>
              </a:rPr>
              <a:t>Parametric users</a:t>
            </a:r>
            <a:r>
              <a:rPr lang="en-US" sz="2400" dirty="0">
                <a:latin typeface="Times New Roman" pitchFamily="18" charset="0"/>
                <a:cs typeface="Times New Roman" pitchFamily="18" charset="0"/>
              </a:rPr>
              <a:t> </a:t>
            </a:r>
          </a:p>
          <a:p>
            <a:pPr marL="800100" lvl="1" indent="-342900" algn="just">
              <a:buFont typeface="Arial" pitchFamily="34" charset="0"/>
              <a:buChar char="•"/>
              <a:defRPr/>
            </a:pPr>
            <a:r>
              <a:rPr lang="en-US" sz="2400" dirty="0">
                <a:latin typeface="Times New Roman" pitchFamily="18" charset="0"/>
                <a:cs typeface="Times New Roman" pitchFamily="18" charset="0"/>
              </a:rPr>
              <a:t>Supply the parameters (</a:t>
            </a:r>
            <a:r>
              <a:rPr lang="en-US" sz="2400" dirty="0" err="1">
                <a:latin typeface="Times New Roman" pitchFamily="18" charset="0"/>
                <a:cs typeface="Times New Roman" pitchFamily="18" charset="0"/>
              </a:rPr>
              <a:t>eg</a:t>
            </a:r>
            <a:r>
              <a:rPr lang="en-US" sz="2400" dirty="0">
                <a:latin typeface="Times New Roman" pitchFamily="18" charset="0"/>
                <a:cs typeface="Times New Roman" pitchFamily="18" charset="0"/>
              </a:rPr>
              <a:t>. account number and amount for bank withdrawal) using the compiled transactions.</a:t>
            </a:r>
            <a:endParaRPr lang="en-IN" sz="2400" dirty="0">
              <a:latin typeface="Times New Roman" pitchFamily="18" charset="0"/>
              <a:cs typeface="Times New Roman" pitchFamily="18" charset="0"/>
            </a:endParaRPr>
          </a:p>
          <a:p>
            <a:pPr marL="342900" indent="-342900" algn="just">
              <a:buFont typeface="Arial" pitchFamily="34" charset="0"/>
              <a:buChar char="•"/>
              <a:defRPr/>
            </a:pPr>
            <a:r>
              <a:rPr lang="en-US" sz="2400" dirty="0">
                <a:latin typeface="Times New Roman" pitchFamily="18" charset="0"/>
                <a:cs typeface="Times New Roman" pitchFamily="18" charset="0"/>
              </a:rPr>
              <a:t>	The privileged commands, executable query plan and the compiled transactions with the runtime parameters are executed by the </a:t>
            </a:r>
            <a:r>
              <a:rPr lang="en-US" sz="2400" b="1" dirty="0">
                <a:latin typeface="Times New Roman" pitchFamily="18" charset="0"/>
                <a:cs typeface="Times New Roman" pitchFamily="18" charset="0"/>
              </a:rPr>
              <a:t>runtime database processor</a:t>
            </a:r>
            <a:r>
              <a:rPr lang="en-US" sz="2400" dirty="0">
                <a:latin typeface="Times New Roman" pitchFamily="18" charset="0"/>
                <a:cs typeface="Times New Roman" pitchFamily="18" charset="0"/>
              </a:rPr>
              <a:t>.  It refers the data dictionary for </a:t>
            </a:r>
            <a:r>
              <a:rPr lang="en-US" sz="2400" dirty="0" err="1">
                <a:latin typeface="Times New Roman" pitchFamily="18" charset="0"/>
                <a:cs typeface="Times New Roman" pitchFamily="18" charset="0"/>
              </a:rPr>
              <a:t>updations</a:t>
            </a:r>
            <a:r>
              <a:rPr lang="en-US" sz="2400" dirty="0">
                <a:latin typeface="Times New Roman" pitchFamily="18" charset="0"/>
                <a:cs typeface="Times New Roman" pitchFamily="18" charset="0"/>
              </a:rPr>
              <a:t>. </a:t>
            </a:r>
          </a:p>
          <a:p>
            <a:pPr algn="just">
              <a:defRPr/>
            </a:pPr>
            <a:endParaRPr lang="en-US" sz="2400" dirty="0">
              <a:latin typeface="Times New Roman" pitchFamily="18" charset="0"/>
              <a:cs typeface="Times New Roman" pitchFamily="18" charset="0"/>
            </a:endParaRPr>
          </a:p>
          <a:p>
            <a:pPr marL="457200" indent="-457200">
              <a:buFont typeface="Arial" pitchFamily="34" charset="0"/>
              <a:buChar char="•"/>
              <a:defRPr/>
            </a:pPr>
            <a:r>
              <a:rPr lang="en-US" sz="2400" b="1" dirty="0">
                <a:solidFill>
                  <a:srgbClr val="FF0000"/>
                </a:solidFill>
                <a:latin typeface="Times New Roman" pitchFamily="18" charset="0"/>
                <a:cs typeface="Times New Roman" pitchFamily="18" charset="0"/>
              </a:rPr>
              <a:t>LOWER module</a:t>
            </a:r>
          </a:p>
          <a:p>
            <a:pPr>
              <a:defRPr/>
            </a:pPr>
            <a:endParaRPr lang="en-IN" sz="2400" b="1" dirty="0">
              <a:solidFill>
                <a:srgbClr val="FF0000"/>
              </a:solidFill>
              <a:latin typeface="Times New Roman" pitchFamily="18" charset="0"/>
              <a:cs typeface="Times New Roman" pitchFamily="18" charset="0"/>
            </a:endParaRPr>
          </a:p>
          <a:p>
            <a:pPr marL="800100" lvl="1" indent="-342900" algn="just">
              <a:buFont typeface="Arial" pitchFamily="34" charset="0"/>
              <a:buChar char="•"/>
              <a:defRPr/>
            </a:pPr>
            <a:r>
              <a:rPr lang="en-US" sz="2400" b="1" dirty="0">
                <a:latin typeface="Times New Roman" pitchFamily="18" charset="0"/>
                <a:cs typeface="Times New Roman" pitchFamily="18" charset="0"/>
              </a:rPr>
              <a:t>Stored data manager</a:t>
            </a:r>
            <a:r>
              <a:rPr lang="en-US" sz="2400" dirty="0">
                <a:latin typeface="Times New Roman" pitchFamily="18" charset="0"/>
                <a:cs typeface="Times New Roman" pitchFamily="18" charset="0"/>
              </a:rPr>
              <a:t> carry out the input and output operations between the disk and main memory and provides support for database management including management of access paths and indexes. </a:t>
            </a:r>
          </a:p>
          <a:p>
            <a:pPr algn="just">
              <a:defRPr/>
            </a:pPr>
            <a:endParaRPr lang="en-IN" sz="2400" dirty="0">
              <a:latin typeface="Times New Roman" pitchFamily="18" charset="0"/>
              <a:cs typeface="Times New Roman" pitchFamily="18" charset="0"/>
            </a:endParaRPr>
          </a:p>
        </p:txBody>
      </p:sp>
      <p:sp>
        <p:nvSpPr>
          <p:cNvPr id="75781" name="Rectangle 2">
            <a:extLst>
              <a:ext uri="{FF2B5EF4-FFF2-40B4-BE49-F238E27FC236}">
                <a16:creationId xmlns:a16="http://schemas.microsoft.com/office/drawing/2014/main" xmlns="" id="{80E314C5-7E33-4192-B847-EBCBAEF71B5B}"/>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Tree>
  </p:cSld>
  <p:clrMapOvr>
    <a:masterClrMapping/>
  </p:clrMapOvr>
  <p:transition spd="slow">
    <p:wip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15">
            <a:extLst>
              <a:ext uri="{FF2B5EF4-FFF2-40B4-BE49-F238E27FC236}">
                <a16:creationId xmlns:a16="http://schemas.microsoft.com/office/drawing/2014/main" xmlns="" id="{E43EC4B9-2FEA-453A-8FF9-2F2B5611162C}"/>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76803" name="Picture 1">
            <a:extLst>
              <a:ext uri="{FF2B5EF4-FFF2-40B4-BE49-F238E27FC236}">
                <a16:creationId xmlns:a16="http://schemas.microsoft.com/office/drawing/2014/main" xmlns="" id="{FF7E47C4-B251-441F-98A6-748D7DFDE7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Title 3">
            <a:extLst>
              <a:ext uri="{FF2B5EF4-FFF2-40B4-BE49-F238E27FC236}">
                <a16:creationId xmlns:a16="http://schemas.microsoft.com/office/drawing/2014/main" xmlns="" id="{6A01DA48-A8EE-4491-8263-1FA2B0982F13}"/>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800100" indent="-3429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file manager</a:t>
            </a:r>
            <a:r>
              <a:rPr lang="en-US" altLang="en-US">
                <a:latin typeface="Times New Roman" panose="02020603050405020304" pitchFamily="18" charset="0"/>
                <a:cs typeface="Times New Roman" panose="02020603050405020304" pitchFamily="18" charset="0"/>
              </a:rPr>
              <a:t> deals with the data structure options for storing in the database and maintains the metadata as well as indexes for various files. </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The interfacing between the main memory and disk is handled by the </a:t>
            </a:r>
            <a:r>
              <a:rPr lang="en-US" altLang="en-US" b="1">
                <a:latin typeface="Times New Roman" panose="02020603050405020304" pitchFamily="18" charset="0"/>
                <a:cs typeface="Times New Roman" panose="02020603050405020304" pitchFamily="18" charset="0"/>
              </a:rPr>
              <a:t>buffer manager</a:t>
            </a:r>
            <a:r>
              <a:rPr lang="en-US" altLang="en-US">
                <a:latin typeface="Times New Roman" panose="02020603050405020304" pitchFamily="18" charset="0"/>
                <a:cs typeface="Times New Roman" panose="02020603050405020304" pitchFamily="18" charset="0"/>
              </a:rPr>
              <a:t>. </a:t>
            </a:r>
          </a:p>
          <a:p>
            <a:pPr lvl="1" algn="just">
              <a:lnSpc>
                <a:spcPct val="100000"/>
              </a:lnSpc>
              <a:spcBef>
                <a:spcPct val="0"/>
              </a:spcBef>
            </a:pPr>
            <a:r>
              <a:rPr lang="en-US" altLang="en-US">
                <a:latin typeface="Times New Roman" panose="02020603050405020304" pitchFamily="18" charset="0"/>
                <a:cs typeface="Times New Roman" panose="02020603050405020304" pitchFamily="18" charset="0"/>
              </a:rPr>
              <a:t>The </a:t>
            </a:r>
            <a:r>
              <a:rPr lang="en-US" altLang="en-US" b="1">
                <a:latin typeface="Times New Roman" panose="02020603050405020304" pitchFamily="18" charset="0"/>
                <a:cs typeface="Times New Roman" panose="02020603050405020304" pitchFamily="18" charset="0"/>
              </a:rPr>
              <a:t>transaction manager</a:t>
            </a:r>
            <a:r>
              <a:rPr lang="en-US" altLang="en-US">
                <a:latin typeface="Times New Roman" panose="02020603050405020304" pitchFamily="18" charset="0"/>
                <a:cs typeface="Times New Roman" panose="02020603050405020304" pitchFamily="18" charset="0"/>
              </a:rPr>
              <a:t> is responsible for concurrency and crash recovery by maintaining a record of all changes to the database. </a:t>
            </a:r>
            <a:endParaRPr lang="en-IN" altLang="en-US">
              <a:latin typeface="Times New Roman" panose="02020603050405020304" pitchFamily="18" charset="0"/>
              <a:cs typeface="Times New Roman" panose="02020603050405020304" pitchFamily="18" charset="0"/>
            </a:endParaRPr>
          </a:p>
        </p:txBody>
      </p:sp>
      <p:sp>
        <p:nvSpPr>
          <p:cNvPr id="76805" name="Rectangle 2">
            <a:extLst>
              <a:ext uri="{FF2B5EF4-FFF2-40B4-BE49-F238E27FC236}">
                <a16:creationId xmlns:a16="http://schemas.microsoft.com/office/drawing/2014/main" xmlns="" id="{A8A12440-470A-435D-A943-D8CB3F30482F}"/>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Tree>
  </p:cSld>
  <p:clrMapOvr>
    <a:masterClrMapping/>
  </p:clrMapOvr>
  <p:transition spd="slow">
    <p:wip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15">
            <a:extLst>
              <a:ext uri="{FF2B5EF4-FFF2-40B4-BE49-F238E27FC236}">
                <a16:creationId xmlns:a16="http://schemas.microsoft.com/office/drawing/2014/main" xmlns="" id="{20567ECB-BE08-4D3C-858C-7F8EB6722A21}"/>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77827" name="Picture 1">
            <a:extLst>
              <a:ext uri="{FF2B5EF4-FFF2-40B4-BE49-F238E27FC236}">
                <a16:creationId xmlns:a16="http://schemas.microsoft.com/office/drawing/2014/main" xmlns="" id="{E4698840-A522-4BD2-BC99-12CC5197C9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28" name="Title 3">
            <a:extLst>
              <a:ext uri="{FF2B5EF4-FFF2-40B4-BE49-F238E27FC236}">
                <a16:creationId xmlns:a16="http://schemas.microsoft.com/office/drawing/2014/main" xmlns="" id="{C5928C80-17AA-4F6F-9559-D2F3BB1F9A67}"/>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77829" name="Rectangle 2">
            <a:extLst>
              <a:ext uri="{FF2B5EF4-FFF2-40B4-BE49-F238E27FC236}">
                <a16:creationId xmlns:a16="http://schemas.microsoft.com/office/drawing/2014/main" xmlns="" id="{01CD7404-3B20-46FF-8336-DDC06055A454}"/>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Database System Utilities</a:t>
            </a:r>
            <a:endParaRPr lang="en-US" altLang="en-US" b="1">
              <a:latin typeface="Calibri Light" panose="020F0302020204030204" pitchFamily="34" charset="0"/>
            </a:endParaRPr>
          </a:p>
        </p:txBody>
      </p:sp>
      <p:sp>
        <p:nvSpPr>
          <p:cNvPr id="77830" name="Content Placeholder 13">
            <a:extLst>
              <a:ext uri="{FF2B5EF4-FFF2-40B4-BE49-F238E27FC236}">
                <a16:creationId xmlns:a16="http://schemas.microsoft.com/office/drawing/2014/main" xmlns="" id="{5C145CF5-580E-417F-A8EA-B52B170F9F03}"/>
              </a:ext>
            </a:extLst>
          </p:cNvPr>
          <p:cNvSpPr txBox="1">
            <a:spLocks/>
          </p:cNvSpPr>
          <p:nvPr/>
        </p:nvSpPr>
        <p:spPr bwMode="auto">
          <a:xfrm>
            <a:off x="463550" y="1195388"/>
            <a:ext cx="1095375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a:latin typeface="Times New Roman" panose="02020603050405020304" pitchFamily="18" charset="0"/>
                <a:cs typeface="Times New Roman" panose="02020603050405020304" pitchFamily="18" charset="0"/>
              </a:rPr>
              <a:t>To perform certain functions such as:</a:t>
            </a:r>
          </a:p>
          <a:p>
            <a:pPr lvl="1" algn="just"/>
            <a:r>
              <a:rPr lang="en-US" altLang="en-US">
                <a:latin typeface="Times New Roman" panose="02020603050405020304" pitchFamily="18" charset="0"/>
                <a:cs typeface="Times New Roman" panose="02020603050405020304" pitchFamily="18" charset="0"/>
              </a:rPr>
              <a:t>Loading data stored in files into a database. Includes data conversion tools.</a:t>
            </a:r>
          </a:p>
          <a:p>
            <a:pPr lvl="1" algn="just"/>
            <a:r>
              <a:rPr lang="en-US" altLang="en-US">
                <a:latin typeface="Times New Roman" panose="02020603050405020304" pitchFamily="18" charset="0"/>
                <a:cs typeface="Times New Roman" panose="02020603050405020304" pitchFamily="18" charset="0"/>
              </a:rPr>
              <a:t>Backing up the database periodically on tape.</a:t>
            </a:r>
          </a:p>
          <a:p>
            <a:pPr lvl="1" algn="just"/>
            <a:r>
              <a:rPr lang="en-US" altLang="en-US">
                <a:latin typeface="Times New Roman" panose="02020603050405020304" pitchFamily="18" charset="0"/>
                <a:cs typeface="Times New Roman" panose="02020603050405020304" pitchFamily="18" charset="0"/>
              </a:rPr>
              <a:t>Reorganizing database file structures.</a:t>
            </a:r>
          </a:p>
          <a:p>
            <a:pPr lvl="1" algn="just"/>
            <a:r>
              <a:rPr lang="en-US" altLang="en-US">
                <a:latin typeface="Times New Roman" panose="02020603050405020304" pitchFamily="18" charset="0"/>
                <a:cs typeface="Times New Roman" panose="02020603050405020304" pitchFamily="18" charset="0"/>
              </a:rPr>
              <a:t>Report generation utilities.</a:t>
            </a:r>
          </a:p>
          <a:p>
            <a:pPr lvl="1" algn="just"/>
            <a:r>
              <a:rPr lang="en-US" altLang="en-US">
                <a:latin typeface="Times New Roman" panose="02020603050405020304" pitchFamily="18" charset="0"/>
                <a:cs typeface="Times New Roman" panose="02020603050405020304" pitchFamily="18" charset="0"/>
              </a:rPr>
              <a:t>Performance monitoring utilities.</a:t>
            </a:r>
          </a:p>
          <a:p>
            <a:pPr lvl="1" algn="just"/>
            <a:r>
              <a:rPr lang="en-US" altLang="en-US">
                <a:latin typeface="Times New Roman" panose="02020603050405020304" pitchFamily="18" charset="0"/>
                <a:cs typeface="Times New Roman" panose="02020603050405020304" pitchFamily="18" charset="0"/>
              </a:rPr>
              <a:t>Other functions, such as sorting, user monitoring, data compression, etc.</a:t>
            </a:r>
          </a:p>
          <a:p>
            <a:pPr algn="just"/>
            <a:endParaRPr lang="en-IN" altLang="en-US">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5">
            <a:extLst>
              <a:ext uri="{FF2B5EF4-FFF2-40B4-BE49-F238E27FC236}">
                <a16:creationId xmlns:a16="http://schemas.microsoft.com/office/drawing/2014/main" xmlns="" id="{8F544DA4-BCAF-489B-8D9C-E61A2CD1C298}"/>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78851" name="Picture 1">
            <a:extLst>
              <a:ext uri="{FF2B5EF4-FFF2-40B4-BE49-F238E27FC236}">
                <a16:creationId xmlns:a16="http://schemas.microsoft.com/office/drawing/2014/main" xmlns="" id="{E41C5252-087A-4829-B7D9-BFB0A30652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2" name="Title 3">
            <a:extLst>
              <a:ext uri="{FF2B5EF4-FFF2-40B4-BE49-F238E27FC236}">
                <a16:creationId xmlns:a16="http://schemas.microsoft.com/office/drawing/2014/main" xmlns="" id="{5336B59F-B05F-41A8-8AD5-AF4E3233DF39}"/>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78853" name="Rectangle 2">
            <a:extLst>
              <a:ext uri="{FF2B5EF4-FFF2-40B4-BE49-F238E27FC236}">
                <a16:creationId xmlns:a16="http://schemas.microsoft.com/office/drawing/2014/main" xmlns="" id="{F26F4ED3-CF4B-445B-AAB4-C0AC89AA1517}"/>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Other Tools</a:t>
            </a:r>
            <a:endParaRPr lang="en-US" altLang="en-US" b="1">
              <a:latin typeface="Calibri Light" panose="020F0302020204030204" pitchFamily="34" charset="0"/>
            </a:endParaRPr>
          </a:p>
        </p:txBody>
      </p:sp>
      <p:sp>
        <p:nvSpPr>
          <p:cNvPr id="78854" name="Content Placeholder 13">
            <a:extLst>
              <a:ext uri="{FF2B5EF4-FFF2-40B4-BE49-F238E27FC236}">
                <a16:creationId xmlns:a16="http://schemas.microsoft.com/office/drawing/2014/main" xmlns="" id="{49477973-729A-4103-91F1-7FAA3ABA0695}"/>
              </a:ext>
            </a:extLst>
          </p:cNvPr>
          <p:cNvSpPr txBox="1">
            <a:spLocks/>
          </p:cNvSpPr>
          <p:nvPr/>
        </p:nvSpPr>
        <p:spPr bwMode="auto">
          <a:xfrm>
            <a:off x="652463" y="1130300"/>
            <a:ext cx="10110787"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a:latin typeface="Times New Roman" panose="02020603050405020304" pitchFamily="18" charset="0"/>
                <a:cs typeface="Times New Roman" panose="02020603050405020304" pitchFamily="18" charset="0"/>
              </a:rPr>
              <a:t>Data dictionary / repository:</a:t>
            </a:r>
          </a:p>
          <a:p>
            <a:pPr lvl="1" algn="just"/>
            <a:r>
              <a:rPr lang="en-US" altLang="en-US">
                <a:latin typeface="Times New Roman" panose="02020603050405020304" pitchFamily="18" charset="0"/>
                <a:cs typeface="Times New Roman" panose="02020603050405020304" pitchFamily="18" charset="0"/>
              </a:rPr>
              <a:t>Used to store schema descriptions and other information such as design decisions, application program descriptions, user information, usage standards, etc.</a:t>
            </a:r>
          </a:p>
          <a:p>
            <a:pPr lvl="1" algn="just"/>
            <a:r>
              <a:rPr lang="en-US" altLang="en-US" b="1">
                <a:latin typeface="Times New Roman" panose="02020603050405020304" pitchFamily="18" charset="0"/>
                <a:cs typeface="Times New Roman" panose="02020603050405020304" pitchFamily="18" charset="0"/>
              </a:rPr>
              <a:t>Active data dictionary</a:t>
            </a:r>
            <a:r>
              <a:rPr lang="en-US" altLang="en-US">
                <a:latin typeface="Times New Roman" panose="02020603050405020304" pitchFamily="18" charset="0"/>
                <a:cs typeface="Times New Roman" panose="02020603050405020304" pitchFamily="18" charset="0"/>
              </a:rPr>
              <a:t> is accessed by DBMS software and users/DBA.</a:t>
            </a:r>
          </a:p>
          <a:p>
            <a:pPr lvl="1" algn="just"/>
            <a:r>
              <a:rPr lang="en-US" altLang="en-US" b="1">
                <a:latin typeface="Times New Roman" panose="02020603050405020304" pitchFamily="18" charset="0"/>
                <a:cs typeface="Times New Roman" panose="02020603050405020304" pitchFamily="18" charset="0"/>
              </a:rPr>
              <a:t>Passive data dictionary</a:t>
            </a:r>
            <a:r>
              <a:rPr lang="en-US" altLang="en-US">
                <a:latin typeface="Times New Roman" panose="02020603050405020304" pitchFamily="18" charset="0"/>
                <a:cs typeface="Times New Roman" panose="02020603050405020304" pitchFamily="18" charset="0"/>
              </a:rPr>
              <a:t> is accessed by users/DBA only.</a:t>
            </a:r>
          </a:p>
          <a:p>
            <a:pPr algn="just"/>
            <a:r>
              <a:rPr lang="en-US" altLang="en-US" sz="2400">
                <a:latin typeface="Times New Roman" panose="02020603050405020304" pitchFamily="18" charset="0"/>
                <a:cs typeface="Times New Roman" panose="02020603050405020304" pitchFamily="18" charset="0"/>
              </a:rPr>
              <a:t>Application Development Environments and CASE (computer-aided software engineering) tools:</a:t>
            </a:r>
          </a:p>
          <a:p>
            <a:pPr algn="just"/>
            <a:r>
              <a:rPr lang="en-US" altLang="en-US" sz="2400">
                <a:latin typeface="Times New Roman" panose="02020603050405020304" pitchFamily="18" charset="0"/>
                <a:cs typeface="Times New Roman" panose="02020603050405020304" pitchFamily="18" charset="0"/>
              </a:rPr>
              <a:t>Examples:</a:t>
            </a:r>
          </a:p>
          <a:p>
            <a:pPr lvl="1" algn="just"/>
            <a:r>
              <a:rPr lang="en-US" altLang="en-US">
                <a:latin typeface="Times New Roman" panose="02020603050405020304" pitchFamily="18" charset="0"/>
                <a:cs typeface="Times New Roman" panose="02020603050405020304" pitchFamily="18" charset="0"/>
              </a:rPr>
              <a:t>PowerBuilder (Sybase)</a:t>
            </a:r>
          </a:p>
          <a:p>
            <a:pPr lvl="1" algn="just"/>
            <a:r>
              <a:rPr lang="en-US" altLang="en-US">
                <a:latin typeface="Times New Roman" panose="02020603050405020304" pitchFamily="18" charset="0"/>
                <a:cs typeface="Times New Roman" panose="02020603050405020304" pitchFamily="18" charset="0"/>
              </a:rPr>
              <a:t>JBuilder (Borland)</a:t>
            </a:r>
          </a:p>
          <a:p>
            <a:pPr lvl="1" algn="just"/>
            <a:r>
              <a:rPr lang="en-US" altLang="en-US">
                <a:latin typeface="Times New Roman" panose="02020603050405020304" pitchFamily="18" charset="0"/>
                <a:cs typeface="Times New Roman" panose="02020603050405020304" pitchFamily="18" charset="0"/>
              </a:rPr>
              <a:t>JDeveloper 10G (Oracle)</a:t>
            </a:r>
          </a:p>
        </p:txBody>
      </p:sp>
    </p:spTree>
  </p:cSld>
  <p:clrMapOvr>
    <a:masterClrMapping/>
  </p:clrMapOvr>
  <p:transition spd="slow">
    <p:wip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5">
            <a:extLst>
              <a:ext uri="{FF2B5EF4-FFF2-40B4-BE49-F238E27FC236}">
                <a16:creationId xmlns:a16="http://schemas.microsoft.com/office/drawing/2014/main" xmlns="" id="{DCAFA6FE-92AA-4C46-B96A-338601BB89D9}"/>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79875" name="Picture 1">
            <a:extLst>
              <a:ext uri="{FF2B5EF4-FFF2-40B4-BE49-F238E27FC236}">
                <a16:creationId xmlns:a16="http://schemas.microsoft.com/office/drawing/2014/main" xmlns="" id="{3BE1795B-2636-4F85-A8B1-B4FBD9ADA1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B2D9D422-97F8-4B8B-A0BA-FEE347E9F09C}"/>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defRPr/>
            </a:pPr>
            <a:r>
              <a:rPr lang="en-IN" sz="2400" dirty="0">
                <a:latin typeface="Times New Roman" pitchFamily="18" charset="0"/>
                <a:cs typeface="Times New Roman" pitchFamily="18" charset="0"/>
              </a:rPr>
              <a:t>13. The database schema is written in --------</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VDL     b)DML          c) DDL            d) DCL</a:t>
            </a:r>
          </a:p>
          <a:p>
            <a:pPr>
              <a:defRPr/>
            </a:pPr>
            <a:endParaRPr lang="en-IN" sz="2400" dirty="0">
              <a:latin typeface="Times New Roman" pitchFamily="18" charset="0"/>
              <a:cs typeface="Times New Roman" pitchFamily="18" charset="0"/>
            </a:endParaRPr>
          </a:p>
          <a:p>
            <a:pPr>
              <a:defRPr/>
            </a:pPr>
            <a:r>
              <a:rPr lang="en-IN" sz="2400" dirty="0" err="1">
                <a:latin typeface="Times New Roman" pitchFamily="18" charset="0"/>
                <a:cs typeface="Times New Roman" pitchFamily="18" charset="0"/>
              </a:rPr>
              <a:t>Ans</a:t>
            </a:r>
            <a:r>
              <a:rPr lang="en-IN" sz="2400" dirty="0">
                <a:latin typeface="Times New Roman" pitchFamily="18" charset="0"/>
                <a:cs typeface="Times New Roman" pitchFamily="18" charset="0"/>
              </a:rPr>
              <a:t>: </a:t>
            </a:r>
            <a:r>
              <a:rPr lang="en-IN" sz="2400" dirty="0">
                <a:solidFill>
                  <a:srgbClr val="00B050"/>
                </a:solidFill>
                <a:latin typeface="Times New Roman" pitchFamily="18" charset="0"/>
                <a:cs typeface="Times New Roman" pitchFamily="18" charset="0"/>
              </a:rPr>
              <a:t>DDL </a:t>
            </a:r>
          </a:p>
          <a:p>
            <a:pPr>
              <a:defRPr/>
            </a:pPr>
            <a:endParaRPr lang="en-IN" altLang="en-US" sz="2400" b="1" dirty="0">
              <a:latin typeface="Times New Roman" pitchFamily="18" charset="0"/>
              <a:cs typeface="Times New Roman" pitchFamily="18" charset="0"/>
            </a:endParaRPr>
          </a:p>
          <a:p>
            <a:pPr>
              <a:defRPr/>
            </a:pPr>
            <a:r>
              <a:rPr lang="en-US" sz="2400" dirty="0">
                <a:latin typeface="Times New Roman" pitchFamily="18" charset="0"/>
                <a:cs typeface="Times New Roman" pitchFamily="18" charset="0"/>
              </a:rPr>
              <a:t>14. Data Manipulation Language is used for ---------</a:t>
            </a:r>
            <a:endParaRPr lang="en-IN" sz="2400" dirty="0">
              <a:latin typeface="Times New Roman" pitchFamily="18" charset="0"/>
              <a:cs typeface="Times New Roman" pitchFamily="18" charset="0"/>
            </a:endParaRP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Insert information into the database</a:t>
            </a:r>
            <a:r>
              <a:rPr lang="en-IN" sz="2400" dirty="0">
                <a:solidFill>
                  <a:srgbClr val="FF0000"/>
                </a:solidFill>
                <a:latin typeface="Times New Roman" pitchFamily="18" charset="0"/>
                <a:cs typeface="Times New Roman" pitchFamily="18" charset="0"/>
              </a:rPr>
              <a:t>         b) </a:t>
            </a:r>
            <a:r>
              <a:rPr lang="en-US" sz="2400" dirty="0">
                <a:solidFill>
                  <a:srgbClr val="FF0000"/>
                </a:solidFill>
                <a:latin typeface="Times New Roman" pitchFamily="18" charset="0"/>
                <a:cs typeface="Times New Roman" pitchFamily="18" charset="0"/>
              </a:rPr>
              <a:t>Retrieve information from the database</a:t>
            </a:r>
            <a:endParaRPr lang="en-IN" sz="2400" dirty="0">
              <a:solidFill>
                <a:srgbClr val="FF0000"/>
              </a:solidFill>
              <a:latin typeface="Times New Roman" pitchFamily="18" charset="0"/>
              <a:cs typeface="Times New Roman" pitchFamily="18" charset="0"/>
            </a:endParaRPr>
          </a:p>
          <a:p>
            <a:pPr>
              <a:defRPr/>
            </a:pPr>
            <a:r>
              <a:rPr lang="en-US" sz="2400" dirty="0">
                <a:solidFill>
                  <a:srgbClr val="FF0000"/>
                </a:solidFill>
                <a:latin typeface="Times New Roman" pitchFamily="18" charset="0"/>
                <a:cs typeface="Times New Roman" pitchFamily="18" charset="0"/>
              </a:rPr>
              <a:t>c)   Delete information</a:t>
            </a:r>
            <a:r>
              <a:rPr lang="en-IN" sz="2400" dirty="0">
                <a:solidFill>
                  <a:srgbClr val="FF0000"/>
                </a:solidFill>
                <a:latin typeface="Times New Roman" pitchFamily="18" charset="0"/>
                <a:cs typeface="Times New Roman" pitchFamily="18" charset="0"/>
              </a:rPr>
              <a:t>                                   d) </a:t>
            </a:r>
            <a:r>
              <a:rPr lang="en-US" sz="2400" dirty="0">
                <a:solidFill>
                  <a:srgbClr val="FF0000"/>
                </a:solidFill>
                <a:latin typeface="Times New Roman" pitchFamily="18" charset="0"/>
                <a:cs typeface="Times New Roman" pitchFamily="18" charset="0"/>
              </a:rPr>
              <a:t>All of these </a:t>
            </a:r>
            <a:endParaRPr lang="en-IN" altLang="en-US" sz="2400" b="1" dirty="0">
              <a:solidFill>
                <a:srgbClr val="FF0000"/>
              </a:solidFill>
              <a:latin typeface="Times New Roman" pitchFamily="18" charset="0"/>
              <a:cs typeface="Times New Roman" pitchFamily="18" charset="0"/>
            </a:endParaRPr>
          </a:p>
          <a:p>
            <a:pPr>
              <a:defRPr/>
            </a:pPr>
            <a:r>
              <a:rPr lang="en-IN" altLang="en-US" sz="2400" b="1" dirty="0" err="1">
                <a:latin typeface="Times New Roman" pitchFamily="18" charset="0"/>
                <a:cs typeface="Times New Roman" pitchFamily="18" charset="0"/>
              </a:rPr>
              <a:t>Ans</a:t>
            </a:r>
            <a:r>
              <a:rPr lang="en-IN" altLang="en-US" sz="2400" b="1" dirty="0">
                <a:latin typeface="Times New Roman" pitchFamily="18" charset="0"/>
                <a:cs typeface="Times New Roman" pitchFamily="18" charset="0"/>
              </a:rPr>
              <a:t>: </a:t>
            </a:r>
            <a:r>
              <a:rPr lang="en-US" sz="2400" dirty="0">
                <a:solidFill>
                  <a:srgbClr val="00B050"/>
                </a:solidFill>
                <a:latin typeface="Times New Roman" pitchFamily="18" charset="0"/>
                <a:cs typeface="Times New Roman" pitchFamily="18" charset="0"/>
              </a:rPr>
              <a:t>All of these </a:t>
            </a:r>
            <a:endParaRPr lang="en-IN" altLang="en-US" sz="2400" b="1" dirty="0">
              <a:solidFill>
                <a:srgbClr val="00B050"/>
              </a:solidFill>
              <a:latin typeface="Times New Roman" pitchFamily="18" charset="0"/>
              <a:cs typeface="Times New Roman" pitchFamily="18" charset="0"/>
            </a:endParaRPr>
          </a:p>
        </p:txBody>
      </p:sp>
      <p:sp>
        <p:nvSpPr>
          <p:cNvPr id="79877" name="Rectangle 2">
            <a:extLst>
              <a:ext uri="{FF2B5EF4-FFF2-40B4-BE49-F238E27FC236}">
                <a16:creationId xmlns:a16="http://schemas.microsoft.com/office/drawing/2014/main" xmlns="" id="{76B46527-3219-4395-BD61-2466CE5078FC}"/>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3428">
                                            <p:txEl>
                                              <p:pRg st="1" end="1"/>
                                            </p:txEl>
                                          </p:spTgt>
                                        </p:tgtEl>
                                        <p:attrNameLst>
                                          <p:attrName>style.visibility</p:attrName>
                                        </p:attrNameLst>
                                      </p:cBhvr>
                                      <p:to>
                                        <p:strVal val="visible"/>
                                      </p:to>
                                    </p:set>
                                    <p:anim calcmode="lin" valueType="num">
                                      <p:cBhvr additive="base">
                                        <p:cTn id="13" dur="5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3428">
                                            <p:txEl>
                                              <p:pRg st="3" end="3"/>
                                            </p:txEl>
                                          </p:spTgt>
                                        </p:tgtEl>
                                        <p:attrNameLst>
                                          <p:attrName>style.visibility</p:attrName>
                                        </p:attrNameLst>
                                      </p:cBhvr>
                                      <p:to>
                                        <p:strVal val="visible"/>
                                      </p:to>
                                    </p:set>
                                    <p:anim calcmode="lin" valueType="num">
                                      <p:cBhvr additive="base">
                                        <p:cTn id="19" dur="500" fill="hold"/>
                                        <p:tgtEl>
                                          <p:spTgt spid="10342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42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3428">
                                            <p:txEl>
                                              <p:pRg st="5" end="5"/>
                                            </p:txEl>
                                          </p:spTgt>
                                        </p:tgtEl>
                                        <p:attrNameLst>
                                          <p:attrName>style.visibility</p:attrName>
                                        </p:attrNameLst>
                                      </p:cBhvr>
                                      <p:to>
                                        <p:strVal val="visible"/>
                                      </p:to>
                                    </p:set>
                                    <p:anim calcmode="lin" valueType="num">
                                      <p:cBhvr additive="base">
                                        <p:cTn id="25" dur="500" fill="hold"/>
                                        <p:tgtEl>
                                          <p:spTgt spid="103428">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42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42" presetClass="entr" presetSubtype="0" fill="hold" nodeType="clickEffect">
                                  <p:stCondLst>
                                    <p:cond delay="0"/>
                                  </p:stCondLst>
                                  <p:childTnLst>
                                    <p:set>
                                      <p:cBhvr>
                                        <p:cTn id="30" dur="1" fill="hold">
                                          <p:stCondLst>
                                            <p:cond delay="0"/>
                                          </p:stCondLst>
                                        </p:cTn>
                                        <p:tgtEl>
                                          <p:spTgt spid="103428">
                                            <p:txEl>
                                              <p:pRg st="6" end="6"/>
                                            </p:txEl>
                                          </p:spTgt>
                                        </p:tgtEl>
                                        <p:attrNameLst>
                                          <p:attrName>style.visibility</p:attrName>
                                        </p:attrNameLst>
                                      </p:cBhvr>
                                      <p:to>
                                        <p:strVal val="visible"/>
                                      </p:to>
                                    </p:set>
                                    <p:animEffect transition="in" filter="fade">
                                      <p:cBhvr>
                                        <p:cTn id="31" dur="1000"/>
                                        <p:tgtEl>
                                          <p:spTgt spid="103428">
                                            <p:txEl>
                                              <p:pRg st="6" end="6"/>
                                            </p:txEl>
                                          </p:spTgt>
                                        </p:tgtEl>
                                      </p:cBhvr>
                                    </p:animEffect>
                                    <p:anim calcmode="lin" valueType="num">
                                      <p:cBhvr>
                                        <p:cTn id="32" dur="1000" fill="hold"/>
                                        <p:tgtEl>
                                          <p:spTgt spid="103428">
                                            <p:txEl>
                                              <p:pRg st="6" end="6"/>
                                            </p:txEl>
                                          </p:spTgt>
                                        </p:tgtEl>
                                        <p:attrNameLst>
                                          <p:attrName>ppt_x</p:attrName>
                                        </p:attrNameLst>
                                      </p:cBhvr>
                                      <p:tavLst>
                                        <p:tav tm="0">
                                          <p:val>
                                            <p:strVal val="#ppt_x"/>
                                          </p:val>
                                        </p:tav>
                                        <p:tav tm="100000">
                                          <p:val>
                                            <p:strVal val="#ppt_x"/>
                                          </p:val>
                                        </p:tav>
                                      </p:tavLst>
                                    </p:anim>
                                    <p:anim calcmode="lin" valueType="num">
                                      <p:cBhvr>
                                        <p:cTn id="33" dur="1000" fill="hold"/>
                                        <p:tgtEl>
                                          <p:spTgt spid="103428">
                                            <p:txEl>
                                              <p:pRg st="6" end="6"/>
                                            </p:txEl>
                                          </p:spTgt>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03428">
                                            <p:txEl>
                                              <p:pRg st="7" end="7"/>
                                            </p:txEl>
                                          </p:spTgt>
                                        </p:tgtEl>
                                        <p:attrNameLst>
                                          <p:attrName>style.visibility</p:attrName>
                                        </p:attrNameLst>
                                      </p:cBhvr>
                                      <p:to>
                                        <p:strVal val="visible"/>
                                      </p:to>
                                    </p:set>
                                    <p:animEffect transition="in" filter="fade">
                                      <p:cBhvr>
                                        <p:cTn id="36" dur="1000"/>
                                        <p:tgtEl>
                                          <p:spTgt spid="103428">
                                            <p:txEl>
                                              <p:pRg st="7" end="7"/>
                                            </p:txEl>
                                          </p:spTgt>
                                        </p:tgtEl>
                                      </p:cBhvr>
                                    </p:animEffect>
                                    <p:anim calcmode="lin" valueType="num">
                                      <p:cBhvr>
                                        <p:cTn id="37" dur="1000" fill="hold"/>
                                        <p:tgtEl>
                                          <p:spTgt spid="103428">
                                            <p:txEl>
                                              <p:pRg st="7" end="7"/>
                                            </p:txEl>
                                          </p:spTgt>
                                        </p:tgtEl>
                                        <p:attrNameLst>
                                          <p:attrName>ppt_x</p:attrName>
                                        </p:attrNameLst>
                                      </p:cBhvr>
                                      <p:tavLst>
                                        <p:tav tm="0">
                                          <p:val>
                                            <p:strVal val="#ppt_x"/>
                                          </p:val>
                                        </p:tav>
                                        <p:tav tm="100000">
                                          <p:val>
                                            <p:strVal val="#ppt_x"/>
                                          </p:val>
                                        </p:tav>
                                      </p:tavLst>
                                    </p:anim>
                                    <p:anim calcmode="lin" valueType="num">
                                      <p:cBhvr>
                                        <p:cTn id="38" dur="1000" fill="hold"/>
                                        <p:tgtEl>
                                          <p:spTgt spid="10342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03428">
                                            <p:txEl>
                                              <p:pRg st="8" end="8"/>
                                            </p:txEl>
                                          </p:spTgt>
                                        </p:tgtEl>
                                        <p:attrNameLst>
                                          <p:attrName>style.visibility</p:attrName>
                                        </p:attrNameLst>
                                      </p:cBhvr>
                                      <p:to>
                                        <p:strVal val="visible"/>
                                      </p:to>
                                    </p:set>
                                    <p:anim calcmode="lin" valueType="num">
                                      <p:cBhvr additive="base">
                                        <p:cTn id="43" dur="500" fill="hold"/>
                                        <p:tgtEl>
                                          <p:spTgt spid="10342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342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5">
            <a:extLst>
              <a:ext uri="{FF2B5EF4-FFF2-40B4-BE49-F238E27FC236}">
                <a16:creationId xmlns:a16="http://schemas.microsoft.com/office/drawing/2014/main" xmlns="" id="{86DE40BE-7960-4743-9A3C-FA1504EEE71B}"/>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80899" name="Picture 1">
            <a:extLst>
              <a:ext uri="{FF2B5EF4-FFF2-40B4-BE49-F238E27FC236}">
                <a16:creationId xmlns:a16="http://schemas.microsoft.com/office/drawing/2014/main" xmlns="" id="{17EF417F-0D34-489A-B8A0-E1C2E69555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2466006B-C6A0-4D22-A65D-94FD02A14011}"/>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defRPr/>
            </a:pPr>
            <a:r>
              <a:rPr lang="en-US" sz="2400" dirty="0">
                <a:latin typeface="Times New Roman" pitchFamily="18" charset="0"/>
                <a:cs typeface="Times New Roman" pitchFamily="18" charset="0"/>
              </a:rPr>
              <a:t>15. Set of definitions that are used to specify schema are expressed using</a:t>
            </a:r>
            <a:endParaRPr lang="en-IN" sz="2400" dirty="0">
              <a:latin typeface="Times New Roman" pitchFamily="18" charset="0"/>
              <a:cs typeface="Times New Roman" pitchFamily="18" charset="0"/>
            </a:endParaRP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DDL      b) Java</a:t>
            </a:r>
            <a:r>
              <a:rPr lang="en-IN" sz="2400" dirty="0">
                <a:solidFill>
                  <a:srgbClr val="FF0000"/>
                </a:solidFill>
                <a:latin typeface="Times New Roman" pitchFamily="18" charset="0"/>
                <a:cs typeface="Times New Roman" pitchFamily="18" charset="0"/>
              </a:rPr>
              <a:t>     c) </a:t>
            </a:r>
            <a:r>
              <a:rPr lang="en-US" sz="2400" dirty="0">
                <a:solidFill>
                  <a:srgbClr val="FF0000"/>
                </a:solidFill>
                <a:latin typeface="Times New Roman" pitchFamily="18" charset="0"/>
                <a:cs typeface="Times New Roman" pitchFamily="18" charset="0"/>
              </a:rPr>
              <a:t>Fortran</a:t>
            </a:r>
            <a:r>
              <a:rPr lang="en-IN" sz="2400" dirty="0">
                <a:solidFill>
                  <a:srgbClr val="FF0000"/>
                </a:solidFill>
                <a:latin typeface="Times New Roman" pitchFamily="18" charset="0"/>
                <a:cs typeface="Times New Roman" pitchFamily="18" charset="0"/>
              </a:rPr>
              <a:t>    d)</a:t>
            </a:r>
            <a:r>
              <a:rPr lang="en-US" sz="2400" dirty="0">
                <a:solidFill>
                  <a:srgbClr val="FF0000"/>
                </a:solidFill>
                <a:latin typeface="Times New Roman" pitchFamily="18" charset="0"/>
                <a:cs typeface="Times New Roman" pitchFamily="18" charset="0"/>
              </a:rPr>
              <a:t>DML</a:t>
            </a:r>
          </a:p>
          <a:p>
            <a:pPr>
              <a:defRPr/>
            </a:pPr>
            <a:endParaRPr lang="en-US" sz="2400" dirty="0">
              <a:latin typeface="Times New Roman" pitchFamily="18" charset="0"/>
              <a:cs typeface="Times New Roman" pitchFamily="18" charset="0"/>
            </a:endParaRPr>
          </a:p>
          <a:p>
            <a:pPr>
              <a:defRPr/>
            </a:pPr>
            <a:r>
              <a:rPr lang="en-US" sz="2400" dirty="0" err="1">
                <a:latin typeface="Times New Roman" pitchFamily="18" charset="0"/>
                <a:cs typeface="Times New Roman" pitchFamily="18" charset="0"/>
              </a:rPr>
              <a:t>Ans</a:t>
            </a:r>
            <a:r>
              <a:rPr lang="en-US" sz="2400" dirty="0">
                <a:latin typeface="Times New Roman" pitchFamily="18" charset="0"/>
                <a:cs typeface="Times New Roman" pitchFamily="18" charset="0"/>
              </a:rPr>
              <a:t>: </a:t>
            </a:r>
            <a:r>
              <a:rPr lang="en-US" sz="2400" dirty="0">
                <a:solidFill>
                  <a:schemeClr val="accent6"/>
                </a:solidFill>
                <a:latin typeface="Times New Roman" pitchFamily="18" charset="0"/>
                <a:cs typeface="Times New Roman" pitchFamily="18" charset="0"/>
              </a:rPr>
              <a:t>DDL</a:t>
            </a:r>
            <a:endParaRPr lang="en-IN" sz="2400" dirty="0">
              <a:solidFill>
                <a:schemeClr val="accent6"/>
              </a:solidFill>
              <a:latin typeface="Times New Roman" pitchFamily="18" charset="0"/>
              <a:cs typeface="Times New Roman" pitchFamily="18" charset="0"/>
            </a:endParaRPr>
          </a:p>
          <a:p>
            <a:pPr>
              <a:defRPr/>
            </a:pPr>
            <a:endParaRPr lang="en-IN" altLang="en-US" sz="2400" b="1" dirty="0">
              <a:latin typeface="Times New Roman" pitchFamily="18" charset="0"/>
              <a:cs typeface="Times New Roman" pitchFamily="18" charset="0"/>
            </a:endParaRPr>
          </a:p>
          <a:p>
            <a:pPr>
              <a:defRPr/>
            </a:pPr>
            <a:r>
              <a:rPr lang="en-US" sz="2400" dirty="0">
                <a:latin typeface="Times New Roman" pitchFamily="18" charset="0"/>
                <a:cs typeface="Times New Roman" pitchFamily="18" charset="0"/>
              </a:rPr>
              <a:t>16. Result of compilation of DDL statement is stored in special file called as ------------</a:t>
            </a:r>
            <a:endParaRPr lang="en-IN" sz="2400" dirty="0">
              <a:latin typeface="Times New Roman" pitchFamily="18" charset="0"/>
              <a:cs typeface="Times New Roman" pitchFamily="18" charset="0"/>
            </a:endParaRP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Database Schema File</a:t>
            </a:r>
            <a:r>
              <a:rPr lang="en-IN" sz="2400" dirty="0">
                <a:solidFill>
                  <a:srgbClr val="FF0000"/>
                </a:solidFill>
                <a:latin typeface="Times New Roman" pitchFamily="18" charset="0"/>
                <a:cs typeface="Times New Roman" pitchFamily="18" charset="0"/>
              </a:rPr>
              <a:t>                       b) </a:t>
            </a:r>
            <a:r>
              <a:rPr lang="en-US" sz="2400" dirty="0">
                <a:solidFill>
                  <a:srgbClr val="FF0000"/>
                </a:solidFill>
                <a:latin typeface="Times New Roman" pitchFamily="18" charset="0"/>
                <a:cs typeface="Times New Roman" pitchFamily="18" charset="0"/>
              </a:rPr>
              <a:t>Database File</a:t>
            </a:r>
            <a:endParaRPr lang="en-IN" sz="2400" dirty="0">
              <a:solidFill>
                <a:srgbClr val="FF0000"/>
              </a:solidFill>
              <a:latin typeface="Times New Roman" pitchFamily="18" charset="0"/>
              <a:cs typeface="Times New Roman" pitchFamily="18" charset="0"/>
            </a:endParaRPr>
          </a:p>
          <a:p>
            <a:pPr>
              <a:defRPr/>
            </a:pPr>
            <a:r>
              <a:rPr lang="en-US" sz="2400" dirty="0">
                <a:solidFill>
                  <a:srgbClr val="FF0000"/>
                </a:solidFill>
                <a:latin typeface="Times New Roman" pitchFamily="18" charset="0"/>
                <a:cs typeface="Times New Roman" pitchFamily="18" charset="0"/>
              </a:rPr>
              <a:t>c)   Symbol Table</a:t>
            </a:r>
            <a:r>
              <a:rPr lang="en-IN" sz="2400" dirty="0">
                <a:solidFill>
                  <a:srgbClr val="FF0000"/>
                </a:solidFill>
                <a:latin typeface="Times New Roman" pitchFamily="18" charset="0"/>
                <a:cs typeface="Times New Roman" pitchFamily="18" charset="0"/>
              </a:rPr>
              <a:t>                                     d) </a:t>
            </a:r>
            <a:r>
              <a:rPr lang="en-US" sz="2400" dirty="0">
                <a:solidFill>
                  <a:srgbClr val="FF0000"/>
                </a:solidFill>
                <a:latin typeface="Times New Roman" pitchFamily="18" charset="0"/>
                <a:cs typeface="Times New Roman" pitchFamily="18" charset="0"/>
              </a:rPr>
              <a:t>Data dictionary </a:t>
            </a:r>
          </a:p>
          <a:p>
            <a:pPr>
              <a:defRPr/>
            </a:pPr>
            <a:endParaRPr lang="en-US" sz="2400" dirty="0">
              <a:latin typeface="Times New Roman" pitchFamily="18" charset="0"/>
              <a:cs typeface="Times New Roman" pitchFamily="18" charset="0"/>
            </a:endParaRPr>
          </a:p>
          <a:p>
            <a:pPr>
              <a:defRPr/>
            </a:pPr>
            <a:r>
              <a:rPr lang="en-US" altLang="en-US" sz="2400" b="1" dirty="0" err="1">
                <a:latin typeface="Times New Roman" pitchFamily="18" charset="0"/>
                <a:cs typeface="Times New Roman" pitchFamily="18" charset="0"/>
              </a:rPr>
              <a:t>Ans</a:t>
            </a:r>
            <a:r>
              <a:rPr lang="en-US" altLang="en-US" sz="2400" b="1" dirty="0">
                <a:latin typeface="Times New Roman" pitchFamily="18" charset="0"/>
                <a:cs typeface="Times New Roman" pitchFamily="18" charset="0"/>
              </a:rPr>
              <a:t>: </a:t>
            </a:r>
            <a:r>
              <a:rPr lang="en-US" sz="2400" dirty="0">
                <a:solidFill>
                  <a:srgbClr val="00B050"/>
                </a:solidFill>
                <a:latin typeface="Times New Roman" pitchFamily="18" charset="0"/>
                <a:cs typeface="Times New Roman" pitchFamily="18" charset="0"/>
              </a:rPr>
              <a:t>Data dictionary </a:t>
            </a:r>
          </a:p>
          <a:p>
            <a:pPr>
              <a:defRPr/>
            </a:pPr>
            <a:endParaRPr lang="en-IN" altLang="en-US" sz="2400" b="1" dirty="0">
              <a:latin typeface="Times New Roman" pitchFamily="18" charset="0"/>
              <a:cs typeface="Times New Roman" pitchFamily="18" charset="0"/>
            </a:endParaRPr>
          </a:p>
        </p:txBody>
      </p:sp>
      <p:sp>
        <p:nvSpPr>
          <p:cNvPr id="80901" name="Rectangle 2">
            <a:extLst>
              <a:ext uri="{FF2B5EF4-FFF2-40B4-BE49-F238E27FC236}">
                <a16:creationId xmlns:a16="http://schemas.microsoft.com/office/drawing/2014/main" xmlns="" id="{BF7817C9-4224-4575-AEDD-7B962916180F}"/>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3428">
                                            <p:txEl>
                                              <p:pRg st="1" end="1"/>
                                            </p:txEl>
                                          </p:spTgt>
                                        </p:tgtEl>
                                        <p:attrNameLst>
                                          <p:attrName>style.visibility</p:attrName>
                                        </p:attrNameLst>
                                      </p:cBhvr>
                                      <p:to>
                                        <p:strVal val="visible"/>
                                      </p:to>
                                    </p:set>
                                    <p:anim calcmode="lin" valueType="num">
                                      <p:cBhvr additive="base">
                                        <p:cTn id="13" dur="5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3428">
                                            <p:txEl>
                                              <p:pRg st="3" end="3"/>
                                            </p:txEl>
                                          </p:spTgt>
                                        </p:tgtEl>
                                        <p:attrNameLst>
                                          <p:attrName>style.visibility</p:attrName>
                                        </p:attrNameLst>
                                      </p:cBhvr>
                                      <p:to>
                                        <p:strVal val="visible"/>
                                      </p:to>
                                    </p:set>
                                    <p:anim calcmode="lin" valueType="num">
                                      <p:cBhvr additive="base">
                                        <p:cTn id="19" dur="500" fill="hold"/>
                                        <p:tgtEl>
                                          <p:spTgt spid="10342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42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3428">
                                            <p:txEl>
                                              <p:pRg st="5" end="5"/>
                                            </p:txEl>
                                          </p:spTgt>
                                        </p:tgtEl>
                                        <p:attrNameLst>
                                          <p:attrName>style.visibility</p:attrName>
                                        </p:attrNameLst>
                                      </p:cBhvr>
                                      <p:to>
                                        <p:strVal val="visible"/>
                                      </p:to>
                                    </p:set>
                                    <p:anim calcmode="lin" valueType="num">
                                      <p:cBhvr additive="base">
                                        <p:cTn id="25" dur="500" fill="hold"/>
                                        <p:tgtEl>
                                          <p:spTgt spid="103428">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42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3428">
                                            <p:txEl>
                                              <p:pRg st="6" end="6"/>
                                            </p:txEl>
                                          </p:spTgt>
                                        </p:tgtEl>
                                        <p:attrNameLst>
                                          <p:attrName>style.visibility</p:attrName>
                                        </p:attrNameLst>
                                      </p:cBhvr>
                                      <p:to>
                                        <p:strVal val="visible"/>
                                      </p:to>
                                    </p:set>
                                    <p:anim calcmode="lin" valueType="num">
                                      <p:cBhvr additive="base">
                                        <p:cTn id="31" dur="500" fill="hold"/>
                                        <p:tgtEl>
                                          <p:spTgt spid="103428">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3428">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103428">
                                            <p:txEl>
                                              <p:pRg st="7" end="7"/>
                                            </p:txEl>
                                          </p:spTgt>
                                        </p:tgtEl>
                                        <p:attrNameLst>
                                          <p:attrName>style.visibility</p:attrName>
                                        </p:attrNameLst>
                                      </p:cBhvr>
                                      <p:to>
                                        <p:strVal val="visible"/>
                                      </p:to>
                                    </p:set>
                                    <p:anim calcmode="lin" valueType="num">
                                      <p:cBhvr additive="base">
                                        <p:cTn id="35" dur="500" fill="hold"/>
                                        <p:tgtEl>
                                          <p:spTgt spid="103428">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10342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2" presetClass="entr" presetSubtype="4" fill="hold" nodeType="clickEffect">
                                  <p:stCondLst>
                                    <p:cond delay="0"/>
                                  </p:stCondLst>
                                  <p:childTnLst>
                                    <p:set>
                                      <p:cBhvr>
                                        <p:cTn id="40" dur="1" fill="hold">
                                          <p:stCondLst>
                                            <p:cond delay="0"/>
                                          </p:stCondLst>
                                        </p:cTn>
                                        <p:tgtEl>
                                          <p:spTgt spid="103428">
                                            <p:txEl>
                                              <p:pRg st="9" end="9"/>
                                            </p:txEl>
                                          </p:spTgt>
                                        </p:tgtEl>
                                        <p:attrNameLst>
                                          <p:attrName>style.visibility</p:attrName>
                                        </p:attrNameLst>
                                      </p:cBhvr>
                                      <p:to>
                                        <p:strVal val="visible"/>
                                      </p:to>
                                    </p:set>
                                    <p:anim calcmode="lin" valueType="num">
                                      <p:cBhvr additive="base">
                                        <p:cTn id="41" dur="500" fill="hold"/>
                                        <p:tgtEl>
                                          <p:spTgt spid="103428">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10342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Rectangle 15">
            <a:extLst>
              <a:ext uri="{FF2B5EF4-FFF2-40B4-BE49-F238E27FC236}">
                <a16:creationId xmlns:a16="http://schemas.microsoft.com/office/drawing/2014/main" xmlns="" id="{24C41F40-C981-4C06-B917-EC37EF09721E}"/>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81923" name="Picture 1">
            <a:extLst>
              <a:ext uri="{FF2B5EF4-FFF2-40B4-BE49-F238E27FC236}">
                <a16:creationId xmlns:a16="http://schemas.microsoft.com/office/drawing/2014/main" xmlns="" id="{41CAF1E0-16FF-4041-8DA4-7919D38C0F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F038020E-34A0-4E66-A9F6-9FA32E5C76DB}"/>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defRPr/>
            </a:pPr>
            <a:r>
              <a:rPr lang="en-IN" altLang="en-US" sz="2400" dirty="0">
                <a:latin typeface="Times New Roman" pitchFamily="18" charset="0"/>
                <a:cs typeface="Times New Roman" pitchFamily="18" charset="0"/>
              </a:rPr>
              <a:t>17. There are ------------ types of DML</a:t>
            </a:r>
          </a:p>
          <a:p>
            <a:pPr marL="457200" indent="-457200">
              <a:buFont typeface="+mj-lt"/>
              <a:buAutoNum type="alphaLcParenR"/>
              <a:defRPr/>
            </a:pPr>
            <a:r>
              <a:rPr lang="en-IN" altLang="en-US" sz="2400" dirty="0">
                <a:solidFill>
                  <a:srgbClr val="FF0000"/>
                </a:solidFill>
                <a:latin typeface="Times New Roman" pitchFamily="18" charset="0"/>
                <a:cs typeface="Times New Roman" pitchFamily="18" charset="0"/>
              </a:rPr>
              <a:t>1        b) 2         c) 3              d) 4</a:t>
            </a:r>
          </a:p>
          <a:p>
            <a:pPr>
              <a:defRPr/>
            </a:pPr>
            <a:endParaRPr lang="en-IN" altLang="en-US" sz="2400" dirty="0">
              <a:latin typeface="Times New Roman" pitchFamily="18" charset="0"/>
              <a:cs typeface="Times New Roman" pitchFamily="18" charset="0"/>
            </a:endParaRPr>
          </a:p>
          <a:p>
            <a:pPr>
              <a:defRPr/>
            </a:pPr>
            <a:r>
              <a:rPr lang="en-IN" altLang="en-US" sz="2400" dirty="0" err="1">
                <a:latin typeface="Times New Roman" pitchFamily="18" charset="0"/>
                <a:cs typeface="Times New Roman" pitchFamily="18" charset="0"/>
              </a:rPr>
              <a:t>Ans</a:t>
            </a:r>
            <a:r>
              <a:rPr lang="en-IN" altLang="en-US" sz="2400" dirty="0">
                <a:latin typeface="Times New Roman" pitchFamily="18" charset="0"/>
                <a:cs typeface="Times New Roman" pitchFamily="18" charset="0"/>
              </a:rPr>
              <a:t>: </a:t>
            </a:r>
            <a:r>
              <a:rPr lang="en-IN" altLang="en-US" sz="2400" dirty="0">
                <a:solidFill>
                  <a:srgbClr val="00B050"/>
                </a:solidFill>
                <a:latin typeface="Times New Roman" pitchFamily="18" charset="0"/>
                <a:cs typeface="Times New Roman" pitchFamily="18" charset="0"/>
              </a:rPr>
              <a:t>2</a:t>
            </a:r>
          </a:p>
          <a:p>
            <a:pPr>
              <a:defRPr/>
            </a:pPr>
            <a:endParaRPr lang="en-IN" altLang="en-US" sz="2400" dirty="0">
              <a:latin typeface="Times New Roman" pitchFamily="18" charset="0"/>
              <a:cs typeface="Times New Roman" pitchFamily="18" charset="0"/>
            </a:endParaRPr>
          </a:p>
          <a:p>
            <a:pPr>
              <a:defRPr/>
            </a:pPr>
            <a:r>
              <a:rPr lang="en-IN" altLang="en-US" sz="2400" dirty="0">
                <a:latin typeface="Times New Roman" pitchFamily="18" charset="0"/>
                <a:cs typeface="Times New Roman" pitchFamily="18" charset="0"/>
              </a:rPr>
              <a:t>18.</a:t>
            </a:r>
            <a:r>
              <a:rPr lang="en-US" sz="2400" dirty="0">
                <a:latin typeface="Times New Roman" pitchFamily="18" charset="0"/>
                <a:cs typeface="Times New Roman" pitchFamily="18" charset="0"/>
              </a:rPr>
              <a:t> -------------interfaces accept requests written in English or some other language and attempt to understand them.</a:t>
            </a:r>
          </a:p>
          <a:p>
            <a:pPr marL="457200" indent="-457200">
              <a:buFont typeface="+mj-lt"/>
              <a:buAutoNum type="alphaLcParenR"/>
              <a:defRPr/>
            </a:pPr>
            <a:r>
              <a:rPr lang="en-US" altLang="en-US" sz="2400" dirty="0">
                <a:solidFill>
                  <a:srgbClr val="FF0000"/>
                </a:solidFill>
                <a:latin typeface="Times New Roman" pitchFamily="18" charset="0"/>
                <a:cs typeface="Times New Roman" pitchFamily="18" charset="0"/>
              </a:rPr>
              <a:t>Menu based interfaces                   b) Form based interfaces</a:t>
            </a:r>
          </a:p>
          <a:p>
            <a:pPr marL="457200" indent="-457200">
              <a:buFontTx/>
              <a:buAutoNum type="alphaLcParenR" startAt="3"/>
              <a:defRPr/>
            </a:pPr>
            <a:r>
              <a:rPr lang="en-US" altLang="en-US" sz="2400" dirty="0">
                <a:solidFill>
                  <a:srgbClr val="FF0000"/>
                </a:solidFill>
                <a:latin typeface="Times New Roman" pitchFamily="18" charset="0"/>
                <a:cs typeface="Times New Roman" pitchFamily="18" charset="0"/>
              </a:rPr>
              <a:t>Natural Language interfaces        d)</a:t>
            </a:r>
            <a:r>
              <a:rPr lang="en-IN" sz="2400" dirty="0">
                <a:solidFill>
                  <a:srgbClr val="FF0000"/>
                </a:solidFill>
                <a:latin typeface="Times New Roman" pitchFamily="18" charset="0"/>
                <a:cs typeface="Times New Roman" pitchFamily="18" charset="0"/>
              </a:rPr>
              <a:t>Graphical User Interfaces</a:t>
            </a:r>
          </a:p>
          <a:p>
            <a:pPr>
              <a:defRPr/>
            </a:pPr>
            <a:endParaRPr lang="en-IN" altLang="en-US" sz="2400" dirty="0">
              <a:latin typeface="Times New Roman" pitchFamily="18" charset="0"/>
              <a:cs typeface="Times New Roman" pitchFamily="18" charset="0"/>
            </a:endParaRPr>
          </a:p>
          <a:p>
            <a:pPr>
              <a:defRPr/>
            </a:pPr>
            <a:r>
              <a:rPr lang="en-IN" altLang="en-US" sz="2400" dirty="0" err="1">
                <a:latin typeface="Times New Roman" pitchFamily="18" charset="0"/>
                <a:cs typeface="Times New Roman" pitchFamily="18" charset="0"/>
              </a:rPr>
              <a:t>Ans</a:t>
            </a:r>
            <a:r>
              <a:rPr lang="en-IN" altLang="en-US" sz="2400" dirty="0">
                <a:latin typeface="Times New Roman" pitchFamily="18" charset="0"/>
                <a:cs typeface="Times New Roman" pitchFamily="18" charset="0"/>
              </a:rPr>
              <a:t>:</a:t>
            </a:r>
            <a:r>
              <a:rPr lang="en-US" altLang="en-US" sz="2400" dirty="0">
                <a:latin typeface="Times New Roman" pitchFamily="18" charset="0"/>
                <a:cs typeface="Times New Roman" pitchFamily="18" charset="0"/>
              </a:rPr>
              <a:t> </a:t>
            </a:r>
            <a:r>
              <a:rPr lang="en-US" altLang="en-US" sz="2400" dirty="0">
                <a:solidFill>
                  <a:schemeClr val="accent6"/>
                </a:solidFill>
                <a:latin typeface="Times New Roman" pitchFamily="18" charset="0"/>
                <a:cs typeface="Times New Roman" pitchFamily="18" charset="0"/>
              </a:rPr>
              <a:t>Natural Language interfaces</a:t>
            </a:r>
            <a:endParaRPr lang="en-IN" altLang="en-US" sz="2400" dirty="0">
              <a:solidFill>
                <a:schemeClr val="accent6"/>
              </a:solidFill>
              <a:latin typeface="Times New Roman" pitchFamily="18" charset="0"/>
              <a:cs typeface="Times New Roman" pitchFamily="18" charset="0"/>
            </a:endParaRPr>
          </a:p>
        </p:txBody>
      </p:sp>
      <p:sp>
        <p:nvSpPr>
          <p:cNvPr id="81925" name="Rectangle 2">
            <a:extLst>
              <a:ext uri="{FF2B5EF4-FFF2-40B4-BE49-F238E27FC236}">
                <a16:creationId xmlns:a16="http://schemas.microsoft.com/office/drawing/2014/main" xmlns="" id="{BA671FC4-B0B4-469D-829F-6D14ED64EDB2}"/>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42" presetClass="entr" presetSubtype="0" fill="hold" nodeType="clickEffect">
                                  <p:stCondLst>
                                    <p:cond delay="0"/>
                                  </p:stCondLst>
                                  <p:childTnLst>
                                    <p:set>
                                      <p:cBhvr>
                                        <p:cTn id="12" dur="1" fill="hold">
                                          <p:stCondLst>
                                            <p:cond delay="0"/>
                                          </p:stCondLst>
                                        </p:cTn>
                                        <p:tgtEl>
                                          <p:spTgt spid="103428">
                                            <p:txEl>
                                              <p:pRg st="1" end="1"/>
                                            </p:txEl>
                                          </p:spTgt>
                                        </p:tgtEl>
                                        <p:attrNameLst>
                                          <p:attrName>style.visibility</p:attrName>
                                        </p:attrNameLst>
                                      </p:cBhvr>
                                      <p:to>
                                        <p:strVal val="visible"/>
                                      </p:to>
                                    </p:set>
                                    <p:animEffect transition="in" filter="fade">
                                      <p:cBhvr>
                                        <p:cTn id="13" dur="1000"/>
                                        <p:tgtEl>
                                          <p:spTgt spid="103428">
                                            <p:txEl>
                                              <p:pRg st="1" end="1"/>
                                            </p:txEl>
                                          </p:spTgt>
                                        </p:tgtEl>
                                      </p:cBhvr>
                                    </p:animEffect>
                                    <p:anim calcmode="lin" valueType="num">
                                      <p:cBhvr>
                                        <p:cTn id="14" dur="10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p:cTn id="15" dur="1000" fill="hold"/>
                                        <p:tgtEl>
                                          <p:spTgt spid="103428">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6" fill="hold" nodeType="clickPar">
                      <p:stCondLst>
                        <p:cond delay="indefinite"/>
                      </p:stCondLst>
                      <p:childTnLst>
                        <p:par>
                          <p:cTn id="17" fill="hold" nodeType="withGroup">
                            <p:stCondLst>
                              <p:cond delay="0"/>
                            </p:stCondLst>
                            <p:childTnLst>
                              <p:par>
                                <p:cTn id="18" presetID="2" presetClass="entr" presetSubtype="4" fill="hold" nodeType="clickEffect">
                                  <p:stCondLst>
                                    <p:cond delay="0"/>
                                  </p:stCondLst>
                                  <p:childTnLst>
                                    <p:set>
                                      <p:cBhvr>
                                        <p:cTn id="19" dur="1" fill="hold">
                                          <p:stCondLst>
                                            <p:cond delay="0"/>
                                          </p:stCondLst>
                                        </p:cTn>
                                        <p:tgtEl>
                                          <p:spTgt spid="103428">
                                            <p:txEl>
                                              <p:pRg st="3" end="3"/>
                                            </p:txEl>
                                          </p:spTgt>
                                        </p:tgtEl>
                                        <p:attrNameLst>
                                          <p:attrName>style.visibility</p:attrName>
                                        </p:attrNameLst>
                                      </p:cBhvr>
                                      <p:to>
                                        <p:strVal val="visible"/>
                                      </p:to>
                                    </p:set>
                                    <p:anim calcmode="lin" valueType="num">
                                      <p:cBhvr additive="base">
                                        <p:cTn id="20" dur="500" fill="hold"/>
                                        <p:tgtEl>
                                          <p:spTgt spid="103428">
                                            <p:txEl>
                                              <p:pRg st="3" end="3"/>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0342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2" fill="hold" nodeType="clickPar">
                      <p:stCondLst>
                        <p:cond delay="indefinite"/>
                      </p:stCondLst>
                      <p:childTnLst>
                        <p:par>
                          <p:cTn id="23" fill="hold" nodeType="withGroup">
                            <p:stCondLst>
                              <p:cond delay="0"/>
                            </p:stCondLst>
                            <p:childTnLst>
                              <p:par>
                                <p:cTn id="24" presetID="2" presetClass="entr" presetSubtype="4" fill="hold" nodeType="clickEffect">
                                  <p:stCondLst>
                                    <p:cond delay="0"/>
                                  </p:stCondLst>
                                  <p:childTnLst>
                                    <p:set>
                                      <p:cBhvr>
                                        <p:cTn id="25" dur="1" fill="hold">
                                          <p:stCondLst>
                                            <p:cond delay="0"/>
                                          </p:stCondLst>
                                        </p:cTn>
                                        <p:tgtEl>
                                          <p:spTgt spid="103428">
                                            <p:txEl>
                                              <p:pRg st="5" end="5"/>
                                            </p:txEl>
                                          </p:spTgt>
                                        </p:tgtEl>
                                        <p:attrNameLst>
                                          <p:attrName>style.visibility</p:attrName>
                                        </p:attrNameLst>
                                      </p:cBhvr>
                                      <p:to>
                                        <p:strVal val="visible"/>
                                      </p:to>
                                    </p:set>
                                    <p:anim calcmode="lin" valueType="num">
                                      <p:cBhvr additive="base">
                                        <p:cTn id="26" dur="500" fill="hold"/>
                                        <p:tgtEl>
                                          <p:spTgt spid="103428">
                                            <p:txEl>
                                              <p:pRg st="5" end="5"/>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10342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8" fill="hold" nodeType="clickPar">
                      <p:stCondLst>
                        <p:cond delay="indefinite"/>
                      </p:stCondLst>
                      <p:childTnLst>
                        <p:par>
                          <p:cTn id="29" fill="hold" nodeType="withGroup">
                            <p:stCondLst>
                              <p:cond delay="0"/>
                            </p:stCondLst>
                            <p:childTnLst>
                              <p:par>
                                <p:cTn id="30" presetID="42" presetClass="entr" presetSubtype="0" fill="hold" nodeType="clickEffect">
                                  <p:stCondLst>
                                    <p:cond delay="0"/>
                                  </p:stCondLst>
                                  <p:childTnLst>
                                    <p:set>
                                      <p:cBhvr>
                                        <p:cTn id="31" dur="1" fill="hold">
                                          <p:stCondLst>
                                            <p:cond delay="0"/>
                                          </p:stCondLst>
                                        </p:cTn>
                                        <p:tgtEl>
                                          <p:spTgt spid="103428">
                                            <p:txEl>
                                              <p:pRg st="6" end="6"/>
                                            </p:txEl>
                                          </p:spTgt>
                                        </p:tgtEl>
                                        <p:attrNameLst>
                                          <p:attrName>style.visibility</p:attrName>
                                        </p:attrNameLst>
                                      </p:cBhvr>
                                      <p:to>
                                        <p:strVal val="visible"/>
                                      </p:to>
                                    </p:set>
                                    <p:animEffect transition="in" filter="fade">
                                      <p:cBhvr>
                                        <p:cTn id="32" dur="1000"/>
                                        <p:tgtEl>
                                          <p:spTgt spid="103428">
                                            <p:txEl>
                                              <p:pRg st="6" end="6"/>
                                            </p:txEl>
                                          </p:spTgt>
                                        </p:tgtEl>
                                      </p:cBhvr>
                                    </p:animEffect>
                                    <p:anim calcmode="lin" valueType="num">
                                      <p:cBhvr>
                                        <p:cTn id="33" dur="1000" fill="hold"/>
                                        <p:tgtEl>
                                          <p:spTgt spid="103428">
                                            <p:txEl>
                                              <p:pRg st="6" end="6"/>
                                            </p:txEl>
                                          </p:spTgt>
                                        </p:tgtEl>
                                        <p:attrNameLst>
                                          <p:attrName>ppt_x</p:attrName>
                                        </p:attrNameLst>
                                      </p:cBhvr>
                                      <p:tavLst>
                                        <p:tav tm="0">
                                          <p:val>
                                            <p:strVal val="#ppt_x"/>
                                          </p:val>
                                        </p:tav>
                                        <p:tav tm="100000">
                                          <p:val>
                                            <p:strVal val="#ppt_x"/>
                                          </p:val>
                                        </p:tav>
                                      </p:tavLst>
                                    </p:anim>
                                    <p:anim calcmode="lin" valueType="num">
                                      <p:cBhvr>
                                        <p:cTn id="34" dur="1000" fill="hold"/>
                                        <p:tgtEl>
                                          <p:spTgt spid="103428">
                                            <p:txEl>
                                              <p:pRg st="6" end="6"/>
                                            </p:txEl>
                                          </p:spTgt>
                                        </p:tgtEl>
                                        <p:attrNameLst>
                                          <p:attrName>ppt_y</p:attrName>
                                        </p:attrNameLst>
                                      </p:cBhvr>
                                      <p:tavLst>
                                        <p:tav tm="0">
                                          <p:val>
                                            <p:strVal val="#ppt_y+.1"/>
                                          </p:val>
                                        </p:tav>
                                        <p:tav tm="100000">
                                          <p:val>
                                            <p:strVal val="#ppt_y"/>
                                          </p:val>
                                        </p:tav>
                                      </p:tavLst>
                                    </p:anim>
                                  </p:childTnLst>
                                </p:cTn>
                              </p:par>
                              <p:par>
                                <p:cTn id="35" presetID="42" presetClass="entr" presetSubtype="0" fill="hold" nodeType="withEffect">
                                  <p:stCondLst>
                                    <p:cond delay="0"/>
                                  </p:stCondLst>
                                  <p:childTnLst>
                                    <p:set>
                                      <p:cBhvr>
                                        <p:cTn id="36" dur="1" fill="hold">
                                          <p:stCondLst>
                                            <p:cond delay="0"/>
                                          </p:stCondLst>
                                        </p:cTn>
                                        <p:tgtEl>
                                          <p:spTgt spid="103428">
                                            <p:txEl>
                                              <p:pRg st="7" end="7"/>
                                            </p:txEl>
                                          </p:spTgt>
                                        </p:tgtEl>
                                        <p:attrNameLst>
                                          <p:attrName>style.visibility</p:attrName>
                                        </p:attrNameLst>
                                      </p:cBhvr>
                                      <p:to>
                                        <p:strVal val="visible"/>
                                      </p:to>
                                    </p:set>
                                    <p:animEffect transition="in" filter="fade">
                                      <p:cBhvr>
                                        <p:cTn id="37" dur="1000"/>
                                        <p:tgtEl>
                                          <p:spTgt spid="103428">
                                            <p:txEl>
                                              <p:pRg st="7" end="7"/>
                                            </p:txEl>
                                          </p:spTgt>
                                        </p:tgtEl>
                                      </p:cBhvr>
                                    </p:animEffect>
                                    <p:anim calcmode="lin" valueType="num">
                                      <p:cBhvr>
                                        <p:cTn id="38" dur="1000" fill="hold"/>
                                        <p:tgtEl>
                                          <p:spTgt spid="103428">
                                            <p:txEl>
                                              <p:pRg st="7" end="7"/>
                                            </p:txEl>
                                          </p:spTgt>
                                        </p:tgtEl>
                                        <p:attrNameLst>
                                          <p:attrName>ppt_x</p:attrName>
                                        </p:attrNameLst>
                                      </p:cBhvr>
                                      <p:tavLst>
                                        <p:tav tm="0">
                                          <p:val>
                                            <p:strVal val="#ppt_x"/>
                                          </p:val>
                                        </p:tav>
                                        <p:tav tm="100000">
                                          <p:val>
                                            <p:strVal val="#ppt_x"/>
                                          </p:val>
                                        </p:tav>
                                      </p:tavLst>
                                    </p:anim>
                                    <p:anim calcmode="lin" valueType="num">
                                      <p:cBhvr>
                                        <p:cTn id="39" dur="1000" fill="hold"/>
                                        <p:tgtEl>
                                          <p:spTgt spid="103428">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2" presetClass="entr" presetSubtype="4" fill="hold" nodeType="clickEffect">
                                  <p:stCondLst>
                                    <p:cond delay="0"/>
                                  </p:stCondLst>
                                  <p:childTnLst>
                                    <p:set>
                                      <p:cBhvr>
                                        <p:cTn id="43" dur="1" fill="hold">
                                          <p:stCondLst>
                                            <p:cond delay="0"/>
                                          </p:stCondLst>
                                        </p:cTn>
                                        <p:tgtEl>
                                          <p:spTgt spid="103428">
                                            <p:txEl>
                                              <p:pRg st="9" end="9"/>
                                            </p:txEl>
                                          </p:spTgt>
                                        </p:tgtEl>
                                        <p:attrNameLst>
                                          <p:attrName>style.visibility</p:attrName>
                                        </p:attrNameLst>
                                      </p:cBhvr>
                                      <p:to>
                                        <p:strVal val="visible"/>
                                      </p:to>
                                    </p:set>
                                    <p:anim calcmode="lin" valueType="num">
                                      <p:cBhvr additive="base">
                                        <p:cTn id="44" dur="500" fill="hold"/>
                                        <p:tgtEl>
                                          <p:spTgt spid="103428">
                                            <p:txEl>
                                              <p:pRg st="9" end="9"/>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103428">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xmlns="" id="{2F9DF0FB-B736-4E1A-8786-1E3350F10798}"/>
              </a:ext>
            </a:extLst>
          </p:cNvPr>
          <p:cNvSpPr>
            <a:spLocks noGrp="1"/>
          </p:cNvSpPr>
          <p:nvPr>
            <p:ph type="title"/>
          </p:nvPr>
        </p:nvSpPr>
        <p:spPr/>
        <p:txBody>
          <a:bodyPr/>
          <a:lstStyle/>
          <a:p>
            <a:r>
              <a:rPr lang="en-IN" altLang="en-US" sz="3200" b="1">
                <a:latin typeface="Times New Roman" panose="02020603050405020304" pitchFamily="18" charset="0"/>
                <a:cs typeface="Times New Roman" panose="02020603050405020304" pitchFamily="18" charset="0"/>
              </a:rPr>
              <a:t>Conceptual</a:t>
            </a:r>
            <a:r>
              <a:rPr lang="en-IN" altLang="en-US"/>
              <a:t> </a:t>
            </a:r>
            <a:r>
              <a:rPr lang="en-IN" altLang="en-US" sz="3200" b="1">
                <a:latin typeface="Times New Roman" panose="02020603050405020304" pitchFamily="18" charset="0"/>
                <a:cs typeface="Times New Roman" panose="02020603050405020304" pitchFamily="18" charset="0"/>
              </a:rPr>
              <a:t>Modeling</a:t>
            </a:r>
          </a:p>
        </p:txBody>
      </p:sp>
      <p:sp>
        <p:nvSpPr>
          <p:cNvPr id="23555" name="Content Placeholder 2">
            <a:extLst>
              <a:ext uri="{FF2B5EF4-FFF2-40B4-BE49-F238E27FC236}">
                <a16:creationId xmlns:a16="http://schemas.microsoft.com/office/drawing/2014/main" xmlns="" id="{95A118D5-A6D9-43A6-BFCD-03934E7A6F28}"/>
              </a:ext>
            </a:extLst>
          </p:cNvPr>
          <p:cNvSpPr>
            <a:spLocks noGrp="1"/>
          </p:cNvSpPr>
          <p:nvPr>
            <p:ph idx="1"/>
          </p:nvPr>
        </p:nvSpPr>
        <p:spPr/>
        <p:txBody>
          <a:bodyPr/>
          <a:lstStyle/>
          <a:p>
            <a:r>
              <a:rPr lang="en-IN" altLang="en-US" sz="2200">
                <a:latin typeface="Times New Roman" panose="02020603050405020304" pitchFamily="18" charset="0"/>
                <a:cs typeface="Times New Roman" panose="02020603050405020304" pitchFamily="18" charset="0"/>
              </a:rPr>
              <a:t>Important phase in designing a successful database application.</a:t>
            </a:r>
          </a:p>
          <a:p>
            <a:r>
              <a:rPr lang="en-IN" altLang="en-US" sz="2200">
                <a:latin typeface="Times New Roman" panose="02020603050405020304" pitchFamily="18" charset="0"/>
                <a:cs typeface="Times New Roman" panose="02020603050405020304" pitchFamily="18" charset="0"/>
              </a:rPr>
              <a:t>Database application refers to a particular database and the associated programs that implement the database queries and updates.</a:t>
            </a:r>
          </a:p>
          <a:p>
            <a:r>
              <a:rPr lang="en-IN" altLang="en-US" sz="2200">
                <a:latin typeface="Times New Roman" panose="02020603050405020304" pitchFamily="18" charset="0"/>
                <a:cs typeface="Times New Roman" panose="02020603050405020304" pitchFamily="18" charset="0"/>
              </a:rPr>
              <a:t>Eg. Bank Application</a:t>
            </a:r>
          </a:p>
          <a:p>
            <a:r>
              <a:rPr lang="en-IN" altLang="en-US" sz="2200">
                <a:latin typeface="Times New Roman" panose="02020603050405020304" pitchFamily="18" charset="0"/>
                <a:cs typeface="Times New Roman" panose="02020603050405020304" pitchFamily="18" charset="0"/>
              </a:rPr>
              <a:t>The modeling concepts of the entity–relationship (ER) model, which is a popular high-level conceptual data model.</a:t>
            </a:r>
          </a:p>
          <a:p>
            <a:r>
              <a:rPr lang="en-IN" altLang="en-US" sz="2200">
                <a:latin typeface="Times New Roman" panose="02020603050405020304" pitchFamily="18" charset="0"/>
                <a:cs typeface="Times New Roman" panose="02020603050405020304" pitchFamily="18" charset="0"/>
              </a:rPr>
              <a:t>Need to learn the diagrammatic notation associated with the ER model, known as ER diagrams.</a:t>
            </a:r>
          </a:p>
        </p:txBody>
      </p:sp>
    </p:spTree>
  </p:cSld>
  <p:clrMapOvr>
    <a:masterClrMapping/>
  </p:clrMapOvr>
  <p:transition spd="slow">
    <p:wip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xmlns="" id="{EEFC12E5-0317-4660-A0CF-CF7B3F50BED5}"/>
              </a:ext>
            </a:extLst>
          </p:cNvPr>
          <p:cNvSpPr>
            <a:spLocks noGrp="1"/>
          </p:cNvSpPr>
          <p:nvPr>
            <p:ph type="title"/>
          </p:nvPr>
        </p:nvSpPr>
        <p:spPr/>
        <p:txBody>
          <a:bodyPr/>
          <a:lstStyle/>
          <a:p>
            <a:r>
              <a:rPr lang="en-IN" altLang="en-US"/>
              <a:t>MCQs</a:t>
            </a:r>
          </a:p>
        </p:txBody>
      </p:sp>
      <p:sp>
        <p:nvSpPr>
          <p:cNvPr id="3" name="Content Placeholder 2">
            <a:extLst>
              <a:ext uri="{FF2B5EF4-FFF2-40B4-BE49-F238E27FC236}">
                <a16:creationId xmlns:a16="http://schemas.microsoft.com/office/drawing/2014/main" xmlns="" id="{D4813152-22F4-49B5-BD8F-D2FDA8344D9E}"/>
              </a:ext>
            </a:extLst>
          </p:cNvPr>
          <p:cNvSpPr>
            <a:spLocks noGrp="1"/>
          </p:cNvSpPr>
          <p:nvPr>
            <p:ph idx="1"/>
          </p:nvPr>
        </p:nvSpPr>
        <p:spPr>
          <a:xfrm>
            <a:off x="838200" y="1392702"/>
            <a:ext cx="10515600" cy="4784261"/>
          </a:xfrm>
        </p:spPr>
        <p:txBody>
          <a:bodyPr/>
          <a:lstStyle/>
          <a:p>
            <a:pPr marL="514350" indent="-514350">
              <a:buFont typeface="Arial" panose="020B0604020202020204" pitchFamily="34" charset="0"/>
              <a:buAutoNum type="arabicPeriod"/>
              <a:defRPr/>
            </a:pPr>
            <a:r>
              <a:rPr lang="en-IN" sz="2200" dirty="0">
                <a:latin typeface="Times New Roman" panose="02020603050405020304" pitchFamily="18" charset="0"/>
                <a:cs typeface="Times New Roman" panose="02020603050405020304" pitchFamily="18" charset="0"/>
              </a:rPr>
              <a:t>A data model is</a:t>
            </a:r>
          </a:p>
          <a:p>
            <a:pPr marL="514350" indent="-514350">
              <a:buFont typeface="Arial" panose="020B0604020202020204" pitchFamily="34" charset="0"/>
              <a:buAutoNum type="alphaLcParenR"/>
              <a:defRPr/>
            </a:pPr>
            <a:r>
              <a:rPr lang="en-IN" sz="2200" dirty="0">
                <a:latin typeface="Times New Roman" panose="02020603050405020304" pitchFamily="18" charset="0"/>
                <a:cs typeface="Times New Roman" panose="02020603050405020304" pitchFamily="18" charset="0"/>
              </a:rPr>
              <a:t>Used to describe structure of database b)Set of basic operations on the database</a:t>
            </a:r>
          </a:p>
          <a:p>
            <a:pPr marL="0" indent="0">
              <a:buNone/>
              <a:defRPr/>
            </a:pPr>
            <a:r>
              <a:rPr lang="en-IN" sz="2200" dirty="0">
                <a:latin typeface="Times New Roman" panose="02020603050405020304" pitchFamily="18" charset="0"/>
                <a:cs typeface="Times New Roman" panose="02020603050405020304" pitchFamily="18" charset="0"/>
              </a:rPr>
              <a:t>c) Both a and b                             d)None of these</a:t>
            </a:r>
          </a:p>
          <a:p>
            <a:pPr marL="0" indent="0">
              <a:buFont typeface="Arial" panose="020B0604020202020204" pitchFamily="34" charset="0"/>
              <a:buNone/>
              <a:defRPr/>
            </a:pPr>
            <a:r>
              <a:rPr lang="en-IN" sz="2200" dirty="0">
                <a:latin typeface="Times New Roman" panose="02020603050405020304" pitchFamily="18" charset="0"/>
                <a:cs typeface="Times New Roman" panose="02020603050405020304" pitchFamily="18" charset="0"/>
              </a:rPr>
              <a:t>Answer: Option c </a:t>
            </a:r>
          </a:p>
          <a:p>
            <a:pPr marL="0" indent="0">
              <a:buNone/>
            </a:pPr>
            <a:r>
              <a:rPr lang="en-IN" sz="2200" dirty="0">
                <a:latin typeface="Times New Roman" panose="02020603050405020304" pitchFamily="18" charset="0"/>
                <a:cs typeface="Times New Roman" panose="02020603050405020304" pitchFamily="18" charset="0"/>
              </a:rPr>
              <a:t>2) </a:t>
            </a:r>
            <a:r>
              <a:rPr lang="en-IN" altLang="en-US" sz="2200" dirty="0">
                <a:latin typeface="Times New Roman" panose="02020603050405020304" pitchFamily="18" charset="0"/>
                <a:cs typeface="Times New Roman" panose="02020603050405020304" pitchFamily="18" charset="0"/>
              </a:rPr>
              <a:t>The layer which deals with user interaction is called _____________ layer.</a:t>
            </a:r>
            <a:br>
              <a:rPr lang="en-IN" altLang="en-US" sz="2200" dirty="0">
                <a:latin typeface="Times New Roman" panose="02020603050405020304" pitchFamily="18" charset="0"/>
                <a:cs typeface="Times New Roman" panose="02020603050405020304" pitchFamily="18" charset="0"/>
              </a:rPr>
            </a:br>
            <a:r>
              <a:rPr lang="en-IN" altLang="en-US" sz="2200" dirty="0">
                <a:latin typeface="Times New Roman" panose="02020603050405020304" pitchFamily="18" charset="0"/>
                <a:cs typeface="Times New Roman" panose="02020603050405020304" pitchFamily="18" charset="0"/>
              </a:rPr>
              <a:t>a) Business logic b) Presentation c) User interaction d) Data access</a:t>
            </a:r>
          </a:p>
          <a:p>
            <a:pPr marL="0" indent="0">
              <a:buNone/>
            </a:pPr>
            <a:r>
              <a:rPr lang="en-IN" altLang="en-US" sz="2200" dirty="0">
                <a:latin typeface="Times New Roman" panose="02020603050405020304" pitchFamily="18" charset="0"/>
                <a:cs typeface="Times New Roman" panose="02020603050405020304" pitchFamily="18" charset="0"/>
              </a:rPr>
              <a:t>Answer: option b</a:t>
            </a:r>
          </a:p>
          <a:p>
            <a:pPr marL="0" indent="0">
              <a:buNone/>
            </a:pPr>
            <a:r>
              <a:rPr lang="en-IN" sz="2200" dirty="0">
                <a:latin typeface="Times New Roman" panose="02020603050405020304" pitchFamily="18" charset="0"/>
                <a:cs typeface="Times New Roman" panose="02020603050405020304" pitchFamily="18" charset="0"/>
              </a:rPr>
              <a:t>3) </a:t>
            </a:r>
            <a:r>
              <a:rPr lang="en-IN" altLang="en-US" sz="2200" dirty="0">
                <a:latin typeface="Times New Roman" panose="02020603050405020304" pitchFamily="18" charset="0"/>
                <a:cs typeface="Times New Roman" panose="02020603050405020304" pitchFamily="18" charset="0"/>
              </a:rPr>
              <a:t>The _____________ layer, which provides a high-level view of data and actions on data.</a:t>
            </a:r>
            <a:br>
              <a:rPr lang="en-IN" altLang="en-US" sz="2200" dirty="0">
                <a:latin typeface="Times New Roman" panose="02020603050405020304" pitchFamily="18" charset="0"/>
                <a:cs typeface="Times New Roman" panose="02020603050405020304" pitchFamily="18" charset="0"/>
              </a:rPr>
            </a:br>
            <a:r>
              <a:rPr lang="en-IN" altLang="en-US" sz="2200" dirty="0">
                <a:latin typeface="Times New Roman" panose="02020603050405020304" pitchFamily="18" charset="0"/>
                <a:cs typeface="Times New Roman" panose="02020603050405020304" pitchFamily="18" charset="0"/>
              </a:rPr>
              <a:t>a) Business logic b) Presentation c) User interaction d) Data access</a:t>
            </a:r>
          </a:p>
          <a:p>
            <a:pPr marL="0" indent="0">
              <a:buNone/>
            </a:pPr>
            <a:r>
              <a:rPr lang="en-IN" altLang="en-US" sz="2200" dirty="0">
                <a:latin typeface="Times New Roman" panose="02020603050405020304" pitchFamily="18" charset="0"/>
                <a:cs typeface="Times New Roman" panose="02020603050405020304" pitchFamily="18" charset="0"/>
              </a:rPr>
              <a:t>Answer: option A</a:t>
            </a:r>
          </a:p>
          <a:p>
            <a:pPr marL="0" indent="0">
              <a:buFont typeface="Arial" panose="020B0604020202020204" pitchFamily="34" charset="0"/>
              <a:buNone/>
              <a:defRPr/>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a:extLst>
              <a:ext uri="{FF2B5EF4-FFF2-40B4-BE49-F238E27FC236}">
                <a16:creationId xmlns:a16="http://schemas.microsoft.com/office/drawing/2014/main" xmlns="" id="{67DA48BD-E321-433D-955B-8D8A95F13E36}"/>
              </a:ext>
            </a:extLst>
          </p:cNvPr>
          <p:cNvSpPr>
            <a:spLocks noGrp="1"/>
          </p:cNvSpPr>
          <p:nvPr>
            <p:ph type="title"/>
          </p:nvPr>
        </p:nvSpPr>
        <p:spPr/>
        <p:txBody>
          <a:bodyPr/>
          <a:lstStyle/>
          <a:p>
            <a:endParaRPr lang="en-IN" altLang="en-US"/>
          </a:p>
        </p:txBody>
      </p:sp>
      <p:sp>
        <p:nvSpPr>
          <p:cNvPr id="3" name="Content Placeholder 2">
            <a:extLst>
              <a:ext uri="{FF2B5EF4-FFF2-40B4-BE49-F238E27FC236}">
                <a16:creationId xmlns:a16="http://schemas.microsoft.com/office/drawing/2014/main" xmlns="" id="{BBC35E73-96BE-4A16-8EF9-548984B3F80A}"/>
              </a:ext>
            </a:extLst>
          </p:cNvPr>
          <p:cNvSpPr>
            <a:spLocks noGrp="1"/>
          </p:cNvSpPr>
          <p:nvPr>
            <p:ph idx="1"/>
          </p:nvPr>
        </p:nvSpPr>
        <p:spPr/>
        <p:txBody>
          <a:bodyPr/>
          <a:lstStyle/>
          <a:p>
            <a:pPr marL="0" indent="0">
              <a:buFont typeface="Arial" panose="020B0604020202020204" pitchFamily="34" charset="0"/>
              <a:buNone/>
              <a:defRPr/>
            </a:pPr>
            <a:r>
              <a:rPr lang="en-IN" sz="2200" dirty="0">
                <a:latin typeface="Times New Roman" panose="02020603050405020304" pitchFamily="18" charset="0"/>
                <a:cs typeface="Times New Roman" panose="02020603050405020304" pitchFamily="18" charset="0"/>
              </a:rPr>
              <a:t>4. Collection of information stored in a database at a particular moment is called…………</a:t>
            </a:r>
          </a:p>
          <a:p>
            <a:pPr marL="514350" indent="-514350">
              <a:buFont typeface="Arial" panose="020B0604020202020204" pitchFamily="34" charset="0"/>
              <a:buAutoNum type="alphaLcParenR"/>
              <a:defRPr/>
            </a:pPr>
            <a:r>
              <a:rPr lang="en-IN" sz="2200" dirty="0">
                <a:latin typeface="Times New Roman" panose="02020603050405020304" pitchFamily="18" charset="0"/>
                <a:cs typeface="Times New Roman" panose="02020603050405020304" pitchFamily="18" charset="0"/>
              </a:rPr>
              <a:t>View b)Schema c) Instance d) None of these</a:t>
            </a:r>
          </a:p>
          <a:p>
            <a:pPr marL="0" indent="0">
              <a:buFont typeface="Arial" panose="020B0604020202020204" pitchFamily="34" charset="0"/>
              <a:buNone/>
              <a:defRPr/>
            </a:pPr>
            <a:r>
              <a:rPr lang="en-IN" sz="2200" dirty="0">
                <a:latin typeface="Times New Roman" panose="02020603050405020304" pitchFamily="18" charset="0"/>
                <a:cs typeface="Times New Roman" panose="02020603050405020304" pitchFamily="18" charset="0"/>
              </a:rPr>
              <a:t>Answer: option c)instance</a:t>
            </a:r>
          </a:p>
          <a:p>
            <a:pPr marL="0" indent="0">
              <a:buFont typeface="Arial" panose="020B0604020202020204" pitchFamily="34" charset="0"/>
              <a:buNone/>
              <a:defRPr/>
            </a:pPr>
            <a:endParaRPr lang="en-IN" sz="2200" dirty="0">
              <a:latin typeface="Times New Roman" panose="02020603050405020304" pitchFamily="18" charset="0"/>
              <a:cs typeface="Times New Roman" panose="02020603050405020304" pitchFamily="18" charset="0"/>
            </a:endParaRPr>
          </a:p>
          <a:p>
            <a:pPr marL="0" indent="0">
              <a:buNone/>
              <a:defRPr/>
            </a:pPr>
            <a:r>
              <a:rPr lang="en-IN" sz="2200" dirty="0">
                <a:latin typeface="Times New Roman" panose="02020603050405020304" pitchFamily="18" charset="0"/>
                <a:cs typeface="Times New Roman" panose="02020603050405020304" pitchFamily="18" charset="0"/>
              </a:rPr>
              <a:t>5. The syntax of a user query is verified by………..</a:t>
            </a:r>
          </a:p>
          <a:p>
            <a:pPr marL="514350" indent="-514350">
              <a:buFont typeface="Arial" panose="020B0604020202020204" pitchFamily="34" charset="0"/>
              <a:buAutoNum type="alphaLcParenR"/>
              <a:defRPr/>
            </a:pPr>
            <a:r>
              <a:rPr lang="en-IN" sz="2200" dirty="0">
                <a:latin typeface="Times New Roman" panose="02020603050405020304" pitchFamily="18" charset="0"/>
                <a:cs typeface="Times New Roman" panose="02020603050405020304" pitchFamily="18" charset="0"/>
              </a:rPr>
              <a:t>Query optimizer b)DBA c)Parser d)None of these</a:t>
            </a:r>
          </a:p>
          <a:p>
            <a:pPr marL="0" indent="0">
              <a:buNone/>
              <a:defRPr/>
            </a:pPr>
            <a:r>
              <a:rPr lang="en-IN" sz="2200" dirty="0">
                <a:latin typeface="Times New Roman" panose="02020603050405020304" pitchFamily="18" charset="0"/>
                <a:cs typeface="Times New Roman" panose="02020603050405020304" pitchFamily="18" charset="0"/>
              </a:rPr>
              <a:t>Answer: Option c)Parser/Query Compiler</a:t>
            </a:r>
          </a:p>
          <a:p>
            <a:pPr marL="0" indent="0">
              <a:buFont typeface="Arial" panose="020B0604020202020204" pitchFamily="34" charset="0"/>
              <a:buNone/>
              <a:defRPr/>
            </a:pPr>
            <a:endParaRPr lang="en-IN" sz="2200" dirty="0">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42"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1000"/>
                                        <p:tgtEl>
                                          <p:spTgt spid="3">
                                            <p:txEl>
                                              <p:pRg st="2" end="2"/>
                                            </p:txEl>
                                          </p:spTgt>
                                        </p:tgtEl>
                                      </p:cBhvr>
                                    </p:animEffect>
                                    <p:anim calcmode="lin" valueType="num">
                                      <p:cBhvr>
                                        <p:cTn id="1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42" presetClass="entr" presetSubtype="0" fill="hold" nodeType="click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fade">
                                      <p:cBhvr>
                                        <p:cTn id="24" dur="1000"/>
                                        <p:tgtEl>
                                          <p:spTgt spid="3">
                                            <p:txEl>
                                              <p:pRg st="4" end="4"/>
                                            </p:txEl>
                                          </p:spTgt>
                                        </p:tgtEl>
                                      </p:cBhvr>
                                    </p:animEffect>
                                    <p:anim calcmode="lin" valueType="num">
                                      <p:cBhvr>
                                        <p:cTn id="2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fade">
                                      <p:cBhvr>
                                        <p:cTn id="31" dur="1000"/>
                                        <p:tgtEl>
                                          <p:spTgt spid="3">
                                            <p:txEl>
                                              <p:pRg st="5" end="5"/>
                                            </p:txEl>
                                          </p:spTgt>
                                        </p:tgtEl>
                                      </p:cBhvr>
                                    </p:animEffect>
                                    <p:anim calcmode="lin" valueType="num">
                                      <p:cBhvr>
                                        <p:cTn id="3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3">
                                            <p:txEl>
                                              <p:pRg st="6" end="6"/>
                                            </p:txEl>
                                          </p:spTgt>
                                        </p:tgtEl>
                                        <p:attrNameLst>
                                          <p:attrName>style.visibility</p:attrName>
                                        </p:attrNameLst>
                                      </p:cBhvr>
                                      <p:to>
                                        <p:strVal val="visible"/>
                                      </p:to>
                                    </p:set>
                                    <p:animEffect transition="in" filter="fade">
                                      <p:cBhvr>
                                        <p:cTn id="38" dur="1000"/>
                                        <p:tgtEl>
                                          <p:spTgt spid="3">
                                            <p:txEl>
                                              <p:pRg st="6" end="6"/>
                                            </p:txEl>
                                          </p:spTgt>
                                        </p:tgtEl>
                                      </p:cBhvr>
                                    </p:animEffect>
                                    <p:anim calcmode="lin" valueType="num">
                                      <p:cBhvr>
                                        <p:cTn id="3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15">
            <a:extLst>
              <a:ext uri="{FF2B5EF4-FFF2-40B4-BE49-F238E27FC236}">
                <a16:creationId xmlns:a16="http://schemas.microsoft.com/office/drawing/2014/main" xmlns="" id="{543A277D-6C21-43D1-B199-781C73DF68B8}"/>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82947" name="Picture 1">
            <a:extLst>
              <a:ext uri="{FF2B5EF4-FFF2-40B4-BE49-F238E27FC236}">
                <a16:creationId xmlns:a16="http://schemas.microsoft.com/office/drawing/2014/main" xmlns="" id="{613EA7A4-6902-481F-80C6-24F963DBFBE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2948" name="Title 3">
            <a:extLst>
              <a:ext uri="{FF2B5EF4-FFF2-40B4-BE49-F238E27FC236}">
                <a16:creationId xmlns:a16="http://schemas.microsoft.com/office/drawing/2014/main" xmlns="" id="{945BC54E-80A4-4776-8DF9-781F448A17EA}"/>
              </a:ext>
            </a:extLst>
          </p:cNvPr>
          <p:cNvSpPr txBox="1">
            <a:spLocks/>
          </p:cNvSpPr>
          <p:nvPr/>
        </p:nvSpPr>
        <p:spPr bwMode="auto">
          <a:xfrm>
            <a:off x="463550" y="1149350"/>
            <a:ext cx="11353800" cy="456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eaLnBrk="1" hangingPunct="1">
              <a:lnSpc>
                <a:spcPct val="100000"/>
              </a:lnSpc>
              <a:spcBef>
                <a:spcPct val="0"/>
              </a:spcBef>
            </a:pPr>
            <a:endParaRPr lang="en-US" altLang="en-US" sz="2400" dirty="0">
              <a:latin typeface="Times New Roman" panose="02020603050405020304" pitchFamily="18" charset="0"/>
              <a:cs typeface="Times New Roman" panose="02020603050405020304" pitchFamily="18" charset="0"/>
            </a:endParaRPr>
          </a:p>
          <a:p>
            <a:pPr eaLnBrk="1" hangingPunct="1">
              <a:lnSpc>
                <a:spcPct val="100000"/>
              </a:lnSpc>
              <a:spcBef>
                <a:spcPct val="0"/>
              </a:spcBef>
            </a:pPr>
            <a:r>
              <a:rPr lang="en-US" altLang="en-US" sz="2400" dirty="0">
                <a:latin typeface="Times New Roman" panose="02020603050405020304" pitchFamily="18" charset="0"/>
                <a:cs typeface="Times New Roman" panose="02020603050405020304" pitchFamily="18" charset="0"/>
              </a:rPr>
              <a:t>DBMS Languages</a:t>
            </a:r>
          </a:p>
          <a:p>
            <a:pPr eaLnBrk="1" hangingPunct="1">
              <a:lnSpc>
                <a:spcPct val="100000"/>
              </a:lnSpc>
              <a:spcBef>
                <a:spcPct val="0"/>
              </a:spcBef>
            </a:pPr>
            <a:r>
              <a:rPr lang="en-US" altLang="en-US" sz="2400" dirty="0">
                <a:latin typeface="Times New Roman" panose="02020603050405020304" pitchFamily="18" charset="0"/>
                <a:cs typeface="Times New Roman" panose="02020603050405020304" pitchFamily="18" charset="0"/>
              </a:rPr>
              <a:t>DBMS Interfaces</a:t>
            </a:r>
          </a:p>
          <a:p>
            <a:pPr eaLnBrk="1" hangingPunct="1">
              <a:lnSpc>
                <a:spcPct val="100000"/>
              </a:lnSpc>
              <a:spcBef>
                <a:spcPct val="0"/>
              </a:spcBef>
            </a:pPr>
            <a:r>
              <a:rPr lang="en-US" altLang="en-US" sz="2400" dirty="0">
                <a:latin typeface="Times New Roman" panose="02020603050405020304" pitchFamily="18" charset="0"/>
                <a:cs typeface="Times New Roman" panose="02020603050405020304" pitchFamily="18" charset="0"/>
              </a:rPr>
              <a:t>Database System Environment-DBMS Component Modules</a:t>
            </a:r>
          </a:p>
          <a:p>
            <a:pPr eaLnBrk="1" hangingPunct="1">
              <a:lnSpc>
                <a:spcPct val="100000"/>
              </a:lnSpc>
              <a:spcBef>
                <a:spcPct val="0"/>
              </a:spcBef>
            </a:pPr>
            <a:r>
              <a:rPr lang="en-US" altLang="en-US" sz="2400" dirty="0">
                <a:latin typeface="Times New Roman" panose="02020603050405020304" pitchFamily="18" charset="0"/>
                <a:cs typeface="Times New Roman" panose="02020603050405020304" pitchFamily="18" charset="0"/>
              </a:rPr>
              <a:t>Database System utilities</a:t>
            </a:r>
          </a:p>
          <a:p>
            <a:pPr eaLnBrk="1" hangingPunct="1">
              <a:lnSpc>
                <a:spcPct val="100000"/>
              </a:lnSpc>
              <a:spcBef>
                <a:spcPct val="0"/>
              </a:spcBef>
            </a:pPr>
            <a:r>
              <a:rPr lang="en-US" altLang="en-US" sz="2400" dirty="0">
                <a:latin typeface="Times New Roman" panose="02020603050405020304" pitchFamily="18" charset="0"/>
                <a:cs typeface="Times New Roman" panose="02020603050405020304" pitchFamily="18" charset="0"/>
              </a:rPr>
              <a:t>Centralized and Client/Server Architectures</a:t>
            </a:r>
          </a:p>
          <a:p>
            <a:pPr eaLnBrk="1" hangingPunct="1">
              <a:lnSpc>
                <a:spcPct val="100000"/>
              </a:lnSpc>
              <a:spcBef>
                <a:spcPct val="0"/>
              </a:spcBef>
            </a:pPr>
            <a:endParaRPr lang="en-US" altLang="en-US" sz="2400" dirty="0">
              <a:latin typeface="Calibri Light" panose="020F0302020204030204" pitchFamily="34" charset="0"/>
            </a:endParaRPr>
          </a:p>
        </p:txBody>
      </p:sp>
      <p:sp>
        <p:nvSpPr>
          <p:cNvPr id="82949" name="Rectangle 2">
            <a:extLst>
              <a:ext uri="{FF2B5EF4-FFF2-40B4-BE49-F238E27FC236}">
                <a16:creationId xmlns:a16="http://schemas.microsoft.com/office/drawing/2014/main" xmlns="" id="{0D656C6F-6DAD-4537-B742-D68791C32F6D}"/>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Recalling concepts</a:t>
            </a:r>
          </a:p>
        </p:txBody>
      </p:sp>
    </p:spTree>
  </p:cSld>
  <p:clrMapOvr>
    <a:masterClrMapping/>
  </p:clrMapOvr>
  <p:transition spd="slow">
    <p:wip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5">
            <a:extLst>
              <a:ext uri="{FF2B5EF4-FFF2-40B4-BE49-F238E27FC236}">
                <a16:creationId xmlns:a16="http://schemas.microsoft.com/office/drawing/2014/main" xmlns="" id="{7953D976-F121-4E79-82D7-C3C42C163C3E}"/>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83971" name="Picture 1">
            <a:extLst>
              <a:ext uri="{FF2B5EF4-FFF2-40B4-BE49-F238E27FC236}">
                <a16:creationId xmlns:a16="http://schemas.microsoft.com/office/drawing/2014/main" xmlns="" id="{02876742-364F-4147-A403-2E2BEF542A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2" name="Title 3">
            <a:extLst>
              <a:ext uri="{FF2B5EF4-FFF2-40B4-BE49-F238E27FC236}">
                <a16:creationId xmlns:a16="http://schemas.microsoft.com/office/drawing/2014/main" xmlns="" id="{F2E668F8-C874-4BE8-B7E5-C483C3C71A77}"/>
              </a:ext>
            </a:extLst>
          </p:cNvPr>
          <p:cNvSpPr txBox="1">
            <a:spLocks/>
          </p:cNvSpPr>
          <p:nvPr/>
        </p:nvSpPr>
        <p:spPr bwMode="auto">
          <a:xfrm>
            <a:off x="463550" y="1149350"/>
            <a:ext cx="11353800" cy="456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800100" indent="-3429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257300" indent="-3429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eaLnBrk="1" hangingPunct="1">
              <a:lnSpc>
                <a:spcPct val="101000"/>
              </a:lnSpc>
              <a:spcBef>
                <a:spcPct val="0"/>
              </a:spcBef>
              <a:buFontTx/>
              <a:buNone/>
            </a:pPr>
            <a:endParaRPr lang="en-US" altLang="en-US" sz="2400">
              <a:latin typeface="Times New Roman" panose="02020603050405020304" pitchFamily="18" charset="0"/>
              <a:cs typeface="Times New Roman" panose="02020603050405020304" pitchFamily="18" charset="0"/>
            </a:endParaRPr>
          </a:p>
          <a:p>
            <a:pPr algn="just" eaLnBrk="1" hangingPunct="1">
              <a:lnSpc>
                <a:spcPct val="101000"/>
              </a:lnSpc>
              <a:spcBef>
                <a:spcPct val="0"/>
              </a:spcBef>
              <a:buFontTx/>
              <a:buNone/>
            </a:pPr>
            <a:r>
              <a:rPr lang="en-US" altLang="en-US" sz="2400">
                <a:latin typeface="Times New Roman" panose="02020603050405020304" pitchFamily="18" charset="0"/>
                <a:cs typeface="Times New Roman" panose="02020603050405020304" pitchFamily="18" charset="0"/>
              </a:rPr>
              <a:t>Example - COMPANY Database:</a:t>
            </a:r>
          </a:p>
          <a:p>
            <a:pPr algn="just">
              <a:spcBef>
                <a:spcPct val="0"/>
              </a:spcBef>
              <a:buFontTx/>
              <a:buNone/>
            </a:pPr>
            <a:r>
              <a:rPr lang="en-US" altLang="en-US" sz="2400">
                <a:latin typeface="Times New Roman" panose="02020603050405020304" pitchFamily="18" charset="0"/>
                <a:cs typeface="Times New Roman" panose="02020603050405020304" pitchFamily="18" charset="0"/>
              </a:rPr>
              <a:t>We need to create a database schema design based on the following (simplified) </a:t>
            </a:r>
            <a:r>
              <a:rPr lang="en-US" altLang="en-US" sz="2400" b="1">
                <a:latin typeface="Times New Roman" panose="02020603050405020304" pitchFamily="18" charset="0"/>
                <a:cs typeface="Times New Roman" panose="02020603050405020304" pitchFamily="18" charset="0"/>
              </a:rPr>
              <a:t>requirements</a:t>
            </a:r>
            <a:r>
              <a:rPr lang="en-US" altLang="en-US" sz="2400">
                <a:latin typeface="Times New Roman" panose="02020603050405020304" pitchFamily="18" charset="0"/>
                <a:cs typeface="Times New Roman" panose="02020603050405020304" pitchFamily="18" charset="0"/>
              </a:rPr>
              <a:t> of the COMPANY Database:</a:t>
            </a:r>
          </a:p>
          <a:p>
            <a:pPr algn="just">
              <a:spcBef>
                <a:spcPct val="0"/>
              </a:spcBef>
              <a:buFontTx/>
              <a:buNone/>
            </a:pPr>
            <a:endParaRPr lang="en-US" altLang="en-US" sz="2400">
              <a:latin typeface="Times New Roman" panose="02020603050405020304" pitchFamily="18" charset="0"/>
              <a:cs typeface="Times New Roman" panose="02020603050405020304" pitchFamily="18" charset="0"/>
            </a:endParaRPr>
          </a:p>
          <a:p>
            <a:pPr lvl="1" algn="just">
              <a:spcBef>
                <a:spcPct val="0"/>
              </a:spcBef>
            </a:pPr>
            <a:r>
              <a:rPr lang="en-US" altLang="en-US">
                <a:latin typeface="Times New Roman" panose="02020603050405020304" pitchFamily="18" charset="0"/>
                <a:cs typeface="Times New Roman" panose="02020603050405020304" pitchFamily="18" charset="0"/>
              </a:rPr>
              <a:t>The company is organized into DEPARTMENTs. Each department has a name, number and an employee who </a:t>
            </a:r>
            <a:r>
              <a:rPr lang="en-US" altLang="en-US" i="1">
                <a:latin typeface="Times New Roman" panose="02020603050405020304" pitchFamily="18" charset="0"/>
                <a:cs typeface="Times New Roman" panose="02020603050405020304" pitchFamily="18" charset="0"/>
              </a:rPr>
              <a:t>manages</a:t>
            </a:r>
            <a:r>
              <a:rPr lang="en-US" altLang="en-US">
                <a:latin typeface="Times New Roman" panose="02020603050405020304" pitchFamily="18" charset="0"/>
                <a:cs typeface="Times New Roman" panose="02020603050405020304" pitchFamily="18" charset="0"/>
              </a:rPr>
              <a:t> the department. We keep track of the start date of the department manager. A department may have several locations.</a:t>
            </a:r>
          </a:p>
          <a:p>
            <a:pPr lvl="1" algn="just">
              <a:spcBef>
                <a:spcPct val="0"/>
              </a:spcBef>
            </a:pPr>
            <a:r>
              <a:rPr lang="en-US" altLang="en-US">
                <a:latin typeface="Times New Roman" panose="02020603050405020304" pitchFamily="18" charset="0"/>
                <a:cs typeface="Times New Roman" panose="02020603050405020304" pitchFamily="18" charset="0"/>
              </a:rPr>
              <a:t>Each department </a:t>
            </a:r>
            <a:r>
              <a:rPr lang="en-US" altLang="en-US" i="1">
                <a:latin typeface="Times New Roman" panose="02020603050405020304" pitchFamily="18" charset="0"/>
                <a:cs typeface="Times New Roman" panose="02020603050405020304" pitchFamily="18" charset="0"/>
              </a:rPr>
              <a:t>controls</a:t>
            </a:r>
            <a:r>
              <a:rPr lang="en-US" altLang="en-US">
                <a:latin typeface="Times New Roman" panose="02020603050405020304" pitchFamily="18" charset="0"/>
                <a:cs typeface="Times New Roman" panose="02020603050405020304" pitchFamily="18" charset="0"/>
              </a:rPr>
              <a:t> a number of PROJECTs. Each project has a unique name, unique number and is located at a single location.</a:t>
            </a:r>
          </a:p>
          <a:p>
            <a:pPr lvl="1" algn="just">
              <a:spcBef>
                <a:spcPct val="0"/>
              </a:spcBef>
            </a:pPr>
            <a:r>
              <a:rPr lang="en-US" altLang="en-US">
                <a:latin typeface="Times New Roman" panose="02020603050405020304" pitchFamily="18" charset="0"/>
                <a:cs typeface="Times New Roman" panose="02020603050405020304" pitchFamily="18" charset="0"/>
              </a:rPr>
              <a:t>We store each EMPLOYEE’s social security number, address, salary, sex, and birthdate. </a:t>
            </a:r>
          </a:p>
          <a:p>
            <a:pPr lvl="2" algn="just">
              <a:spcBef>
                <a:spcPct val="0"/>
              </a:spcBef>
            </a:pPr>
            <a:r>
              <a:rPr lang="en-US" altLang="en-US" sz="2400">
                <a:latin typeface="Times New Roman" panose="02020603050405020304" pitchFamily="18" charset="0"/>
                <a:cs typeface="Times New Roman" panose="02020603050405020304" pitchFamily="18" charset="0"/>
              </a:rPr>
              <a:t>Each employee </a:t>
            </a:r>
            <a:r>
              <a:rPr lang="en-US" altLang="en-US" sz="2400" i="1">
                <a:latin typeface="Times New Roman" panose="02020603050405020304" pitchFamily="18" charset="0"/>
                <a:cs typeface="Times New Roman" panose="02020603050405020304" pitchFamily="18" charset="0"/>
              </a:rPr>
              <a:t>works for</a:t>
            </a:r>
            <a:r>
              <a:rPr lang="en-US" altLang="en-US" sz="2400">
                <a:latin typeface="Times New Roman" panose="02020603050405020304" pitchFamily="18" charset="0"/>
                <a:cs typeface="Times New Roman" panose="02020603050405020304" pitchFamily="18" charset="0"/>
              </a:rPr>
              <a:t> one department but may </a:t>
            </a:r>
            <a:r>
              <a:rPr lang="en-US" altLang="en-US" sz="2400" i="1">
                <a:latin typeface="Times New Roman" panose="02020603050405020304" pitchFamily="18" charset="0"/>
                <a:cs typeface="Times New Roman" panose="02020603050405020304" pitchFamily="18" charset="0"/>
              </a:rPr>
              <a:t>work on</a:t>
            </a:r>
            <a:r>
              <a:rPr lang="en-US" altLang="en-US" sz="2400">
                <a:latin typeface="Times New Roman" panose="02020603050405020304" pitchFamily="18" charset="0"/>
                <a:cs typeface="Times New Roman" panose="02020603050405020304" pitchFamily="18" charset="0"/>
              </a:rPr>
              <a:t> several projects.</a:t>
            </a:r>
          </a:p>
          <a:p>
            <a:pPr algn="just" eaLnBrk="1" hangingPunct="1">
              <a:lnSpc>
                <a:spcPct val="101000"/>
              </a:lnSpc>
              <a:spcBef>
                <a:spcPct val="0"/>
              </a:spcBef>
              <a:buFontTx/>
              <a:buNone/>
            </a:pPr>
            <a:endParaRPr lang="en-IN" altLang="en-US" sz="2400" b="1">
              <a:latin typeface="Times New Roman" panose="02020603050405020304" pitchFamily="18" charset="0"/>
              <a:cs typeface="Times New Roman" panose="02020603050405020304" pitchFamily="18" charset="0"/>
            </a:endParaRPr>
          </a:p>
        </p:txBody>
      </p:sp>
      <p:sp>
        <p:nvSpPr>
          <p:cNvPr id="83973" name="Rectangle 2">
            <a:extLst>
              <a:ext uri="{FF2B5EF4-FFF2-40B4-BE49-F238E27FC236}">
                <a16:creationId xmlns:a16="http://schemas.microsoft.com/office/drawing/2014/main" xmlns="" id="{2E558629-9759-4F27-AD0D-15879C62BD8F}"/>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Chapter-3</a:t>
            </a:r>
          </a:p>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Conceptual Data Modelling using Entities and Relationships</a:t>
            </a:r>
          </a:p>
          <a:p>
            <a:pPr algn="ctr" eaLnBrk="1" hangingPunct="1">
              <a:lnSpc>
                <a:spcPct val="100000"/>
              </a:lnSpc>
              <a:spcBef>
                <a:spcPct val="0"/>
              </a:spcBef>
              <a:buFontTx/>
              <a:buNone/>
            </a:pPr>
            <a:endParaRPr lang="en-US" altLang="en-US" b="1">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5">
            <a:extLst>
              <a:ext uri="{FF2B5EF4-FFF2-40B4-BE49-F238E27FC236}">
                <a16:creationId xmlns:a16="http://schemas.microsoft.com/office/drawing/2014/main" xmlns="" id="{863CFD24-434A-4F72-AC67-EACF6C8D6C4E}"/>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84995" name="Picture 1">
            <a:extLst>
              <a:ext uri="{FF2B5EF4-FFF2-40B4-BE49-F238E27FC236}">
                <a16:creationId xmlns:a16="http://schemas.microsoft.com/office/drawing/2014/main" xmlns="" id="{F3F9B279-B68E-4732-8EAC-638D16C206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6" name="Title 3">
            <a:extLst>
              <a:ext uri="{FF2B5EF4-FFF2-40B4-BE49-F238E27FC236}">
                <a16:creationId xmlns:a16="http://schemas.microsoft.com/office/drawing/2014/main" xmlns="" id="{0E0BBADC-3D48-41FC-BB84-3E2A88AB60B8}"/>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800100" indent="-3429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257300" indent="-3429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lvl="2" algn="just">
              <a:spcBef>
                <a:spcPct val="0"/>
              </a:spcBef>
            </a:pPr>
            <a:endParaRPr lang="en-US" altLang="en-US" sz="2400">
              <a:latin typeface="Times New Roman" panose="02020603050405020304" pitchFamily="18" charset="0"/>
              <a:cs typeface="Times New Roman" panose="02020603050405020304" pitchFamily="18" charset="0"/>
            </a:endParaRPr>
          </a:p>
          <a:p>
            <a:pPr lvl="2" algn="just">
              <a:spcBef>
                <a:spcPct val="0"/>
              </a:spcBef>
            </a:pPr>
            <a:r>
              <a:rPr lang="en-US" altLang="en-US" sz="2400">
                <a:latin typeface="Times New Roman" panose="02020603050405020304" pitchFamily="18" charset="0"/>
                <a:cs typeface="Times New Roman" panose="02020603050405020304" pitchFamily="18" charset="0"/>
              </a:rPr>
              <a:t>We keep track of the number of hours per week that an employee currently works on each project.</a:t>
            </a:r>
          </a:p>
          <a:p>
            <a:pPr lvl="2" algn="just">
              <a:spcBef>
                <a:spcPct val="0"/>
              </a:spcBef>
            </a:pPr>
            <a:r>
              <a:rPr lang="en-US" altLang="en-US" sz="2400">
                <a:latin typeface="Times New Roman" panose="02020603050405020304" pitchFamily="18" charset="0"/>
                <a:cs typeface="Times New Roman" panose="02020603050405020304" pitchFamily="18" charset="0"/>
              </a:rPr>
              <a:t>We also keep track of the </a:t>
            </a:r>
            <a:r>
              <a:rPr lang="en-US" altLang="en-US" sz="2400" i="1">
                <a:latin typeface="Times New Roman" panose="02020603050405020304" pitchFamily="18" charset="0"/>
                <a:cs typeface="Times New Roman" panose="02020603050405020304" pitchFamily="18" charset="0"/>
              </a:rPr>
              <a:t>direct supervisor</a:t>
            </a:r>
            <a:r>
              <a:rPr lang="en-US" altLang="en-US" sz="2400">
                <a:latin typeface="Times New Roman" panose="02020603050405020304" pitchFamily="18" charset="0"/>
                <a:cs typeface="Times New Roman" panose="02020603050405020304" pitchFamily="18" charset="0"/>
              </a:rPr>
              <a:t> of each employee</a:t>
            </a:r>
          </a:p>
          <a:p>
            <a:pPr lvl="1" algn="just">
              <a:spcBef>
                <a:spcPct val="0"/>
              </a:spcBef>
            </a:pPr>
            <a:endParaRPr lang="en-US" altLang="en-US">
              <a:latin typeface="Times New Roman" panose="02020603050405020304" pitchFamily="18" charset="0"/>
              <a:cs typeface="Times New Roman" panose="02020603050405020304" pitchFamily="18" charset="0"/>
            </a:endParaRPr>
          </a:p>
          <a:p>
            <a:pPr lvl="1" algn="just">
              <a:spcBef>
                <a:spcPct val="0"/>
              </a:spcBef>
            </a:pPr>
            <a:r>
              <a:rPr lang="en-US" altLang="en-US">
                <a:latin typeface="Times New Roman" panose="02020603050405020304" pitchFamily="18" charset="0"/>
                <a:cs typeface="Times New Roman" panose="02020603050405020304" pitchFamily="18" charset="0"/>
              </a:rPr>
              <a:t>Each employee may </a:t>
            </a:r>
            <a:r>
              <a:rPr lang="en-US" altLang="en-US" i="1">
                <a:latin typeface="Times New Roman" panose="02020603050405020304" pitchFamily="18" charset="0"/>
                <a:cs typeface="Times New Roman" panose="02020603050405020304" pitchFamily="18" charset="0"/>
              </a:rPr>
              <a:t>have</a:t>
            </a:r>
            <a:r>
              <a:rPr lang="en-US" altLang="en-US">
                <a:latin typeface="Times New Roman" panose="02020603050405020304" pitchFamily="18" charset="0"/>
                <a:cs typeface="Times New Roman" panose="02020603050405020304" pitchFamily="18" charset="0"/>
              </a:rPr>
              <a:t> a number of DEPENDENTs.</a:t>
            </a:r>
          </a:p>
          <a:p>
            <a:pPr lvl="2" algn="just">
              <a:spcBef>
                <a:spcPct val="0"/>
              </a:spcBef>
            </a:pPr>
            <a:r>
              <a:rPr lang="en-US" altLang="en-US" sz="2400">
                <a:latin typeface="Times New Roman" panose="02020603050405020304" pitchFamily="18" charset="0"/>
                <a:cs typeface="Times New Roman" panose="02020603050405020304" pitchFamily="18" charset="0"/>
              </a:rPr>
              <a:t>For each dependent, we keep track of their name, sex, birthdate, and relationship to the employee.</a:t>
            </a:r>
          </a:p>
        </p:txBody>
      </p:sp>
      <p:sp>
        <p:nvSpPr>
          <p:cNvPr id="84997" name="Rectangle 2">
            <a:extLst>
              <a:ext uri="{FF2B5EF4-FFF2-40B4-BE49-F238E27FC236}">
                <a16:creationId xmlns:a16="http://schemas.microsoft.com/office/drawing/2014/main" xmlns="" id="{33CA86D0-C44A-4278-B886-C357A6008CD8}"/>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Example COMPANY Database (Contd.)</a:t>
            </a:r>
          </a:p>
        </p:txBody>
      </p:sp>
    </p:spTree>
  </p:cSld>
  <p:clrMapOvr>
    <a:masterClrMapping/>
  </p:clrMapOvr>
  <p:transition spd="slow">
    <p:wipe/>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15">
            <a:extLst>
              <a:ext uri="{FF2B5EF4-FFF2-40B4-BE49-F238E27FC236}">
                <a16:creationId xmlns:a16="http://schemas.microsoft.com/office/drawing/2014/main" xmlns="" id="{4B4AAF0C-2711-4A0A-A844-798E92EDCCF1}"/>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86019" name="Picture 1">
            <a:extLst>
              <a:ext uri="{FF2B5EF4-FFF2-40B4-BE49-F238E27FC236}">
                <a16:creationId xmlns:a16="http://schemas.microsoft.com/office/drawing/2014/main" xmlns="" id="{6A1268CB-4C53-4C54-9A23-787FAB121E8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6020" name="Title 3">
            <a:extLst>
              <a:ext uri="{FF2B5EF4-FFF2-40B4-BE49-F238E27FC236}">
                <a16:creationId xmlns:a16="http://schemas.microsoft.com/office/drawing/2014/main" xmlns="" id="{F5EF3465-3FBD-4EB4-917E-C4990B72E035}"/>
              </a:ext>
            </a:extLst>
          </p:cNvPr>
          <p:cNvSpPr txBox="1">
            <a:spLocks/>
          </p:cNvSpPr>
          <p:nvPr/>
        </p:nvSpPr>
        <p:spPr bwMode="auto">
          <a:xfrm>
            <a:off x="463550" y="881063"/>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86021" name="Rectangle 2">
            <a:extLst>
              <a:ext uri="{FF2B5EF4-FFF2-40B4-BE49-F238E27FC236}">
                <a16:creationId xmlns:a16="http://schemas.microsoft.com/office/drawing/2014/main" xmlns="" id="{51129A18-F140-4FFE-95FE-C4188BD13757}"/>
              </a:ext>
            </a:extLst>
          </p:cNvPr>
          <p:cNvSpPr txBox="1">
            <a:spLocks noChangeArrowheads="1"/>
          </p:cNvSpPr>
          <p:nvPr/>
        </p:nvSpPr>
        <p:spPr bwMode="auto">
          <a:xfrm>
            <a:off x="1192213" y="314325"/>
            <a:ext cx="10225087"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IN" altLang="en-US" b="1">
                <a:latin typeface="Times New Roman" panose="02020603050405020304" pitchFamily="18" charset="0"/>
                <a:cs typeface="Times New Roman" panose="02020603050405020304" pitchFamily="18" charset="0"/>
              </a:rPr>
              <a:t>Entity types, Entity sets, attributes and keys</a:t>
            </a:r>
            <a:endParaRPr lang="en-US" altLang="en-US" b="1">
              <a:latin typeface="Times New Roman" panose="02020603050405020304" pitchFamily="18" charset="0"/>
              <a:cs typeface="Times New Roman" panose="02020603050405020304" pitchFamily="18" charset="0"/>
            </a:endParaRPr>
          </a:p>
        </p:txBody>
      </p:sp>
      <p:sp>
        <p:nvSpPr>
          <p:cNvPr id="77830" name="Rectangle 5">
            <a:extLst>
              <a:ext uri="{FF2B5EF4-FFF2-40B4-BE49-F238E27FC236}">
                <a16:creationId xmlns:a16="http://schemas.microsoft.com/office/drawing/2014/main" xmlns="" id="{3FFC8BA8-B3A0-4076-B5A6-7655BA2A93A8}"/>
              </a:ext>
            </a:extLst>
          </p:cNvPr>
          <p:cNvSpPr txBox="1">
            <a:spLocks noChangeArrowheads="1"/>
          </p:cNvSpPr>
          <p:nvPr/>
        </p:nvSpPr>
        <p:spPr bwMode="auto">
          <a:xfrm>
            <a:off x="990600" y="1133475"/>
            <a:ext cx="10826750" cy="4572000"/>
          </a:xfrm>
          <a:prstGeom prst="rect">
            <a:avLst/>
          </a:prstGeom>
          <a:noFill/>
          <a:ln>
            <a:noFill/>
          </a:ln>
        </p:spPr>
        <p:txBody>
          <a:bodyPr/>
          <a:lstStyle>
            <a:lvl1pPr marL="228600" indent="-228600">
              <a:defRPr>
                <a:solidFill>
                  <a:schemeClr val="tx1"/>
                </a:solidFill>
                <a:latin typeface="Arial" pitchFamily="34" charset="0"/>
                <a:cs typeface="Arial" pitchFamily="34" charset="0"/>
              </a:defRPr>
            </a:lvl1pPr>
            <a:lvl2pPr marL="685800" indent="-228600">
              <a:defRPr>
                <a:solidFill>
                  <a:schemeClr val="tx1"/>
                </a:solidFill>
                <a:latin typeface="Arial" pitchFamily="34" charset="0"/>
                <a:cs typeface="Arial" pitchFamily="34" charset="0"/>
              </a:defRPr>
            </a:lvl2pPr>
            <a:lvl3pPr marL="1143000" indent="-228600">
              <a:defRPr>
                <a:solidFill>
                  <a:schemeClr val="tx1"/>
                </a:solidFill>
                <a:latin typeface="Arial" pitchFamily="34" charset="0"/>
                <a:cs typeface="Arial" pitchFamily="34" charset="0"/>
              </a:defRPr>
            </a:lvl3pPr>
            <a:lvl4pPr marL="1600200" indent="-228600">
              <a:defRPr>
                <a:solidFill>
                  <a:schemeClr val="tx1"/>
                </a:solidFill>
                <a:latin typeface="Arial" pitchFamily="34" charset="0"/>
                <a:cs typeface="Arial" pitchFamily="34" charset="0"/>
              </a:defRPr>
            </a:lvl4pPr>
            <a:lvl5pPr marL="2057400" indent="-228600">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defRPr>
                <a:solidFill>
                  <a:schemeClr val="tx1"/>
                </a:solidFill>
                <a:latin typeface="Arial" pitchFamily="34" charset="0"/>
                <a:cs typeface="Arial" pitchFamily="34" charset="0"/>
              </a:defRPr>
            </a:lvl9pPr>
          </a:lstStyle>
          <a:p>
            <a:pPr algn="just">
              <a:lnSpc>
                <a:spcPct val="80000"/>
              </a:lnSpc>
              <a:spcBef>
                <a:spcPts val="1000"/>
              </a:spcBef>
              <a:buFont typeface="Arial" pitchFamily="34" charset="0"/>
              <a:buChar char="•"/>
              <a:defRPr/>
            </a:pPr>
            <a:r>
              <a:rPr lang="en-US" sz="2400" b="1" dirty="0">
                <a:latin typeface="Times New Roman" pitchFamily="18" charset="0"/>
                <a:cs typeface="Times New Roman" pitchFamily="18" charset="0"/>
              </a:rPr>
              <a:t>Entities and Attributes</a:t>
            </a:r>
          </a:p>
          <a:p>
            <a:pPr lvl="1" algn="just">
              <a:lnSpc>
                <a:spcPct val="80000"/>
              </a:lnSpc>
              <a:spcBef>
                <a:spcPts val="500"/>
              </a:spcBef>
              <a:buFont typeface="Arial" pitchFamily="34" charset="0"/>
              <a:buChar char="•"/>
              <a:defRPr/>
            </a:pPr>
            <a:r>
              <a:rPr lang="en-US" sz="2400" dirty="0">
                <a:solidFill>
                  <a:srgbClr val="FF0000"/>
                </a:solidFill>
                <a:latin typeface="Times New Roman" pitchFamily="18" charset="0"/>
                <a:cs typeface="Times New Roman" pitchFamily="18" charset="0"/>
              </a:rPr>
              <a:t>Entities</a:t>
            </a:r>
            <a:r>
              <a:rPr lang="en-US" sz="2400" dirty="0">
                <a:latin typeface="Times New Roman" pitchFamily="18" charset="0"/>
                <a:cs typeface="Times New Roman" pitchFamily="18" charset="0"/>
              </a:rPr>
              <a:t> are specific objects or things in the mini-world that are represented in the database.</a:t>
            </a:r>
          </a:p>
          <a:p>
            <a:pPr lvl="2" algn="just">
              <a:lnSpc>
                <a:spcPct val="80000"/>
              </a:lnSpc>
              <a:spcBef>
                <a:spcPts val="500"/>
              </a:spcBef>
              <a:buFont typeface="Arial" pitchFamily="34" charset="0"/>
              <a:buChar char="•"/>
              <a:defRPr/>
            </a:pPr>
            <a:r>
              <a:rPr lang="en-US" sz="2400" dirty="0">
                <a:latin typeface="Times New Roman" pitchFamily="18" charset="0"/>
                <a:cs typeface="Times New Roman" pitchFamily="18" charset="0"/>
              </a:rPr>
              <a:t>For example the EMPLOYEE John Smith, the Research DEPARTMENT, the </a:t>
            </a:r>
            <a:r>
              <a:rPr lang="en-US" sz="2400" dirty="0" err="1">
                <a:latin typeface="Times New Roman" pitchFamily="18" charset="0"/>
                <a:cs typeface="Times New Roman" pitchFamily="18" charset="0"/>
              </a:rPr>
              <a:t>ProductX</a:t>
            </a:r>
            <a:r>
              <a:rPr lang="en-US" sz="2400" dirty="0">
                <a:latin typeface="Times New Roman" pitchFamily="18" charset="0"/>
                <a:cs typeface="Times New Roman" pitchFamily="18" charset="0"/>
              </a:rPr>
              <a:t> PROJECT</a:t>
            </a:r>
          </a:p>
          <a:p>
            <a:pPr marL="914400" lvl="2" indent="0" algn="just">
              <a:lnSpc>
                <a:spcPct val="80000"/>
              </a:lnSpc>
              <a:spcBef>
                <a:spcPts val="500"/>
              </a:spcBef>
              <a:defRPr/>
            </a:pPr>
            <a:r>
              <a:rPr lang="en-US" sz="2400" b="1" i="1" dirty="0">
                <a:latin typeface="Times New Roman" pitchFamily="18" charset="0"/>
                <a:cs typeface="Times New Roman" pitchFamily="18" charset="0"/>
              </a:rPr>
              <a:t>Collection of entities </a:t>
            </a:r>
            <a:r>
              <a:rPr lang="en-US" sz="2400" dirty="0">
                <a:latin typeface="Times New Roman" pitchFamily="18" charset="0"/>
                <a:cs typeface="Times New Roman" pitchFamily="18" charset="0"/>
              </a:rPr>
              <a:t>of a particular entity type in a database at any point of time is called </a:t>
            </a:r>
            <a:r>
              <a:rPr lang="en-US" sz="2400" dirty="0">
                <a:solidFill>
                  <a:srgbClr val="FF0000"/>
                </a:solidFill>
                <a:latin typeface="Times New Roman" pitchFamily="18" charset="0"/>
                <a:cs typeface="Times New Roman" pitchFamily="18" charset="0"/>
              </a:rPr>
              <a:t>entity set</a:t>
            </a:r>
          </a:p>
          <a:p>
            <a:pPr marL="914400" lvl="2" indent="0" algn="just">
              <a:lnSpc>
                <a:spcPct val="80000"/>
              </a:lnSpc>
              <a:spcBef>
                <a:spcPts val="500"/>
              </a:spcBef>
              <a:defRPr/>
            </a:pPr>
            <a:endParaRPr lang="en-US" sz="2400" dirty="0">
              <a:solidFill>
                <a:srgbClr val="FF0000"/>
              </a:solidFill>
              <a:latin typeface="Times New Roman" pitchFamily="18" charset="0"/>
              <a:cs typeface="Times New Roman" pitchFamily="18" charset="0"/>
            </a:endParaRPr>
          </a:p>
          <a:p>
            <a:pPr marL="914400" lvl="2" indent="0" algn="just">
              <a:lnSpc>
                <a:spcPct val="80000"/>
              </a:lnSpc>
              <a:spcBef>
                <a:spcPts val="500"/>
              </a:spcBef>
              <a:defRPr/>
            </a:pPr>
            <a:r>
              <a:rPr lang="en-US" sz="2400" dirty="0">
                <a:solidFill>
                  <a:srgbClr val="FF0000"/>
                </a:solidFill>
                <a:latin typeface="Times New Roman" pitchFamily="18" charset="0"/>
                <a:cs typeface="Times New Roman" pitchFamily="18" charset="0"/>
              </a:rPr>
              <a:t>Entity type:</a:t>
            </a:r>
          </a:p>
          <a:p>
            <a:pPr marL="914400" lvl="2" indent="0" algn="just">
              <a:lnSpc>
                <a:spcPct val="80000"/>
              </a:lnSpc>
              <a:spcBef>
                <a:spcPts val="500"/>
              </a:spcBef>
              <a:defRPr/>
            </a:pPr>
            <a:endParaRPr lang="en-US" sz="2400" dirty="0">
              <a:solidFill>
                <a:srgbClr val="FF0000"/>
              </a:solidFill>
              <a:latin typeface="Times New Roman" pitchFamily="18" charset="0"/>
              <a:cs typeface="Times New Roman" pitchFamily="18" charset="0"/>
            </a:endParaRPr>
          </a:p>
          <a:p>
            <a:pPr marL="914400" lvl="2" indent="0" algn="just">
              <a:lnSpc>
                <a:spcPct val="80000"/>
              </a:lnSpc>
              <a:spcBef>
                <a:spcPts val="500"/>
              </a:spcBef>
              <a:defRPr/>
            </a:pPr>
            <a:endParaRPr lang="en-US" sz="2400" dirty="0">
              <a:solidFill>
                <a:srgbClr val="FF0000"/>
              </a:solidFill>
              <a:latin typeface="Times New Roman" pitchFamily="18" charset="0"/>
              <a:cs typeface="Times New Roman" pitchFamily="18" charset="0"/>
            </a:endParaRPr>
          </a:p>
          <a:p>
            <a:pPr marL="914400" lvl="2" indent="0" algn="just">
              <a:lnSpc>
                <a:spcPct val="80000"/>
              </a:lnSpc>
              <a:spcBef>
                <a:spcPts val="500"/>
              </a:spcBef>
              <a:defRPr/>
            </a:pPr>
            <a:r>
              <a:rPr lang="en-US" sz="2400" dirty="0">
                <a:latin typeface="Times New Roman" pitchFamily="18" charset="0"/>
                <a:cs typeface="Times New Roman" pitchFamily="18" charset="0"/>
              </a:rPr>
              <a:t>Entity type is represented as rectangle enclosing the type name which is </a:t>
            </a:r>
            <a:r>
              <a:rPr lang="en-US" sz="2400" b="1" i="1" dirty="0">
                <a:latin typeface="Times New Roman" pitchFamily="18" charset="0"/>
                <a:cs typeface="Times New Roman" pitchFamily="18" charset="0"/>
              </a:rPr>
              <a:t>singular noun.</a:t>
            </a:r>
            <a:endParaRPr lang="en-US" sz="2400" dirty="0">
              <a:solidFill>
                <a:srgbClr val="FF0000"/>
              </a:solidFill>
              <a:latin typeface="Times New Roman" pitchFamily="18" charset="0"/>
              <a:cs typeface="Times New Roman" pitchFamily="18" charset="0"/>
            </a:endParaRPr>
          </a:p>
          <a:p>
            <a:pPr marL="457200" lvl="1" indent="0" algn="just">
              <a:lnSpc>
                <a:spcPct val="80000"/>
              </a:lnSpc>
              <a:spcBef>
                <a:spcPts val="500"/>
              </a:spcBef>
              <a:defRPr/>
            </a:pPr>
            <a:endParaRPr lang="en-US" sz="2400" dirty="0">
              <a:latin typeface="Times New Roman" pitchFamily="18" charset="0"/>
              <a:cs typeface="Times New Roman" pitchFamily="18" charset="0"/>
            </a:endParaRPr>
          </a:p>
        </p:txBody>
      </p:sp>
      <p:sp>
        <p:nvSpPr>
          <p:cNvPr id="4" name="Rectangle 3">
            <a:extLst>
              <a:ext uri="{FF2B5EF4-FFF2-40B4-BE49-F238E27FC236}">
                <a16:creationId xmlns:a16="http://schemas.microsoft.com/office/drawing/2014/main" xmlns="" id="{EBE801DF-0B68-427A-957E-16BFCBB4BAFB}"/>
              </a:ext>
            </a:extLst>
          </p:cNvPr>
          <p:cNvSpPr/>
          <p:nvPr/>
        </p:nvSpPr>
        <p:spPr>
          <a:xfrm>
            <a:off x="4479925" y="3663950"/>
            <a:ext cx="2890838" cy="9144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IN" dirty="0"/>
              <a:t>STUDENT</a:t>
            </a:r>
          </a:p>
        </p:txBody>
      </p:sp>
    </p:spTree>
  </p:cSld>
  <p:clrMapOvr>
    <a:masterClrMapping/>
  </p:clrMapOvr>
  <p:transition spd="slow">
    <p:wipe/>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5">
            <a:extLst>
              <a:ext uri="{FF2B5EF4-FFF2-40B4-BE49-F238E27FC236}">
                <a16:creationId xmlns:a16="http://schemas.microsoft.com/office/drawing/2014/main" xmlns="" id="{7AF1B0E2-2A52-4F85-B33F-39A9C92A0896}"/>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87043" name="Picture 1">
            <a:extLst>
              <a:ext uri="{FF2B5EF4-FFF2-40B4-BE49-F238E27FC236}">
                <a16:creationId xmlns:a16="http://schemas.microsoft.com/office/drawing/2014/main" xmlns="" id="{B0896242-5885-49D1-A6C1-8F5ECF9C22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6804" name="Title 3">
            <a:extLst>
              <a:ext uri="{FF2B5EF4-FFF2-40B4-BE49-F238E27FC236}">
                <a16:creationId xmlns:a16="http://schemas.microsoft.com/office/drawing/2014/main" xmlns="" id="{D69393A6-4FE1-4E97-AD2A-66E6944467C9}"/>
              </a:ext>
            </a:extLst>
          </p:cNvPr>
          <p:cNvSpPr txBox="1">
            <a:spLocks/>
          </p:cNvSpPr>
          <p:nvPr/>
        </p:nvSpPr>
        <p:spPr bwMode="auto">
          <a:xfrm>
            <a:off x="463550" y="852488"/>
            <a:ext cx="11353800" cy="4862512"/>
          </a:xfrm>
          <a:prstGeom prst="rect">
            <a:avLst/>
          </a:prstGeom>
          <a:noFill/>
          <a:ln>
            <a:noFill/>
          </a:ln>
        </p:spPr>
        <p:txBody>
          <a:bodyPr/>
          <a:lstStyle>
            <a:lvl1pPr marL="3429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1pPr>
            <a:lvl2pPr marL="8001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2pPr>
            <a:lvl3pPr marL="12573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9pPr>
          </a:lstStyle>
          <a:p>
            <a:pPr lvl="1" algn="just">
              <a:lnSpc>
                <a:spcPct val="80000"/>
              </a:lnSpc>
              <a:spcBef>
                <a:spcPts val="500"/>
              </a:spcBef>
              <a:buFont typeface="Arial" pitchFamily="34" charset="0"/>
              <a:buChar char="•"/>
              <a:defRPr/>
            </a:pPr>
            <a:r>
              <a:rPr lang="en-US" sz="2400" dirty="0">
                <a:solidFill>
                  <a:srgbClr val="FF0000"/>
                </a:solidFill>
                <a:latin typeface="Times New Roman" pitchFamily="18" charset="0"/>
                <a:cs typeface="Times New Roman" pitchFamily="18" charset="0"/>
              </a:rPr>
              <a:t>Attributes</a:t>
            </a:r>
            <a:r>
              <a:rPr lang="en-US" sz="2400" dirty="0">
                <a:latin typeface="Times New Roman" pitchFamily="18" charset="0"/>
                <a:cs typeface="Times New Roman" pitchFamily="18" charset="0"/>
              </a:rPr>
              <a:t> are properties used to describe an entity.</a:t>
            </a:r>
          </a:p>
          <a:p>
            <a:pPr algn="just">
              <a:buFont typeface="Arial" pitchFamily="34" charset="0"/>
              <a:buChar char="•"/>
              <a:defRPr/>
            </a:pPr>
            <a:r>
              <a:rPr lang="en-US" sz="2400" dirty="0">
                <a:latin typeface="Times New Roman" pitchFamily="18" charset="0"/>
                <a:cs typeface="Times New Roman" pitchFamily="18" charset="0"/>
              </a:rPr>
              <a:t>Attribute names are enclosed by ovals and connected to</a:t>
            </a:r>
            <a:r>
              <a:rPr lang="en-IN" sz="2400" dirty="0">
                <a:latin typeface="Times New Roman" pitchFamily="18" charset="0"/>
                <a:cs typeface="Times New Roman" pitchFamily="18" charset="0"/>
              </a:rPr>
              <a:t> </a:t>
            </a:r>
            <a:r>
              <a:rPr lang="en-US" sz="2400" dirty="0">
                <a:latin typeface="Times New Roman" pitchFamily="18" charset="0"/>
                <a:cs typeface="Times New Roman" pitchFamily="18" charset="0"/>
              </a:rPr>
              <a:t>their entities by single line</a:t>
            </a:r>
          </a:p>
          <a:p>
            <a:pPr lvl="2" algn="just">
              <a:lnSpc>
                <a:spcPct val="80000"/>
              </a:lnSpc>
              <a:spcBef>
                <a:spcPts val="500"/>
              </a:spcBef>
              <a:buFont typeface="Arial" pitchFamily="34" charset="0"/>
              <a:buChar char="•"/>
              <a:defRPr/>
            </a:pPr>
            <a:r>
              <a:rPr lang="en-US" sz="2400" dirty="0">
                <a:latin typeface="Times New Roman" pitchFamily="18" charset="0"/>
                <a:cs typeface="Times New Roman" pitchFamily="18" charset="0"/>
              </a:rPr>
              <a:t>For example an EMPLOYEE entity may have the attributes Name, SSN, Address, Sex, </a:t>
            </a:r>
            <a:r>
              <a:rPr lang="en-US" sz="2400" dirty="0" err="1">
                <a:latin typeface="Times New Roman" pitchFamily="18" charset="0"/>
                <a:cs typeface="Times New Roman" pitchFamily="18" charset="0"/>
              </a:rPr>
              <a:t>BirthDate</a:t>
            </a:r>
            <a:endParaRPr lang="en-US" sz="2400" dirty="0">
              <a:latin typeface="Times New Roman" pitchFamily="18" charset="0"/>
              <a:cs typeface="Times New Roman" pitchFamily="18" charset="0"/>
            </a:endParaRPr>
          </a:p>
          <a:p>
            <a:pPr lvl="1" algn="just">
              <a:lnSpc>
                <a:spcPct val="80000"/>
              </a:lnSpc>
              <a:spcBef>
                <a:spcPts val="500"/>
              </a:spcBef>
              <a:buFont typeface="Arial" pitchFamily="34" charset="0"/>
              <a:buChar char="•"/>
              <a:defRPr/>
            </a:pPr>
            <a:r>
              <a:rPr lang="en-US" sz="2400" dirty="0">
                <a:latin typeface="Times New Roman" pitchFamily="18" charset="0"/>
                <a:cs typeface="Times New Roman" pitchFamily="18" charset="0"/>
              </a:rPr>
              <a:t>A specific entity will have a value for each of its attributes.</a:t>
            </a:r>
          </a:p>
          <a:p>
            <a:pPr lvl="2" algn="just">
              <a:lnSpc>
                <a:spcPct val="80000"/>
              </a:lnSpc>
              <a:spcBef>
                <a:spcPts val="500"/>
              </a:spcBef>
              <a:buFont typeface="Arial" pitchFamily="34" charset="0"/>
              <a:buChar char="•"/>
              <a:defRPr/>
            </a:pPr>
            <a:r>
              <a:rPr lang="en-US" sz="2400" dirty="0">
                <a:latin typeface="Times New Roman" pitchFamily="18" charset="0"/>
                <a:cs typeface="Times New Roman" pitchFamily="18" charset="0"/>
              </a:rPr>
              <a:t>For example a specific employee entity may have Name='John Smith', SSN='123456789', Address ='731, </a:t>
            </a:r>
            <a:r>
              <a:rPr lang="en-US" sz="2400" dirty="0" err="1">
                <a:latin typeface="Times New Roman" pitchFamily="18" charset="0"/>
                <a:cs typeface="Times New Roman" pitchFamily="18" charset="0"/>
              </a:rPr>
              <a:t>Fondren</a:t>
            </a:r>
            <a:r>
              <a:rPr lang="en-US" sz="2400" dirty="0">
                <a:latin typeface="Times New Roman" pitchFamily="18" charset="0"/>
                <a:cs typeface="Times New Roman" pitchFamily="18" charset="0"/>
              </a:rPr>
              <a:t>, Houston, TX', Sex='M', </a:t>
            </a:r>
            <a:r>
              <a:rPr lang="en-US" sz="2400" dirty="0" err="1">
                <a:latin typeface="Times New Roman" pitchFamily="18" charset="0"/>
                <a:cs typeface="Times New Roman" pitchFamily="18" charset="0"/>
              </a:rPr>
              <a:t>BirthDate</a:t>
            </a:r>
            <a:r>
              <a:rPr lang="en-US" sz="2400" dirty="0">
                <a:latin typeface="Times New Roman" pitchFamily="18" charset="0"/>
                <a:cs typeface="Times New Roman" pitchFamily="18" charset="0"/>
              </a:rPr>
              <a:t>='09-JAN-55‘</a:t>
            </a:r>
          </a:p>
          <a:p>
            <a:pPr lvl="1" algn="just">
              <a:lnSpc>
                <a:spcPct val="80000"/>
              </a:lnSpc>
              <a:spcBef>
                <a:spcPts val="500"/>
              </a:spcBef>
              <a:buFont typeface="Arial" pitchFamily="34" charset="0"/>
              <a:buChar char="•"/>
              <a:defRPr/>
            </a:pPr>
            <a:r>
              <a:rPr lang="en-US" sz="2400" dirty="0">
                <a:latin typeface="Times New Roman" pitchFamily="18" charset="0"/>
                <a:cs typeface="Times New Roman" pitchFamily="18" charset="0"/>
              </a:rPr>
              <a:t>Each attribute has a </a:t>
            </a:r>
            <a:r>
              <a:rPr lang="en-US" sz="2400" i="1" dirty="0">
                <a:solidFill>
                  <a:srgbClr val="FF0000"/>
                </a:solidFill>
                <a:latin typeface="Times New Roman" pitchFamily="18" charset="0"/>
                <a:cs typeface="Times New Roman" pitchFamily="18" charset="0"/>
              </a:rPr>
              <a:t>value set</a:t>
            </a:r>
            <a:r>
              <a:rPr lang="en-US" sz="2400" dirty="0">
                <a:solidFill>
                  <a:srgbClr val="FF0000"/>
                </a:solidFill>
                <a:latin typeface="Times New Roman" pitchFamily="18" charset="0"/>
                <a:cs typeface="Times New Roman" pitchFamily="18" charset="0"/>
              </a:rPr>
              <a:t> </a:t>
            </a:r>
            <a:r>
              <a:rPr lang="en-US" sz="2400" dirty="0">
                <a:latin typeface="Times New Roman" pitchFamily="18" charset="0"/>
                <a:cs typeface="Times New Roman" pitchFamily="18" charset="0"/>
              </a:rPr>
              <a:t>(or data type) associated with it – e.g. integer, string, </a:t>
            </a:r>
            <a:r>
              <a:rPr lang="en-US" sz="2400" dirty="0" err="1">
                <a:latin typeface="Times New Roman" pitchFamily="18" charset="0"/>
                <a:cs typeface="Times New Roman" pitchFamily="18" charset="0"/>
              </a:rPr>
              <a:t>subrange</a:t>
            </a:r>
            <a:r>
              <a:rPr lang="en-US" sz="2400" dirty="0">
                <a:latin typeface="Times New Roman" pitchFamily="18" charset="0"/>
                <a:cs typeface="Times New Roman" pitchFamily="18" charset="0"/>
              </a:rPr>
              <a:t>, enumerated type, …</a:t>
            </a:r>
          </a:p>
          <a:p>
            <a:pPr lvl="1" algn="just">
              <a:lnSpc>
                <a:spcPct val="80000"/>
              </a:lnSpc>
              <a:spcBef>
                <a:spcPts val="500"/>
              </a:spcBef>
              <a:buFont typeface="Arial" pitchFamily="34" charset="0"/>
              <a:buChar char="•"/>
              <a:defRPr/>
            </a:pPr>
            <a:endParaRPr lang="en-US" sz="2400" dirty="0">
              <a:latin typeface="Times New Roman" pitchFamily="18" charset="0"/>
              <a:cs typeface="Times New Roman" pitchFamily="18" charset="0"/>
            </a:endParaRPr>
          </a:p>
          <a:p>
            <a:pPr marL="457200" lvl="1" indent="0" algn="just">
              <a:lnSpc>
                <a:spcPct val="80000"/>
              </a:lnSpc>
              <a:spcBef>
                <a:spcPts val="500"/>
              </a:spcBef>
              <a:defRPr/>
            </a:pPr>
            <a:endParaRPr lang="en-US" sz="2400" dirty="0">
              <a:latin typeface="Times New Roman" pitchFamily="18" charset="0"/>
              <a:cs typeface="Times New Roman" pitchFamily="18" charset="0"/>
            </a:endParaRPr>
          </a:p>
        </p:txBody>
      </p:sp>
      <p:sp>
        <p:nvSpPr>
          <p:cNvPr id="87045" name="Rectangle 2">
            <a:extLst>
              <a:ext uri="{FF2B5EF4-FFF2-40B4-BE49-F238E27FC236}">
                <a16:creationId xmlns:a16="http://schemas.microsoft.com/office/drawing/2014/main" xmlns="" id="{AC4D173A-6F01-4F0A-AC7C-8B7D90FC3133}"/>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b="1">
              <a:latin typeface="Times New Roman" panose="02020603050405020304" pitchFamily="18" charset="0"/>
              <a:cs typeface="Times New Roman" panose="02020603050405020304" pitchFamily="18" charset="0"/>
            </a:endParaRPr>
          </a:p>
        </p:txBody>
      </p:sp>
      <p:pic>
        <p:nvPicPr>
          <p:cNvPr id="87046" name="Picture 3">
            <a:extLst>
              <a:ext uri="{FF2B5EF4-FFF2-40B4-BE49-F238E27FC236}">
                <a16:creationId xmlns:a16="http://schemas.microsoft.com/office/drawing/2014/main" xmlns="" id="{C0097DAD-515D-4D50-8A70-7287C29CC61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24450" y="3967163"/>
            <a:ext cx="5295900" cy="2319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Rectangle 15">
            <a:extLst>
              <a:ext uri="{FF2B5EF4-FFF2-40B4-BE49-F238E27FC236}">
                <a16:creationId xmlns:a16="http://schemas.microsoft.com/office/drawing/2014/main" xmlns="" id="{06E51376-8567-4D0C-AC79-F9920BEA4D0B}"/>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88067" name="Picture 1">
            <a:extLst>
              <a:ext uri="{FF2B5EF4-FFF2-40B4-BE49-F238E27FC236}">
                <a16:creationId xmlns:a16="http://schemas.microsoft.com/office/drawing/2014/main" xmlns="" id="{E2910242-71DF-4EC6-A600-1C6A1D752E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68" name="Title 3">
            <a:extLst>
              <a:ext uri="{FF2B5EF4-FFF2-40B4-BE49-F238E27FC236}">
                <a16:creationId xmlns:a16="http://schemas.microsoft.com/office/drawing/2014/main" xmlns="" id="{3238C5A3-E3A2-442E-A13F-6C639F1EFD06}"/>
              </a:ext>
            </a:extLst>
          </p:cNvPr>
          <p:cNvSpPr txBox="1">
            <a:spLocks/>
          </p:cNvSpPr>
          <p:nvPr/>
        </p:nvSpPr>
        <p:spPr bwMode="auto">
          <a:xfrm>
            <a:off x="463550" y="852488"/>
            <a:ext cx="11353800" cy="543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600" b="1">
                <a:latin typeface="Times New Roman" panose="02020603050405020304" pitchFamily="18" charset="0"/>
                <a:cs typeface="Times New Roman" panose="02020603050405020304" pitchFamily="18" charset="0"/>
              </a:rPr>
              <a:t>Figure 3.1 Two entities , EMPLOYEE e1, and COMPANY c1, and their attributes</a:t>
            </a:r>
          </a:p>
        </p:txBody>
      </p:sp>
      <p:sp>
        <p:nvSpPr>
          <p:cNvPr id="88069" name="Rectangle 2">
            <a:extLst>
              <a:ext uri="{FF2B5EF4-FFF2-40B4-BE49-F238E27FC236}">
                <a16:creationId xmlns:a16="http://schemas.microsoft.com/office/drawing/2014/main" xmlns="" id="{41372D92-83FE-4B25-A6FE-CCB172F5D770}"/>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pic>
        <p:nvPicPr>
          <p:cNvPr id="88070" name="Picture 7">
            <a:extLst>
              <a:ext uri="{FF2B5EF4-FFF2-40B4-BE49-F238E27FC236}">
                <a16:creationId xmlns:a16="http://schemas.microsoft.com/office/drawing/2014/main" xmlns="" id="{1A9D036A-FF3D-463C-BBCC-24B2DA923F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14588" y="1543050"/>
            <a:ext cx="7362825" cy="377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C41C66F-758D-4B5E-8D53-0A93926E23C1}"/>
              </a:ext>
            </a:extLst>
          </p:cNvPr>
          <p:cNvSpPr>
            <a:spLocks noGrp="1"/>
          </p:cNvSpPr>
          <p:nvPr>
            <p:ph type="title"/>
          </p:nvPr>
        </p:nvSpPr>
        <p:spPr/>
        <p:txBody>
          <a:bodyPr/>
          <a:lstStyle/>
          <a:p>
            <a:r>
              <a:rPr lang="en-US" altLang="en-US" sz="2800" b="1" dirty="0">
                <a:latin typeface="Times New Roman" panose="02020603050405020304" pitchFamily="18" charset="0"/>
                <a:ea typeface="+mn-ea"/>
                <a:cs typeface="Times New Roman" panose="02020603050405020304" pitchFamily="18" charset="0"/>
              </a:rPr>
              <a:t>Types</a:t>
            </a:r>
            <a:r>
              <a:rPr lang="en-US" altLang="en-US" b="1" dirty="0">
                <a:latin typeface="Times New Roman" panose="02020603050405020304" pitchFamily="18" charset="0"/>
                <a:cs typeface="Times New Roman" panose="02020603050405020304" pitchFamily="18" charset="0"/>
              </a:rPr>
              <a:t> </a:t>
            </a:r>
            <a:r>
              <a:rPr lang="en-US" altLang="en-US" sz="2800" b="1" dirty="0">
                <a:latin typeface="Times New Roman" panose="02020603050405020304" pitchFamily="18" charset="0"/>
                <a:ea typeface="+mn-ea"/>
                <a:cs typeface="Times New Roman" panose="02020603050405020304" pitchFamily="18" charset="0"/>
              </a:rPr>
              <a:t>of Attributes </a:t>
            </a:r>
            <a:r>
              <a:rPr lang="en-US" altLang="en-US" b="1" dirty="0">
                <a:latin typeface="Times New Roman" panose="02020603050405020304" pitchFamily="18" charset="0"/>
                <a:cs typeface="Times New Roman" panose="02020603050405020304" pitchFamily="18" charset="0"/>
              </a:rPr>
              <a:t/>
            </a:r>
            <a:br>
              <a:rPr lang="en-US" altLang="en-US" b="1" dirty="0">
                <a:latin typeface="Times New Roman" panose="02020603050405020304" pitchFamily="18"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xmlns="" id="{AEA6E02B-DA3C-4809-9BBC-67E0E80F5AF8}"/>
              </a:ext>
            </a:extLst>
          </p:cNvPr>
          <p:cNvSpPr>
            <a:spLocks noGrp="1"/>
          </p:cNvSpPr>
          <p:nvPr>
            <p:ph idx="1"/>
          </p:nvPr>
        </p:nvSpPr>
        <p:spPr/>
        <p:txBody>
          <a:bodyPr/>
          <a:lstStyle/>
          <a:p>
            <a:r>
              <a:rPr lang="en-IN" sz="2400" dirty="0">
                <a:solidFill>
                  <a:srgbClr val="FF0000"/>
                </a:solidFill>
                <a:latin typeface="Times New Roman" pitchFamily="18" charset="0"/>
                <a:cs typeface="Times New Roman" pitchFamily="18" charset="0"/>
              </a:rPr>
              <a:t>Simple vs Composite</a:t>
            </a:r>
          </a:p>
          <a:p>
            <a:r>
              <a:rPr lang="en-IN" sz="2400" dirty="0">
                <a:solidFill>
                  <a:srgbClr val="FF0000"/>
                </a:solidFill>
                <a:latin typeface="Times New Roman" pitchFamily="18" charset="0"/>
                <a:cs typeface="Times New Roman" pitchFamily="18" charset="0"/>
              </a:rPr>
              <a:t>Single valued vs Multi valued</a:t>
            </a:r>
          </a:p>
          <a:p>
            <a:r>
              <a:rPr lang="en-IN" sz="2400" dirty="0">
                <a:solidFill>
                  <a:srgbClr val="FF0000"/>
                </a:solidFill>
                <a:latin typeface="Times New Roman" pitchFamily="18" charset="0"/>
                <a:cs typeface="Times New Roman" pitchFamily="18" charset="0"/>
              </a:rPr>
              <a:t>Stored vs Derived</a:t>
            </a:r>
          </a:p>
          <a:p>
            <a:r>
              <a:rPr lang="en-IN" sz="2400" dirty="0">
                <a:solidFill>
                  <a:srgbClr val="FF0000"/>
                </a:solidFill>
                <a:latin typeface="Times New Roman" pitchFamily="18" charset="0"/>
                <a:cs typeface="Times New Roman" pitchFamily="18" charset="0"/>
              </a:rPr>
              <a:t>Null values and Complex Attributes</a:t>
            </a:r>
          </a:p>
        </p:txBody>
      </p:sp>
    </p:spTree>
    <p:extLst>
      <p:ext uri="{BB962C8B-B14F-4D97-AF65-F5344CB8AC3E}">
        <p14:creationId xmlns:p14="http://schemas.microsoft.com/office/powerpoint/2010/main" val="1890154147"/>
      </p:ext>
    </p:extLst>
  </p:cSld>
  <p:clrMapOvr>
    <a:masterClrMapping/>
  </p:clrMapOvr>
  <mc:AlternateContent xmlns:mc="http://schemas.openxmlformats.org/markup-compatibility/2006" xmlns:p14="http://schemas.microsoft.com/office/powerpoint/2010/main">
    <mc:Choice Requires="p14">
      <p:transition spd="slow" p14:dur="800">
        <p:circle/>
      </p:transition>
    </mc:Choice>
    <mc:Fallback xmlns="">
      <p:transition spd="slow">
        <p:circl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15">
            <a:extLst>
              <a:ext uri="{FF2B5EF4-FFF2-40B4-BE49-F238E27FC236}">
                <a16:creationId xmlns:a16="http://schemas.microsoft.com/office/drawing/2014/main" xmlns="" id="{86F4D9BD-F8BE-41E7-B086-D2A0D63F63AC}"/>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89091" name="Picture 1">
            <a:extLst>
              <a:ext uri="{FF2B5EF4-FFF2-40B4-BE49-F238E27FC236}">
                <a16:creationId xmlns:a16="http://schemas.microsoft.com/office/drawing/2014/main" xmlns="" id="{DCD4C5FF-1787-4BA7-9A98-590DB0DD3C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9092" name="Title 3">
            <a:extLst>
              <a:ext uri="{FF2B5EF4-FFF2-40B4-BE49-F238E27FC236}">
                <a16:creationId xmlns:a16="http://schemas.microsoft.com/office/drawing/2014/main" xmlns="" id="{652C56A3-87B8-4E71-881F-76CA5718A962}"/>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89093" name="Rectangle 2">
            <a:extLst>
              <a:ext uri="{FF2B5EF4-FFF2-40B4-BE49-F238E27FC236}">
                <a16:creationId xmlns:a16="http://schemas.microsoft.com/office/drawing/2014/main" xmlns="" id="{197FE4DE-B3A9-4BE3-A693-54C981F69A7E}"/>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Types of Attributes </a:t>
            </a:r>
          </a:p>
        </p:txBody>
      </p:sp>
      <p:sp>
        <p:nvSpPr>
          <p:cNvPr id="6" name="Rectangle 5">
            <a:extLst>
              <a:ext uri="{FF2B5EF4-FFF2-40B4-BE49-F238E27FC236}">
                <a16:creationId xmlns:a16="http://schemas.microsoft.com/office/drawing/2014/main" xmlns="" id="{EA092A0C-A09D-4EF6-AABC-5259A7781736}"/>
              </a:ext>
            </a:extLst>
          </p:cNvPr>
          <p:cNvSpPr txBox="1">
            <a:spLocks noChangeArrowheads="1"/>
          </p:cNvSpPr>
          <p:nvPr/>
        </p:nvSpPr>
        <p:spPr>
          <a:xfrm>
            <a:off x="463550" y="1136650"/>
            <a:ext cx="11091863" cy="4572000"/>
          </a:xfrm>
          <a:prstGeom prst="rect">
            <a:avLst/>
          </a:prstGeom>
        </p:spPr>
        <p:txBody>
          <a:bodyPr/>
          <a:lstStyle>
            <a:lvl1pPr marL="228600" indent="-228600" algn="l" rtl="0" eaLnBrk="0" fontAlgn="base" hangingPunct="0">
              <a:lnSpc>
                <a:spcPct val="90000"/>
              </a:lnSpc>
              <a:spcBef>
                <a:spcPts val="1000"/>
              </a:spcBef>
              <a:spcAft>
                <a:spcPct val="0"/>
              </a:spcAft>
              <a:buFont typeface="Arial"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lnSpc>
                <a:spcPct val="80000"/>
              </a:lnSpc>
              <a:defRPr/>
            </a:pPr>
            <a:r>
              <a:rPr lang="en-US" sz="2400" dirty="0">
                <a:solidFill>
                  <a:srgbClr val="FF0000"/>
                </a:solidFill>
                <a:latin typeface="Times New Roman" pitchFamily="18" charset="0"/>
                <a:cs typeface="Times New Roman" pitchFamily="18" charset="0"/>
              </a:rPr>
              <a:t>Simple Attribute</a:t>
            </a:r>
          </a:p>
          <a:p>
            <a:pPr lvl="1" algn="just">
              <a:lnSpc>
                <a:spcPct val="80000"/>
              </a:lnSpc>
              <a:defRPr/>
            </a:pPr>
            <a:r>
              <a:rPr lang="en-US" dirty="0">
                <a:latin typeface="Times New Roman" pitchFamily="18" charset="0"/>
                <a:cs typeface="Times New Roman" pitchFamily="18" charset="0"/>
              </a:rPr>
              <a:t>Each entity has a single atomic value for the attribute. For example, SSN or Sex.</a:t>
            </a:r>
          </a:p>
          <a:p>
            <a:pPr algn="just">
              <a:lnSpc>
                <a:spcPct val="80000"/>
              </a:lnSpc>
              <a:defRPr/>
            </a:pPr>
            <a:r>
              <a:rPr lang="en-US" sz="2400" dirty="0">
                <a:solidFill>
                  <a:srgbClr val="FF0000"/>
                </a:solidFill>
                <a:latin typeface="Times New Roman" pitchFamily="18" charset="0"/>
                <a:cs typeface="Times New Roman" pitchFamily="18" charset="0"/>
              </a:rPr>
              <a:t>Composite Attribute</a:t>
            </a:r>
          </a:p>
          <a:p>
            <a:pPr lvl="1" algn="just">
              <a:lnSpc>
                <a:spcPct val="80000"/>
              </a:lnSpc>
              <a:defRPr/>
            </a:pPr>
            <a:r>
              <a:rPr lang="en-US" dirty="0">
                <a:latin typeface="Times New Roman" pitchFamily="18" charset="0"/>
                <a:cs typeface="Times New Roman" pitchFamily="18" charset="0"/>
              </a:rPr>
              <a:t>The attribute may be composed of several components. For example:</a:t>
            </a:r>
          </a:p>
          <a:p>
            <a:pPr lvl="2" algn="just">
              <a:lnSpc>
                <a:spcPct val="80000"/>
              </a:lnSpc>
              <a:defRPr/>
            </a:pPr>
            <a:r>
              <a:rPr lang="en-US" sz="2400" dirty="0">
                <a:latin typeface="Times New Roman" pitchFamily="18" charset="0"/>
                <a:cs typeface="Times New Roman" pitchFamily="18" charset="0"/>
              </a:rPr>
              <a:t>Address(Apt#, House#, Street, City, State, </a:t>
            </a:r>
            <a:r>
              <a:rPr lang="en-US" sz="2400" dirty="0" err="1">
                <a:latin typeface="Times New Roman" pitchFamily="18" charset="0"/>
                <a:cs typeface="Times New Roman" pitchFamily="18" charset="0"/>
              </a:rPr>
              <a:t>ZipCode</a:t>
            </a:r>
            <a:r>
              <a:rPr lang="en-US" sz="2400" dirty="0">
                <a:latin typeface="Times New Roman" pitchFamily="18" charset="0"/>
                <a:cs typeface="Times New Roman" pitchFamily="18" charset="0"/>
              </a:rPr>
              <a:t>, Country), or</a:t>
            </a:r>
          </a:p>
          <a:p>
            <a:pPr lvl="2" algn="just">
              <a:lnSpc>
                <a:spcPct val="80000"/>
              </a:lnSpc>
              <a:defRPr/>
            </a:pPr>
            <a:r>
              <a:rPr lang="en-US" sz="2400" dirty="0">
                <a:latin typeface="Times New Roman" pitchFamily="18" charset="0"/>
                <a:cs typeface="Times New Roman" pitchFamily="18" charset="0"/>
              </a:rPr>
              <a:t>Name(</a:t>
            </a:r>
            <a:r>
              <a:rPr lang="en-US" sz="2400" dirty="0" err="1">
                <a:latin typeface="Times New Roman" pitchFamily="18" charset="0"/>
                <a:cs typeface="Times New Roman" pitchFamily="18" charset="0"/>
              </a:rPr>
              <a:t>FirstName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MiddleName</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LastName</a:t>
            </a:r>
            <a:r>
              <a:rPr lang="en-US" sz="2400" dirty="0">
                <a:latin typeface="Times New Roman" pitchFamily="18" charset="0"/>
                <a:cs typeface="Times New Roman" pitchFamily="18" charset="0"/>
              </a:rPr>
              <a:t>).</a:t>
            </a:r>
          </a:p>
          <a:p>
            <a:pPr lvl="2" algn="just">
              <a:lnSpc>
                <a:spcPct val="80000"/>
              </a:lnSpc>
              <a:defRPr/>
            </a:pPr>
            <a:r>
              <a:rPr lang="en-US" sz="2400" dirty="0">
                <a:latin typeface="Times New Roman" pitchFamily="18" charset="0"/>
                <a:cs typeface="Times New Roman" pitchFamily="18" charset="0"/>
              </a:rPr>
              <a:t>Composition may form a hierarchy where some components are themselves composite.</a:t>
            </a:r>
          </a:p>
          <a:p>
            <a:pPr algn="just">
              <a:lnSpc>
                <a:spcPct val="80000"/>
              </a:lnSpc>
              <a:defRPr/>
            </a:pPr>
            <a:r>
              <a:rPr lang="en-US" sz="2400" dirty="0">
                <a:solidFill>
                  <a:srgbClr val="FF0000"/>
                </a:solidFill>
                <a:latin typeface="Times New Roman" pitchFamily="18" charset="0"/>
                <a:cs typeface="Times New Roman" pitchFamily="18" charset="0"/>
              </a:rPr>
              <a:t>Single-valued Attribute</a:t>
            </a:r>
          </a:p>
          <a:p>
            <a:pPr lvl="1" algn="just">
              <a:lnSpc>
                <a:spcPct val="80000"/>
              </a:lnSpc>
              <a:defRPr/>
            </a:pPr>
            <a:r>
              <a:rPr lang="en-US" dirty="0">
                <a:latin typeface="Times New Roman" pitchFamily="18" charset="0"/>
                <a:cs typeface="Times New Roman" pitchFamily="18" charset="0"/>
              </a:rPr>
              <a:t>Most attributes have a single value for a particular entity; such attributes are called single-valued. </a:t>
            </a:r>
          </a:p>
          <a:p>
            <a:pPr marL="457200" lvl="1" indent="0" algn="just">
              <a:lnSpc>
                <a:spcPct val="80000"/>
              </a:lnSpc>
              <a:buFont typeface="Arial" pitchFamily="34" charset="0"/>
              <a:buNone/>
              <a:defRPr/>
            </a:pPr>
            <a:r>
              <a:rPr lang="en-US" dirty="0">
                <a:latin typeface="Times New Roman" pitchFamily="18" charset="0"/>
                <a:cs typeface="Times New Roman" pitchFamily="18" charset="0"/>
              </a:rPr>
              <a:t>      For example, Age is a single-valued attribute of a person.</a:t>
            </a:r>
          </a:p>
        </p:txBody>
      </p:sp>
    </p:spTree>
  </p:cSld>
  <p:clrMapOvr>
    <a:masterClrMapping/>
  </p:clrMapOvr>
  <p:transition spd="slow">
    <p:wip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15">
            <a:extLst>
              <a:ext uri="{FF2B5EF4-FFF2-40B4-BE49-F238E27FC236}">
                <a16:creationId xmlns:a16="http://schemas.microsoft.com/office/drawing/2014/main" xmlns="" id="{07732DAD-72E1-477F-95BA-1A297773DE32}"/>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90115" name="Picture 1">
            <a:extLst>
              <a:ext uri="{FF2B5EF4-FFF2-40B4-BE49-F238E27FC236}">
                <a16:creationId xmlns:a16="http://schemas.microsoft.com/office/drawing/2014/main" xmlns="" id="{84C39576-8AFA-4FEA-A026-AD8D523EFA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3492" name="Title 3">
            <a:extLst>
              <a:ext uri="{FF2B5EF4-FFF2-40B4-BE49-F238E27FC236}">
                <a16:creationId xmlns:a16="http://schemas.microsoft.com/office/drawing/2014/main" xmlns="" id="{00FD8FD0-9EA9-41A0-8D32-4AE8481EDD37}"/>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9pPr>
          </a:lstStyle>
          <a:p>
            <a:pPr algn="just">
              <a:lnSpc>
                <a:spcPct val="80000"/>
              </a:lnSpc>
              <a:defRPr/>
            </a:pPr>
            <a:endParaRPr lang="en-US" sz="2400" dirty="0">
              <a:solidFill>
                <a:srgbClr val="FF0000"/>
              </a:solidFill>
              <a:latin typeface="Times New Roman" pitchFamily="18" charset="0"/>
              <a:cs typeface="Times New Roman" pitchFamily="18" charset="0"/>
            </a:endParaRPr>
          </a:p>
          <a:p>
            <a:pPr algn="just">
              <a:lnSpc>
                <a:spcPct val="80000"/>
              </a:lnSpc>
              <a:defRPr/>
            </a:pPr>
            <a:r>
              <a:rPr lang="en-US" sz="2400" dirty="0">
                <a:solidFill>
                  <a:srgbClr val="FF0000"/>
                </a:solidFill>
                <a:latin typeface="Times New Roman" pitchFamily="18" charset="0"/>
                <a:cs typeface="Times New Roman" pitchFamily="18" charset="0"/>
              </a:rPr>
              <a:t>Multi-valued Attribute</a:t>
            </a:r>
          </a:p>
          <a:p>
            <a:pPr lvl="1" algn="just">
              <a:lnSpc>
                <a:spcPct val="80000"/>
              </a:lnSpc>
              <a:defRPr/>
            </a:pPr>
            <a:r>
              <a:rPr lang="en-US" sz="2400" dirty="0">
                <a:latin typeface="Times New Roman" pitchFamily="18" charset="0"/>
                <a:cs typeface="Times New Roman" pitchFamily="18" charset="0"/>
              </a:rPr>
              <a:t>An entity may have multiple values for that attribute. For example, Color of a CAR or Previous Degrees of a STUDENT.</a:t>
            </a:r>
          </a:p>
          <a:p>
            <a:pPr lvl="2" algn="just">
              <a:lnSpc>
                <a:spcPct val="80000"/>
              </a:lnSpc>
              <a:defRPr/>
            </a:pPr>
            <a:r>
              <a:rPr lang="en-US" sz="2400" dirty="0">
                <a:latin typeface="Times New Roman" pitchFamily="18" charset="0"/>
                <a:cs typeface="Times New Roman" pitchFamily="18" charset="0"/>
              </a:rPr>
              <a:t>Denoted as {Color} or {Previous Degrees}.</a:t>
            </a:r>
          </a:p>
          <a:p>
            <a:pPr lvl="2" algn="just">
              <a:lnSpc>
                <a:spcPct val="80000"/>
              </a:lnSpc>
              <a:defRPr/>
            </a:pPr>
            <a:endParaRPr lang="en-US" sz="2400" dirty="0">
              <a:latin typeface="Times New Roman" pitchFamily="18" charset="0"/>
              <a:cs typeface="Times New Roman" pitchFamily="18" charset="0"/>
            </a:endParaRPr>
          </a:p>
          <a:p>
            <a:pPr lvl="2" algn="just">
              <a:lnSpc>
                <a:spcPct val="80000"/>
              </a:lnSpc>
              <a:defRPr/>
            </a:pPr>
            <a:r>
              <a:rPr lang="en-US" sz="2400" dirty="0">
                <a:latin typeface="Times New Roman" pitchFamily="18" charset="0"/>
                <a:cs typeface="Times New Roman" pitchFamily="18" charset="0"/>
              </a:rPr>
              <a:t>Another example Hobbies-drawing, stamp collection….</a:t>
            </a:r>
          </a:p>
          <a:p>
            <a:pPr marL="342900" indent="-342900" algn="just">
              <a:buFont typeface="Arial" pitchFamily="34" charset="0"/>
              <a:buChar char="•"/>
              <a:defRPr/>
            </a:pPr>
            <a:r>
              <a:rPr lang="en-US" sz="2400" dirty="0">
                <a:latin typeface="Times New Roman" pitchFamily="18" charset="0"/>
                <a:cs typeface="Times New Roman" pitchFamily="18" charset="0"/>
              </a:rPr>
              <a:t>In general, composite and multi-valued attributes may be nested arbitrarily to any number of levels, although this is rare.</a:t>
            </a:r>
          </a:p>
          <a:p>
            <a:pPr marL="800100" lvl="1" indent="-342900" algn="just">
              <a:buFont typeface="Arial" pitchFamily="34" charset="0"/>
              <a:buChar char="•"/>
              <a:defRPr/>
            </a:pPr>
            <a:r>
              <a:rPr lang="en-US" sz="2400" dirty="0">
                <a:latin typeface="Times New Roman" pitchFamily="18" charset="0"/>
                <a:cs typeface="Times New Roman" pitchFamily="18" charset="0"/>
              </a:rPr>
              <a:t>For example, Previous Degrees of a STUDENT is a composite multi-valued attribute denoted by {Previous Degrees (College, Year, Degree, Field)}</a:t>
            </a:r>
          </a:p>
          <a:p>
            <a:pPr marL="800100" lvl="1" indent="-342900" algn="just">
              <a:buFont typeface="Arial" pitchFamily="34" charset="0"/>
              <a:buChar char="•"/>
              <a:defRPr/>
            </a:pPr>
            <a:r>
              <a:rPr lang="en-US" sz="2400" dirty="0">
                <a:latin typeface="Times New Roman" pitchFamily="18" charset="0"/>
                <a:cs typeface="Times New Roman" pitchFamily="18" charset="0"/>
              </a:rPr>
              <a:t>Multiple Previous Degrees values can exist</a:t>
            </a:r>
          </a:p>
          <a:p>
            <a:pPr marL="800100" lvl="1" indent="-342900" algn="just">
              <a:buFont typeface="Arial" pitchFamily="34" charset="0"/>
              <a:buChar char="•"/>
              <a:defRPr/>
            </a:pPr>
            <a:r>
              <a:rPr lang="en-US" sz="2400" dirty="0">
                <a:latin typeface="Times New Roman" pitchFamily="18" charset="0"/>
                <a:cs typeface="Times New Roman" pitchFamily="18" charset="0"/>
              </a:rPr>
              <a:t>Each has four subcomponent attributes:</a:t>
            </a:r>
          </a:p>
          <a:p>
            <a:pPr marL="1257300" lvl="2" indent="-342900" algn="just">
              <a:buFont typeface="Arial" pitchFamily="34" charset="0"/>
              <a:buChar char="•"/>
              <a:defRPr/>
            </a:pPr>
            <a:r>
              <a:rPr lang="en-US" sz="2400" dirty="0">
                <a:latin typeface="Times New Roman" pitchFamily="18" charset="0"/>
                <a:cs typeface="Times New Roman" pitchFamily="18" charset="0"/>
              </a:rPr>
              <a:t>College, Year, Degree, Field</a:t>
            </a:r>
          </a:p>
        </p:txBody>
      </p:sp>
      <p:sp>
        <p:nvSpPr>
          <p:cNvPr id="90117" name="Rectangle 2">
            <a:extLst>
              <a:ext uri="{FF2B5EF4-FFF2-40B4-BE49-F238E27FC236}">
                <a16:creationId xmlns:a16="http://schemas.microsoft.com/office/drawing/2014/main" xmlns="" id="{C596421A-DA46-48A5-AF39-522193086498}"/>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Types of Attributes (continued)</a:t>
            </a:r>
          </a:p>
        </p:txBody>
      </p:sp>
    </p:spTree>
  </p:cSld>
  <p:clrMapOvr>
    <a:masterClrMapping/>
  </p:clrMapOvr>
  <p:transition spd="slow">
    <p:wip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15">
            <a:extLst>
              <a:ext uri="{FF2B5EF4-FFF2-40B4-BE49-F238E27FC236}">
                <a16:creationId xmlns:a16="http://schemas.microsoft.com/office/drawing/2014/main" xmlns="" id="{CA52322E-3E6E-45E3-949D-99296B260A6C}"/>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91139" name="Picture 1">
            <a:extLst>
              <a:ext uri="{FF2B5EF4-FFF2-40B4-BE49-F238E27FC236}">
                <a16:creationId xmlns:a16="http://schemas.microsoft.com/office/drawing/2014/main" xmlns="" id="{F91BDC03-6176-45F1-9603-B55A20369F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0" name="Title 3">
            <a:extLst>
              <a:ext uri="{FF2B5EF4-FFF2-40B4-BE49-F238E27FC236}">
                <a16:creationId xmlns:a16="http://schemas.microsoft.com/office/drawing/2014/main" xmlns="" id="{A833DFE9-B796-4A4D-B056-08A7C55EC7DF}"/>
              </a:ext>
            </a:extLst>
          </p:cNvPr>
          <p:cNvSpPr txBox="1">
            <a:spLocks/>
          </p:cNvSpPr>
          <p:nvPr/>
        </p:nvSpPr>
        <p:spPr bwMode="auto">
          <a:xfrm>
            <a:off x="463550" y="852488"/>
            <a:ext cx="11353800" cy="518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800" b="1">
                <a:latin typeface="Times New Roman" panose="02020603050405020304" pitchFamily="18" charset="0"/>
                <a:cs typeface="Times New Roman" panose="02020603050405020304" pitchFamily="18" charset="0"/>
              </a:rPr>
              <a:t>Figure 3.2  A hierarchy of composite attributes</a:t>
            </a:r>
          </a:p>
        </p:txBody>
      </p:sp>
      <p:sp>
        <p:nvSpPr>
          <p:cNvPr id="91141" name="Rectangle 2">
            <a:extLst>
              <a:ext uri="{FF2B5EF4-FFF2-40B4-BE49-F238E27FC236}">
                <a16:creationId xmlns:a16="http://schemas.microsoft.com/office/drawing/2014/main" xmlns="" id="{6469ED0A-37B0-4967-BDB0-70785C32242F}"/>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Example of a composite attribute</a:t>
            </a:r>
          </a:p>
        </p:txBody>
      </p:sp>
      <p:pic>
        <p:nvPicPr>
          <p:cNvPr id="91142" name="Picture 7">
            <a:extLst>
              <a:ext uri="{FF2B5EF4-FFF2-40B4-BE49-F238E27FC236}">
                <a16:creationId xmlns:a16="http://schemas.microsoft.com/office/drawing/2014/main" xmlns="" id="{EB307D80-C240-4687-BA75-032D7D3FF7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81325" y="1444625"/>
            <a:ext cx="6229350" cy="3609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2" name="Rectangle 15">
            <a:extLst>
              <a:ext uri="{FF2B5EF4-FFF2-40B4-BE49-F238E27FC236}">
                <a16:creationId xmlns:a16="http://schemas.microsoft.com/office/drawing/2014/main" xmlns="" id="{2F1A97C5-3271-4EDE-8F6E-415E7BC8F866}"/>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92163" name="Picture 1">
            <a:extLst>
              <a:ext uri="{FF2B5EF4-FFF2-40B4-BE49-F238E27FC236}">
                <a16:creationId xmlns:a16="http://schemas.microsoft.com/office/drawing/2014/main" xmlns="" id="{50F5BCB0-7D12-41D6-8D40-E6D4C6F207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64" name="Title 3">
            <a:extLst>
              <a:ext uri="{FF2B5EF4-FFF2-40B4-BE49-F238E27FC236}">
                <a16:creationId xmlns:a16="http://schemas.microsoft.com/office/drawing/2014/main" xmlns="" id="{7E7848F0-73B2-47F7-B049-CD711F4C6105}"/>
              </a:ext>
            </a:extLst>
          </p:cNvPr>
          <p:cNvSpPr txBox="1">
            <a:spLocks/>
          </p:cNvSpPr>
          <p:nvPr/>
        </p:nvSpPr>
        <p:spPr bwMode="auto">
          <a:xfrm>
            <a:off x="463550" y="852488"/>
            <a:ext cx="11353800" cy="518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nSpc>
                <a:spcPct val="100000"/>
              </a:lnSpc>
              <a:spcBef>
                <a:spcPct val="0"/>
              </a:spcBef>
              <a:buFontTx/>
              <a:buNone/>
            </a:pPr>
            <a:r>
              <a:rPr lang="en-US" altLang="en-US" sz="1800">
                <a:latin typeface="Arial" panose="020B0604020202020204" pitchFamily="34" charset="0"/>
              </a:rPr>
              <a:t>                                                                                                            COMPOSITE ATTRIBUTE</a:t>
            </a:r>
            <a:endParaRPr lang="en-IN" altLang="en-US" sz="1800">
              <a:latin typeface="Arial" panose="020B0604020202020204" pitchFamily="34" charset="0"/>
            </a:endParaRPr>
          </a:p>
        </p:txBody>
      </p:sp>
      <p:sp>
        <p:nvSpPr>
          <p:cNvPr id="92165" name="Rectangle 2">
            <a:extLst>
              <a:ext uri="{FF2B5EF4-FFF2-40B4-BE49-F238E27FC236}">
                <a16:creationId xmlns:a16="http://schemas.microsoft.com/office/drawing/2014/main" xmlns="" id="{36C3DF56-815C-4422-A1A7-B17541B5C4B9}"/>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Simple versus composite attibute</a:t>
            </a:r>
          </a:p>
        </p:txBody>
      </p:sp>
      <p:sp>
        <p:nvSpPr>
          <p:cNvPr id="92166" name="Rectangle 1">
            <a:extLst>
              <a:ext uri="{FF2B5EF4-FFF2-40B4-BE49-F238E27FC236}">
                <a16:creationId xmlns:a16="http://schemas.microsoft.com/office/drawing/2014/main" xmlns="" id="{18AF2B78-A02B-41E5-A0D4-9C428FD42212}"/>
              </a:ext>
            </a:extLst>
          </p:cNvPr>
          <p:cNvSpPr>
            <a:spLocks noChangeArrowheads="1"/>
          </p:cNvSpPr>
          <p:nvPr/>
        </p:nvSpPr>
        <p:spPr bwMode="auto">
          <a:xfrm>
            <a:off x="3051175" y="762000"/>
            <a:ext cx="234791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nSpc>
                <a:spcPct val="100000"/>
              </a:lnSpc>
              <a:spcBef>
                <a:spcPct val="0"/>
              </a:spcBef>
              <a:buFontTx/>
              <a:buNone/>
            </a:pPr>
            <a:r>
              <a:rPr lang="en-US" altLang="en-US" sz="1800">
                <a:latin typeface="Arial" panose="020B0604020202020204" pitchFamily="34" charset="0"/>
              </a:rPr>
              <a:t>SIMPLE ATTRIBUTE</a:t>
            </a:r>
            <a:endParaRPr lang="en-IN" altLang="en-US" sz="1800">
              <a:latin typeface="Arial" panose="020B0604020202020204" pitchFamily="34" charset="0"/>
            </a:endParaRPr>
          </a:p>
        </p:txBody>
      </p:sp>
      <p:grpSp>
        <p:nvGrpSpPr>
          <p:cNvPr id="92167" name="Group 2">
            <a:extLst>
              <a:ext uri="{FF2B5EF4-FFF2-40B4-BE49-F238E27FC236}">
                <a16:creationId xmlns:a16="http://schemas.microsoft.com/office/drawing/2014/main" xmlns="" id="{0E34E78B-3172-4950-A34A-A9ADE2BDDA0F}"/>
              </a:ext>
            </a:extLst>
          </p:cNvPr>
          <p:cNvGrpSpPr>
            <a:grpSpLocks/>
          </p:cNvGrpSpPr>
          <p:nvPr/>
        </p:nvGrpSpPr>
        <p:grpSpPr bwMode="auto">
          <a:xfrm>
            <a:off x="1130300" y="293688"/>
            <a:ext cx="3530600" cy="5429250"/>
            <a:chOff x="0" y="-1767"/>
            <a:chExt cx="5559" cy="8550"/>
          </a:xfrm>
        </p:grpSpPr>
        <p:sp>
          <p:nvSpPr>
            <p:cNvPr id="92170" name="Text Box 3">
              <a:extLst>
                <a:ext uri="{FF2B5EF4-FFF2-40B4-BE49-F238E27FC236}">
                  <a16:creationId xmlns:a16="http://schemas.microsoft.com/office/drawing/2014/main" xmlns="" id="{9624F35B-48FA-4729-8862-28A6F71D462D}"/>
                </a:ext>
              </a:extLst>
            </p:cNvPr>
            <p:cNvSpPr txBox="1">
              <a:spLocks noChangeArrowheads="1"/>
            </p:cNvSpPr>
            <p:nvPr/>
          </p:nvSpPr>
          <p:spPr bwMode="auto">
            <a:xfrm>
              <a:off x="0" y="947"/>
              <a:ext cx="5559" cy="5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1">
                <a:lnSpc>
                  <a:spcPct val="100000"/>
                </a:lnSpc>
                <a:spcBef>
                  <a:spcPts val="700"/>
                </a:spcBef>
                <a:buFontTx/>
                <a:buNone/>
              </a:pPr>
              <a:endParaRPr lang="en-US" altLang="en-US" sz="1800">
                <a:latin typeface="Arial" panose="020B0604020202020204" pitchFamily="34" charset="0"/>
              </a:endParaRPr>
            </a:p>
          </p:txBody>
        </p:sp>
        <p:sp>
          <p:nvSpPr>
            <p:cNvPr id="92171" name="Text Box 4">
              <a:extLst>
                <a:ext uri="{FF2B5EF4-FFF2-40B4-BE49-F238E27FC236}">
                  <a16:creationId xmlns:a16="http://schemas.microsoft.com/office/drawing/2014/main" xmlns="" id="{48ABC58C-8A00-44AF-8ED5-8B0C10AFD476}"/>
                </a:ext>
              </a:extLst>
            </p:cNvPr>
            <p:cNvSpPr txBox="1">
              <a:spLocks noChangeArrowheads="1"/>
            </p:cNvSpPr>
            <p:nvPr/>
          </p:nvSpPr>
          <p:spPr bwMode="auto">
            <a:xfrm>
              <a:off x="0" y="-1767"/>
              <a:ext cx="5559" cy="9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lvl="1">
                <a:lnSpc>
                  <a:spcPct val="100000"/>
                </a:lnSpc>
                <a:spcBef>
                  <a:spcPts val="1075"/>
                </a:spcBef>
                <a:spcAft>
                  <a:spcPts val="1000"/>
                </a:spcAft>
                <a:buFontTx/>
                <a:buNone/>
              </a:pPr>
              <a:r>
                <a:rPr lang="en-IN" altLang="en-US" sz="2000">
                  <a:solidFill>
                    <a:srgbClr val="FFFFFF"/>
                  </a:solidFill>
                </a:rPr>
                <a:t>SIMPLE ATTRIBUTE</a:t>
              </a:r>
              <a:endParaRPr lang="en-US" altLang="en-US" sz="1800">
                <a:latin typeface="Arial" panose="020B0604020202020204" pitchFamily="34" charset="0"/>
              </a:endParaRPr>
            </a:p>
          </p:txBody>
        </p:sp>
      </p:grpSp>
      <p:sp>
        <p:nvSpPr>
          <p:cNvPr id="6" name="Rectangle 5">
            <a:extLst>
              <a:ext uri="{FF2B5EF4-FFF2-40B4-BE49-F238E27FC236}">
                <a16:creationId xmlns:a16="http://schemas.microsoft.com/office/drawing/2014/main" xmlns="" id="{524FBC9F-4F8D-4B94-99E5-53624ECA19AA}"/>
              </a:ext>
            </a:extLst>
          </p:cNvPr>
          <p:cNvSpPr/>
          <p:nvPr/>
        </p:nvSpPr>
        <p:spPr>
          <a:xfrm>
            <a:off x="2012950" y="1247775"/>
            <a:ext cx="3821113" cy="4818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lvl="1">
              <a:spcBef>
                <a:spcPts val="700"/>
              </a:spcBef>
              <a:buFont typeface="Georgia" pitchFamily="18" charset="0"/>
              <a:buChar char="•"/>
              <a:defRPr/>
            </a:pPr>
            <a:r>
              <a:rPr lang="en-IN" sz="2400">
                <a:solidFill>
                  <a:srgbClr val="DEEBF7"/>
                </a:solidFill>
                <a:latin typeface="Times New Roman" pitchFamily="18" charset="0"/>
                <a:cs typeface="Times New Roman" pitchFamily="18" charset="0"/>
              </a:rPr>
              <a:t>Cannot be split in to further attributes(indivisible)</a:t>
            </a:r>
          </a:p>
          <a:p>
            <a:pPr lvl="1">
              <a:lnSpc>
                <a:spcPct val="178000"/>
              </a:lnSpc>
              <a:spcBef>
                <a:spcPts val="163"/>
              </a:spcBef>
              <a:buFont typeface="Georgia" pitchFamily="18" charset="0"/>
              <a:buChar char="•"/>
              <a:defRPr/>
            </a:pPr>
            <a:r>
              <a:rPr lang="en-IN" sz="2400">
                <a:solidFill>
                  <a:srgbClr val="DEEBF7"/>
                </a:solidFill>
                <a:latin typeface="Times New Roman" pitchFamily="18" charset="0"/>
                <a:cs typeface="Times New Roman" pitchFamily="18" charset="0"/>
              </a:rPr>
              <a:t>Also known as </a:t>
            </a:r>
            <a:r>
              <a:rPr lang="en-IN" sz="2400" b="1" i="1">
                <a:solidFill>
                  <a:srgbClr val="DEEBF7"/>
                </a:solidFill>
                <a:latin typeface="Times New Roman" pitchFamily="18" charset="0"/>
                <a:cs typeface="Times New Roman" pitchFamily="18" charset="0"/>
              </a:rPr>
              <a:t>Atomic</a:t>
            </a:r>
          </a:p>
          <a:p>
            <a:pPr lvl="1">
              <a:lnSpc>
                <a:spcPct val="178000"/>
              </a:lnSpc>
              <a:spcAft>
                <a:spcPts val="1000"/>
              </a:spcAft>
              <a:defRPr/>
            </a:pPr>
            <a:r>
              <a:rPr lang="en-IN" sz="2400">
                <a:solidFill>
                  <a:srgbClr val="DEEBF7"/>
                </a:solidFill>
                <a:latin typeface="Times New Roman" pitchFamily="18" charset="0"/>
                <a:cs typeface="Times New Roman" pitchFamily="18" charset="0"/>
              </a:rPr>
              <a:t>attribute</a:t>
            </a:r>
          </a:p>
          <a:p>
            <a:pPr lvl="1">
              <a:lnSpc>
                <a:spcPct val="178000"/>
              </a:lnSpc>
              <a:spcBef>
                <a:spcPts val="113"/>
              </a:spcBef>
              <a:buFont typeface="Georgia" pitchFamily="18" charset="0"/>
              <a:buChar char="•"/>
              <a:defRPr/>
            </a:pPr>
            <a:r>
              <a:rPr lang="en-IN" sz="2400">
                <a:solidFill>
                  <a:srgbClr val="DEEBF7"/>
                </a:solidFill>
                <a:latin typeface="Times New Roman" pitchFamily="18" charset="0"/>
                <a:cs typeface="Times New Roman" pitchFamily="18" charset="0"/>
              </a:rPr>
              <a:t>Ex: Ssn(Social Security</a:t>
            </a:r>
          </a:p>
          <a:p>
            <a:pPr lvl="1">
              <a:lnSpc>
                <a:spcPct val="178000"/>
              </a:lnSpc>
              <a:spcAft>
                <a:spcPts val="1000"/>
              </a:spcAft>
              <a:defRPr/>
            </a:pPr>
            <a:r>
              <a:rPr lang="en-IN" sz="2400">
                <a:solidFill>
                  <a:srgbClr val="DEEBF7"/>
                </a:solidFill>
                <a:latin typeface="Times New Roman" pitchFamily="18" charset="0"/>
                <a:cs typeface="Times New Roman" pitchFamily="18" charset="0"/>
              </a:rPr>
              <a:t>Number)</a:t>
            </a:r>
            <a:endParaRPr lang="en-US" sz="2400">
              <a:solidFill>
                <a:srgbClr val="DEEBF7"/>
              </a:solidFill>
              <a:latin typeface="Times New Roman" pitchFamily="18" charset="0"/>
              <a:cs typeface="Times New Roman" pitchFamily="18" charset="0"/>
            </a:endParaRPr>
          </a:p>
        </p:txBody>
      </p:sp>
      <p:sp>
        <p:nvSpPr>
          <p:cNvPr id="7" name="Rectangle 6">
            <a:extLst>
              <a:ext uri="{FF2B5EF4-FFF2-40B4-BE49-F238E27FC236}">
                <a16:creationId xmlns:a16="http://schemas.microsoft.com/office/drawing/2014/main" xmlns="" id="{5167BED6-BDCD-4C21-B2C4-1A56D20B85E2}"/>
              </a:ext>
            </a:extLst>
          </p:cNvPr>
          <p:cNvSpPr/>
          <p:nvPr/>
        </p:nvSpPr>
        <p:spPr>
          <a:xfrm>
            <a:off x="6951663" y="1222375"/>
            <a:ext cx="3917950" cy="4818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marL="285750" indent="-285750">
              <a:buFont typeface="Arial" pitchFamily="34" charset="0"/>
              <a:buChar char="•"/>
              <a:defRPr/>
            </a:pPr>
            <a:r>
              <a:rPr lang="en-US" sz="2400" dirty="0">
                <a:solidFill>
                  <a:schemeClr val="accent1">
                    <a:lumMod val="20000"/>
                    <a:lumOff val="80000"/>
                  </a:schemeClr>
                </a:solidFill>
                <a:latin typeface="Times New Roman" pitchFamily="18" charset="0"/>
                <a:cs typeface="Times New Roman" pitchFamily="18" charset="0"/>
              </a:rPr>
              <a:t>Can be divided in to smaller subparts which represent more basic attributes with independent meaning</a:t>
            </a:r>
            <a:endParaRPr lang="en-IN" sz="2400" dirty="0">
              <a:solidFill>
                <a:schemeClr val="accent1">
                  <a:lumMod val="20000"/>
                  <a:lumOff val="80000"/>
                </a:schemeClr>
              </a:solidFill>
              <a:latin typeface="Times New Roman" pitchFamily="18" charset="0"/>
              <a:cs typeface="Times New Roman" pitchFamily="18" charset="0"/>
            </a:endParaRPr>
          </a:p>
          <a:p>
            <a:pPr marL="285750" indent="-285750">
              <a:buFont typeface="Arial" pitchFamily="34" charset="0"/>
              <a:buChar char="•"/>
              <a:defRPr/>
            </a:pPr>
            <a:r>
              <a:rPr lang="en-US" sz="2400" dirty="0">
                <a:solidFill>
                  <a:schemeClr val="accent1">
                    <a:lumMod val="20000"/>
                    <a:lumOff val="80000"/>
                  </a:schemeClr>
                </a:solidFill>
                <a:latin typeface="Times New Roman" pitchFamily="18" charset="0"/>
                <a:cs typeface="Times New Roman" pitchFamily="18" charset="0"/>
              </a:rPr>
              <a:t>Even form hierarchy</a:t>
            </a:r>
            <a:endParaRPr lang="en-IN" sz="2400" dirty="0">
              <a:solidFill>
                <a:schemeClr val="accent1">
                  <a:lumMod val="20000"/>
                  <a:lumOff val="80000"/>
                </a:schemeClr>
              </a:solidFill>
              <a:latin typeface="Times New Roman" pitchFamily="18" charset="0"/>
              <a:cs typeface="Times New Roman" pitchFamily="18" charset="0"/>
            </a:endParaRPr>
          </a:p>
          <a:p>
            <a:pPr marL="285750" indent="-285750">
              <a:buFont typeface="Arial" pitchFamily="34" charset="0"/>
              <a:buChar char="•"/>
              <a:defRPr/>
            </a:pPr>
            <a:r>
              <a:rPr lang="en-US" sz="2400" dirty="0">
                <a:solidFill>
                  <a:schemeClr val="accent1">
                    <a:lumMod val="20000"/>
                    <a:lumOff val="80000"/>
                  </a:schemeClr>
                </a:solidFill>
                <a:latin typeface="Times New Roman" pitchFamily="18" charset="0"/>
                <a:cs typeface="Times New Roman" pitchFamily="18" charset="0"/>
              </a:rPr>
              <a:t>Value of the composite attribute is the </a:t>
            </a:r>
            <a:r>
              <a:rPr lang="en-US" sz="2400" b="1" i="1" dirty="0">
                <a:solidFill>
                  <a:schemeClr val="accent1">
                    <a:lumMod val="20000"/>
                    <a:lumOff val="80000"/>
                  </a:schemeClr>
                </a:solidFill>
                <a:latin typeface="Times New Roman" pitchFamily="18" charset="0"/>
                <a:cs typeface="Times New Roman" pitchFamily="18" charset="0"/>
              </a:rPr>
              <a:t>composition of the constituent simple attributes</a:t>
            </a:r>
            <a:endParaRPr lang="en-IN" sz="2400" dirty="0">
              <a:solidFill>
                <a:schemeClr val="accent1">
                  <a:lumMod val="20000"/>
                  <a:lumOff val="80000"/>
                </a:schemeClr>
              </a:solidFill>
              <a:latin typeface="Times New Roman" pitchFamily="18" charset="0"/>
              <a:cs typeface="Times New Roman" pitchFamily="18" charset="0"/>
            </a:endParaRPr>
          </a:p>
          <a:p>
            <a:pPr marL="285750" indent="-285750">
              <a:buFont typeface="Arial" pitchFamily="34" charset="0"/>
              <a:buChar char="•"/>
              <a:defRPr/>
            </a:pPr>
            <a:r>
              <a:rPr lang="en-US" sz="2400" dirty="0">
                <a:solidFill>
                  <a:schemeClr val="accent1">
                    <a:lumMod val="20000"/>
                    <a:lumOff val="80000"/>
                  </a:schemeClr>
                </a:solidFill>
                <a:latin typeface="Times New Roman" pitchFamily="18" charset="0"/>
                <a:cs typeface="Times New Roman" pitchFamily="18" charset="0"/>
              </a:rPr>
              <a:t>Ex: Address</a:t>
            </a:r>
            <a:endParaRPr lang="en-IN" sz="2400" dirty="0">
              <a:solidFill>
                <a:schemeClr val="accent1">
                  <a:lumMod val="20000"/>
                  <a:lumOff val="80000"/>
                </a:schemeClr>
              </a:solidFill>
              <a:latin typeface="Times New Roman" pitchFamily="18" charset="0"/>
              <a:cs typeface="Times New Roman" pitchFamily="18" charset="0"/>
            </a:endParaRPr>
          </a:p>
        </p:txBody>
      </p:sp>
    </p:spTree>
  </p:cSld>
  <p:clrMapOvr>
    <a:masterClrMapping/>
  </p:clrMapOvr>
  <p:transition spd="slow">
    <p:wip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15">
            <a:extLst>
              <a:ext uri="{FF2B5EF4-FFF2-40B4-BE49-F238E27FC236}">
                <a16:creationId xmlns:a16="http://schemas.microsoft.com/office/drawing/2014/main" xmlns="" id="{5081888D-302C-4525-8E31-8450939166D8}"/>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93187" name="Picture 1">
            <a:extLst>
              <a:ext uri="{FF2B5EF4-FFF2-40B4-BE49-F238E27FC236}">
                <a16:creationId xmlns:a16="http://schemas.microsoft.com/office/drawing/2014/main" xmlns="" id="{71A9F4D3-BA53-41A1-A595-896BC60C62E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3188" name="Title 3">
            <a:extLst>
              <a:ext uri="{FF2B5EF4-FFF2-40B4-BE49-F238E27FC236}">
                <a16:creationId xmlns:a16="http://schemas.microsoft.com/office/drawing/2014/main" xmlns="" id="{35D5A706-0F13-4A33-B487-1E5D67D56D86}"/>
              </a:ext>
            </a:extLst>
          </p:cNvPr>
          <p:cNvSpPr txBox="1">
            <a:spLocks/>
          </p:cNvSpPr>
          <p:nvPr/>
        </p:nvSpPr>
        <p:spPr bwMode="auto">
          <a:xfrm>
            <a:off x="463550" y="852488"/>
            <a:ext cx="11353800" cy="518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1800" b="1">
              <a:latin typeface="Times New Roman" panose="02020603050405020304" pitchFamily="18" charset="0"/>
              <a:cs typeface="Times New Roman" panose="02020603050405020304" pitchFamily="18" charset="0"/>
            </a:endParaRPr>
          </a:p>
        </p:txBody>
      </p:sp>
      <p:sp>
        <p:nvSpPr>
          <p:cNvPr id="93189" name="Rectangle 2">
            <a:extLst>
              <a:ext uri="{FF2B5EF4-FFF2-40B4-BE49-F238E27FC236}">
                <a16:creationId xmlns:a16="http://schemas.microsoft.com/office/drawing/2014/main" xmlns="" id="{C6A4A5E8-9768-4524-8589-53943376D62E}"/>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Single valued vs. multi valued attribute</a:t>
            </a:r>
          </a:p>
        </p:txBody>
      </p:sp>
      <p:graphicFrame>
        <p:nvGraphicFramePr>
          <p:cNvPr id="4" name="Diagram 3">
            <a:extLst>
              <a:ext uri="{FF2B5EF4-FFF2-40B4-BE49-F238E27FC236}">
                <a16:creationId xmlns:a16="http://schemas.microsoft.com/office/drawing/2014/main" xmlns="" id="{1E72EC6A-5902-43EA-AC7D-C74521FB3CB2}"/>
              </a:ext>
            </a:extLst>
          </p:cNvPr>
          <p:cNvGraphicFramePr/>
          <p:nvPr/>
        </p:nvGraphicFramePr>
        <p:xfrm>
          <a:off x="1981200" y="1659986"/>
          <a:ext cx="8589108" cy="36576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wipe/>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15">
            <a:extLst>
              <a:ext uri="{FF2B5EF4-FFF2-40B4-BE49-F238E27FC236}">
                <a16:creationId xmlns:a16="http://schemas.microsoft.com/office/drawing/2014/main" xmlns="" id="{2B031A8C-0560-410E-9A3F-DF77B7E92F75}"/>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94211" name="Picture 1">
            <a:extLst>
              <a:ext uri="{FF2B5EF4-FFF2-40B4-BE49-F238E27FC236}">
                <a16:creationId xmlns:a16="http://schemas.microsoft.com/office/drawing/2014/main" xmlns="" id="{ACE2684C-7D91-48E7-AB5B-ED515B3A6EB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4212" name="Title 3">
            <a:extLst>
              <a:ext uri="{FF2B5EF4-FFF2-40B4-BE49-F238E27FC236}">
                <a16:creationId xmlns:a16="http://schemas.microsoft.com/office/drawing/2014/main" xmlns="" id="{218B9C42-42E5-457F-9CD4-68824AFB49D0}"/>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eaLnBrk="1" hangingPunct="1">
              <a:lnSpc>
                <a:spcPct val="101000"/>
              </a:lnSpc>
              <a:spcBef>
                <a:spcPct val="0"/>
              </a:spcBef>
              <a:buFontTx/>
              <a:buNone/>
            </a:pPr>
            <a:r>
              <a:rPr lang="en-US" altLang="en-US" sz="2400">
                <a:solidFill>
                  <a:srgbClr val="FF0000"/>
                </a:solidFill>
                <a:latin typeface="Times New Roman" panose="02020603050405020304" pitchFamily="18" charset="0"/>
                <a:cs typeface="Times New Roman" panose="02020603050405020304" pitchFamily="18" charset="0"/>
              </a:rPr>
              <a:t>Stored versus Derived Attributes</a:t>
            </a:r>
            <a:r>
              <a:rPr lang="en-US" altLang="en-US" sz="2400">
                <a:latin typeface="Times New Roman" panose="02020603050405020304" pitchFamily="18" charset="0"/>
                <a:cs typeface="Times New Roman" panose="02020603050405020304" pitchFamily="18" charset="0"/>
              </a:rPr>
              <a:t>:</a:t>
            </a:r>
          </a:p>
          <a:p>
            <a:pPr algn="just" eaLnBrk="1" hangingPunct="1">
              <a:lnSpc>
                <a:spcPct val="101000"/>
              </a:lnSpc>
              <a:spcBef>
                <a:spcPct val="0"/>
              </a:spcBef>
              <a:buFontTx/>
              <a:buNone/>
            </a:pPr>
            <a:r>
              <a:rPr lang="en-US" altLang="en-US" sz="2400">
                <a:latin typeface="Times New Roman" panose="02020603050405020304" pitchFamily="18" charset="0"/>
                <a:cs typeface="Times New Roman" panose="02020603050405020304" pitchFamily="18" charset="0"/>
              </a:rPr>
              <a:t>In some cases, two (or more) attribute values are related—for example, the Age and Birth_date attributes of a person. </a:t>
            </a:r>
          </a:p>
          <a:p>
            <a:pPr algn="just" eaLnBrk="1" hangingPunct="1">
              <a:lnSpc>
                <a:spcPct val="101000"/>
              </a:lnSpc>
              <a:spcBef>
                <a:spcPct val="0"/>
              </a:spcBef>
              <a:buFontTx/>
              <a:buNone/>
            </a:pPr>
            <a:r>
              <a:rPr lang="en-US" altLang="en-US" sz="2400">
                <a:latin typeface="Times New Roman" panose="02020603050405020304" pitchFamily="18" charset="0"/>
                <a:cs typeface="Times New Roman" panose="02020603050405020304" pitchFamily="18" charset="0"/>
              </a:rPr>
              <a:t>For a particular person entity, the value of Age can be determined from the current (today’s) date and the value of that person’s Birth_date. The Age attribute is hence called a </a:t>
            </a:r>
            <a:r>
              <a:rPr lang="en-US" altLang="en-US" sz="2400">
                <a:solidFill>
                  <a:srgbClr val="FF0000"/>
                </a:solidFill>
                <a:latin typeface="Times New Roman" panose="02020603050405020304" pitchFamily="18" charset="0"/>
                <a:cs typeface="Times New Roman" panose="02020603050405020304" pitchFamily="18" charset="0"/>
              </a:rPr>
              <a:t>derived attribute </a:t>
            </a:r>
            <a:r>
              <a:rPr lang="en-US" altLang="en-US" sz="2400">
                <a:latin typeface="Times New Roman" panose="02020603050405020304" pitchFamily="18" charset="0"/>
                <a:cs typeface="Times New Roman" panose="02020603050405020304" pitchFamily="18" charset="0"/>
              </a:rPr>
              <a:t>and is said to be derivable from the Birth_date attribute, which is called a </a:t>
            </a:r>
            <a:r>
              <a:rPr lang="en-US" altLang="en-US" sz="2400">
                <a:solidFill>
                  <a:srgbClr val="FF0000"/>
                </a:solidFill>
                <a:latin typeface="Times New Roman" panose="02020603050405020304" pitchFamily="18" charset="0"/>
                <a:cs typeface="Times New Roman" panose="02020603050405020304" pitchFamily="18" charset="0"/>
              </a:rPr>
              <a:t>stored attribute</a:t>
            </a:r>
            <a:r>
              <a:rPr lang="en-US" altLang="en-US" sz="2400">
                <a:latin typeface="Times New Roman" panose="02020603050405020304" pitchFamily="18" charset="0"/>
                <a:cs typeface="Times New Roman" panose="02020603050405020304" pitchFamily="18" charset="0"/>
              </a:rPr>
              <a:t>.</a:t>
            </a:r>
          </a:p>
          <a:p>
            <a:pPr algn="just" eaLnBrk="1" hangingPunct="1">
              <a:lnSpc>
                <a:spcPct val="101000"/>
              </a:lnSpc>
              <a:spcBef>
                <a:spcPct val="0"/>
              </a:spcBef>
              <a:buFontTx/>
              <a:buNone/>
            </a:pPr>
            <a:r>
              <a:rPr lang="en-US" altLang="en-US" sz="2400">
                <a:latin typeface="Times New Roman" panose="02020603050405020304" pitchFamily="18" charset="0"/>
                <a:cs typeface="Times New Roman" panose="02020603050405020304" pitchFamily="18" charset="0"/>
              </a:rPr>
              <a:t> Some attribute values can be derived from related entities; for example, an attribute Number_of_employees of a DEPARTMENT entity can be derived by counting the number of employees related to (working for) that department.</a:t>
            </a:r>
            <a:endParaRPr lang="en-IN" altLang="en-US" sz="2400" b="1">
              <a:latin typeface="Times New Roman" panose="02020603050405020304" pitchFamily="18" charset="0"/>
              <a:cs typeface="Times New Roman" panose="02020603050405020304" pitchFamily="18" charset="0"/>
            </a:endParaRPr>
          </a:p>
        </p:txBody>
      </p:sp>
      <p:sp>
        <p:nvSpPr>
          <p:cNvPr id="94213" name="Rectangle 2">
            <a:extLst>
              <a:ext uri="{FF2B5EF4-FFF2-40B4-BE49-F238E27FC236}">
                <a16:creationId xmlns:a16="http://schemas.microsoft.com/office/drawing/2014/main" xmlns="" id="{F884B42D-0887-4E5D-AE1B-29F435770FD2}"/>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Types of Attributes (continued)</a:t>
            </a:r>
          </a:p>
        </p:txBody>
      </p:sp>
    </p:spTree>
  </p:cSld>
  <p:clrMapOvr>
    <a:masterClrMapping/>
  </p:clrMapOvr>
  <p:transition spd="slow">
    <p:wipe/>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15">
            <a:extLst>
              <a:ext uri="{FF2B5EF4-FFF2-40B4-BE49-F238E27FC236}">
                <a16:creationId xmlns:a16="http://schemas.microsoft.com/office/drawing/2014/main" xmlns="" id="{DD04421D-08D7-4E7C-81DD-EA98528B7493}"/>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95235" name="Picture 1">
            <a:extLst>
              <a:ext uri="{FF2B5EF4-FFF2-40B4-BE49-F238E27FC236}">
                <a16:creationId xmlns:a16="http://schemas.microsoft.com/office/drawing/2014/main" xmlns="" id="{8A317D54-C31B-4F6B-8A14-A34AD42744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5236" name="Title 3">
            <a:extLst>
              <a:ext uri="{FF2B5EF4-FFF2-40B4-BE49-F238E27FC236}">
                <a16:creationId xmlns:a16="http://schemas.microsoft.com/office/drawing/2014/main" xmlns="" id="{79635616-2841-49D8-A640-4A4AB1BF6630}"/>
              </a:ext>
            </a:extLst>
          </p:cNvPr>
          <p:cNvSpPr txBox="1">
            <a:spLocks/>
          </p:cNvSpPr>
          <p:nvPr/>
        </p:nvSpPr>
        <p:spPr bwMode="auto">
          <a:xfrm>
            <a:off x="463550" y="209550"/>
            <a:ext cx="11353800" cy="5187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1800" b="1">
              <a:latin typeface="Times New Roman" panose="02020603050405020304" pitchFamily="18" charset="0"/>
              <a:cs typeface="Times New Roman" panose="02020603050405020304" pitchFamily="18" charset="0"/>
            </a:endParaRPr>
          </a:p>
        </p:txBody>
      </p:sp>
      <p:sp>
        <p:nvSpPr>
          <p:cNvPr id="95237" name="Rectangle 2">
            <a:extLst>
              <a:ext uri="{FF2B5EF4-FFF2-40B4-BE49-F238E27FC236}">
                <a16:creationId xmlns:a16="http://schemas.microsoft.com/office/drawing/2014/main" xmlns="" id="{3E7A2F57-573B-4138-B9FE-BEF105D71205}"/>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Derived Versus stored attribute</a:t>
            </a:r>
          </a:p>
        </p:txBody>
      </p:sp>
      <p:graphicFrame>
        <p:nvGraphicFramePr>
          <p:cNvPr id="5" name="Diagram 4">
            <a:extLst>
              <a:ext uri="{FF2B5EF4-FFF2-40B4-BE49-F238E27FC236}">
                <a16:creationId xmlns:a16="http://schemas.microsoft.com/office/drawing/2014/main" xmlns="" id="{C23AC2E7-B727-42F2-AAE6-851669F439E7}"/>
              </a:ext>
            </a:extLst>
          </p:cNvPr>
          <p:cNvGraphicFramePr/>
          <p:nvPr/>
        </p:nvGraphicFramePr>
        <p:xfrm>
          <a:off x="2378869" y="1069145"/>
          <a:ext cx="8128000" cy="49550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spd="slow">
    <p:wipe/>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Rectangle 15">
            <a:extLst>
              <a:ext uri="{FF2B5EF4-FFF2-40B4-BE49-F238E27FC236}">
                <a16:creationId xmlns:a16="http://schemas.microsoft.com/office/drawing/2014/main" xmlns="" id="{0F881DBC-B6A5-40B0-B731-B54D0BBDE41A}"/>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96259" name="Picture 1">
            <a:extLst>
              <a:ext uri="{FF2B5EF4-FFF2-40B4-BE49-F238E27FC236}">
                <a16:creationId xmlns:a16="http://schemas.microsoft.com/office/drawing/2014/main" xmlns="" id="{D025B5FB-9777-46C9-B67E-8682B00C296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6260" name="Title 3">
            <a:extLst>
              <a:ext uri="{FF2B5EF4-FFF2-40B4-BE49-F238E27FC236}">
                <a16:creationId xmlns:a16="http://schemas.microsoft.com/office/drawing/2014/main" xmlns="" id="{38D6B98C-FCDB-4786-B049-7E20A8887438}"/>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eaLnBrk="1" hangingPunct="1">
              <a:lnSpc>
                <a:spcPct val="101000"/>
              </a:lnSpc>
              <a:spcBef>
                <a:spcPct val="0"/>
              </a:spcBef>
              <a:buFontTx/>
              <a:buNone/>
            </a:pPr>
            <a:r>
              <a:rPr lang="en-US" altLang="en-US" sz="2400" dirty="0">
                <a:solidFill>
                  <a:srgbClr val="FF0000"/>
                </a:solidFill>
                <a:latin typeface="Times New Roman" panose="02020603050405020304" pitchFamily="18" charset="0"/>
                <a:cs typeface="Times New Roman" panose="02020603050405020304" pitchFamily="18" charset="0"/>
              </a:rPr>
              <a:t>NULL Values: </a:t>
            </a:r>
          </a:p>
          <a:p>
            <a:pPr algn="just" eaLnBrk="1" hangingPunct="1">
              <a:lnSpc>
                <a:spcPct val="101000"/>
              </a:lnSpc>
              <a:spcBef>
                <a:spcPct val="0"/>
              </a:spcBef>
              <a:buFontTx/>
              <a:buNone/>
            </a:pPr>
            <a:r>
              <a:rPr lang="en-US" altLang="en-US" sz="2400" dirty="0">
                <a:latin typeface="Times New Roman" panose="02020603050405020304" pitchFamily="18" charset="0"/>
                <a:cs typeface="Times New Roman" panose="02020603050405020304" pitchFamily="18" charset="0"/>
              </a:rPr>
              <a:t>		In some cases, a particular entity may not have an applicable value for an attribute. </a:t>
            </a:r>
          </a:p>
          <a:p>
            <a:pPr algn="just" eaLnBrk="1" hangingPunct="1">
              <a:lnSpc>
                <a:spcPct val="101000"/>
              </a:lnSpc>
              <a:spcBef>
                <a:spcPct val="0"/>
              </a:spcBef>
              <a:buFontTx/>
              <a:buNone/>
            </a:pPr>
            <a:r>
              <a:rPr lang="en-US" altLang="en-US" sz="2400" dirty="0">
                <a:latin typeface="Times New Roman" panose="02020603050405020304" pitchFamily="18" charset="0"/>
                <a:cs typeface="Times New Roman" panose="02020603050405020304" pitchFamily="18" charset="0"/>
              </a:rPr>
              <a:t>For example, the </a:t>
            </a:r>
            <a:r>
              <a:rPr lang="en-US" altLang="en-US" sz="2400" dirty="0" err="1">
                <a:latin typeface="Times New Roman" panose="02020603050405020304" pitchFamily="18" charset="0"/>
                <a:cs typeface="Times New Roman" panose="02020603050405020304" pitchFamily="18" charset="0"/>
              </a:rPr>
              <a:t>Apartment_number</a:t>
            </a:r>
            <a:r>
              <a:rPr lang="en-US" altLang="en-US" sz="2400" dirty="0">
                <a:latin typeface="Times New Roman" panose="02020603050405020304" pitchFamily="18" charset="0"/>
                <a:cs typeface="Times New Roman" panose="02020603050405020304" pitchFamily="18" charset="0"/>
              </a:rPr>
              <a:t> attribute of an address applies only to addresses that are in apartment buildings and not to other types of residences, such as single-family homes. </a:t>
            </a:r>
          </a:p>
          <a:p>
            <a:pPr algn="just" eaLnBrk="1" hangingPunct="1">
              <a:lnSpc>
                <a:spcPct val="101000"/>
              </a:lnSpc>
              <a:spcBef>
                <a:spcPct val="0"/>
              </a:spcBef>
              <a:buFontTx/>
              <a:buNone/>
            </a:pPr>
            <a:r>
              <a:rPr lang="en-US" altLang="en-US" sz="2400" dirty="0">
                <a:latin typeface="Times New Roman" panose="02020603050405020304" pitchFamily="18" charset="0"/>
                <a:cs typeface="Times New Roman" panose="02020603050405020304" pitchFamily="18" charset="0"/>
              </a:rPr>
              <a:t>Similarly, a </a:t>
            </a:r>
            <a:r>
              <a:rPr lang="en-US" altLang="en-US" sz="2400" dirty="0" err="1">
                <a:latin typeface="Times New Roman" panose="02020603050405020304" pitchFamily="18" charset="0"/>
                <a:cs typeface="Times New Roman" panose="02020603050405020304" pitchFamily="18" charset="0"/>
              </a:rPr>
              <a:t>College_degrees</a:t>
            </a:r>
            <a:r>
              <a:rPr lang="en-US" altLang="en-US" sz="2400" dirty="0">
                <a:latin typeface="Times New Roman" panose="02020603050405020304" pitchFamily="18" charset="0"/>
                <a:cs typeface="Times New Roman" panose="02020603050405020304" pitchFamily="18" charset="0"/>
              </a:rPr>
              <a:t> attribute applies only to people with college degrees. For such situations, a special value called NULL is created. An address of a single-family home would have NULL for its </a:t>
            </a:r>
            <a:r>
              <a:rPr lang="en-US" altLang="en-US" sz="2400" dirty="0" err="1">
                <a:latin typeface="Times New Roman" panose="02020603050405020304" pitchFamily="18" charset="0"/>
                <a:cs typeface="Times New Roman" panose="02020603050405020304" pitchFamily="18" charset="0"/>
              </a:rPr>
              <a:t>Apartment_number</a:t>
            </a:r>
            <a:r>
              <a:rPr lang="en-US" altLang="en-US" sz="2400" dirty="0">
                <a:latin typeface="Times New Roman" panose="02020603050405020304" pitchFamily="18" charset="0"/>
                <a:cs typeface="Times New Roman" panose="02020603050405020304" pitchFamily="18" charset="0"/>
              </a:rPr>
              <a:t> attribute, and a person with no college degree would have NULL for </a:t>
            </a:r>
            <a:r>
              <a:rPr lang="en-US" altLang="en-US" sz="2400" dirty="0" err="1">
                <a:latin typeface="Times New Roman" panose="02020603050405020304" pitchFamily="18" charset="0"/>
                <a:cs typeface="Times New Roman" panose="02020603050405020304" pitchFamily="18" charset="0"/>
              </a:rPr>
              <a:t>College_degrees</a:t>
            </a:r>
            <a:r>
              <a:rPr lang="en-US" altLang="en-US" sz="2400" dirty="0">
                <a:latin typeface="Times New Roman" panose="02020603050405020304" pitchFamily="18" charset="0"/>
                <a:cs typeface="Times New Roman" panose="02020603050405020304" pitchFamily="18" charset="0"/>
              </a:rPr>
              <a:t>.</a:t>
            </a:r>
          </a:p>
          <a:p>
            <a:pPr algn="just" eaLnBrk="1" hangingPunct="1">
              <a:lnSpc>
                <a:spcPct val="101000"/>
              </a:lnSpc>
              <a:spcBef>
                <a:spcPct val="0"/>
              </a:spcBef>
              <a:buFontTx/>
              <a:buNone/>
            </a:pPr>
            <a:r>
              <a:rPr lang="en-US" altLang="en-US" sz="2400" dirty="0">
                <a:latin typeface="Times New Roman" panose="02020603050405020304" pitchFamily="18" charset="0"/>
                <a:cs typeface="Times New Roman" panose="02020603050405020304" pitchFamily="18" charset="0"/>
              </a:rPr>
              <a:t> NULL can also be used if we do not know the value of an attribute for a particular entity—for example, if we do not know the home phone number of ‘John Smith’</a:t>
            </a:r>
            <a:endParaRPr lang="en-IN" altLang="en-US" sz="2400" b="1" dirty="0">
              <a:latin typeface="Times New Roman" panose="02020603050405020304" pitchFamily="18" charset="0"/>
              <a:cs typeface="Times New Roman" panose="02020603050405020304" pitchFamily="18" charset="0"/>
            </a:endParaRPr>
          </a:p>
        </p:txBody>
      </p:sp>
      <p:sp>
        <p:nvSpPr>
          <p:cNvPr id="96261" name="Rectangle 2">
            <a:extLst>
              <a:ext uri="{FF2B5EF4-FFF2-40B4-BE49-F238E27FC236}">
                <a16:creationId xmlns:a16="http://schemas.microsoft.com/office/drawing/2014/main" xmlns="" id="{C1C33BB3-DD67-4034-9A8E-730BBB7E3B59}"/>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Types of Attributes (continued)</a:t>
            </a:r>
          </a:p>
        </p:txBody>
      </p:sp>
    </p:spTree>
  </p:cSld>
  <p:clrMapOvr>
    <a:masterClrMapping/>
  </p:clrMapOvr>
  <p:transition spd="slow">
    <p:wipe/>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15">
            <a:extLst>
              <a:ext uri="{FF2B5EF4-FFF2-40B4-BE49-F238E27FC236}">
                <a16:creationId xmlns:a16="http://schemas.microsoft.com/office/drawing/2014/main" xmlns="" id="{0C55B5F5-22AE-4CD4-963C-44C99862F93C}"/>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97283" name="Picture 1">
            <a:extLst>
              <a:ext uri="{FF2B5EF4-FFF2-40B4-BE49-F238E27FC236}">
                <a16:creationId xmlns:a16="http://schemas.microsoft.com/office/drawing/2014/main" xmlns="" id="{F0F4E27F-3F3F-4601-B8FD-8633EA3752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4" name="Title 3">
            <a:extLst>
              <a:ext uri="{FF2B5EF4-FFF2-40B4-BE49-F238E27FC236}">
                <a16:creationId xmlns:a16="http://schemas.microsoft.com/office/drawing/2014/main" xmlns="" id="{217D41FE-3AC3-425D-A6DF-139F77788B5B}"/>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eaLnBrk="1" hangingPunct="1">
              <a:lnSpc>
                <a:spcPct val="101000"/>
              </a:lnSpc>
              <a:spcBef>
                <a:spcPct val="0"/>
              </a:spcBef>
              <a:buFontTx/>
              <a:buNone/>
            </a:pPr>
            <a:r>
              <a:rPr lang="en-US" altLang="en-US" sz="2400">
                <a:solidFill>
                  <a:srgbClr val="FF0000"/>
                </a:solidFill>
                <a:latin typeface="Arial" panose="020B0604020202020204" pitchFamily="34" charset="0"/>
              </a:rPr>
              <a:t>Complex Attributes:</a:t>
            </a:r>
          </a:p>
          <a:p>
            <a:pPr algn="just" eaLnBrk="1" hangingPunct="1">
              <a:lnSpc>
                <a:spcPct val="101000"/>
              </a:lnSpc>
              <a:spcBef>
                <a:spcPct val="0"/>
              </a:spcBef>
              <a:buFontTx/>
              <a:buNone/>
            </a:pPr>
            <a:r>
              <a:rPr lang="en-US" altLang="en-US" sz="2400">
                <a:latin typeface="Arial" panose="020B0604020202020204" pitchFamily="34" charset="0"/>
              </a:rPr>
              <a:t> In general, composite and multivalued attributes can be nested arbitrarily. We can represent arbitrary nesting by grouping components of a composite attribute between parentheses () and separating the components with commas, and by displaying multivalued attributes between braces { }. Such attributes are called complex attributes.</a:t>
            </a:r>
          </a:p>
          <a:p>
            <a:pPr algn="just" eaLnBrk="1" hangingPunct="1">
              <a:lnSpc>
                <a:spcPct val="101000"/>
              </a:lnSpc>
              <a:spcBef>
                <a:spcPct val="0"/>
              </a:spcBef>
              <a:buFontTx/>
              <a:buNone/>
            </a:pPr>
            <a:r>
              <a:rPr lang="en-US" altLang="en-US" sz="2400">
                <a:latin typeface="Arial" panose="020B0604020202020204" pitchFamily="34" charset="0"/>
              </a:rPr>
              <a:t>For example, if a person can have more than one residence and each residence can have a single address and multiple phones, Both Phone and Address are themselves composite attributes.</a:t>
            </a:r>
          </a:p>
          <a:p>
            <a:pPr algn="just" eaLnBrk="1" hangingPunct="1">
              <a:lnSpc>
                <a:spcPct val="101000"/>
              </a:lnSpc>
              <a:spcBef>
                <a:spcPct val="0"/>
              </a:spcBef>
              <a:buFontTx/>
              <a:buNone/>
            </a:pPr>
            <a:endParaRPr lang="en-IN" altLang="en-US" sz="2400" b="1">
              <a:latin typeface="Times New Roman" panose="02020603050405020304" pitchFamily="18" charset="0"/>
              <a:cs typeface="Times New Roman" panose="02020603050405020304" pitchFamily="18" charset="0"/>
            </a:endParaRPr>
          </a:p>
          <a:p>
            <a:pPr algn="just" eaLnBrk="1" hangingPunct="1">
              <a:lnSpc>
                <a:spcPct val="101000"/>
              </a:lnSpc>
              <a:spcBef>
                <a:spcPct val="0"/>
              </a:spcBef>
              <a:buFontTx/>
              <a:buNone/>
            </a:pPr>
            <a:endParaRPr lang="en-IN" altLang="en-US" sz="2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2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800" b="1">
                <a:latin typeface="Times New Roman" panose="02020603050405020304" pitchFamily="18" charset="0"/>
                <a:cs typeface="Times New Roman" panose="02020603050405020304" pitchFamily="18" charset="0"/>
              </a:rPr>
              <a:t>Figure  3.3 A complex attribute: Address_phone</a:t>
            </a:r>
          </a:p>
        </p:txBody>
      </p:sp>
      <p:sp>
        <p:nvSpPr>
          <p:cNvPr id="97285" name="Rectangle 2">
            <a:extLst>
              <a:ext uri="{FF2B5EF4-FFF2-40B4-BE49-F238E27FC236}">
                <a16:creationId xmlns:a16="http://schemas.microsoft.com/office/drawing/2014/main" xmlns="" id="{E8CAB584-4F17-430B-84DD-3525EB0277F5}"/>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Types of Attributes (continued..)</a:t>
            </a:r>
          </a:p>
        </p:txBody>
      </p:sp>
      <p:pic>
        <p:nvPicPr>
          <p:cNvPr id="97286" name="Picture 7">
            <a:extLst>
              <a:ext uri="{FF2B5EF4-FFF2-40B4-BE49-F238E27FC236}">
                <a16:creationId xmlns:a16="http://schemas.microsoft.com/office/drawing/2014/main" xmlns="" id="{1F3B5630-0B52-405C-A374-85D1CBE4B45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600" y="4383088"/>
            <a:ext cx="10079038" cy="723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15">
            <a:extLst>
              <a:ext uri="{FF2B5EF4-FFF2-40B4-BE49-F238E27FC236}">
                <a16:creationId xmlns:a16="http://schemas.microsoft.com/office/drawing/2014/main" xmlns="" id="{881C2AAF-7575-4B45-A32E-8DBB6B782188}"/>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98307" name="Picture 1">
            <a:extLst>
              <a:ext uri="{FF2B5EF4-FFF2-40B4-BE49-F238E27FC236}">
                <a16:creationId xmlns:a16="http://schemas.microsoft.com/office/drawing/2014/main" xmlns="" id="{7AD81E36-6BAE-4F8D-9FB3-536F422AAC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2" name="Title 3">
            <a:extLst>
              <a:ext uri="{FF2B5EF4-FFF2-40B4-BE49-F238E27FC236}">
                <a16:creationId xmlns:a16="http://schemas.microsoft.com/office/drawing/2014/main" xmlns="" id="{174E4D05-A04D-488F-BC44-13FD616CF8DB}"/>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9pPr>
          </a:lstStyle>
          <a:p>
            <a:pPr marL="342900" indent="-342900" algn="just" eaLnBrk="1" hangingPunct="1">
              <a:lnSpc>
                <a:spcPct val="101000"/>
              </a:lnSpc>
              <a:buFont typeface="Arial" pitchFamily="34" charset="0"/>
              <a:buChar char="•"/>
              <a:defRPr/>
            </a:pPr>
            <a:endParaRPr lang="en-US" sz="2400" dirty="0">
              <a:latin typeface="Times New Roman" pitchFamily="18" charset="0"/>
              <a:cs typeface="Times New Roman" pitchFamily="18" charset="0"/>
            </a:endParaRPr>
          </a:p>
          <a:p>
            <a:pPr marL="342900" indent="-342900" algn="just" eaLnBrk="1" hangingPunct="1">
              <a:lnSpc>
                <a:spcPct val="101000"/>
              </a:lnSpc>
              <a:buFont typeface="Arial" pitchFamily="34" charset="0"/>
              <a:buChar char="•"/>
              <a:defRPr/>
            </a:pPr>
            <a:r>
              <a:rPr lang="en-US" sz="2400" dirty="0">
                <a:latin typeface="Times New Roman" pitchFamily="18" charset="0"/>
                <a:cs typeface="Times New Roman" pitchFamily="18" charset="0"/>
              </a:rPr>
              <a:t>An </a:t>
            </a:r>
            <a:r>
              <a:rPr lang="en-US" sz="2400" dirty="0">
                <a:solidFill>
                  <a:srgbClr val="FF0000"/>
                </a:solidFill>
                <a:latin typeface="Times New Roman" pitchFamily="18" charset="0"/>
                <a:cs typeface="Times New Roman" pitchFamily="18" charset="0"/>
              </a:rPr>
              <a:t>entity type </a:t>
            </a:r>
            <a:r>
              <a:rPr lang="en-US" sz="2400" dirty="0">
                <a:latin typeface="Times New Roman" pitchFamily="18" charset="0"/>
                <a:cs typeface="Times New Roman" pitchFamily="18" charset="0"/>
              </a:rPr>
              <a:t>defines a collection (or set) of entities that have the same attributes. Each entity type in the database is described by its name and attributes.</a:t>
            </a:r>
          </a:p>
          <a:p>
            <a:pPr algn="just" eaLnBrk="1" hangingPunct="1">
              <a:lnSpc>
                <a:spcPct val="101000"/>
              </a:lnSpc>
              <a:defRPr/>
            </a:pPr>
            <a:endParaRPr lang="en-US" sz="2400" dirty="0">
              <a:latin typeface="Times New Roman" pitchFamily="18" charset="0"/>
              <a:cs typeface="Times New Roman" pitchFamily="18" charset="0"/>
            </a:endParaRPr>
          </a:p>
          <a:p>
            <a:pPr marL="342900" indent="-342900" algn="just" eaLnBrk="1" hangingPunct="1">
              <a:lnSpc>
                <a:spcPct val="101000"/>
              </a:lnSpc>
              <a:buFont typeface="Arial" pitchFamily="34" charset="0"/>
              <a:buChar char="•"/>
              <a:defRPr/>
            </a:pPr>
            <a:r>
              <a:rPr lang="en-US" sz="2400" dirty="0">
                <a:latin typeface="Times New Roman" pitchFamily="18" charset="0"/>
                <a:cs typeface="Times New Roman" pitchFamily="18" charset="0"/>
              </a:rPr>
              <a:t>The collection of all entities of a particular entity type in the database at any point in time is called an entity set; the entity set is usually referred to using the same name as the entity type. </a:t>
            </a:r>
          </a:p>
          <a:p>
            <a:pPr algn="just" eaLnBrk="1" hangingPunct="1">
              <a:lnSpc>
                <a:spcPct val="101000"/>
              </a:lnSpc>
              <a:defRPr/>
            </a:pPr>
            <a:r>
              <a:rPr lang="en-US" sz="2400" dirty="0">
                <a:latin typeface="Times New Roman" pitchFamily="18" charset="0"/>
                <a:cs typeface="Times New Roman" pitchFamily="18" charset="0"/>
              </a:rPr>
              <a:t>        For example, EMPLOYEE refers to both a type of entity as well as the current set of all employee entities in the database. </a:t>
            </a:r>
          </a:p>
          <a:p>
            <a:pPr algn="just" eaLnBrk="1" hangingPunct="1">
              <a:lnSpc>
                <a:spcPct val="101000"/>
              </a:lnSpc>
              <a:defRPr/>
            </a:pPr>
            <a:endParaRPr lang="en-US" sz="2400" dirty="0">
              <a:latin typeface="Times New Roman" pitchFamily="18" charset="0"/>
              <a:cs typeface="Times New Roman" pitchFamily="18" charset="0"/>
            </a:endParaRPr>
          </a:p>
          <a:p>
            <a:pPr marL="342900" indent="-342900" algn="just" eaLnBrk="1" hangingPunct="1">
              <a:lnSpc>
                <a:spcPct val="101000"/>
              </a:lnSpc>
              <a:buFont typeface="Arial" pitchFamily="34" charset="0"/>
              <a:buChar char="•"/>
              <a:defRPr/>
            </a:pPr>
            <a:r>
              <a:rPr lang="en-US" sz="2400" dirty="0">
                <a:latin typeface="Times New Roman" pitchFamily="18" charset="0"/>
                <a:cs typeface="Times New Roman" pitchFamily="18" charset="0"/>
              </a:rPr>
              <a:t>An entity type describes the schema or intension for a set of entities that share the same structure. The collection of entities of a particular entity type is grouped into an </a:t>
            </a:r>
            <a:r>
              <a:rPr lang="en-US" sz="2400" dirty="0">
                <a:solidFill>
                  <a:srgbClr val="FF0000"/>
                </a:solidFill>
                <a:latin typeface="Times New Roman" pitchFamily="18" charset="0"/>
                <a:cs typeface="Times New Roman" pitchFamily="18" charset="0"/>
              </a:rPr>
              <a:t>entity set</a:t>
            </a:r>
            <a:r>
              <a:rPr lang="en-US" sz="2400" dirty="0">
                <a:latin typeface="Times New Roman" pitchFamily="18" charset="0"/>
                <a:cs typeface="Times New Roman" pitchFamily="18" charset="0"/>
              </a:rPr>
              <a:t>, which is also called the extension of the entity type.</a:t>
            </a:r>
            <a:endParaRPr lang="en-IN" altLang="en-US" sz="2400" b="1" dirty="0">
              <a:latin typeface="Times New Roman" pitchFamily="18" charset="0"/>
              <a:cs typeface="Times New Roman" pitchFamily="18" charset="0"/>
            </a:endParaRPr>
          </a:p>
        </p:txBody>
      </p:sp>
      <p:sp>
        <p:nvSpPr>
          <p:cNvPr id="98309" name="Rectangle 2">
            <a:extLst>
              <a:ext uri="{FF2B5EF4-FFF2-40B4-BE49-F238E27FC236}">
                <a16:creationId xmlns:a16="http://schemas.microsoft.com/office/drawing/2014/main" xmlns="" id="{3B5644B8-1DD7-4272-9D0C-3D6329B3F00B}"/>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Entity Types and Entity Sets.</a:t>
            </a:r>
          </a:p>
        </p:txBody>
      </p:sp>
    </p:spTree>
  </p:cSld>
  <p:clrMapOvr>
    <a:masterClrMapping/>
  </p:clrMapOvr>
  <p:transition spd="slow">
    <p:wipe/>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15">
            <a:extLst>
              <a:ext uri="{FF2B5EF4-FFF2-40B4-BE49-F238E27FC236}">
                <a16:creationId xmlns:a16="http://schemas.microsoft.com/office/drawing/2014/main" xmlns="" id="{110AF8BE-4B17-49B1-B430-DE0FB75CD814}"/>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99331" name="Picture 1">
            <a:extLst>
              <a:ext uri="{FF2B5EF4-FFF2-40B4-BE49-F238E27FC236}">
                <a16:creationId xmlns:a16="http://schemas.microsoft.com/office/drawing/2014/main" xmlns="" id="{5DBA5498-1A5E-4AD6-BEDA-0340282ECD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9332" name="Title 3">
            <a:extLst>
              <a:ext uri="{FF2B5EF4-FFF2-40B4-BE49-F238E27FC236}">
                <a16:creationId xmlns:a16="http://schemas.microsoft.com/office/drawing/2014/main" xmlns="" id="{A63888D2-43DD-4893-9C06-D21B4EE35126}"/>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600" b="1">
                <a:latin typeface="Times New Roman" panose="02020603050405020304" pitchFamily="18" charset="0"/>
                <a:cs typeface="Times New Roman" panose="02020603050405020304" pitchFamily="18" charset="0"/>
              </a:rPr>
              <a:t>Figure 3.4  Two entity types, EMPLOYEE  and COMPANY ,and some member entities  of each</a:t>
            </a:r>
          </a:p>
        </p:txBody>
      </p:sp>
      <p:sp>
        <p:nvSpPr>
          <p:cNvPr id="99333" name="Rectangle 2">
            <a:extLst>
              <a:ext uri="{FF2B5EF4-FFF2-40B4-BE49-F238E27FC236}">
                <a16:creationId xmlns:a16="http://schemas.microsoft.com/office/drawing/2014/main" xmlns="" id="{B518839E-D130-4416-9C5D-9CC2E879A8F9}"/>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Entity Types and Entity Sets continued</a:t>
            </a:r>
          </a:p>
        </p:txBody>
      </p:sp>
      <p:pic>
        <p:nvPicPr>
          <p:cNvPr id="99334" name="Picture 7">
            <a:extLst>
              <a:ext uri="{FF2B5EF4-FFF2-40B4-BE49-F238E27FC236}">
                <a16:creationId xmlns:a16="http://schemas.microsoft.com/office/drawing/2014/main" xmlns="" id="{320C270F-579F-4B31-928E-3B4AEA15841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52675" y="1562100"/>
            <a:ext cx="7486650" cy="3733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15">
            <a:extLst>
              <a:ext uri="{FF2B5EF4-FFF2-40B4-BE49-F238E27FC236}">
                <a16:creationId xmlns:a16="http://schemas.microsoft.com/office/drawing/2014/main" xmlns="" id="{62AC1821-270E-405C-812B-75636C8F1012}"/>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00355" name="Picture 1">
            <a:extLst>
              <a:ext uri="{FF2B5EF4-FFF2-40B4-BE49-F238E27FC236}">
                <a16:creationId xmlns:a16="http://schemas.microsoft.com/office/drawing/2014/main" xmlns="" id="{704B5232-5CB2-4F8B-997D-E9D814B3B3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0" name="Title 3">
            <a:extLst>
              <a:ext uri="{FF2B5EF4-FFF2-40B4-BE49-F238E27FC236}">
                <a16:creationId xmlns:a16="http://schemas.microsoft.com/office/drawing/2014/main" xmlns="" id="{5EBDCAC4-2AA5-42C3-BB43-C01909154B3B}"/>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9pPr>
          </a:lstStyle>
          <a:p>
            <a:pPr marL="342900" indent="-342900" algn="just" eaLnBrk="1" hangingPunct="1">
              <a:lnSpc>
                <a:spcPct val="101000"/>
              </a:lnSpc>
              <a:buFont typeface="Arial" pitchFamily="34" charset="0"/>
              <a:buChar char="•"/>
              <a:defRPr/>
            </a:pPr>
            <a:r>
              <a:rPr lang="en-US" sz="2400" dirty="0">
                <a:latin typeface="Times New Roman" pitchFamily="18" charset="0"/>
                <a:cs typeface="Times New Roman" pitchFamily="18" charset="0"/>
              </a:rPr>
              <a:t>An important constraint on the entities of an entity type is the </a:t>
            </a:r>
            <a:r>
              <a:rPr lang="en-US" sz="2400" dirty="0">
                <a:solidFill>
                  <a:srgbClr val="FF0000"/>
                </a:solidFill>
                <a:latin typeface="Times New Roman" pitchFamily="18" charset="0"/>
                <a:cs typeface="Times New Roman" pitchFamily="18" charset="0"/>
              </a:rPr>
              <a:t>key or uniqueness constraint</a:t>
            </a:r>
            <a:r>
              <a:rPr lang="en-US" sz="2400" dirty="0">
                <a:latin typeface="Times New Roman" pitchFamily="18" charset="0"/>
                <a:cs typeface="Times New Roman" pitchFamily="18" charset="0"/>
              </a:rPr>
              <a:t> on attributes. </a:t>
            </a:r>
          </a:p>
          <a:p>
            <a:pPr marL="342900" indent="-342900" algn="just" eaLnBrk="1" hangingPunct="1">
              <a:lnSpc>
                <a:spcPct val="101000"/>
              </a:lnSpc>
              <a:buFont typeface="Arial" pitchFamily="34" charset="0"/>
              <a:buChar char="•"/>
              <a:defRPr/>
            </a:pPr>
            <a:r>
              <a:rPr lang="en-US" sz="2400" dirty="0">
                <a:latin typeface="Times New Roman" pitchFamily="18" charset="0"/>
                <a:cs typeface="Times New Roman" pitchFamily="18" charset="0"/>
              </a:rPr>
              <a:t>An entity type usually has one or more attributes whose values are distinct for each individual entity in the entity set. Such an attribute is called a </a:t>
            </a:r>
            <a:r>
              <a:rPr lang="en-US" sz="2400" dirty="0">
                <a:solidFill>
                  <a:srgbClr val="FF0000"/>
                </a:solidFill>
                <a:latin typeface="Times New Roman" pitchFamily="18" charset="0"/>
                <a:cs typeface="Times New Roman" pitchFamily="18" charset="0"/>
              </a:rPr>
              <a:t>key attribute</a:t>
            </a:r>
            <a:r>
              <a:rPr lang="en-US" sz="2400" dirty="0">
                <a:latin typeface="Times New Roman" pitchFamily="18" charset="0"/>
                <a:cs typeface="Times New Roman" pitchFamily="18" charset="0"/>
              </a:rPr>
              <a:t>, and its values can be used to identify each entity uniquely.</a:t>
            </a:r>
          </a:p>
          <a:p>
            <a:pPr marL="342900" indent="-342900" algn="just" eaLnBrk="1" hangingPunct="1">
              <a:lnSpc>
                <a:spcPct val="101000"/>
              </a:lnSpc>
              <a:buFont typeface="Arial" pitchFamily="34" charset="0"/>
              <a:buChar char="•"/>
              <a:defRPr/>
            </a:pPr>
            <a:endParaRPr lang="en-US" sz="2400" dirty="0">
              <a:latin typeface="Times New Roman" pitchFamily="18" charset="0"/>
              <a:cs typeface="Times New Roman" pitchFamily="18" charset="0"/>
            </a:endParaRPr>
          </a:p>
          <a:p>
            <a:pPr marL="342900" indent="-342900" algn="just" eaLnBrk="1" hangingPunct="1">
              <a:lnSpc>
                <a:spcPct val="101000"/>
              </a:lnSpc>
              <a:buFont typeface="Arial" pitchFamily="34" charset="0"/>
              <a:buChar char="•"/>
              <a:defRPr/>
            </a:pPr>
            <a:r>
              <a:rPr lang="en-US" sz="2400" dirty="0">
                <a:latin typeface="Times New Roman" pitchFamily="18" charset="0"/>
                <a:cs typeface="Times New Roman" pitchFamily="18" charset="0"/>
              </a:rPr>
              <a:t>For example, the Name attribute is a key of the COMPANY entity type because no two companies are allowed to have the same name. </a:t>
            </a:r>
          </a:p>
          <a:p>
            <a:pPr marL="342900" indent="-342900" algn="just" eaLnBrk="1" hangingPunct="1">
              <a:lnSpc>
                <a:spcPct val="101000"/>
              </a:lnSpc>
              <a:buFont typeface="Arial" pitchFamily="34" charset="0"/>
              <a:buChar char="•"/>
              <a:defRPr/>
            </a:pPr>
            <a:r>
              <a:rPr lang="en-US" sz="2400" dirty="0">
                <a:latin typeface="Times New Roman" pitchFamily="18" charset="0"/>
                <a:cs typeface="Times New Roman" pitchFamily="18" charset="0"/>
              </a:rPr>
              <a:t>For the PERSON entity type, a typical key attribute is </a:t>
            </a:r>
            <a:r>
              <a:rPr lang="en-US" sz="2400" dirty="0" err="1">
                <a:latin typeface="Times New Roman" pitchFamily="18" charset="0"/>
                <a:cs typeface="Times New Roman" pitchFamily="18" charset="0"/>
              </a:rPr>
              <a:t>Ssn</a:t>
            </a:r>
            <a:r>
              <a:rPr lang="en-US" sz="2400" dirty="0">
                <a:latin typeface="Times New Roman" pitchFamily="18" charset="0"/>
                <a:cs typeface="Times New Roman" pitchFamily="18" charset="0"/>
              </a:rPr>
              <a:t> (Social Security number).</a:t>
            </a:r>
          </a:p>
          <a:p>
            <a:pPr marL="342900" indent="-342900" algn="just" eaLnBrk="1" hangingPunct="1">
              <a:lnSpc>
                <a:spcPct val="101000"/>
              </a:lnSpc>
              <a:buFont typeface="Arial" pitchFamily="34" charset="0"/>
              <a:buChar char="•"/>
              <a:defRPr/>
            </a:pPr>
            <a:r>
              <a:rPr lang="en-US" sz="2400" dirty="0">
                <a:latin typeface="Times New Roman" pitchFamily="18" charset="0"/>
                <a:cs typeface="Times New Roman" pitchFamily="18" charset="0"/>
              </a:rPr>
              <a:t>In ER diagrammatic notation, each key attribute has its name underlined inside the oval, as illustrated in Figure 3.5 (a).</a:t>
            </a:r>
          </a:p>
          <a:p>
            <a:pPr marL="342900" indent="-342900" algn="just" eaLnBrk="1" hangingPunct="1">
              <a:lnSpc>
                <a:spcPct val="101000"/>
              </a:lnSpc>
              <a:buFont typeface="Arial" pitchFamily="34" charset="0"/>
              <a:buChar char="•"/>
              <a:defRPr/>
            </a:pPr>
            <a:r>
              <a:rPr lang="en-US" sz="2400" dirty="0">
                <a:solidFill>
                  <a:srgbClr val="FF0000"/>
                </a:solidFill>
                <a:latin typeface="Times New Roman" pitchFamily="18" charset="0"/>
                <a:cs typeface="Times New Roman" pitchFamily="18" charset="0"/>
              </a:rPr>
              <a:t>Domain</a:t>
            </a:r>
            <a:r>
              <a:rPr lang="en-US" sz="2400" dirty="0">
                <a:latin typeface="Times New Roman" pitchFamily="18" charset="0"/>
                <a:cs typeface="Times New Roman" pitchFamily="18" charset="0"/>
              </a:rPr>
              <a:t> – the set of permitted values for each attribute </a:t>
            </a:r>
          </a:p>
          <a:p>
            <a:pPr marL="342900" indent="-342900" algn="just" eaLnBrk="1" hangingPunct="1">
              <a:lnSpc>
                <a:spcPct val="101000"/>
              </a:lnSpc>
              <a:buFont typeface="Arial" pitchFamily="34" charset="0"/>
              <a:buChar char="•"/>
              <a:defRPr/>
            </a:pPr>
            <a:endParaRPr lang="en-US" sz="2400" dirty="0">
              <a:latin typeface="Times New Roman" pitchFamily="18" charset="0"/>
              <a:cs typeface="Times New Roman" pitchFamily="18" charset="0"/>
            </a:endParaRPr>
          </a:p>
          <a:p>
            <a:pPr algn="just" eaLnBrk="1" hangingPunct="1">
              <a:lnSpc>
                <a:spcPct val="101000"/>
              </a:lnSpc>
              <a:defRPr/>
            </a:pPr>
            <a:endParaRPr lang="en-IN" altLang="en-US" sz="2400" b="1" dirty="0">
              <a:latin typeface="Times New Roman" pitchFamily="18" charset="0"/>
              <a:cs typeface="Times New Roman" pitchFamily="18" charset="0"/>
            </a:endParaRPr>
          </a:p>
        </p:txBody>
      </p:sp>
      <p:sp>
        <p:nvSpPr>
          <p:cNvPr id="100357" name="Rectangle 2">
            <a:extLst>
              <a:ext uri="{FF2B5EF4-FFF2-40B4-BE49-F238E27FC236}">
                <a16:creationId xmlns:a16="http://schemas.microsoft.com/office/drawing/2014/main" xmlns="" id="{36EE03D1-3783-4393-A9E4-91EAFA9912E6}"/>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Key Attributes of an Entity Type.</a:t>
            </a:r>
          </a:p>
        </p:txBody>
      </p:sp>
    </p:spTree>
  </p:cSld>
  <p:clrMapOvr>
    <a:masterClrMapping/>
  </p:clrMapOvr>
  <p:transition spd="slow">
    <p:wipe/>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3A4488B-A948-462A-9369-D7B2DB518039}"/>
              </a:ext>
            </a:extLst>
          </p:cNvPr>
          <p:cNvSpPr>
            <a:spLocks noGrp="1"/>
          </p:cNvSpPr>
          <p:nvPr>
            <p:ph type="title"/>
          </p:nvPr>
        </p:nvSpPr>
        <p:spPr/>
        <p:txBody>
          <a:bodyPr/>
          <a:lstStyle/>
          <a:p>
            <a:r>
              <a:rPr lang="en-IN" dirty="0"/>
              <a:t>Displaying an Entity type</a:t>
            </a:r>
          </a:p>
        </p:txBody>
      </p:sp>
      <p:sp>
        <p:nvSpPr>
          <p:cNvPr id="3" name="Content Placeholder 2">
            <a:extLst>
              <a:ext uri="{FF2B5EF4-FFF2-40B4-BE49-F238E27FC236}">
                <a16:creationId xmlns:a16="http://schemas.microsoft.com/office/drawing/2014/main" xmlns="" id="{BD149D15-83FB-4458-B5B6-DF8F29AD97C4}"/>
              </a:ext>
            </a:extLst>
          </p:cNvPr>
          <p:cNvSpPr>
            <a:spLocks noGrp="1"/>
          </p:cNvSpPr>
          <p:nvPr>
            <p:ph idx="1"/>
          </p:nvPr>
        </p:nvSpPr>
        <p:spPr/>
        <p:txBody>
          <a:bodyPr/>
          <a:lstStyle/>
          <a:p>
            <a:r>
              <a:rPr lang="en-IN" dirty="0">
                <a:solidFill>
                  <a:srgbClr val="33339A"/>
                </a:solidFill>
                <a:latin typeface="ArialMT"/>
              </a:rPr>
              <a:t>In ER diagrams, an entity type is displayed in a rectangular box</a:t>
            </a:r>
          </a:p>
          <a:p>
            <a:r>
              <a:rPr lang="en-IN" dirty="0">
                <a:solidFill>
                  <a:srgbClr val="33339A"/>
                </a:solidFill>
                <a:latin typeface="ArialMT"/>
              </a:rPr>
              <a:t>Attributes are displayed in ovals</a:t>
            </a:r>
          </a:p>
          <a:p>
            <a:r>
              <a:rPr lang="en-IN" dirty="0">
                <a:solidFill>
                  <a:srgbClr val="810000"/>
                </a:solidFill>
                <a:latin typeface="ArialMT"/>
              </a:rPr>
              <a:t>Each attribute is connected to its entity type</a:t>
            </a:r>
          </a:p>
          <a:p>
            <a:r>
              <a:rPr lang="en-IN" dirty="0">
                <a:solidFill>
                  <a:srgbClr val="810000"/>
                </a:solidFill>
                <a:latin typeface="ArialMT"/>
              </a:rPr>
              <a:t>Components of a composite attribute are connected to the oval representing the composite attribute</a:t>
            </a:r>
          </a:p>
          <a:p>
            <a:r>
              <a:rPr lang="en-IN" dirty="0">
                <a:solidFill>
                  <a:srgbClr val="810000"/>
                </a:solidFill>
                <a:latin typeface="ArialMT"/>
              </a:rPr>
              <a:t>Each key attribute is underlined</a:t>
            </a:r>
          </a:p>
          <a:p>
            <a:r>
              <a:rPr lang="en-IN" dirty="0">
                <a:solidFill>
                  <a:srgbClr val="810000"/>
                </a:solidFill>
                <a:latin typeface="ArialMT"/>
              </a:rPr>
              <a:t>Multivalued attributes displayed in double ovals</a:t>
            </a:r>
            <a:endParaRPr lang="en-IN" dirty="0"/>
          </a:p>
        </p:txBody>
      </p:sp>
    </p:spTree>
    <p:extLst>
      <p:ext uri="{BB962C8B-B14F-4D97-AF65-F5344CB8AC3E}">
        <p14:creationId xmlns:p14="http://schemas.microsoft.com/office/powerpoint/2010/main" val="3049557350"/>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946192-08F3-439C-A595-B94B610659C0}"/>
              </a:ext>
            </a:extLst>
          </p:cNvPr>
          <p:cNvSpPr>
            <a:spLocks noGrp="1"/>
          </p:cNvSpPr>
          <p:nvPr>
            <p:ph type="title"/>
          </p:nvPr>
        </p:nvSpPr>
        <p:spPr/>
        <p:txBody>
          <a:bodyPr/>
          <a:lstStyle/>
          <a:p>
            <a:r>
              <a:rPr lang="en-IN" dirty="0"/>
              <a:t>Draw an ER Diagram Representation for car</a:t>
            </a:r>
          </a:p>
        </p:txBody>
      </p:sp>
      <p:sp>
        <p:nvSpPr>
          <p:cNvPr id="3" name="Content Placeholder 2">
            <a:extLst>
              <a:ext uri="{FF2B5EF4-FFF2-40B4-BE49-F238E27FC236}">
                <a16:creationId xmlns:a16="http://schemas.microsoft.com/office/drawing/2014/main" xmlns="" id="{80F744D3-6241-43AF-9EAF-E2F5ED43A0B8}"/>
              </a:ext>
            </a:extLst>
          </p:cNvPr>
          <p:cNvSpPr>
            <a:spLocks noGrp="1"/>
          </p:cNvSpPr>
          <p:nvPr>
            <p:ph idx="1"/>
          </p:nvPr>
        </p:nvSpPr>
        <p:spPr/>
        <p:txBody>
          <a:bodyPr/>
          <a:lstStyle/>
          <a:p>
            <a:r>
              <a:rPr lang="en-IN" dirty="0"/>
              <a:t>Entity Type: Car</a:t>
            </a:r>
          </a:p>
          <a:p>
            <a:r>
              <a:rPr lang="en-IN" dirty="0"/>
              <a:t>Attributes:</a:t>
            </a:r>
          </a:p>
          <a:p>
            <a:pPr lvl="1"/>
            <a:r>
              <a:rPr lang="en-IN" dirty="0"/>
              <a:t>Registration number  Composite(state, registration)……&gt;key</a:t>
            </a:r>
          </a:p>
          <a:p>
            <a:pPr lvl="1"/>
            <a:r>
              <a:rPr lang="en-IN" dirty="0"/>
              <a:t>Vehicle id ----------</a:t>
            </a:r>
            <a:r>
              <a:rPr lang="en-IN" dirty="0">
                <a:sym typeface="Wingdings" panose="05000000000000000000" pitchFamily="2" charset="2"/>
              </a:rPr>
              <a:t>key</a:t>
            </a:r>
          </a:p>
          <a:p>
            <a:pPr lvl="1"/>
            <a:r>
              <a:rPr lang="en-IN" dirty="0">
                <a:sym typeface="Wingdings" panose="05000000000000000000" pitchFamily="2" charset="2"/>
              </a:rPr>
              <a:t>Year </a:t>
            </a:r>
          </a:p>
          <a:p>
            <a:pPr lvl="1"/>
            <a:r>
              <a:rPr lang="en-IN" dirty="0">
                <a:sym typeface="Wingdings" panose="05000000000000000000" pitchFamily="2" charset="2"/>
              </a:rPr>
              <a:t>Make </a:t>
            </a:r>
          </a:p>
          <a:p>
            <a:pPr lvl="1"/>
            <a:r>
              <a:rPr lang="en-IN" dirty="0">
                <a:sym typeface="Wingdings" panose="05000000000000000000" pitchFamily="2" charset="2"/>
              </a:rPr>
              <a:t>Model </a:t>
            </a:r>
          </a:p>
          <a:p>
            <a:pPr lvl="1"/>
            <a:r>
              <a:rPr lang="en-IN" dirty="0" err="1">
                <a:sym typeface="Wingdings" panose="05000000000000000000" pitchFamily="2" charset="2"/>
              </a:rPr>
              <a:t>Color</a:t>
            </a:r>
            <a:r>
              <a:rPr lang="en-IN" dirty="0">
                <a:sym typeface="Wingdings" panose="05000000000000000000" pitchFamily="2" charset="2"/>
              </a:rPr>
              <a:t> ----------multivalued</a:t>
            </a:r>
          </a:p>
          <a:p>
            <a:pPr lvl="1"/>
            <a:endParaRPr lang="en-IN" dirty="0"/>
          </a:p>
          <a:p>
            <a:pPr lvl="1"/>
            <a:endParaRPr lang="en-IN" dirty="0"/>
          </a:p>
        </p:txBody>
      </p:sp>
    </p:spTree>
    <p:extLst>
      <p:ext uri="{BB962C8B-B14F-4D97-AF65-F5344CB8AC3E}">
        <p14:creationId xmlns:p14="http://schemas.microsoft.com/office/powerpoint/2010/main" val="34878640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nodeType="clickEffect">
                                  <p:stCondLst>
                                    <p:cond delay="0"/>
                                  </p:stCondLst>
                                  <p:childTnLst>
                                    <p:set>
                                      <p:cBhvr>
                                        <p:cTn id="17" dur="1" fill="hold">
                                          <p:stCondLst>
                                            <p:cond delay="0"/>
                                          </p:stCondLst>
                                        </p:cTn>
                                        <p:tgtEl>
                                          <p:spTgt spid="3">
                                            <p:txEl>
                                              <p:pRg st="1" end="1"/>
                                            </p:txEl>
                                          </p:spTgt>
                                        </p:tgtEl>
                                        <p:attrNameLst>
                                          <p:attrName>style.visibility</p:attrName>
                                        </p:attrNameLst>
                                      </p:cBhvr>
                                      <p:to>
                                        <p:strVal val="visible"/>
                                      </p:to>
                                    </p:set>
                                    <p:animEffect transition="in" filter="fade">
                                      <p:cBhvr>
                                        <p:cTn id="18" dur="1000"/>
                                        <p:tgtEl>
                                          <p:spTgt spid="3">
                                            <p:txEl>
                                              <p:pRg st="1" end="1"/>
                                            </p:txEl>
                                          </p:spTgt>
                                        </p:tgtEl>
                                      </p:cBhvr>
                                    </p:animEffect>
                                    <p:anim calcmode="lin" valueType="num">
                                      <p:cBhvr>
                                        <p:cTn id="19"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20"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3">
                                            <p:txEl>
                                              <p:pRg st="2" end="2"/>
                                            </p:txEl>
                                          </p:spTgt>
                                        </p:tgtEl>
                                        <p:attrNameLst>
                                          <p:attrName>style.visibility</p:attrName>
                                        </p:attrNameLst>
                                      </p:cBhvr>
                                      <p:to>
                                        <p:strVal val="visible"/>
                                      </p:to>
                                    </p:set>
                                    <p:animEffect transition="in" filter="fade">
                                      <p:cBhvr>
                                        <p:cTn id="25" dur="1000"/>
                                        <p:tgtEl>
                                          <p:spTgt spid="3">
                                            <p:txEl>
                                              <p:pRg st="2" end="2"/>
                                            </p:txEl>
                                          </p:spTgt>
                                        </p:tgtEl>
                                      </p:cBhvr>
                                    </p:animEffect>
                                    <p:anim calcmode="lin" valueType="num">
                                      <p:cBhvr>
                                        <p:cTn id="26"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2" end="2"/>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3" end="3"/>
                                            </p:txEl>
                                          </p:spTgt>
                                        </p:tgtEl>
                                        <p:attrNameLst>
                                          <p:attrName>style.visibility</p:attrName>
                                        </p:attrNameLst>
                                      </p:cBhvr>
                                      <p:to>
                                        <p:strVal val="visible"/>
                                      </p:to>
                                    </p:set>
                                    <p:animEffect transition="in" filter="fade">
                                      <p:cBhvr>
                                        <p:cTn id="30" dur="1000"/>
                                        <p:tgtEl>
                                          <p:spTgt spid="3">
                                            <p:txEl>
                                              <p:pRg st="3" end="3"/>
                                            </p:txEl>
                                          </p:spTgt>
                                        </p:tgtEl>
                                      </p:cBhvr>
                                    </p:animEffect>
                                    <p:anim calcmode="lin" valueType="num">
                                      <p:cBhvr>
                                        <p:cTn id="31"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3" end="3"/>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par>
                                <p:cTn id="38" presetID="42" presetClass="entr" presetSubtype="0" fill="hold" nodeType="withEffect">
                                  <p:stCondLst>
                                    <p:cond delay="0"/>
                                  </p:stCondLst>
                                  <p:childTnLst>
                                    <p:set>
                                      <p:cBhvr>
                                        <p:cTn id="39" dur="1" fill="hold">
                                          <p:stCondLst>
                                            <p:cond delay="0"/>
                                          </p:stCondLst>
                                        </p:cTn>
                                        <p:tgtEl>
                                          <p:spTgt spid="3">
                                            <p:txEl>
                                              <p:pRg st="5" end="5"/>
                                            </p:txEl>
                                          </p:spTgt>
                                        </p:tgtEl>
                                        <p:attrNameLst>
                                          <p:attrName>style.visibility</p:attrName>
                                        </p:attrNameLst>
                                      </p:cBhvr>
                                      <p:to>
                                        <p:strVal val="visible"/>
                                      </p:to>
                                    </p:set>
                                    <p:animEffect transition="in" filter="fade">
                                      <p:cBhvr>
                                        <p:cTn id="40" dur="1000"/>
                                        <p:tgtEl>
                                          <p:spTgt spid="3">
                                            <p:txEl>
                                              <p:pRg st="5" end="5"/>
                                            </p:txEl>
                                          </p:spTgt>
                                        </p:tgtEl>
                                      </p:cBhvr>
                                    </p:animEffect>
                                    <p:anim calcmode="lin" valueType="num">
                                      <p:cBhvr>
                                        <p:cTn id="41"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2" dur="1000" fill="hold"/>
                                        <p:tgtEl>
                                          <p:spTgt spid="3">
                                            <p:txEl>
                                              <p:pRg st="5" end="5"/>
                                            </p:txEl>
                                          </p:spTgt>
                                        </p:tgtEl>
                                        <p:attrNameLst>
                                          <p:attrName>ppt_y</p:attrName>
                                        </p:attrNameLst>
                                      </p:cBhvr>
                                      <p:tavLst>
                                        <p:tav tm="0">
                                          <p:val>
                                            <p:strVal val="#ppt_y+.1"/>
                                          </p:val>
                                        </p:tav>
                                        <p:tav tm="100000">
                                          <p:val>
                                            <p:strVal val="#ppt_y"/>
                                          </p:val>
                                        </p:tav>
                                      </p:tavLst>
                                    </p:anim>
                                  </p:childTnLst>
                                </p:cTn>
                              </p:par>
                              <p:par>
                                <p:cTn id="43" presetID="42" presetClass="entr" presetSubtype="0" fill="hold" nodeType="withEffect">
                                  <p:stCondLst>
                                    <p:cond delay="0"/>
                                  </p:stCondLst>
                                  <p:childTnLst>
                                    <p:set>
                                      <p:cBhvr>
                                        <p:cTn id="44" dur="1" fill="hold">
                                          <p:stCondLst>
                                            <p:cond delay="0"/>
                                          </p:stCondLst>
                                        </p:cTn>
                                        <p:tgtEl>
                                          <p:spTgt spid="3">
                                            <p:txEl>
                                              <p:pRg st="6" end="6"/>
                                            </p:txEl>
                                          </p:spTgt>
                                        </p:tgtEl>
                                        <p:attrNameLst>
                                          <p:attrName>style.visibility</p:attrName>
                                        </p:attrNameLst>
                                      </p:cBhvr>
                                      <p:to>
                                        <p:strVal val="visible"/>
                                      </p:to>
                                    </p:set>
                                    <p:animEffect transition="in" filter="fade">
                                      <p:cBhvr>
                                        <p:cTn id="45" dur="1000"/>
                                        <p:tgtEl>
                                          <p:spTgt spid="3">
                                            <p:txEl>
                                              <p:pRg st="6" end="6"/>
                                            </p:txEl>
                                          </p:spTgt>
                                        </p:tgtEl>
                                      </p:cBhvr>
                                    </p:animEffect>
                                    <p:anim calcmode="lin" valueType="num">
                                      <p:cBhvr>
                                        <p:cTn id="46"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7" dur="1000" fill="hold"/>
                                        <p:tgtEl>
                                          <p:spTgt spid="3">
                                            <p:txEl>
                                              <p:pRg st="6" end="6"/>
                                            </p:txEl>
                                          </p:spTgt>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3">
                                            <p:txEl>
                                              <p:pRg st="7" end="7"/>
                                            </p:txEl>
                                          </p:spTgt>
                                        </p:tgtEl>
                                        <p:attrNameLst>
                                          <p:attrName>style.visibility</p:attrName>
                                        </p:attrNameLst>
                                      </p:cBhvr>
                                      <p:to>
                                        <p:strVal val="visible"/>
                                      </p:to>
                                    </p:set>
                                    <p:animEffect transition="in" filter="fade">
                                      <p:cBhvr>
                                        <p:cTn id="50" dur="1000"/>
                                        <p:tgtEl>
                                          <p:spTgt spid="3">
                                            <p:txEl>
                                              <p:pRg st="7" end="7"/>
                                            </p:txEl>
                                          </p:spTgt>
                                        </p:tgtEl>
                                      </p:cBhvr>
                                    </p:animEffect>
                                    <p:anim calcmode="lin" valueType="num">
                                      <p:cBhvr>
                                        <p:cTn id="51"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2"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15">
            <a:extLst>
              <a:ext uri="{FF2B5EF4-FFF2-40B4-BE49-F238E27FC236}">
                <a16:creationId xmlns:a16="http://schemas.microsoft.com/office/drawing/2014/main" xmlns="" id="{9B4EF63D-7797-4BC4-81FA-3492B027A8F5}"/>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01379" name="Picture 1">
            <a:extLst>
              <a:ext uri="{FF2B5EF4-FFF2-40B4-BE49-F238E27FC236}">
                <a16:creationId xmlns:a16="http://schemas.microsoft.com/office/drawing/2014/main" xmlns="" id="{0E481759-077A-4E76-9243-603CF8405F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1380" name="Title 3">
            <a:extLst>
              <a:ext uri="{FF2B5EF4-FFF2-40B4-BE49-F238E27FC236}">
                <a16:creationId xmlns:a16="http://schemas.microsoft.com/office/drawing/2014/main" xmlns="" id="{FF07C1BB-C665-4A76-B053-DF38BC0595BD}"/>
              </a:ext>
            </a:extLst>
          </p:cNvPr>
          <p:cNvSpPr txBox="1">
            <a:spLocks/>
          </p:cNvSpPr>
          <p:nvPr/>
        </p:nvSpPr>
        <p:spPr bwMode="auto">
          <a:xfrm>
            <a:off x="463550" y="852488"/>
            <a:ext cx="11353800" cy="543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800" b="1">
                <a:latin typeface="Times New Roman" panose="02020603050405020304" pitchFamily="18" charset="0"/>
                <a:cs typeface="Times New Roman" panose="02020603050405020304" pitchFamily="18" charset="0"/>
              </a:rPr>
              <a:t>Figure  3.5 The CAR entity type with two key attributes, Registration and Vehicle_id  </a:t>
            </a:r>
          </a:p>
          <a:p>
            <a:pPr algn="ctr" eaLnBrk="1" hangingPunct="1">
              <a:lnSpc>
                <a:spcPct val="101000"/>
              </a:lnSpc>
              <a:spcBef>
                <a:spcPct val="0"/>
              </a:spcBef>
              <a:buFontTx/>
              <a:buNone/>
            </a:pPr>
            <a:r>
              <a:rPr lang="en-IN" altLang="en-US" sz="1800" b="1">
                <a:latin typeface="Times New Roman" panose="02020603050405020304" pitchFamily="18" charset="0"/>
                <a:cs typeface="Times New Roman" panose="02020603050405020304" pitchFamily="18" charset="0"/>
              </a:rPr>
              <a:t>a) ER diagram notation b) Entity set with three attributes</a:t>
            </a:r>
          </a:p>
        </p:txBody>
      </p:sp>
      <p:sp>
        <p:nvSpPr>
          <p:cNvPr id="101381" name="Rectangle 2">
            <a:extLst>
              <a:ext uri="{FF2B5EF4-FFF2-40B4-BE49-F238E27FC236}">
                <a16:creationId xmlns:a16="http://schemas.microsoft.com/office/drawing/2014/main" xmlns="" id="{EDF80583-EB5F-4649-B8B5-40171137A4C8}"/>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pic>
        <p:nvPicPr>
          <p:cNvPr id="101382" name="Picture 7">
            <a:extLst>
              <a:ext uri="{FF2B5EF4-FFF2-40B4-BE49-F238E27FC236}">
                <a16:creationId xmlns:a16="http://schemas.microsoft.com/office/drawing/2014/main" xmlns="" id="{BDF8D42A-C2D4-49FB-A601-3E746B6FC7B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238" y="852488"/>
            <a:ext cx="7629525" cy="45053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15">
            <a:extLst>
              <a:ext uri="{FF2B5EF4-FFF2-40B4-BE49-F238E27FC236}">
                <a16:creationId xmlns:a16="http://schemas.microsoft.com/office/drawing/2014/main" xmlns="" id="{C771B294-F689-481F-890C-4BB8BCA3C548}"/>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02403" name="Picture 1">
            <a:extLst>
              <a:ext uri="{FF2B5EF4-FFF2-40B4-BE49-F238E27FC236}">
                <a16:creationId xmlns:a16="http://schemas.microsoft.com/office/drawing/2014/main" xmlns="" id="{AF084FD0-BECE-4375-89D6-E7947F9A39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016F351C-1FFD-4D5D-831F-CBBA2BAB0608}"/>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defRPr/>
            </a:pPr>
            <a:r>
              <a:rPr lang="en-IN" altLang="en-US" sz="2400" dirty="0">
                <a:latin typeface="Times New Roman" pitchFamily="18" charset="0"/>
                <a:cs typeface="Times New Roman" pitchFamily="18" charset="0"/>
              </a:rPr>
              <a:t>19. </a:t>
            </a:r>
            <a:r>
              <a:rPr lang="en-US" sz="2400" dirty="0">
                <a:latin typeface="Times New Roman" pitchFamily="18" charset="0"/>
                <a:cs typeface="Times New Roman" pitchFamily="18" charset="0"/>
              </a:rPr>
              <a:t>The attributes that can be arranged into hierarchy are called -----------</a:t>
            </a:r>
            <a:endParaRPr lang="en-IN" sz="2400" dirty="0">
              <a:latin typeface="Times New Roman" pitchFamily="18" charset="0"/>
              <a:cs typeface="Times New Roman" pitchFamily="18" charset="0"/>
            </a:endParaRP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Composite attribute</a:t>
            </a:r>
            <a:r>
              <a:rPr lang="en-IN" sz="2400" dirty="0">
                <a:solidFill>
                  <a:srgbClr val="FF0000"/>
                </a:solidFill>
                <a:latin typeface="Times New Roman" pitchFamily="18" charset="0"/>
                <a:cs typeface="Times New Roman" pitchFamily="18" charset="0"/>
              </a:rPr>
              <a:t>     b)</a:t>
            </a:r>
            <a:r>
              <a:rPr lang="en-US" sz="2400" dirty="0">
                <a:solidFill>
                  <a:srgbClr val="FF0000"/>
                </a:solidFill>
                <a:latin typeface="Times New Roman" pitchFamily="18" charset="0"/>
                <a:cs typeface="Times New Roman" pitchFamily="18" charset="0"/>
              </a:rPr>
              <a:t>Atomic attributes</a:t>
            </a:r>
            <a:r>
              <a:rPr lang="en-IN" sz="2400" dirty="0">
                <a:solidFill>
                  <a:srgbClr val="FF0000"/>
                </a:solidFill>
                <a:latin typeface="Times New Roman" pitchFamily="18" charset="0"/>
                <a:cs typeface="Times New Roman" pitchFamily="18" charset="0"/>
              </a:rPr>
              <a:t>   c)</a:t>
            </a:r>
            <a:r>
              <a:rPr lang="en-US" sz="2400" dirty="0">
                <a:solidFill>
                  <a:srgbClr val="FF0000"/>
                </a:solidFill>
                <a:latin typeface="Times New Roman" pitchFamily="18" charset="0"/>
                <a:cs typeface="Times New Roman" pitchFamily="18" charset="0"/>
              </a:rPr>
              <a:t>Derived attributes</a:t>
            </a:r>
            <a:r>
              <a:rPr lang="en-IN" sz="2400" dirty="0">
                <a:solidFill>
                  <a:srgbClr val="FF0000"/>
                </a:solidFill>
                <a:latin typeface="Times New Roman" pitchFamily="18" charset="0"/>
                <a:cs typeface="Times New Roman" pitchFamily="18" charset="0"/>
              </a:rPr>
              <a:t>    d)</a:t>
            </a:r>
            <a:r>
              <a:rPr lang="en-US" sz="2400" dirty="0">
                <a:solidFill>
                  <a:srgbClr val="FF0000"/>
                </a:solidFill>
                <a:latin typeface="Times New Roman" pitchFamily="18" charset="0"/>
                <a:cs typeface="Times New Roman" pitchFamily="18" charset="0"/>
              </a:rPr>
              <a:t>Simple attributes</a:t>
            </a:r>
            <a:endParaRPr lang="en-US" sz="2400" dirty="0">
              <a:latin typeface="Times New Roman" pitchFamily="18" charset="0"/>
              <a:cs typeface="Times New Roman" pitchFamily="18" charset="0"/>
            </a:endParaRPr>
          </a:p>
          <a:p>
            <a:pPr>
              <a:defRPr/>
            </a:pPr>
            <a:r>
              <a:rPr lang="en-US" sz="2400" dirty="0" err="1">
                <a:latin typeface="Times New Roman" pitchFamily="18" charset="0"/>
                <a:cs typeface="Times New Roman" pitchFamily="18" charset="0"/>
              </a:rPr>
              <a:t>Ans</a:t>
            </a:r>
            <a:r>
              <a:rPr lang="en-US" sz="2400" dirty="0">
                <a:latin typeface="Times New Roman" pitchFamily="18" charset="0"/>
                <a:cs typeface="Times New Roman" pitchFamily="18" charset="0"/>
              </a:rPr>
              <a:t>: </a:t>
            </a:r>
            <a:r>
              <a:rPr lang="en-US" sz="2400" dirty="0">
                <a:solidFill>
                  <a:srgbClr val="92D050"/>
                </a:solidFill>
                <a:latin typeface="Times New Roman" pitchFamily="18" charset="0"/>
                <a:cs typeface="Times New Roman" pitchFamily="18" charset="0"/>
              </a:rPr>
              <a:t>Composite attribute</a:t>
            </a:r>
          </a:p>
          <a:p>
            <a:pPr>
              <a:defRPr/>
            </a:pPr>
            <a:endParaRPr lang="en-US" sz="2400" dirty="0">
              <a:latin typeface="Times New Roman" pitchFamily="18" charset="0"/>
              <a:cs typeface="Times New Roman" pitchFamily="18" charset="0"/>
            </a:endParaRPr>
          </a:p>
          <a:p>
            <a:pPr>
              <a:defRPr/>
            </a:pPr>
            <a:r>
              <a:rPr lang="en-US" sz="2400" dirty="0">
                <a:latin typeface="Times New Roman" pitchFamily="18" charset="0"/>
                <a:cs typeface="Times New Roman" pitchFamily="18" charset="0"/>
              </a:rPr>
              <a:t>20. Set of all entities having same attributes is called classified as--------</a:t>
            </a:r>
            <a:endParaRPr lang="en-IN" sz="2400" dirty="0">
              <a:latin typeface="Times New Roman" pitchFamily="18" charset="0"/>
              <a:cs typeface="Times New Roman" pitchFamily="18" charset="0"/>
            </a:endParaRP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Entity type</a:t>
            </a:r>
            <a:r>
              <a:rPr lang="en-IN" sz="2400" dirty="0">
                <a:solidFill>
                  <a:srgbClr val="FF0000"/>
                </a:solidFill>
                <a:latin typeface="Times New Roman" pitchFamily="18" charset="0"/>
                <a:cs typeface="Times New Roman" pitchFamily="18" charset="0"/>
              </a:rPr>
              <a:t>      b)  </a:t>
            </a:r>
            <a:r>
              <a:rPr lang="en-US" sz="2400" dirty="0">
                <a:solidFill>
                  <a:srgbClr val="FF0000"/>
                </a:solidFill>
                <a:latin typeface="Times New Roman" pitchFamily="18" charset="0"/>
                <a:cs typeface="Times New Roman" pitchFamily="18" charset="0"/>
              </a:rPr>
              <a:t>Attribute type</a:t>
            </a:r>
            <a:r>
              <a:rPr lang="en-IN" sz="2400" dirty="0">
                <a:solidFill>
                  <a:srgbClr val="FF0000"/>
                </a:solidFill>
                <a:latin typeface="Times New Roman" pitchFamily="18" charset="0"/>
                <a:cs typeface="Times New Roman" pitchFamily="18" charset="0"/>
              </a:rPr>
              <a:t>     c) </a:t>
            </a:r>
            <a:r>
              <a:rPr lang="en-US" sz="2400" dirty="0">
                <a:solidFill>
                  <a:srgbClr val="FF0000"/>
                </a:solidFill>
                <a:latin typeface="Times New Roman" pitchFamily="18" charset="0"/>
                <a:cs typeface="Times New Roman" pitchFamily="18" charset="0"/>
              </a:rPr>
              <a:t>Function type</a:t>
            </a:r>
            <a:r>
              <a:rPr lang="en-IN" sz="2400" dirty="0">
                <a:solidFill>
                  <a:srgbClr val="FF0000"/>
                </a:solidFill>
                <a:latin typeface="Times New Roman" pitchFamily="18" charset="0"/>
                <a:cs typeface="Times New Roman" pitchFamily="18" charset="0"/>
              </a:rPr>
              <a:t>     d)</a:t>
            </a:r>
            <a:r>
              <a:rPr lang="en-US" sz="2400" dirty="0">
                <a:solidFill>
                  <a:srgbClr val="FF0000"/>
                </a:solidFill>
                <a:latin typeface="Times New Roman" pitchFamily="18" charset="0"/>
                <a:cs typeface="Times New Roman" pitchFamily="18" charset="0"/>
              </a:rPr>
              <a:t>Hierarchy type</a:t>
            </a:r>
            <a:endParaRPr lang="en-IN" sz="2400" dirty="0">
              <a:solidFill>
                <a:srgbClr val="FF0000"/>
              </a:solidFill>
              <a:latin typeface="Times New Roman" pitchFamily="18" charset="0"/>
              <a:cs typeface="Times New Roman" pitchFamily="18" charset="0"/>
            </a:endParaRPr>
          </a:p>
          <a:p>
            <a:pPr>
              <a:defRPr/>
            </a:pPr>
            <a:r>
              <a:rPr lang="en-IN" sz="2400" dirty="0" err="1">
                <a:latin typeface="Times New Roman" pitchFamily="18" charset="0"/>
                <a:cs typeface="Times New Roman" pitchFamily="18" charset="0"/>
              </a:rPr>
              <a:t>Ans</a:t>
            </a:r>
            <a:r>
              <a:rPr lang="en-IN" sz="2400" dirty="0">
                <a:latin typeface="Times New Roman" pitchFamily="18" charset="0"/>
                <a:cs typeface="Times New Roman" pitchFamily="18" charset="0"/>
              </a:rPr>
              <a:t>: </a:t>
            </a:r>
            <a:r>
              <a:rPr lang="en-US" sz="2400" dirty="0">
                <a:solidFill>
                  <a:srgbClr val="92D050"/>
                </a:solidFill>
                <a:latin typeface="Times New Roman" pitchFamily="18" charset="0"/>
                <a:cs typeface="Times New Roman" pitchFamily="18" charset="0"/>
              </a:rPr>
              <a:t>Entity type</a:t>
            </a:r>
          </a:p>
          <a:p>
            <a:pPr>
              <a:defRPr/>
            </a:pPr>
            <a:endParaRPr lang="en-US" sz="2400" dirty="0">
              <a:solidFill>
                <a:srgbClr val="92D050"/>
              </a:solidFill>
              <a:latin typeface="Times New Roman" pitchFamily="18" charset="0"/>
              <a:cs typeface="Times New Roman" pitchFamily="18" charset="0"/>
            </a:endParaRPr>
          </a:p>
          <a:p>
            <a:pPr eaLnBrk="1" hangingPunct="1">
              <a:lnSpc>
                <a:spcPct val="101000"/>
              </a:lnSpc>
              <a:defRPr/>
            </a:pPr>
            <a:r>
              <a:rPr lang="en-IN" altLang="en-US" sz="2400" dirty="0">
                <a:latin typeface="Times New Roman" pitchFamily="18" charset="0"/>
                <a:cs typeface="Times New Roman" pitchFamily="18" charset="0"/>
              </a:rPr>
              <a:t>21. In a database schema, the database snapshot is also called </a:t>
            </a:r>
          </a:p>
          <a:p>
            <a:pPr marL="457200" indent="-457200" eaLnBrk="1" hangingPunct="1">
              <a:lnSpc>
                <a:spcPct val="101000"/>
              </a:lnSpc>
              <a:buFont typeface="+mj-lt"/>
              <a:buAutoNum type="alphaLcParenR"/>
              <a:defRPr/>
            </a:pPr>
            <a:r>
              <a:rPr lang="en-IN" altLang="en-US" sz="2400" dirty="0">
                <a:solidFill>
                  <a:srgbClr val="FF0000"/>
                </a:solidFill>
                <a:latin typeface="Times New Roman" pitchFamily="18" charset="0"/>
                <a:cs typeface="Times New Roman" pitchFamily="18" charset="0"/>
              </a:rPr>
              <a:t>Current set of  entity                         b) Current set of instances</a:t>
            </a:r>
          </a:p>
          <a:p>
            <a:pPr eaLnBrk="1" hangingPunct="1">
              <a:lnSpc>
                <a:spcPct val="101000"/>
              </a:lnSpc>
              <a:defRPr/>
            </a:pPr>
            <a:r>
              <a:rPr lang="en-IN" altLang="en-US" sz="2400" dirty="0">
                <a:solidFill>
                  <a:srgbClr val="FF0000"/>
                </a:solidFill>
                <a:latin typeface="Times New Roman" pitchFamily="18" charset="0"/>
                <a:cs typeface="Times New Roman" pitchFamily="18" charset="0"/>
              </a:rPr>
              <a:t>c)    Current set of attributes                     d) Current set of objects</a:t>
            </a:r>
          </a:p>
          <a:p>
            <a:pPr eaLnBrk="1" hangingPunct="1">
              <a:lnSpc>
                <a:spcPct val="101000"/>
              </a:lnSpc>
              <a:defRPr/>
            </a:pPr>
            <a:r>
              <a:rPr lang="en-IN" altLang="en-US" sz="2400" dirty="0" err="1">
                <a:latin typeface="Times New Roman" pitchFamily="18" charset="0"/>
                <a:cs typeface="Times New Roman" pitchFamily="18" charset="0"/>
              </a:rPr>
              <a:t>Ans</a:t>
            </a:r>
            <a:r>
              <a:rPr lang="en-IN" altLang="en-US" sz="2400" dirty="0">
                <a:solidFill>
                  <a:srgbClr val="92D050"/>
                </a:solidFill>
                <a:latin typeface="Times New Roman" pitchFamily="18" charset="0"/>
                <a:cs typeface="Times New Roman" pitchFamily="18" charset="0"/>
              </a:rPr>
              <a:t>: Current set of instances</a:t>
            </a:r>
          </a:p>
          <a:p>
            <a:pPr eaLnBrk="1" hangingPunct="1">
              <a:lnSpc>
                <a:spcPct val="101000"/>
              </a:lnSpc>
              <a:defRPr/>
            </a:pPr>
            <a:r>
              <a:rPr lang="en-IN" altLang="en-US" sz="2400" dirty="0">
                <a:latin typeface="Times New Roman" pitchFamily="18" charset="0"/>
                <a:cs typeface="Times New Roman" pitchFamily="18" charset="0"/>
              </a:rPr>
              <a:t> </a:t>
            </a:r>
          </a:p>
          <a:p>
            <a:pPr>
              <a:defRPr/>
            </a:pPr>
            <a:endParaRPr lang="en-IN" sz="2400" dirty="0">
              <a:solidFill>
                <a:srgbClr val="92D050"/>
              </a:solidFill>
              <a:latin typeface="Times New Roman" pitchFamily="18" charset="0"/>
              <a:cs typeface="Times New Roman" pitchFamily="18" charset="0"/>
            </a:endParaRPr>
          </a:p>
          <a:p>
            <a:pPr eaLnBrk="1" hangingPunct="1">
              <a:lnSpc>
                <a:spcPct val="101000"/>
              </a:lnSpc>
              <a:defRPr/>
            </a:pPr>
            <a:endParaRPr lang="en-IN" altLang="en-US" sz="2400" b="1" dirty="0">
              <a:latin typeface="Times New Roman" pitchFamily="18" charset="0"/>
              <a:cs typeface="Times New Roman" pitchFamily="18" charset="0"/>
            </a:endParaRPr>
          </a:p>
        </p:txBody>
      </p:sp>
      <p:sp>
        <p:nvSpPr>
          <p:cNvPr id="102405" name="Rectangle 2">
            <a:extLst>
              <a:ext uri="{FF2B5EF4-FFF2-40B4-BE49-F238E27FC236}">
                <a16:creationId xmlns:a16="http://schemas.microsoft.com/office/drawing/2014/main" xmlns="" id="{B8BB00D5-7797-4C0D-A130-F85223403815}"/>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3428">
                                            <p:txEl>
                                              <p:pRg st="1" end="1"/>
                                            </p:txEl>
                                          </p:spTgt>
                                        </p:tgtEl>
                                        <p:attrNameLst>
                                          <p:attrName>style.visibility</p:attrName>
                                        </p:attrNameLst>
                                      </p:cBhvr>
                                      <p:to>
                                        <p:strVal val="visible"/>
                                      </p:to>
                                    </p:set>
                                    <p:anim calcmode="lin" valueType="num">
                                      <p:cBhvr additive="base">
                                        <p:cTn id="13" dur="5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3428">
                                            <p:txEl>
                                              <p:pRg st="2" end="2"/>
                                            </p:txEl>
                                          </p:spTgt>
                                        </p:tgtEl>
                                        <p:attrNameLst>
                                          <p:attrName>style.visibility</p:attrName>
                                        </p:attrNameLst>
                                      </p:cBhvr>
                                      <p:to>
                                        <p:strVal val="visible"/>
                                      </p:to>
                                    </p:set>
                                    <p:anim calcmode="lin" valueType="num">
                                      <p:cBhvr additive="base">
                                        <p:cTn id="19" dur="500" fill="hold"/>
                                        <p:tgtEl>
                                          <p:spTgt spid="10342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4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3428">
                                            <p:txEl>
                                              <p:pRg st="4" end="4"/>
                                            </p:txEl>
                                          </p:spTgt>
                                        </p:tgtEl>
                                        <p:attrNameLst>
                                          <p:attrName>style.visibility</p:attrName>
                                        </p:attrNameLst>
                                      </p:cBhvr>
                                      <p:to>
                                        <p:strVal val="visible"/>
                                      </p:to>
                                    </p:set>
                                    <p:anim calcmode="lin" valueType="num">
                                      <p:cBhvr additive="base">
                                        <p:cTn id="25" dur="500" fill="hold"/>
                                        <p:tgtEl>
                                          <p:spTgt spid="10342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42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3428">
                                            <p:txEl>
                                              <p:pRg st="5" end="5"/>
                                            </p:txEl>
                                          </p:spTgt>
                                        </p:tgtEl>
                                        <p:attrNameLst>
                                          <p:attrName>style.visibility</p:attrName>
                                        </p:attrNameLst>
                                      </p:cBhvr>
                                      <p:to>
                                        <p:strVal val="visible"/>
                                      </p:to>
                                    </p:set>
                                    <p:anim calcmode="lin" valueType="num">
                                      <p:cBhvr additive="base">
                                        <p:cTn id="31" dur="500" fill="hold"/>
                                        <p:tgtEl>
                                          <p:spTgt spid="10342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342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03428">
                                            <p:txEl>
                                              <p:pRg st="6" end="6"/>
                                            </p:txEl>
                                          </p:spTgt>
                                        </p:tgtEl>
                                        <p:attrNameLst>
                                          <p:attrName>style.visibility</p:attrName>
                                        </p:attrNameLst>
                                      </p:cBhvr>
                                      <p:to>
                                        <p:strVal val="visible"/>
                                      </p:to>
                                    </p:set>
                                    <p:anim calcmode="lin" valueType="num">
                                      <p:cBhvr additive="base">
                                        <p:cTn id="37" dur="500" fill="hold"/>
                                        <p:tgtEl>
                                          <p:spTgt spid="10342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342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03428">
                                            <p:txEl>
                                              <p:pRg st="8" end="8"/>
                                            </p:txEl>
                                          </p:spTgt>
                                        </p:tgtEl>
                                        <p:attrNameLst>
                                          <p:attrName>style.visibility</p:attrName>
                                        </p:attrNameLst>
                                      </p:cBhvr>
                                      <p:to>
                                        <p:strVal val="visible"/>
                                      </p:to>
                                    </p:set>
                                    <p:anim calcmode="lin" valueType="num">
                                      <p:cBhvr additive="base">
                                        <p:cTn id="43" dur="500" fill="hold"/>
                                        <p:tgtEl>
                                          <p:spTgt spid="10342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342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103428">
                                            <p:txEl>
                                              <p:pRg st="9" end="9"/>
                                            </p:txEl>
                                          </p:spTgt>
                                        </p:tgtEl>
                                        <p:attrNameLst>
                                          <p:attrName>style.visibility</p:attrName>
                                        </p:attrNameLst>
                                      </p:cBhvr>
                                      <p:to>
                                        <p:strVal val="visible"/>
                                      </p:to>
                                    </p:set>
                                    <p:anim calcmode="lin" valueType="num">
                                      <p:cBhvr additive="base">
                                        <p:cTn id="49" dur="500" fill="hold"/>
                                        <p:tgtEl>
                                          <p:spTgt spid="103428">
                                            <p:txEl>
                                              <p:pRg st="9" end="9"/>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3428">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1" fill="hold" nodeType="clickPar">
                      <p:stCondLst>
                        <p:cond delay="indefinite"/>
                      </p:stCondLst>
                      <p:childTnLst>
                        <p:par>
                          <p:cTn id="52" fill="hold" nodeType="withGroup">
                            <p:stCondLst>
                              <p:cond delay="0"/>
                            </p:stCondLst>
                            <p:childTnLst>
                              <p:par>
                                <p:cTn id="53" presetID="2" presetClass="entr" presetSubtype="4" fill="hold" nodeType="clickEffect">
                                  <p:stCondLst>
                                    <p:cond delay="0"/>
                                  </p:stCondLst>
                                  <p:childTnLst>
                                    <p:set>
                                      <p:cBhvr>
                                        <p:cTn id="54" dur="1" fill="hold">
                                          <p:stCondLst>
                                            <p:cond delay="0"/>
                                          </p:stCondLst>
                                        </p:cTn>
                                        <p:tgtEl>
                                          <p:spTgt spid="103428">
                                            <p:txEl>
                                              <p:pRg st="10" end="10"/>
                                            </p:txEl>
                                          </p:spTgt>
                                        </p:tgtEl>
                                        <p:attrNameLst>
                                          <p:attrName>style.visibility</p:attrName>
                                        </p:attrNameLst>
                                      </p:cBhvr>
                                      <p:to>
                                        <p:strVal val="visible"/>
                                      </p:to>
                                    </p:set>
                                    <p:anim calcmode="lin" valueType="num">
                                      <p:cBhvr additive="base">
                                        <p:cTn id="55" dur="500" fill="hold"/>
                                        <p:tgtEl>
                                          <p:spTgt spid="103428">
                                            <p:txEl>
                                              <p:pRg st="10" end="10"/>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103428">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2" presetClass="entr" presetSubtype="4" fill="hold" nodeType="clickEffect">
                                  <p:stCondLst>
                                    <p:cond delay="0"/>
                                  </p:stCondLst>
                                  <p:childTnLst>
                                    <p:set>
                                      <p:cBhvr>
                                        <p:cTn id="60" dur="1" fill="hold">
                                          <p:stCondLst>
                                            <p:cond delay="0"/>
                                          </p:stCondLst>
                                        </p:cTn>
                                        <p:tgtEl>
                                          <p:spTgt spid="103428">
                                            <p:txEl>
                                              <p:pRg st="11" end="11"/>
                                            </p:txEl>
                                          </p:spTgt>
                                        </p:tgtEl>
                                        <p:attrNameLst>
                                          <p:attrName>style.visibility</p:attrName>
                                        </p:attrNameLst>
                                      </p:cBhvr>
                                      <p:to>
                                        <p:strVal val="visible"/>
                                      </p:to>
                                    </p:set>
                                    <p:anim calcmode="lin" valueType="num">
                                      <p:cBhvr additive="base">
                                        <p:cTn id="61" dur="500" fill="hold"/>
                                        <p:tgtEl>
                                          <p:spTgt spid="103428">
                                            <p:txEl>
                                              <p:pRg st="11" end="11"/>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103428">
                                            <p:txEl>
                                              <p:pRg st="11" end="11"/>
                                            </p:txEl>
                                          </p:spTgt>
                                        </p:tgtEl>
                                        <p:attrNameLst>
                                          <p:attrName>ppt_y</p:attrName>
                                        </p:attrNameLst>
                                      </p:cBhvr>
                                      <p:tavLst>
                                        <p:tav tm="0">
                                          <p:val>
                                            <p:strVal val="1+#ppt_h/2"/>
                                          </p:val>
                                        </p:tav>
                                        <p:tav tm="100000">
                                          <p:val>
                                            <p:strVal val="#ppt_y"/>
                                          </p:val>
                                        </p:tav>
                                      </p:tavLst>
                                    </p:anim>
                                  </p:childTnLst>
                                </p:cTn>
                              </p:par>
                            </p:childTnLst>
                          </p:cTn>
                        </p:par>
                      </p:childTnLst>
                    </p:cTn>
                  </p:par>
                  <p:par>
                    <p:cTn id="63" fill="hold" nodeType="clickPar">
                      <p:stCondLst>
                        <p:cond delay="indefinite"/>
                      </p:stCondLst>
                      <p:childTnLst>
                        <p:par>
                          <p:cTn id="64" fill="hold" nodeType="withGroup">
                            <p:stCondLst>
                              <p:cond delay="0"/>
                            </p:stCondLst>
                            <p:childTnLst>
                              <p:par>
                                <p:cTn id="65" presetID="2" presetClass="entr" presetSubtype="4" fill="hold" nodeType="clickEffect">
                                  <p:stCondLst>
                                    <p:cond delay="0"/>
                                  </p:stCondLst>
                                  <p:childTnLst>
                                    <p:set>
                                      <p:cBhvr>
                                        <p:cTn id="66" dur="1" fill="hold">
                                          <p:stCondLst>
                                            <p:cond delay="0"/>
                                          </p:stCondLst>
                                        </p:cTn>
                                        <p:tgtEl>
                                          <p:spTgt spid="103428">
                                            <p:txEl>
                                              <p:pRg st="12" end="12"/>
                                            </p:txEl>
                                          </p:spTgt>
                                        </p:tgtEl>
                                        <p:attrNameLst>
                                          <p:attrName>style.visibility</p:attrName>
                                        </p:attrNameLst>
                                      </p:cBhvr>
                                      <p:to>
                                        <p:strVal val="visible"/>
                                      </p:to>
                                    </p:set>
                                    <p:anim calcmode="lin" valueType="num">
                                      <p:cBhvr additive="base">
                                        <p:cTn id="67" dur="500" fill="hold"/>
                                        <p:tgtEl>
                                          <p:spTgt spid="103428">
                                            <p:txEl>
                                              <p:pRg st="12" end="12"/>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103428">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15">
            <a:extLst>
              <a:ext uri="{FF2B5EF4-FFF2-40B4-BE49-F238E27FC236}">
                <a16:creationId xmlns:a16="http://schemas.microsoft.com/office/drawing/2014/main" xmlns="" id="{C1878636-874E-4C60-AD5B-47BAB073D89B}"/>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03427" name="Picture 1">
            <a:extLst>
              <a:ext uri="{FF2B5EF4-FFF2-40B4-BE49-F238E27FC236}">
                <a16:creationId xmlns:a16="http://schemas.microsoft.com/office/drawing/2014/main" xmlns="" id="{0809AD7E-AE26-4346-87A8-320E6C6D0B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033402AE-BA7D-4F2F-8F83-9B63B000ED00}"/>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eaLnBrk="1" hangingPunct="1">
              <a:lnSpc>
                <a:spcPct val="100000"/>
              </a:lnSpc>
              <a:spcBef>
                <a:spcPct val="0"/>
              </a:spcBef>
            </a:pPr>
            <a:endParaRPr lang="en-IN" altLang="en-US" sz="2400">
              <a:latin typeface="Times New Roman" panose="02020603050405020304" pitchFamily="18" charset="0"/>
              <a:cs typeface="Times New Roman" panose="02020603050405020304" pitchFamily="18" charset="0"/>
            </a:endParaRPr>
          </a:p>
          <a:p>
            <a:pPr eaLnBrk="1" hangingPunct="1">
              <a:lnSpc>
                <a:spcPct val="100000"/>
              </a:lnSpc>
              <a:spcBef>
                <a:spcPct val="0"/>
              </a:spcBef>
            </a:pPr>
            <a:r>
              <a:rPr lang="en-IN" altLang="en-US" sz="2400">
                <a:latin typeface="Times New Roman" panose="02020603050405020304" pitchFamily="18" charset="0"/>
                <a:cs typeface="Times New Roman" panose="02020603050405020304" pitchFamily="18" charset="0"/>
              </a:rPr>
              <a:t>Entity types, Entity sets, attributes and keys</a:t>
            </a:r>
          </a:p>
          <a:p>
            <a:pPr eaLnBrk="1" hangingPunct="1">
              <a:lnSpc>
                <a:spcPct val="100000"/>
              </a:lnSpc>
              <a:spcBef>
                <a:spcPct val="0"/>
              </a:spcBef>
            </a:pPr>
            <a:r>
              <a:rPr lang="en-US" altLang="en-US" sz="2400">
                <a:latin typeface="Times New Roman" panose="02020603050405020304" pitchFamily="18" charset="0"/>
                <a:cs typeface="Times New Roman" panose="02020603050405020304" pitchFamily="18" charset="0"/>
              </a:rPr>
              <a:t>Types of attributes</a:t>
            </a:r>
          </a:p>
          <a:p>
            <a:pPr eaLnBrk="1" hangingPunct="1">
              <a:lnSpc>
                <a:spcPct val="100000"/>
              </a:lnSpc>
              <a:spcBef>
                <a:spcPct val="0"/>
              </a:spcBef>
            </a:pPr>
            <a:r>
              <a:rPr lang="en-US" altLang="en-US" sz="2400">
                <a:latin typeface="Times New Roman" panose="02020603050405020304" pitchFamily="18" charset="0"/>
                <a:cs typeface="Times New Roman" panose="02020603050405020304" pitchFamily="18" charset="0"/>
              </a:rPr>
              <a:t>Key Attributes of an Entity Type.</a:t>
            </a:r>
          </a:p>
          <a:p>
            <a:pPr eaLnBrk="1" hangingPunct="1">
              <a:lnSpc>
                <a:spcPct val="100000"/>
              </a:lnSpc>
              <a:spcBef>
                <a:spcPct val="0"/>
              </a:spcBef>
            </a:pPr>
            <a:endParaRPr lang="en-US" altLang="en-US" sz="2400">
              <a:latin typeface="Times New Roman" panose="02020603050405020304" pitchFamily="18" charset="0"/>
              <a:cs typeface="Times New Roman" panose="02020603050405020304" pitchFamily="18" charset="0"/>
            </a:endParaRPr>
          </a:p>
          <a:p>
            <a:pPr eaLnBrk="1" hangingPunct="1">
              <a:lnSpc>
                <a:spcPct val="100000"/>
              </a:lnSpc>
              <a:spcBef>
                <a:spcPct val="0"/>
              </a:spcBef>
            </a:pPr>
            <a:endParaRPr lang="en-US" altLang="en-US" sz="2400">
              <a:latin typeface="Times New Roman" panose="02020603050405020304" pitchFamily="18" charset="0"/>
              <a:cs typeface="Times New Roman" panose="02020603050405020304" pitchFamily="18" charset="0"/>
            </a:endParaRPr>
          </a:p>
          <a:p>
            <a:pPr eaLnBrk="1" hangingPunct="1">
              <a:lnSpc>
                <a:spcPct val="100000"/>
              </a:lnSpc>
              <a:spcBef>
                <a:spcPct val="0"/>
              </a:spcBef>
            </a:pPr>
            <a:endParaRPr lang="en-US" altLang="en-US" sz="2400">
              <a:latin typeface="Times New Roman" panose="02020603050405020304" pitchFamily="18" charset="0"/>
              <a:cs typeface="Times New Roman" panose="02020603050405020304" pitchFamily="18" charset="0"/>
            </a:endParaRPr>
          </a:p>
        </p:txBody>
      </p:sp>
      <p:sp>
        <p:nvSpPr>
          <p:cNvPr id="103429" name="Rectangle 2">
            <a:extLst>
              <a:ext uri="{FF2B5EF4-FFF2-40B4-BE49-F238E27FC236}">
                <a16:creationId xmlns:a16="http://schemas.microsoft.com/office/drawing/2014/main" xmlns="" id="{B7B803EE-7FCB-4DE2-B590-925DE8412652}"/>
              </a:ext>
            </a:extLst>
          </p:cNvPr>
          <p:cNvSpPr txBox="1">
            <a:spLocks noChangeArrowheads="1"/>
          </p:cNvSpPr>
          <p:nvPr/>
        </p:nvSpPr>
        <p:spPr bwMode="auto">
          <a:xfrm>
            <a:off x="990600" y="246063"/>
            <a:ext cx="10564813"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Recalling concepts</a:t>
            </a:r>
          </a:p>
        </p:txBody>
      </p:sp>
    </p:spTree>
  </p:cSld>
  <p:clrMapOvr>
    <a:masterClrMapping/>
  </p:clrMapOvr>
  <p:transition spd="slow">
    <p:wipe/>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15">
            <a:extLst>
              <a:ext uri="{FF2B5EF4-FFF2-40B4-BE49-F238E27FC236}">
                <a16:creationId xmlns:a16="http://schemas.microsoft.com/office/drawing/2014/main" xmlns="" id="{CA111EF2-F17B-4AE5-807C-4B9C395EBCF7}"/>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83971" name="Picture 1">
            <a:extLst>
              <a:ext uri="{FF2B5EF4-FFF2-40B4-BE49-F238E27FC236}">
                <a16:creationId xmlns:a16="http://schemas.microsoft.com/office/drawing/2014/main" xmlns="" id="{651E41F5-7E81-4265-B0AE-4087F9E750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3972" name="Title 3">
            <a:extLst>
              <a:ext uri="{FF2B5EF4-FFF2-40B4-BE49-F238E27FC236}">
                <a16:creationId xmlns:a16="http://schemas.microsoft.com/office/drawing/2014/main" xmlns="" id="{2813E78D-5152-48C0-80CA-B03769A43BDA}"/>
              </a:ext>
            </a:extLst>
          </p:cNvPr>
          <p:cNvSpPr txBox="1">
            <a:spLocks/>
          </p:cNvSpPr>
          <p:nvPr/>
        </p:nvSpPr>
        <p:spPr bwMode="auto">
          <a:xfrm>
            <a:off x="463550" y="1149350"/>
            <a:ext cx="11353800" cy="4565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800100" indent="-3429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257300" indent="-3429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eaLnBrk="1" hangingPunct="1">
              <a:lnSpc>
                <a:spcPct val="101000"/>
              </a:lnSpc>
              <a:spcBef>
                <a:spcPct val="0"/>
              </a:spcBef>
              <a:buFontTx/>
              <a:buNone/>
            </a:pPr>
            <a:endParaRPr lang="en-US" altLang="en-US" sz="2400" dirty="0">
              <a:latin typeface="Times New Roman" panose="02020603050405020304" pitchFamily="18" charset="0"/>
              <a:cs typeface="Times New Roman" panose="02020603050405020304" pitchFamily="18" charset="0"/>
            </a:endParaRPr>
          </a:p>
          <a:p>
            <a:pPr algn="just">
              <a:spcBef>
                <a:spcPct val="0"/>
              </a:spcBef>
              <a:buFontTx/>
              <a:buNone/>
            </a:pPr>
            <a:r>
              <a:rPr lang="en-US" altLang="en-US" sz="2400" dirty="0">
                <a:latin typeface="Times New Roman" panose="02020603050405020304" pitchFamily="18" charset="0"/>
                <a:cs typeface="Times New Roman" panose="02020603050405020304" pitchFamily="18" charset="0"/>
              </a:rPr>
              <a:t>We need to create a database schema design based on the following (simplified) </a:t>
            </a:r>
            <a:r>
              <a:rPr lang="en-US" altLang="en-US" sz="2400" b="1" dirty="0">
                <a:latin typeface="Times New Roman" panose="02020603050405020304" pitchFamily="18" charset="0"/>
                <a:cs typeface="Times New Roman" panose="02020603050405020304" pitchFamily="18" charset="0"/>
              </a:rPr>
              <a:t>requirements</a:t>
            </a:r>
            <a:r>
              <a:rPr lang="en-US" altLang="en-US" sz="2400" dirty="0">
                <a:latin typeface="Times New Roman" panose="02020603050405020304" pitchFamily="18" charset="0"/>
                <a:cs typeface="Times New Roman" panose="02020603050405020304" pitchFamily="18" charset="0"/>
              </a:rPr>
              <a:t> of the COMPANY Database:</a:t>
            </a:r>
          </a:p>
          <a:p>
            <a:pPr algn="just">
              <a:spcBef>
                <a:spcPct val="0"/>
              </a:spcBef>
              <a:buFontTx/>
              <a:buNone/>
            </a:pPr>
            <a:endParaRPr lang="en-US" altLang="en-US" sz="2400" dirty="0">
              <a:latin typeface="Times New Roman" panose="02020603050405020304" pitchFamily="18" charset="0"/>
              <a:cs typeface="Times New Roman" panose="02020603050405020304" pitchFamily="18" charset="0"/>
            </a:endParaRPr>
          </a:p>
          <a:p>
            <a:pPr lvl="1" algn="just">
              <a:spcBef>
                <a:spcPct val="0"/>
              </a:spcBef>
            </a:pPr>
            <a:r>
              <a:rPr lang="en-US" altLang="en-US" dirty="0">
                <a:latin typeface="Times New Roman" panose="02020603050405020304" pitchFamily="18" charset="0"/>
                <a:cs typeface="Times New Roman" panose="02020603050405020304" pitchFamily="18" charset="0"/>
              </a:rPr>
              <a:t>The company is organized into DEPARTMENTs. Each department has a name, number and an employee who </a:t>
            </a:r>
            <a:r>
              <a:rPr lang="en-US" altLang="en-US" i="1" dirty="0">
                <a:latin typeface="Times New Roman" panose="02020603050405020304" pitchFamily="18" charset="0"/>
                <a:cs typeface="Times New Roman" panose="02020603050405020304" pitchFamily="18" charset="0"/>
              </a:rPr>
              <a:t>manages</a:t>
            </a:r>
            <a:r>
              <a:rPr lang="en-US" altLang="en-US" dirty="0">
                <a:latin typeface="Times New Roman" panose="02020603050405020304" pitchFamily="18" charset="0"/>
                <a:cs typeface="Times New Roman" panose="02020603050405020304" pitchFamily="18" charset="0"/>
              </a:rPr>
              <a:t> the department. We keep track of the start date of the department manager. A department may have several locations.</a:t>
            </a:r>
          </a:p>
          <a:p>
            <a:pPr lvl="1" algn="just">
              <a:spcBef>
                <a:spcPct val="0"/>
              </a:spcBef>
            </a:pPr>
            <a:r>
              <a:rPr lang="en-US" altLang="en-US" dirty="0">
                <a:latin typeface="Times New Roman" panose="02020603050405020304" pitchFamily="18" charset="0"/>
                <a:cs typeface="Times New Roman" panose="02020603050405020304" pitchFamily="18" charset="0"/>
              </a:rPr>
              <a:t>Each department </a:t>
            </a:r>
            <a:r>
              <a:rPr lang="en-US" altLang="en-US" i="1" dirty="0">
                <a:latin typeface="Times New Roman" panose="02020603050405020304" pitchFamily="18" charset="0"/>
                <a:cs typeface="Times New Roman" panose="02020603050405020304" pitchFamily="18" charset="0"/>
              </a:rPr>
              <a:t>controls</a:t>
            </a:r>
            <a:r>
              <a:rPr lang="en-US" altLang="en-US" dirty="0">
                <a:latin typeface="Times New Roman" panose="02020603050405020304" pitchFamily="18" charset="0"/>
                <a:cs typeface="Times New Roman" panose="02020603050405020304" pitchFamily="18" charset="0"/>
              </a:rPr>
              <a:t> a number of PROJECTs. Each project has a unique name, unique number and is located at a single location.</a:t>
            </a:r>
          </a:p>
          <a:p>
            <a:pPr lvl="1" algn="just">
              <a:spcBef>
                <a:spcPct val="0"/>
              </a:spcBef>
            </a:pPr>
            <a:r>
              <a:rPr lang="en-US" altLang="en-US" dirty="0">
                <a:latin typeface="Times New Roman" panose="02020603050405020304" pitchFamily="18" charset="0"/>
                <a:cs typeface="Times New Roman" panose="02020603050405020304" pitchFamily="18" charset="0"/>
              </a:rPr>
              <a:t>We store each EMPLOYEE’s social security number, address, salary, sex, and birthdate. </a:t>
            </a:r>
          </a:p>
          <a:p>
            <a:pPr lvl="2" algn="just">
              <a:spcBef>
                <a:spcPct val="0"/>
              </a:spcBef>
            </a:pPr>
            <a:r>
              <a:rPr lang="en-US" altLang="en-US" sz="2400" dirty="0">
                <a:latin typeface="Times New Roman" panose="02020603050405020304" pitchFamily="18" charset="0"/>
                <a:cs typeface="Times New Roman" panose="02020603050405020304" pitchFamily="18" charset="0"/>
              </a:rPr>
              <a:t>Each employee </a:t>
            </a:r>
            <a:r>
              <a:rPr lang="en-US" altLang="en-US" sz="2400" i="1" dirty="0">
                <a:latin typeface="Times New Roman" panose="02020603050405020304" pitchFamily="18" charset="0"/>
                <a:cs typeface="Times New Roman" panose="02020603050405020304" pitchFamily="18" charset="0"/>
              </a:rPr>
              <a:t>works for</a:t>
            </a:r>
            <a:r>
              <a:rPr lang="en-US" altLang="en-US" sz="2400" dirty="0">
                <a:latin typeface="Times New Roman" panose="02020603050405020304" pitchFamily="18" charset="0"/>
                <a:cs typeface="Times New Roman" panose="02020603050405020304" pitchFamily="18" charset="0"/>
              </a:rPr>
              <a:t> one department but may </a:t>
            </a:r>
            <a:r>
              <a:rPr lang="en-US" altLang="en-US" sz="2400" i="1" dirty="0">
                <a:latin typeface="Times New Roman" panose="02020603050405020304" pitchFamily="18" charset="0"/>
                <a:cs typeface="Times New Roman" panose="02020603050405020304" pitchFamily="18" charset="0"/>
              </a:rPr>
              <a:t>work on</a:t>
            </a:r>
            <a:r>
              <a:rPr lang="en-US" altLang="en-US" sz="2400" dirty="0">
                <a:latin typeface="Times New Roman" panose="02020603050405020304" pitchFamily="18" charset="0"/>
                <a:cs typeface="Times New Roman" panose="02020603050405020304" pitchFamily="18" charset="0"/>
              </a:rPr>
              <a:t> several projects.</a:t>
            </a:r>
          </a:p>
          <a:p>
            <a:pPr algn="just" eaLnBrk="1" hangingPunct="1">
              <a:lnSpc>
                <a:spcPct val="101000"/>
              </a:lnSpc>
              <a:spcBef>
                <a:spcPct val="0"/>
              </a:spcBef>
              <a:buFontTx/>
              <a:buNone/>
            </a:pPr>
            <a:endParaRPr lang="en-IN" altLang="en-US" sz="2400" b="1" dirty="0">
              <a:latin typeface="Times New Roman" panose="02020603050405020304" pitchFamily="18" charset="0"/>
              <a:cs typeface="Times New Roman" panose="02020603050405020304" pitchFamily="18" charset="0"/>
            </a:endParaRPr>
          </a:p>
        </p:txBody>
      </p:sp>
      <p:sp>
        <p:nvSpPr>
          <p:cNvPr id="83973" name="Rectangle 2">
            <a:extLst>
              <a:ext uri="{FF2B5EF4-FFF2-40B4-BE49-F238E27FC236}">
                <a16:creationId xmlns:a16="http://schemas.microsoft.com/office/drawing/2014/main" xmlns="" id="{9AF7A5E7-5D27-47FD-8FDC-D42E91365D0B}"/>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None/>
            </a:pPr>
            <a:r>
              <a:rPr lang="en-US" altLang="en-US" dirty="0">
                <a:latin typeface="Times New Roman" panose="02020603050405020304" pitchFamily="18" charset="0"/>
                <a:cs typeface="Times New Roman" panose="02020603050405020304" pitchFamily="18" charset="0"/>
              </a:rPr>
              <a:t>Example - COMPANY Database:</a:t>
            </a:r>
          </a:p>
          <a:p>
            <a:pPr algn="ctr" eaLnBrk="1" hangingPunct="1">
              <a:lnSpc>
                <a:spcPct val="100000"/>
              </a:lnSpc>
              <a:spcBef>
                <a:spcPct val="0"/>
              </a:spcBef>
              <a:buFontTx/>
              <a:buNone/>
            </a:pPr>
            <a:endParaRPr lang="en-US" alt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51487239"/>
      </p:ext>
    </p:extLst>
  </p:cSld>
  <p:clrMapOvr>
    <a:masterClrMapping/>
  </p:clrMapOvr>
  <p:transition spd="slow">
    <p:wipe/>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15">
            <a:extLst>
              <a:ext uri="{FF2B5EF4-FFF2-40B4-BE49-F238E27FC236}">
                <a16:creationId xmlns:a16="http://schemas.microsoft.com/office/drawing/2014/main" xmlns="" id="{ECC32D29-8F7E-4BFA-8A89-00D311BC9A20}"/>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84995" name="Picture 1">
            <a:extLst>
              <a:ext uri="{FF2B5EF4-FFF2-40B4-BE49-F238E27FC236}">
                <a16:creationId xmlns:a16="http://schemas.microsoft.com/office/drawing/2014/main" xmlns="" id="{7C288DF6-7A77-4338-B2CB-19ED646011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4996" name="Title 3">
            <a:extLst>
              <a:ext uri="{FF2B5EF4-FFF2-40B4-BE49-F238E27FC236}">
                <a16:creationId xmlns:a16="http://schemas.microsoft.com/office/drawing/2014/main" xmlns="" id="{278736D0-9BD8-47DC-ADA1-913FA2233B5B}"/>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800100" indent="-3429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257300" indent="-3429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lvl="2" algn="just">
              <a:spcBef>
                <a:spcPct val="0"/>
              </a:spcBef>
            </a:pPr>
            <a:endParaRPr lang="en-US" altLang="en-US" sz="2400">
              <a:latin typeface="Times New Roman" panose="02020603050405020304" pitchFamily="18" charset="0"/>
              <a:cs typeface="Times New Roman" panose="02020603050405020304" pitchFamily="18" charset="0"/>
            </a:endParaRPr>
          </a:p>
          <a:p>
            <a:pPr lvl="2" algn="just">
              <a:spcBef>
                <a:spcPct val="0"/>
              </a:spcBef>
            </a:pPr>
            <a:r>
              <a:rPr lang="en-US" altLang="en-US" sz="2400">
                <a:latin typeface="Times New Roman" panose="02020603050405020304" pitchFamily="18" charset="0"/>
                <a:cs typeface="Times New Roman" panose="02020603050405020304" pitchFamily="18" charset="0"/>
              </a:rPr>
              <a:t>We keep track of the number of hours per week that an employee currently works on each project.</a:t>
            </a:r>
          </a:p>
          <a:p>
            <a:pPr lvl="2" algn="just">
              <a:spcBef>
                <a:spcPct val="0"/>
              </a:spcBef>
            </a:pPr>
            <a:r>
              <a:rPr lang="en-US" altLang="en-US" sz="2400">
                <a:latin typeface="Times New Roman" panose="02020603050405020304" pitchFamily="18" charset="0"/>
                <a:cs typeface="Times New Roman" panose="02020603050405020304" pitchFamily="18" charset="0"/>
              </a:rPr>
              <a:t>We also keep track of the </a:t>
            </a:r>
            <a:r>
              <a:rPr lang="en-US" altLang="en-US" sz="2400" i="1">
                <a:latin typeface="Times New Roman" panose="02020603050405020304" pitchFamily="18" charset="0"/>
                <a:cs typeface="Times New Roman" panose="02020603050405020304" pitchFamily="18" charset="0"/>
              </a:rPr>
              <a:t>direct supervisor</a:t>
            </a:r>
            <a:r>
              <a:rPr lang="en-US" altLang="en-US" sz="2400">
                <a:latin typeface="Times New Roman" panose="02020603050405020304" pitchFamily="18" charset="0"/>
                <a:cs typeface="Times New Roman" panose="02020603050405020304" pitchFamily="18" charset="0"/>
              </a:rPr>
              <a:t> of each employee</a:t>
            </a:r>
          </a:p>
          <a:p>
            <a:pPr lvl="1" algn="just">
              <a:spcBef>
                <a:spcPct val="0"/>
              </a:spcBef>
            </a:pPr>
            <a:endParaRPr lang="en-US" altLang="en-US">
              <a:latin typeface="Times New Roman" panose="02020603050405020304" pitchFamily="18" charset="0"/>
              <a:cs typeface="Times New Roman" panose="02020603050405020304" pitchFamily="18" charset="0"/>
            </a:endParaRPr>
          </a:p>
          <a:p>
            <a:pPr lvl="1" algn="just">
              <a:spcBef>
                <a:spcPct val="0"/>
              </a:spcBef>
            </a:pPr>
            <a:r>
              <a:rPr lang="en-US" altLang="en-US">
                <a:latin typeface="Times New Roman" panose="02020603050405020304" pitchFamily="18" charset="0"/>
                <a:cs typeface="Times New Roman" panose="02020603050405020304" pitchFamily="18" charset="0"/>
              </a:rPr>
              <a:t>Each employee may </a:t>
            </a:r>
            <a:r>
              <a:rPr lang="en-US" altLang="en-US" i="1">
                <a:latin typeface="Times New Roman" panose="02020603050405020304" pitchFamily="18" charset="0"/>
                <a:cs typeface="Times New Roman" panose="02020603050405020304" pitchFamily="18" charset="0"/>
              </a:rPr>
              <a:t>have</a:t>
            </a:r>
            <a:r>
              <a:rPr lang="en-US" altLang="en-US">
                <a:latin typeface="Times New Roman" panose="02020603050405020304" pitchFamily="18" charset="0"/>
                <a:cs typeface="Times New Roman" panose="02020603050405020304" pitchFamily="18" charset="0"/>
              </a:rPr>
              <a:t> a number of DEPENDENTs.</a:t>
            </a:r>
          </a:p>
          <a:p>
            <a:pPr lvl="2" algn="just">
              <a:spcBef>
                <a:spcPct val="0"/>
              </a:spcBef>
            </a:pPr>
            <a:r>
              <a:rPr lang="en-US" altLang="en-US" sz="2400">
                <a:latin typeface="Times New Roman" panose="02020603050405020304" pitchFamily="18" charset="0"/>
                <a:cs typeface="Times New Roman" panose="02020603050405020304" pitchFamily="18" charset="0"/>
              </a:rPr>
              <a:t>For each dependent, we keep track of their name, sex, birthdate, and relationship to the employee.</a:t>
            </a:r>
          </a:p>
        </p:txBody>
      </p:sp>
      <p:sp>
        <p:nvSpPr>
          <p:cNvPr id="84997" name="Rectangle 2">
            <a:extLst>
              <a:ext uri="{FF2B5EF4-FFF2-40B4-BE49-F238E27FC236}">
                <a16:creationId xmlns:a16="http://schemas.microsoft.com/office/drawing/2014/main" xmlns="" id="{6877C3F5-0B89-4782-9DD4-7645A00EEB77}"/>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Example COMPANY Database (Contd.)</a:t>
            </a:r>
          </a:p>
        </p:txBody>
      </p:sp>
    </p:spTree>
    <p:extLst>
      <p:ext uri="{BB962C8B-B14F-4D97-AF65-F5344CB8AC3E}">
        <p14:creationId xmlns:p14="http://schemas.microsoft.com/office/powerpoint/2010/main" val="3826154491"/>
      </p:ext>
    </p:extLst>
  </p:cSld>
  <p:clrMapOvr>
    <a:masterClrMapping/>
  </p:clrMapOvr>
  <p:transition spd="slow">
    <p:wipe/>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F57CF6C-252A-42D2-8897-1CFCAFDEC51E}"/>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Initial Design of Entity Types for the COMPANY Database Schema</a:t>
            </a:r>
          </a:p>
        </p:txBody>
      </p:sp>
      <p:sp>
        <p:nvSpPr>
          <p:cNvPr id="3" name="Content Placeholder 2">
            <a:extLst>
              <a:ext uri="{FF2B5EF4-FFF2-40B4-BE49-F238E27FC236}">
                <a16:creationId xmlns:a16="http://schemas.microsoft.com/office/drawing/2014/main" xmlns="" id="{99D68680-200E-4AED-B558-66B40107E5A8}"/>
              </a:ext>
            </a:extLst>
          </p:cNvPr>
          <p:cNvSpPr>
            <a:spLocks noGrp="1"/>
          </p:cNvSpPr>
          <p:nvPr>
            <p:ph idx="1"/>
          </p:nvPr>
        </p:nvSpPr>
        <p:spPr/>
        <p:txBody>
          <a:bodyPr/>
          <a:lstStyle/>
          <a:p>
            <a:r>
              <a:rPr lang="en-IN" sz="2200" dirty="0">
                <a:solidFill>
                  <a:srgbClr val="33339A"/>
                </a:solidFill>
                <a:latin typeface="Times New Roman" panose="02020603050405020304" pitchFamily="18" charset="0"/>
                <a:cs typeface="Times New Roman" panose="02020603050405020304" pitchFamily="18" charset="0"/>
              </a:rPr>
              <a:t>Based on the requirements, we can identify four initial entity types in the COMPANY database:</a:t>
            </a:r>
          </a:p>
          <a:p>
            <a:r>
              <a:rPr lang="en-IN" sz="2200" dirty="0">
                <a:solidFill>
                  <a:srgbClr val="810000"/>
                </a:solidFill>
                <a:latin typeface="Times New Roman" panose="02020603050405020304" pitchFamily="18" charset="0"/>
                <a:cs typeface="Times New Roman" panose="02020603050405020304" pitchFamily="18" charset="0"/>
              </a:rPr>
              <a:t>DEPARTMENT</a:t>
            </a:r>
          </a:p>
          <a:p>
            <a:r>
              <a:rPr lang="en-IN" sz="2200" dirty="0">
                <a:solidFill>
                  <a:srgbClr val="810000"/>
                </a:solidFill>
                <a:latin typeface="Times New Roman" panose="02020603050405020304" pitchFamily="18" charset="0"/>
                <a:cs typeface="Times New Roman" panose="02020603050405020304" pitchFamily="18" charset="0"/>
              </a:rPr>
              <a:t>PROJECT</a:t>
            </a:r>
          </a:p>
          <a:p>
            <a:r>
              <a:rPr lang="en-IN" sz="2200" dirty="0">
                <a:solidFill>
                  <a:srgbClr val="810000"/>
                </a:solidFill>
                <a:latin typeface="Times New Roman" panose="02020603050405020304" pitchFamily="18" charset="0"/>
                <a:cs typeface="Times New Roman" panose="02020603050405020304" pitchFamily="18" charset="0"/>
              </a:rPr>
              <a:t>EMPLOYEE</a:t>
            </a:r>
          </a:p>
          <a:p>
            <a:r>
              <a:rPr lang="en-IN" sz="2200" dirty="0">
                <a:solidFill>
                  <a:srgbClr val="810000"/>
                </a:solidFill>
                <a:latin typeface="Times New Roman" panose="02020603050405020304" pitchFamily="18" charset="0"/>
                <a:cs typeface="Times New Roman" panose="02020603050405020304" pitchFamily="18" charset="0"/>
              </a:rPr>
              <a:t>DEPENDENT</a:t>
            </a:r>
            <a:endParaRPr lang="en-IN" sz="2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59525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1000"/>
                                        <p:tgtEl>
                                          <p:spTgt spid="3">
                                            <p:txEl>
                                              <p:pRg st="2" end="2"/>
                                            </p:txEl>
                                          </p:spTgt>
                                        </p:tgtEl>
                                      </p:cBhvr>
                                    </p:animEffect>
                                    <p:anim calcmode="lin" valueType="num">
                                      <p:cBhvr>
                                        <p:cTn id="13"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3">
                                            <p:txEl>
                                              <p:pRg st="2" end="2"/>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1000"/>
                                        <p:tgtEl>
                                          <p:spTgt spid="3">
                                            <p:txEl>
                                              <p:pRg st="3" end="3"/>
                                            </p:txEl>
                                          </p:spTgt>
                                        </p:tgtEl>
                                      </p:cBhvr>
                                    </p:animEffect>
                                    <p:anim calcmode="lin" valueType="num">
                                      <p:cBhvr>
                                        <p:cTn id="18"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9" dur="1000" fill="hold"/>
                                        <p:tgtEl>
                                          <p:spTgt spid="3">
                                            <p:txEl>
                                              <p:pRg st="3" end="3"/>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1000"/>
                                        <p:tgtEl>
                                          <p:spTgt spid="3">
                                            <p:txEl>
                                              <p:pRg st="4" end="4"/>
                                            </p:txEl>
                                          </p:spTgt>
                                        </p:tgtEl>
                                      </p:cBhvr>
                                    </p:animEffect>
                                    <p:anim calcmode="lin" valueType="num">
                                      <p:cBhvr>
                                        <p:cTn id="23"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4"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DF087220-06D1-4367-A6D7-B53BD2CE4C5B}"/>
              </a:ext>
            </a:extLst>
          </p:cNvPr>
          <p:cNvSpPr>
            <a:spLocks noGrp="1"/>
          </p:cNvSpPr>
          <p:nvPr>
            <p:ph type="title"/>
          </p:nvPr>
        </p:nvSpPr>
        <p:spPr/>
        <p:txBody>
          <a:bodyPr/>
          <a:lstStyle/>
          <a:p>
            <a:r>
              <a:rPr lang="en-IN" sz="3200" b="1" dirty="0">
                <a:latin typeface="Times New Roman" panose="02020603050405020304" pitchFamily="18" charset="0"/>
                <a:cs typeface="Times New Roman" panose="02020603050405020304" pitchFamily="18" charset="0"/>
              </a:rPr>
              <a:t>Department</a:t>
            </a:r>
            <a:r>
              <a:rPr lang="en-IN" dirty="0"/>
              <a:t> </a:t>
            </a:r>
          </a:p>
        </p:txBody>
      </p:sp>
      <p:pic>
        <p:nvPicPr>
          <p:cNvPr id="4" name="Picture 7">
            <a:extLst>
              <a:ext uri="{FF2B5EF4-FFF2-40B4-BE49-F238E27FC236}">
                <a16:creationId xmlns:a16="http://schemas.microsoft.com/office/drawing/2014/main" xmlns="" id="{E5ED6CCD-3B88-41B2-921D-CD716674C24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 r="-2167" b="78245"/>
          <a:stretch/>
        </p:blipFill>
        <p:spPr bwMode="auto">
          <a:xfrm>
            <a:off x="1832903" y="3702539"/>
            <a:ext cx="8526194" cy="14794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a:extLst>
              <a:ext uri="{FF2B5EF4-FFF2-40B4-BE49-F238E27FC236}">
                <a16:creationId xmlns:a16="http://schemas.microsoft.com/office/drawing/2014/main" xmlns="" id="{8C21E451-A1AC-4857-9E3C-918F148E9EAC}"/>
              </a:ext>
            </a:extLst>
          </p:cNvPr>
          <p:cNvSpPr/>
          <p:nvPr/>
        </p:nvSpPr>
        <p:spPr>
          <a:xfrm>
            <a:off x="951914" y="1676035"/>
            <a:ext cx="10515600" cy="1098891"/>
          </a:xfrm>
          <a:prstGeom prst="rect">
            <a:avLst/>
          </a:prstGeom>
        </p:spPr>
        <p:txBody>
          <a:bodyPr wrap="square">
            <a:spAutoFit/>
          </a:bodyPr>
          <a:lstStyle/>
          <a:p>
            <a:pPr algn="just" eaLnBrk="1" hangingPunct="1">
              <a:lnSpc>
                <a:spcPct val="101000"/>
              </a:lnSpc>
            </a:pPr>
            <a:r>
              <a:rPr lang="en-US" altLang="en-US" sz="2200" dirty="0">
                <a:latin typeface="Times New Roman" panose="02020603050405020304" pitchFamily="18" charset="0"/>
                <a:cs typeface="Times New Roman" panose="02020603050405020304" pitchFamily="18" charset="0"/>
              </a:rPr>
              <a:t>An entity type DEPARTMENT with attributes Name, Number, Locations, Manager, and </a:t>
            </a:r>
            <a:r>
              <a:rPr lang="en-US" altLang="en-US" sz="2200" dirty="0" err="1">
                <a:latin typeface="Times New Roman" panose="02020603050405020304" pitchFamily="18" charset="0"/>
                <a:cs typeface="Times New Roman" panose="02020603050405020304" pitchFamily="18" charset="0"/>
              </a:rPr>
              <a:t>Manager_start_date</a:t>
            </a:r>
            <a:r>
              <a:rPr lang="en-US" altLang="en-US" sz="2200" dirty="0">
                <a:latin typeface="Times New Roman" panose="02020603050405020304" pitchFamily="18" charset="0"/>
                <a:cs typeface="Times New Roman" panose="02020603050405020304" pitchFamily="18" charset="0"/>
              </a:rPr>
              <a:t>. Locations is the only multivalued attribute. We can specify that both Name and Number are (separate) key attributes because each was specified to be unique. </a:t>
            </a:r>
          </a:p>
        </p:txBody>
      </p:sp>
    </p:spTree>
    <p:extLst>
      <p:ext uri="{BB962C8B-B14F-4D97-AF65-F5344CB8AC3E}">
        <p14:creationId xmlns:p14="http://schemas.microsoft.com/office/powerpoint/2010/main" val="104473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1000"/>
                                        <p:tgtEl>
                                          <p:spTgt spid="5">
                                            <p:txEl>
                                              <p:pRg st="0" end="0"/>
                                            </p:txEl>
                                          </p:spTgt>
                                        </p:tgtEl>
                                      </p:cBhvr>
                                    </p:animEffect>
                                    <p:anim calcmode="lin" valueType="num">
                                      <p:cBhvr>
                                        <p:cTn id="8"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4511A7E-70C1-4524-BD8A-1F34025C89F3}"/>
              </a:ext>
            </a:extLst>
          </p:cNvPr>
          <p:cNvSpPr>
            <a:spLocks noGrp="1"/>
          </p:cNvSpPr>
          <p:nvPr>
            <p:ph type="title"/>
          </p:nvPr>
        </p:nvSpPr>
        <p:spPr/>
        <p:txBody>
          <a:bodyPr/>
          <a:lstStyle/>
          <a:p>
            <a:r>
              <a:rPr lang="en-US" altLang="en-US" sz="3200" b="1" dirty="0">
                <a:latin typeface="Times New Roman" panose="02020603050405020304" pitchFamily="18" charset="0"/>
                <a:cs typeface="Times New Roman" panose="02020603050405020304" pitchFamily="18" charset="0"/>
              </a:rPr>
              <a:t>PROJECT</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98F8E877-0900-46DC-AC56-FC6879CF8B3C}"/>
              </a:ext>
            </a:extLst>
          </p:cNvPr>
          <p:cNvSpPr>
            <a:spLocks noGrp="1"/>
          </p:cNvSpPr>
          <p:nvPr>
            <p:ph idx="1"/>
          </p:nvPr>
        </p:nvSpPr>
        <p:spPr>
          <a:xfrm>
            <a:off x="838200" y="1477108"/>
            <a:ext cx="10515600" cy="4699855"/>
          </a:xfrm>
        </p:spPr>
        <p:txBody>
          <a:bodyPr/>
          <a:lstStyle/>
          <a:p>
            <a:r>
              <a:rPr lang="en-US" altLang="en-US" sz="2400" dirty="0">
                <a:latin typeface="Times New Roman" panose="02020603050405020304" pitchFamily="18" charset="0"/>
                <a:cs typeface="Times New Roman" panose="02020603050405020304" pitchFamily="18" charset="0"/>
              </a:rPr>
              <a:t>An entity type PROJECT with attributes Name, Number, Location, and </a:t>
            </a:r>
            <a:r>
              <a:rPr lang="en-US" altLang="en-US" sz="2400" dirty="0" err="1">
                <a:latin typeface="Times New Roman" panose="02020603050405020304" pitchFamily="18" charset="0"/>
                <a:cs typeface="Times New Roman" panose="02020603050405020304" pitchFamily="18" charset="0"/>
              </a:rPr>
              <a:t>Controlling_department</a:t>
            </a:r>
            <a:r>
              <a:rPr lang="en-US" altLang="en-US" sz="2400" dirty="0">
                <a:latin typeface="Times New Roman" panose="02020603050405020304" pitchFamily="18" charset="0"/>
                <a:cs typeface="Times New Roman" panose="02020603050405020304" pitchFamily="18" charset="0"/>
              </a:rPr>
              <a:t>. Both Name and Number are (separate) key attributes. </a:t>
            </a:r>
          </a:p>
          <a:p>
            <a:endParaRPr lang="en-IN" dirty="0"/>
          </a:p>
        </p:txBody>
      </p:sp>
      <p:pic>
        <p:nvPicPr>
          <p:cNvPr id="4" name="Picture 7">
            <a:extLst>
              <a:ext uri="{FF2B5EF4-FFF2-40B4-BE49-F238E27FC236}">
                <a16:creationId xmlns:a16="http://schemas.microsoft.com/office/drawing/2014/main" xmlns="" id="{304600E9-6B6F-49AA-9634-461A9F7A508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47" t="21182" r="170" b="51359"/>
          <a:stretch/>
        </p:blipFill>
        <p:spPr bwMode="auto">
          <a:xfrm>
            <a:off x="1575581" y="3024554"/>
            <a:ext cx="7731717" cy="1758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8405346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7AFBCCF-0DA0-42FA-8D02-DF44BD545765}"/>
              </a:ext>
            </a:extLst>
          </p:cNvPr>
          <p:cNvSpPr>
            <a:spLocks noGrp="1"/>
          </p:cNvSpPr>
          <p:nvPr>
            <p:ph type="title"/>
          </p:nvPr>
        </p:nvSpPr>
        <p:spPr/>
        <p:txBody>
          <a:bodyPr/>
          <a:lstStyle/>
          <a:p>
            <a:r>
              <a:rPr lang="en-US" altLang="en-US" sz="3200" b="1" dirty="0">
                <a:latin typeface="Times New Roman" panose="02020603050405020304" pitchFamily="18" charset="0"/>
                <a:cs typeface="Times New Roman" panose="02020603050405020304" pitchFamily="18" charset="0"/>
              </a:rPr>
              <a:t>EMPLOYEE</a:t>
            </a:r>
            <a:endParaRPr lang="en-IN" sz="32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xmlns="" id="{C7389E67-E5CE-42E3-9338-9B69ABD68722}"/>
              </a:ext>
            </a:extLst>
          </p:cNvPr>
          <p:cNvSpPr>
            <a:spLocks noGrp="1"/>
          </p:cNvSpPr>
          <p:nvPr>
            <p:ph idx="1"/>
          </p:nvPr>
        </p:nvSpPr>
        <p:spPr>
          <a:xfrm>
            <a:off x="838200" y="1431730"/>
            <a:ext cx="10515600" cy="4351338"/>
          </a:xfrm>
        </p:spPr>
        <p:txBody>
          <a:bodyPr/>
          <a:lstStyle/>
          <a:p>
            <a:r>
              <a:rPr lang="en-US" altLang="en-US" sz="2200" dirty="0">
                <a:latin typeface="Times New Roman" panose="02020603050405020304" pitchFamily="18" charset="0"/>
                <a:cs typeface="Times New Roman" panose="02020603050405020304" pitchFamily="18" charset="0"/>
              </a:rPr>
              <a:t>An entity type EMPLOYEE with attributes Name, </a:t>
            </a:r>
            <a:r>
              <a:rPr lang="en-US" altLang="en-US" sz="2200" dirty="0" err="1">
                <a:latin typeface="Times New Roman" panose="02020603050405020304" pitchFamily="18" charset="0"/>
                <a:cs typeface="Times New Roman" panose="02020603050405020304" pitchFamily="18" charset="0"/>
              </a:rPr>
              <a:t>Ssn</a:t>
            </a:r>
            <a:r>
              <a:rPr lang="en-US" altLang="en-US" sz="2200" dirty="0">
                <a:latin typeface="Times New Roman" panose="02020603050405020304" pitchFamily="18" charset="0"/>
                <a:cs typeface="Times New Roman" panose="02020603050405020304" pitchFamily="18" charset="0"/>
              </a:rPr>
              <a:t>, Sex, Address, Salary, </a:t>
            </a:r>
            <a:r>
              <a:rPr lang="en-US" altLang="en-US" sz="2200" dirty="0" err="1">
                <a:latin typeface="Times New Roman" panose="02020603050405020304" pitchFamily="18" charset="0"/>
                <a:cs typeface="Times New Roman" panose="02020603050405020304" pitchFamily="18" charset="0"/>
              </a:rPr>
              <a:t>Birth_date</a:t>
            </a:r>
            <a:r>
              <a:rPr lang="en-US" altLang="en-US" sz="2200" dirty="0">
                <a:latin typeface="Times New Roman" panose="02020603050405020304" pitchFamily="18" charset="0"/>
                <a:cs typeface="Times New Roman" panose="02020603050405020304" pitchFamily="18" charset="0"/>
              </a:rPr>
              <a:t>, Department, and Supervisor. Both Name and Address may be composite attributes; however, this was not specified in the requirements. We must go back to the users to see if any of them will refer to the individual components of Name—</a:t>
            </a:r>
            <a:r>
              <a:rPr lang="en-US" altLang="en-US" sz="2200" dirty="0" err="1">
                <a:latin typeface="Times New Roman" panose="02020603050405020304" pitchFamily="18" charset="0"/>
                <a:cs typeface="Times New Roman" panose="02020603050405020304" pitchFamily="18" charset="0"/>
              </a:rPr>
              <a:t>First_name</a:t>
            </a:r>
            <a:r>
              <a:rPr lang="en-US" altLang="en-US" sz="2200" dirty="0">
                <a:latin typeface="Times New Roman" panose="02020603050405020304" pitchFamily="18" charset="0"/>
                <a:cs typeface="Times New Roman" panose="02020603050405020304" pitchFamily="18" charset="0"/>
              </a:rPr>
              <a:t>, </a:t>
            </a:r>
            <a:r>
              <a:rPr lang="en-US" altLang="en-US" sz="2200" dirty="0" err="1">
                <a:latin typeface="Times New Roman" panose="02020603050405020304" pitchFamily="18" charset="0"/>
                <a:cs typeface="Times New Roman" panose="02020603050405020304" pitchFamily="18" charset="0"/>
              </a:rPr>
              <a:t>Middle_initial</a:t>
            </a:r>
            <a:r>
              <a:rPr lang="en-US" altLang="en-US" sz="2200" dirty="0">
                <a:latin typeface="Times New Roman" panose="02020603050405020304" pitchFamily="18" charset="0"/>
                <a:cs typeface="Times New Roman" panose="02020603050405020304" pitchFamily="18" charset="0"/>
              </a:rPr>
              <a:t>, </a:t>
            </a:r>
            <a:r>
              <a:rPr lang="en-US" altLang="en-US" sz="2200" dirty="0" err="1">
                <a:latin typeface="Times New Roman" panose="02020603050405020304" pitchFamily="18" charset="0"/>
                <a:cs typeface="Times New Roman" panose="02020603050405020304" pitchFamily="18" charset="0"/>
              </a:rPr>
              <a:t>Last_name</a:t>
            </a:r>
            <a:r>
              <a:rPr lang="en-US" altLang="en-US" sz="2200" dirty="0">
                <a:latin typeface="Times New Roman" panose="02020603050405020304" pitchFamily="18" charset="0"/>
                <a:cs typeface="Times New Roman" panose="02020603050405020304" pitchFamily="18" charset="0"/>
              </a:rPr>
              <a:t>—or of Address. </a:t>
            </a:r>
          </a:p>
          <a:p>
            <a:endParaRPr lang="en-IN" dirty="0"/>
          </a:p>
        </p:txBody>
      </p:sp>
      <p:pic>
        <p:nvPicPr>
          <p:cNvPr id="4" name="Picture 7">
            <a:extLst>
              <a:ext uri="{FF2B5EF4-FFF2-40B4-BE49-F238E27FC236}">
                <a16:creationId xmlns:a16="http://schemas.microsoft.com/office/drawing/2014/main" xmlns="" id="{4346138D-7A23-49C7-9B47-D43CBA2A80C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80" t="45845" r="-1233" b="20315"/>
          <a:stretch/>
        </p:blipFill>
        <p:spPr bwMode="auto">
          <a:xfrm>
            <a:off x="2439981" y="3102071"/>
            <a:ext cx="7312038" cy="25390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290407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15">
            <a:extLst>
              <a:ext uri="{FF2B5EF4-FFF2-40B4-BE49-F238E27FC236}">
                <a16:creationId xmlns:a16="http://schemas.microsoft.com/office/drawing/2014/main" xmlns="" id="{5007E538-9D94-415B-840B-9C390E5527C4}"/>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04451" name="Picture 1">
            <a:extLst>
              <a:ext uri="{FF2B5EF4-FFF2-40B4-BE49-F238E27FC236}">
                <a16:creationId xmlns:a16="http://schemas.microsoft.com/office/drawing/2014/main" xmlns="" id="{A130FDA2-3FE6-467B-BCD0-418537F918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4452" name="Title 3">
            <a:extLst>
              <a:ext uri="{FF2B5EF4-FFF2-40B4-BE49-F238E27FC236}">
                <a16:creationId xmlns:a16="http://schemas.microsoft.com/office/drawing/2014/main" xmlns="" id="{60BA0EB5-456C-419B-A766-3E27A1896A8C}"/>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457200" indent="-457200">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marL="0" indent="0" algn="just" eaLnBrk="1" hangingPunct="1">
              <a:lnSpc>
                <a:spcPct val="101000"/>
              </a:lnSpc>
              <a:spcBef>
                <a:spcPct val="0"/>
              </a:spcBef>
              <a:buNone/>
            </a:pPr>
            <a:r>
              <a:rPr lang="en-US" altLang="en-US" sz="2400" dirty="0">
                <a:latin typeface="Times New Roman" panose="02020603050405020304" pitchFamily="18" charset="0"/>
                <a:cs typeface="Times New Roman" panose="02020603050405020304" pitchFamily="18" charset="0"/>
              </a:rPr>
              <a:t>An entity type DEPENDENT with attributes Employee, </a:t>
            </a:r>
            <a:r>
              <a:rPr lang="en-US" altLang="en-US" sz="2400" dirty="0" err="1">
                <a:latin typeface="Times New Roman" panose="02020603050405020304" pitchFamily="18" charset="0"/>
                <a:cs typeface="Times New Roman" panose="02020603050405020304" pitchFamily="18" charset="0"/>
              </a:rPr>
              <a:t>Dependent_name</a:t>
            </a:r>
            <a:r>
              <a:rPr lang="en-US" altLang="en-US" sz="2400" dirty="0">
                <a:latin typeface="Times New Roman" panose="02020603050405020304" pitchFamily="18" charset="0"/>
                <a:cs typeface="Times New Roman" panose="02020603050405020304" pitchFamily="18" charset="0"/>
              </a:rPr>
              <a:t>, Sex, </a:t>
            </a:r>
            <a:r>
              <a:rPr lang="en-US" altLang="en-US" sz="2400" dirty="0" err="1">
                <a:latin typeface="Times New Roman" panose="02020603050405020304" pitchFamily="18" charset="0"/>
                <a:cs typeface="Times New Roman" panose="02020603050405020304" pitchFamily="18" charset="0"/>
              </a:rPr>
              <a:t>Birth_date</a:t>
            </a:r>
            <a:r>
              <a:rPr lang="en-US" altLang="en-US" sz="2400" dirty="0">
                <a:latin typeface="Times New Roman" panose="02020603050405020304" pitchFamily="18" charset="0"/>
                <a:cs typeface="Times New Roman" panose="02020603050405020304" pitchFamily="18" charset="0"/>
              </a:rPr>
              <a:t>, and Relationship (to the employee).</a:t>
            </a:r>
            <a:endParaRPr lang="en-IN" altLang="en-US" sz="2400" b="1" dirty="0">
              <a:latin typeface="Times New Roman" panose="02020603050405020304" pitchFamily="18" charset="0"/>
              <a:cs typeface="Times New Roman" panose="02020603050405020304" pitchFamily="18" charset="0"/>
            </a:endParaRPr>
          </a:p>
        </p:txBody>
      </p:sp>
      <p:sp>
        <p:nvSpPr>
          <p:cNvPr id="104453" name="Rectangle 2">
            <a:extLst>
              <a:ext uri="{FF2B5EF4-FFF2-40B4-BE49-F238E27FC236}">
                <a16:creationId xmlns:a16="http://schemas.microsoft.com/office/drawing/2014/main" xmlns="" id="{23589B73-3661-423B-8A24-E1301998A6DE}"/>
              </a:ext>
            </a:extLst>
          </p:cNvPr>
          <p:cNvSpPr txBox="1">
            <a:spLocks noChangeArrowheads="1"/>
          </p:cNvSpPr>
          <p:nvPr/>
        </p:nvSpPr>
        <p:spPr bwMode="auto">
          <a:xfrm>
            <a:off x="990600" y="246063"/>
            <a:ext cx="10564813"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Initial Design of Entity Types for the COMPANY Database Schema</a:t>
            </a:r>
          </a:p>
        </p:txBody>
      </p:sp>
      <p:pic>
        <p:nvPicPr>
          <p:cNvPr id="6" name="Picture 7">
            <a:extLst>
              <a:ext uri="{FF2B5EF4-FFF2-40B4-BE49-F238E27FC236}">
                <a16:creationId xmlns:a16="http://schemas.microsoft.com/office/drawing/2014/main" xmlns="" id="{2ADD4694-2B8D-4384-889B-3FDCA0844B4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6588" t="76699"/>
          <a:stretch/>
        </p:blipFill>
        <p:spPr bwMode="auto">
          <a:xfrm>
            <a:off x="1981200" y="2456058"/>
            <a:ext cx="7918288" cy="1609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4452">
                                            <p:txEl>
                                              <p:pRg st="0" end="0"/>
                                            </p:txEl>
                                          </p:spTgt>
                                        </p:tgtEl>
                                        <p:attrNameLst>
                                          <p:attrName>style.visibility</p:attrName>
                                        </p:attrNameLst>
                                      </p:cBhvr>
                                      <p:to>
                                        <p:strVal val="visible"/>
                                      </p:to>
                                    </p:set>
                                    <p:animEffect transition="in" filter="fade">
                                      <p:cBhvr>
                                        <p:cTn id="7" dur="1000"/>
                                        <p:tgtEl>
                                          <p:spTgt spid="104452">
                                            <p:txEl>
                                              <p:pRg st="0" end="0"/>
                                            </p:txEl>
                                          </p:spTgt>
                                        </p:tgtEl>
                                      </p:cBhvr>
                                    </p:animEffect>
                                    <p:anim calcmode="lin" valueType="num">
                                      <p:cBhvr>
                                        <p:cTn id="8" dur="1000" fill="hold"/>
                                        <p:tgtEl>
                                          <p:spTgt spid="10445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0445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15">
            <a:extLst>
              <a:ext uri="{FF2B5EF4-FFF2-40B4-BE49-F238E27FC236}">
                <a16:creationId xmlns:a16="http://schemas.microsoft.com/office/drawing/2014/main" xmlns="" id="{35DA0759-BDDE-410A-9E6F-A8AB13C7C50B}"/>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05475" name="Picture 1">
            <a:extLst>
              <a:ext uri="{FF2B5EF4-FFF2-40B4-BE49-F238E27FC236}">
                <a16:creationId xmlns:a16="http://schemas.microsoft.com/office/drawing/2014/main" xmlns="" id="{815DD393-5E71-4BDD-9D2C-1F7505A2F4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5476" name="Title 3">
            <a:extLst>
              <a:ext uri="{FF2B5EF4-FFF2-40B4-BE49-F238E27FC236}">
                <a16:creationId xmlns:a16="http://schemas.microsoft.com/office/drawing/2014/main" xmlns="" id="{CFC1ED4B-BB43-42FD-83D9-556161E6EAE7}"/>
              </a:ext>
            </a:extLst>
          </p:cNvPr>
          <p:cNvSpPr txBox="1">
            <a:spLocks/>
          </p:cNvSpPr>
          <p:nvPr/>
        </p:nvSpPr>
        <p:spPr bwMode="auto">
          <a:xfrm>
            <a:off x="463550" y="852488"/>
            <a:ext cx="11353800" cy="55895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800" b="1">
                <a:latin typeface="Times New Roman" panose="02020603050405020304" pitchFamily="18" charset="0"/>
                <a:cs typeface="Times New Roman" panose="02020603050405020304" pitchFamily="18" charset="0"/>
              </a:rPr>
              <a:t>Figure 3.6  Preliminary design of entity types for the  COMPANY database. </a:t>
            </a:r>
          </a:p>
          <a:p>
            <a:pPr algn="ctr" eaLnBrk="1" hangingPunct="1">
              <a:lnSpc>
                <a:spcPct val="101000"/>
              </a:lnSpc>
              <a:spcBef>
                <a:spcPct val="0"/>
              </a:spcBef>
              <a:buFontTx/>
              <a:buNone/>
            </a:pPr>
            <a:r>
              <a:rPr lang="en-IN" altLang="en-US" sz="1800" b="1">
                <a:latin typeface="Times New Roman" panose="02020603050405020304" pitchFamily="18" charset="0"/>
                <a:cs typeface="Times New Roman" panose="02020603050405020304" pitchFamily="18" charset="0"/>
              </a:rPr>
              <a:t>Some of the shown attributes will be refined into relationships  </a:t>
            </a:r>
          </a:p>
        </p:txBody>
      </p:sp>
      <p:sp>
        <p:nvSpPr>
          <p:cNvPr id="105477" name="Rectangle 2">
            <a:extLst>
              <a:ext uri="{FF2B5EF4-FFF2-40B4-BE49-F238E27FC236}">
                <a16:creationId xmlns:a16="http://schemas.microsoft.com/office/drawing/2014/main" xmlns="" id="{C509EFBF-4F92-483A-9FC1-9C42AAE011C0}"/>
              </a:ext>
            </a:extLst>
          </p:cNvPr>
          <p:cNvSpPr txBox="1">
            <a:spLocks noChangeArrowheads="1"/>
          </p:cNvSpPr>
          <p:nvPr/>
        </p:nvSpPr>
        <p:spPr bwMode="auto">
          <a:xfrm>
            <a:off x="1330325" y="120650"/>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Initial Design of Entity Types:</a:t>
            </a:r>
            <a:br>
              <a:rPr lang="en-US" altLang="en-US" b="1">
                <a:latin typeface="Times New Roman" panose="02020603050405020304" pitchFamily="18" charset="0"/>
                <a:cs typeface="Times New Roman" panose="02020603050405020304" pitchFamily="18" charset="0"/>
              </a:rPr>
            </a:br>
            <a:r>
              <a:rPr lang="en-US" altLang="en-US" b="1">
                <a:latin typeface="Times New Roman" panose="02020603050405020304" pitchFamily="18" charset="0"/>
                <a:cs typeface="Times New Roman" panose="02020603050405020304" pitchFamily="18" charset="0"/>
              </a:rPr>
              <a:t>EMPLOYEE, DEPARTMENT, PROJECT, DEPENDENT</a:t>
            </a:r>
          </a:p>
        </p:txBody>
      </p:sp>
      <p:pic>
        <p:nvPicPr>
          <p:cNvPr id="105478" name="Picture 7">
            <a:extLst>
              <a:ext uri="{FF2B5EF4-FFF2-40B4-BE49-F238E27FC236}">
                <a16:creationId xmlns:a16="http://schemas.microsoft.com/office/drawing/2014/main" xmlns="" id="{5ECD1FEA-4A49-448B-8178-DC4C8B0079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98310" y="1100137"/>
            <a:ext cx="6019800" cy="4905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05478"/>
                                        </p:tgtEl>
                                        <p:attrNameLst>
                                          <p:attrName>style.visibility</p:attrName>
                                        </p:attrNameLst>
                                      </p:cBhvr>
                                      <p:to>
                                        <p:strVal val="visible"/>
                                      </p:to>
                                    </p:set>
                                    <p:animEffect transition="in" filter="fade">
                                      <p:cBhvr>
                                        <p:cTn id="7" dur="1000"/>
                                        <p:tgtEl>
                                          <p:spTgt spid="105478"/>
                                        </p:tgtEl>
                                      </p:cBhvr>
                                    </p:animEffect>
                                    <p:anim calcmode="lin" valueType="num">
                                      <p:cBhvr>
                                        <p:cTn id="8" dur="1000" fill="hold"/>
                                        <p:tgtEl>
                                          <p:spTgt spid="105478"/>
                                        </p:tgtEl>
                                        <p:attrNameLst>
                                          <p:attrName>ppt_x</p:attrName>
                                        </p:attrNameLst>
                                      </p:cBhvr>
                                      <p:tavLst>
                                        <p:tav tm="0">
                                          <p:val>
                                            <p:strVal val="#ppt_x"/>
                                          </p:val>
                                        </p:tav>
                                        <p:tav tm="100000">
                                          <p:val>
                                            <p:strVal val="#ppt_x"/>
                                          </p:val>
                                        </p:tav>
                                      </p:tavLst>
                                    </p:anim>
                                    <p:anim calcmode="lin" valueType="num">
                                      <p:cBhvr>
                                        <p:cTn id="9" dur="1000" fill="hold"/>
                                        <p:tgtEl>
                                          <p:spTgt spid="10547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15">
            <a:extLst>
              <a:ext uri="{FF2B5EF4-FFF2-40B4-BE49-F238E27FC236}">
                <a16:creationId xmlns:a16="http://schemas.microsoft.com/office/drawing/2014/main" xmlns="" id="{36F3E046-745E-4F05-BC66-8DF194484E09}"/>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02403" name="Picture 1">
            <a:extLst>
              <a:ext uri="{FF2B5EF4-FFF2-40B4-BE49-F238E27FC236}">
                <a16:creationId xmlns:a16="http://schemas.microsoft.com/office/drawing/2014/main" xmlns="" id="{BDD908F2-1676-4C3C-8B83-34B243185E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DF597CCE-4E57-4FFD-B841-905B31CA54CB}"/>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defRPr/>
            </a:pPr>
            <a:r>
              <a:rPr lang="en-IN" altLang="en-US" sz="2400" dirty="0">
                <a:latin typeface="Times New Roman" pitchFamily="18" charset="0"/>
                <a:cs typeface="Times New Roman" pitchFamily="18" charset="0"/>
              </a:rPr>
              <a:t>1. </a:t>
            </a:r>
            <a:r>
              <a:rPr lang="en-US" sz="2400" dirty="0">
                <a:latin typeface="Times New Roman" pitchFamily="18" charset="0"/>
                <a:cs typeface="Times New Roman" pitchFamily="18" charset="0"/>
              </a:rPr>
              <a:t>The attributes that can be arranged into hierarchy are called -----------</a:t>
            </a:r>
            <a:endParaRPr lang="en-IN" sz="2400" dirty="0">
              <a:latin typeface="Times New Roman" pitchFamily="18" charset="0"/>
              <a:cs typeface="Times New Roman" pitchFamily="18" charset="0"/>
            </a:endParaRP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Composite attribute</a:t>
            </a:r>
            <a:r>
              <a:rPr lang="en-IN" sz="2400" dirty="0">
                <a:solidFill>
                  <a:srgbClr val="FF0000"/>
                </a:solidFill>
                <a:latin typeface="Times New Roman" pitchFamily="18" charset="0"/>
                <a:cs typeface="Times New Roman" pitchFamily="18" charset="0"/>
              </a:rPr>
              <a:t>     b)</a:t>
            </a:r>
            <a:r>
              <a:rPr lang="en-US" sz="2400" dirty="0">
                <a:solidFill>
                  <a:srgbClr val="FF0000"/>
                </a:solidFill>
                <a:latin typeface="Times New Roman" pitchFamily="18" charset="0"/>
                <a:cs typeface="Times New Roman" pitchFamily="18" charset="0"/>
              </a:rPr>
              <a:t>Atomic attributes</a:t>
            </a:r>
            <a:r>
              <a:rPr lang="en-IN" sz="2400" dirty="0">
                <a:solidFill>
                  <a:srgbClr val="FF0000"/>
                </a:solidFill>
                <a:latin typeface="Times New Roman" pitchFamily="18" charset="0"/>
                <a:cs typeface="Times New Roman" pitchFamily="18" charset="0"/>
              </a:rPr>
              <a:t>   c)</a:t>
            </a:r>
            <a:r>
              <a:rPr lang="en-US" sz="2400" dirty="0">
                <a:solidFill>
                  <a:srgbClr val="FF0000"/>
                </a:solidFill>
                <a:latin typeface="Times New Roman" pitchFamily="18" charset="0"/>
                <a:cs typeface="Times New Roman" pitchFamily="18" charset="0"/>
              </a:rPr>
              <a:t>Derived attributes</a:t>
            </a:r>
            <a:r>
              <a:rPr lang="en-IN" sz="2400" dirty="0">
                <a:solidFill>
                  <a:srgbClr val="FF0000"/>
                </a:solidFill>
                <a:latin typeface="Times New Roman" pitchFamily="18" charset="0"/>
                <a:cs typeface="Times New Roman" pitchFamily="18" charset="0"/>
              </a:rPr>
              <a:t>    d)</a:t>
            </a:r>
            <a:r>
              <a:rPr lang="en-US" sz="2400" dirty="0">
                <a:solidFill>
                  <a:srgbClr val="FF0000"/>
                </a:solidFill>
                <a:latin typeface="Times New Roman" pitchFamily="18" charset="0"/>
                <a:cs typeface="Times New Roman" pitchFamily="18" charset="0"/>
              </a:rPr>
              <a:t>Simple attributes</a:t>
            </a:r>
            <a:endParaRPr lang="en-US" sz="2400" dirty="0">
              <a:latin typeface="Times New Roman" pitchFamily="18" charset="0"/>
              <a:cs typeface="Times New Roman" pitchFamily="18" charset="0"/>
            </a:endParaRPr>
          </a:p>
          <a:p>
            <a:pPr>
              <a:defRPr/>
            </a:pPr>
            <a:r>
              <a:rPr lang="en-US" sz="2400" dirty="0" err="1">
                <a:latin typeface="Times New Roman" pitchFamily="18" charset="0"/>
                <a:cs typeface="Times New Roman" pitchFamily="18" charset="0"/>
              </a:rPr>
              <a:t>Ans</a:t>
            </a:r>
            <a:r>
              <a:rPr lang="en-US" sz="2400" dirty="0">
                <a:latin typeface="Times New Roman" pitchFamily="18" charset="0"/>
                <a:cs typeface="Times New Roman" pitchFamily="18" charset="0"/>
              </a:rPr>
              <a:t>: </a:t>
            </a:r>
            <a:r>
              <a:rPr lang="en-US" sz="2400" dirty="0">
                <a:solidFill>
                  <a:srgbClr val="92D050"/>
                </a:solidFill>
                <a:latin typeface="Times New Roman" pitchFamily="18" charset="0"/>
                <a:cs typeface="Times New Roman" pitchFamily="18" charset="0"/>
              </a:rPr>
              <a:t>Composite attribute</a:t>
            </a:r>
          </a:p>
          <a:p>
            <a:pPr>
              <a:defRPr/>
            </a:pPr>
            <a:endParaRPr lang="en-US" sz="2400" dirty="0">
              <a:latin typeface="Times New Roman" pitchFamily="18" charset="0"/>
              <a:cs typeface="Times New Roman" pitchFamily="18" charset="0"/>
            </a:endParaRPr>
          </a:p>
          <a:p>
            <a:pPr>
              <a:defRPr/>
            </a:pPr>
            <a:r>
              <a:rPr lang="en-US" sz="2400" dirty="0">
                <a:latin typeface="Times New Roman" pitchFamily="18" charset="0"/>
                <a:cs typeface="Times New Roman" pitchFamily="18" charset="0"/>
              </a:rPr>
              <a:t>2. Set of all entities having same attributes is called classified as--------</a:t>
            </a:r>
            <a:endParaRPr lang="en-IN" sz="2400" dirty="0">
              <a:latin typeface="Times New Roman" pitchFamily="18" charset="0"/>
              <a:cs typeface="Times New Roman" pitchFamily="18" charset="0"/>
            </a:endParaRP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Entity type</a:t>
            </a:r>
            <a:r>
              <a:rPr lang="en-IN" sz="2400" dirty="0">
                <a:solidFill>
                  <a:srgbClr val="FF0000"/>
                </a:solidFill>
                <a:latin typeface="Times New Roman" pitchFamily="18" charset="0"/>
                <a:cs typeface="Times New Roman" pitchFamily="18" charset="0"/>
              </a:rPr>
              <a:t>      b)  </a:t>
            </a:r>
            <a:r>
              <a:rPr lang="en-US" sz="2400" dirty="0">
                <a:solidFill>
                  <a:srgbClr val="FF0000"/>
                </a:solidFill>
                <a:latin typeface="Times New Roman" pitchFamily="18" charset="0"/>
                <a:cs typeface="Times New Roman" pitchFamily="18" charset="0"/>
              </a:rPr>
              <a:t>Attribute type</a:t>
            </a:r>
            <a:r>
              <a:rPr lang="en-IN" sz="2400" dirty="0">
                <a:solidFill>
                  <a:srgbClr val="FF0000"/>
                </a:solidFill>
                <a:latin typeface="Times New Roman" pitchFamily="18" charset="0"/>
                <a:cs typeface="Times New Roman" pitchFamily="18" charset="0"/>
              </a:rPr>
              <a:t>     c) </a:t>
            </a:r>
            <a:r>
              <a:rPr lang="en-US" sz="2400" dirty="0">
                <a:solidFill>
                  <a:srgbClr val="FF0000"/>
                </a:solidFill>
                <a:latin typeface="Times New Roman" pitchFamily="18" charset="0"/>
                <a:cs typeface="Times New Roman" pitchFamily="18" charset="0"/>
              </a:rPr>
              <a:t>Function type</a:t>
            </a:r>
            <a:r>
              <a:rPr lang="en-IN" sz="2400" dirty="0">
                <a:solidFill>
                  <a:srgbClr val="FF0000"/>
                </a:solidFill>
                <a:latin typeface="Times New Roman" pitchFamily="18" charset="0"/>
                <a:cs typeface="Times New Roman" pitchFamily="18" charset="0"/>
              </a:rPr>
              <a:t>     d)</a:t>
            </a:r>
            <a:r>
              <a:rPr lang="en-US" sz="2400" dirty="0">
                <a:solidFill>
                  <a:srgbClr val="FF0000"/>
                </a:solidFill>
                <a:latin typeface="Times New Roman" pitchFamily="18" charset="0"/>
                <a:cs typeface="Times New Roman" pitchFamily="18" charset="0"/>
              </a:rPr>
              <a:t>Hierarchy type</a:t>
            </a:r>
            <a:endParaRPr lang="en-IN" sz="2400" dirty="0">
              <a:solidFill>
                <a:srgbClr val="FF0000"/>
              </a:solidFill>
              <a:latin typeface="Times New Roman" pitchFamily="18" charset="0"/>
              <a:cs typeface="Times New Roman" pitchFamily="18" charset="0"/>
            </a:endParaRPr>
          </a:p>
          <a:p>
            <a:pPr>
              <a:defRPr/>
            </a:pPr>
            <a:r>
              <a:rPr lang="en-IN" sz="2400" dirty="0" err="1">
                <a:latin typeface="Times New Roman" pitchFamily="18" charset="0"/>
                <a:cs typeface="Times New Roman" pitchFamily="18" charset="0"/>
              </a:rPr>
              <a:t>Ans</a:t>
            </a:r>
            <a:r>
              <a:rPr lang="en-IN" sz="2400" dirty="0">
                <a:latin typeface="Times New Roman" pitchFamily="18" charset="0"/>
                <a:cs typeface="Times New Roman" pitchFamily="18" charset="0"/>
              </a:rPr>
              <a:t>: </a:t>
            </a:r>
            <a:r>
              <a:rPr lang="en-US" sz="2400" dirty="0">
                <a:solidFill>
                  <a:srgbClr val="92D050"/>
                </a:solidFill>
                <a:latin typeface="Times New Roman" pitchFamily="18" charset="0"/>
                <a:cs typeface="Times New Roman" pitchFamily="18" charset="0"/>
              </a:rPr>
              <a:t>Entity type</a:t>
            </a:r>
          </a:p>
          <a:p>
            <a:pPr eaLnBrk="1" hangingPunct="1">
              <a:lnSpc>
                <a:spcPct val="101000"/>
              </a:lnSpc>
              <a:defRPr/>
            </a:pPr>
            <a:r>
              <a:rPr lang="en-IN" altLang="en-US" sz="2400" dirty="0">
                <a:latin typeface="Times New Roman" pitchFamily="18" charset="0"/>
                <a:cs typeface="Times New Roman" pitchFamily="18" charset="0"/>
              </a:rPr>
              <a:t> </a:t>
            </a:r>
          </a:p>
          <a:p>
            <a:pPr>
              <a:defRPr/>
            </a:pPr>
            <a:endParaRPr lang="en-IN" sz="2400" dirty="0">
              <a:solidFill>
                <a:srgbClr val="92D050"/>
              </a:solidFill>
              <a:latin typeface="Times New Roman" pitchFamily="18" charset="0"/>
              <a:cs typeface="Times New Roman" pitchFamily="18" charset="0"/>
            </a:endParaRPr>
          </a:p>
          <a:p>
            <a:pPr eaLnBrk="1" hangingPunct="1">
              <a:lnSpc>
                <a:spcPct val="101000"/>
              </a:lnSpc>
              <a:defRPr/>
            </a:pPr>
            <a:endParaRPr lang="en-IN" altLang="en-US" sz="2400" b="1" dirty="0">
              <a:latin typeface="Times New Roman" pitchFamily="18" charset="0"/>
              <a:cs typeface="Times New Roman" pitchFamily="18" charset="0"/>
            </a:endParaRPr>
          </a:p>
        </p:txBody>
      </p:sp>
      <p:sp>
        <p:nvSpPr>
          <p:cNvPr id="102405" name="Rectangle 2">
            <a:extLst>
              <a:ext uri="{FF2B5EF4-FFF2-40B4-BE49-F238E27FC236}">
                <a16:creationId xmlns:a16="http://schemas.microsoft.com/office/drawing/2014/main" xmlns="" id="{B57B5162-0807-484A-A34F-36DBAA5383E8}"/>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3428">
                                            <p:txEl>
                                              <p:pRg st="1" end="1"/>
                                            </p:txEl>
                                          </p:spTgt>
                                        </p:tgtEl>
                                        <p:attrNameLst>
                                          <p:attrName>style.visibility</p:attrName>
                                        </p:attrNameLst>
                                      </p:cBhvr>
                                      <p:to>
                                        <p:strVal val="visible"/>
                                      </p:to>
                                    </p:set>
                                    <p:anim calcmode="lin" valueType="num">
                                      <p:cBhvr additive="base">
                                        <p:cTn id="13" dur="5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3428">
                                            <p:txEl>
                                              <p:pRg st="2" end="2"/>
                                            </p:txEl>
                                          </p:spTgt>
                                        </p:tgtEl>
                                        <p:attrNameLst>
                                          <p:attrName>style.visibility</p:attrName>
                                        </p:attrNameLst>
                                      </p:cBhvr>
                                      <p:to>
                                        <p:strVal val="visible"/>
                                      </p:to>
                                    </p:set>
                                    <p:anim calcmode="lin" valueType="num">
                                      <p:cBhvr additive="base">
                                        <p:cTn id="19" dur="500" fill="hold"/>
                                        <p:tgtEl>
                                          <p:spTgt spid="103428">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42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3428">
                                            <p:txEl>
                                              <p:pRg st="4" end="4"/>
                                            </p:txEl>
                                          </p:spTgt>
                                        </p:tgtEl>
                                        <p:attrNameLst>
                                          <p:attrName>style.visibility</p:attrName>
                                        </p:attrNameLst>
                                      </p:cBhvr>
                                      <p:to>
                                        <p:strVal val="visible"/>
                                      </p:to>
                                    </p:set>
                                    <p:anim calcmode="lin" valueType="num">
                                      <p:cBhvr additive="base">
                                        <p:cTn id="25" dur="500" fill="hold"/>
                                        <p:tgtEl>
                                          <p:spTgt spid="10342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42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3428">
                                            <p:txEl>
                                              <p:pRg st="5" end="5"/>
                                            </p:txEl>
                                          </p:spTgt>
                                        </p:tgtEl>
                                        <p:attrNameLst>
                                          <p:attrName>style.visibility</p:attrName>
                                        </p:attrNameLst>
                                      </p:cBhvr>
                                      <p:to>
                                        <p:strVal val="visible"/>
                                      </p:to>
                                    </p:set>
                                    <p:anim calcmode="lin" valueType="num">
                                      <p:cBhvr additive="base">
                                        <p:cTn id="31" dur="500" fill="hold"/>
                                        <p:tgtEl>
                                          <p:spTgt spid="10342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342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03428">
                                            <p:txEl>
                                              <p:pRg st="6" end="6"/>
                                            </p:txEl>
                                          </p:spTgt>
                                        </p:tgtEl>
                                        <p:attrNameLst>
                                          <p:attrName>style.visibility</p:attrName>
                                        </p:attrNameLst>
                                      </p:cBhvr>
                                      <p:to>
                                        <p:strVal val="visible"/>
                                      </p:to>
                                    </p:set>
                                    <p:anim calcmode="lin" valueType="num">
                                      <p:cBhvr additive="base">
                                        <p:cTn id="37" dur="500" fill="hold"/>
                                        <p:tgtEl>
                                          <p:spTgt spid="103428">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342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03428">
                                            <p:txEl>
                                              <p:pRg st="7" end="7"/>
                                            </p:txEl>
                                          </p:spTgt>
                                        </p:tgtEl>
                                        <p:attrNameLst>
                                          <p:attrName>style.visibility</p:attrName>
                                        </p:attrNameLst>
                                      </p:cBhvr>
                                      <p:to>
                                        <p:strVal val="visible"/>
                                      </p:to>
                                    </p:set>
                                    <p:anim calcmode="lin" valueType="num">
                                      <p:cBhvr additive="base">
                                        <p:cTn id="43" dur="500" fill="hold"/>
                                        <p:tgtEl>
                                          <p:spTgt spid="103428">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3428">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15">
            <a:extLst>
              <a:ext uri="{FF2B5EF4-FFF2-40B4-BE49-F238E27FC236}">
                <a16:creationId xmlns:a16="http://schemas.microsoft.com/office/drawing/2014/main" xmlns="" id="{B09A927B-59A5-4449-9154-B6FF7312ECFA}"/>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06499" name="Picture 1">
            <a:extLst>
              <a:ext uri="{FF2B5EF4-FFF2-40B4-BE49-F238E27FC236}">
                <a16:creationId xmlns:a16="http://schemas.microsoft.com/office/drawing/2014/main" xmlns="" id="{6501BED3-D87A-4CBF-A2B7-D059633422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6500" name="Title 3">
            <a:extLst>
              <a:ext uri="{FF2B5EF4-FFF2-40B4-BE49-F238E27FC236}">
                <a16:creationId xmlns:a16="http://schemas.microsoft.com/office/drawing/2014/main" xmlns="" id="{8904CA31-7BF2-4212-8FFA-5F29879F8AFE}"/>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06501" name="Rectangle 2">
            <a:extLst>
              <a:ext uri="{FF2B5EF4-FFF2-40B4-BE49-F238E27FC236}">
                <a16:creationId xmlns:a16="http://schemas.microsoft.com/office/drawing/2014/main" xmlns="" id="{1C42D5F8-5171-4BC8-85FD-9333C6C50E41}"/>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Refining the initial design by introducing relationships</a:t>
            </a:r>
          </a:p>
        </p:txBody>
      </p:sp>
      <p:sp>
        <p:nvSpPr>
          <p:cNvPr id="106502" name="Rectangle 3">
            <a:extLst>
              <a:ext uri="{FF2B5EF4-FFF2-40B4-BE49-F238E27FC236}">
                <a16:creationId xmlns:a16="http://schemas.microsoft.com/office/drawing/2014/main" xmlns="" id="{6453FA2F-8F59-41F1-A689-220E53D8BAE6}"/>
              </a:ext>
            </a:extLst>
          </p:cNvPr>
          <p:cNvSpPr txBox="1">
            <a:spLocks noChangeArrowheads="1"/>
          </p:cNvSpPr>
          <p:nvPr/>
        </p:nvSpPr>
        <p:spPr bwMode="auto">
          <a:xfrm>
            <a:off x="463550" y="1143000"/>
            <a:ext cx="1095375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a:latin typeface="Times New Roman" panose="02020603050405020304" pitchFamily="18" charset="0"/>
                <a:cs typeface="Times New Roman" panose="02020603050405020304" pitchFamily="18" charset="0"/>
              </a:rPr>
              <a:t>The initial design is typically not complete</a:t>
            </a:r>
          </a:p>
          <a:p>
            <a:pPr algn="just"/>
            <a:r>
              <a:rPr lang="en-US" altLang="en-US" sz="2400">
                <a:latin typeface="Times New Roman" panose="02020603050405020304" pitchFamily="18" charset="0"/>
                <a:cs typeface="Times New Roman" panose="02020603050405020304" pitchFamily="18" charset="0"/>
              </a:rPr>
              <a:t>Some aspects in the requirements will be represented as </a:t>
            </a:r>
            <a:r>
              <a:rPr lang="en-US" altLang="en-US" sz="2400" b="1">
                <a:latin typeface="Times New Roman" panose="02020603050405020304" pitchFamily="18" charset="0"/>
                <a:cs typeface="Times New Roman" panose="02020603050405020304" pitchFamily="18" charset="0"/>
              </a:rPr>
              <a:t>relationships</a:t>
            </a:r>
            <a:endParaRPr lang="en-US" altLang="en-US" sz="2400">
              <a:latin typeface="Times New Roman" panose="02020603050405020304" pitchFamily="18" charset="0"/>
              <a:cs typeface="Times New Roman" panose="02020603050405020304" pitchFamily="18" charset="0"/>
            </a:endParaRPr>
          </a:p>
          <a:p>
            <a:pPr algn="just"/>
            <a:r>
              <a:rPr lang="en-US" altLang="en-US" sz="2400">
                <a:latin typeface="Times New Roman" panose="02020603050405020304" pitchFamily="18" charset="0"/>
                <a:cs typeface="Times New Roman" panose="02020603050405020304" pitchFamily="18" charset="0"/>
              </a:rPr>
              <a:t>ER model has three main concepts:</a:t>
            </a:r>
          </a:p>
          <a:p>
            <a:pPr lvl="1" algn="just"/>
            <a:r>
              <a:rPr lang="en-US" altLang="en-US">
                <a:latin typeface="Times New Roman" panose="02020603050405020304" pitchFamily="18" charset="0"/>
                <a:cs typeface="Times New Roman" panose="02020603050405020304" pitchFamily="18" charset="0"/>
              </a:rPr>
              <a:t>Entities (and their entity types and entity sets)</a:t>
            </a:r>
          </a:p>
          <a:p>
            <a:pPr lvl="1" algn="just"/>
            <a:r>
              <a:rPr lang="en-US" altLang="en-US">
                <a:latin typeface="Times New Roman" panose="02020603050405020304" pitchFamily="18" charset="0"/>
                <a:cs typeface="Times New Roman" panose="02020603050405020304" pitchFamily="18" charset="0"/>
              </a:rPr>
              <a:t>Attributes (simple, composite, multivalued)</a:t>
            </a:r>
          </a:p>
          <a:p>
            <a:pPr lvl="1" algn="just"/>
            <a:r>
              <a:rPr lang="en-US" altLang="en-US">
                <a:latin typeface="Times New Roman" panose="02020603050405020304" pitchFamily="18" charset="0"/>
                <a:cs typeface="Times New Roman" panose="02020603050405020304" pitchFamily="18" charset="0"/>
              </a:rPr>
              <a:t>Relationships (and their relationship types and relationship sets)</a:t>
            </a:r>
          </a:p>
          <a:p>
            <a:pPr algn="just"/>
            <a:r>
              <a:rPr lang="en-US" altLang="en-US" sz="2400">
                <a:latin typeface="Times New Roman" panose="02020603050405020304" pitchFamily="18" charset="0"/>
                <a:cs typeface="Times New Roman" panose="02020603050405020304" pitchFamily="18" charset="0"/>
              </a:rPr>
              <a:t>We introduce relationship concepts next</a:t>
            </a:r>
          </a:p>
        </p:txBody>
      </p:sp>
    </p:spTree>
  </p:cSld>
  <p:clrMapOvr>
    <a:masterClrMapping/>
  </p:clrMapOvr>
  <p:transition spd="slow">
    <p:wipe/>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15">
            <a:extLst>
              <a:ext uri="{FF2B5EF4-FFF2-40B4-BE49-F238E27FC236}">
                <a16:creationId xmlns:a16="http://schemas.microsoft.com/office/drawing/2014/main" xmlns="" id="{CD0C3847-4478-4516-AFB9-8D70EDA4CB26}"/>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07523" name="Picture 1">
            <a:extLst>
              <a:ext uri="{FF2B5EF4-FFF2-40B4-BE49-F238E27FC236}">
                <a16:creationId xmlns:a16="http://schemas.microsoft.com/office/drawing/2014/main" xmlns="" id="{D5C7A9F7-6AF6-42C6-ACF4-38C167BEE7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Title 3">
            <a:extLst>
              <a:ext uri="{FF2B5EF4-FFF2-40B4-BE49-F238E27FC236}">
                <a16:creationId xmlns:a16="http://schemas.microsoft.com/office/drawing/2014/main" xmlns="" id="{3F6CA973-9702-49E1-B763-E031B6CA29CB}"/>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9pPr>
          </a:lstStyle>
          <a:p>
            <a:pPr marL="342900" indent="-342900" algn="just">
              <a:lnSpc>
                <a:spcPct val="80000"/>
              </a:lnSpc>
              <a:buFont typeface="Arial" pitchFamily="34" charset="0"/>
              <a:buChar char="•"/>
              <a:defRPr/>
            </a:pPr>
            <a:endParaRPr lang="en-US" sz="2400" dirty="0">
              <a:latin typeface="Times New Roman" pitchFamily="18" charset="0"/>
              <a:cs typeface="Times New Roman" pitchFamily="18" charset="0"/>
            </a:endParaRPr>
          </a:p>
          <a:p>
            <a:pPr marL="342900" indent="-342900" algn="just">
              <a:lnSpc>
                <a:spcPct val="80000"/>
              </a:lnSpc>
              <a:buFont typeface="Arial" pitchFamily="34" charset="0"/>
              <a:buChar char="•"/>
              <a:defRPr/>
            </a:pPr>
            <a:r>
              <a:rPr lang="en-US" sz="2400" dirty="0">
                <a:latin typeface="Times New Roman" pitchFamily="18" charset="0"/>
                <a:cs typeface="Times New Roman" pitchFamily="18" charset="0"/>
              </a:rPr>
              <a:t>A </a:t>
            </a:r>
            <a:r>
              <a:rPr lang="en-US" sz="2400" b="1" dirty="0">
                <a:solidFill>
                  <a:srgbClr val="FF0000"/>
                </a:solidFill>
                <a:latin typeface="Times New Roman" pitchFamily="18" charset="0"/>
                <a:cs typeface="Times New Roman" pitchFamily="18" charset="0"/>
              </a:rPr>
              <a:t>relationship</a:t>
            </a:r>
            <a:r>
              <a:rPr lang="en-US" sz="2400" dirty="0">
                <a:latin typeface="Times New Roman" pitchFamily="18" charset="0"/>
                <a:cs typeface="Times New Roman" pitchFamily="18" charset="0"/>
              </a:rPr>
              <a:t> relates two or more distinct entities with a specific meaning</a:t>
            </a:r>
          </a:p>
          <a:p>
            <a:pPr algn="just">
              <a:lnSpc>
                <a:spcPct val="80000"/>
              </a:lnSpc>
              <a:defRPr/>
            </a:pPr>
            <a:r>
              <a:rPr lang="en-US" sz="2400" dirty="0">
                <a:latin typeface="Times New Roman" pitchFamily="18" charset="0"/>
                <a:cs typeface="Times New Roman" pitchFamily="18" charset="0"/>
              </a:rPr>
              <a:t>.</a:t>
            </a:r>
          </a:p>
          <a:p>
            <a:pPr marL="800100" lvl="1" indent="-342900" algn="just">
              <a:lnSpc>
                <a:spcPct val="80000"/>
              </a:lnSpc>
              <a:buFont typeface="Arial" pitchFamily="34" charset="0"/>
              <a:buChar char="•"/>
              <a:defRPr/>
            </a:pPr>
            <a:r>
              <a:rPr lang="en-US" sz="2400" dirty="0">
                <a:latin typeface="Times New Roman" pitchFamily="18" charset="0"/>
                <a:cs typeface="Times New Roman" pitchFamily="18" charset="0"/>
              </a:rPr>
              <a:t>For example, EMPLOYEE John Smith </a:t>
            </a:r>
            <a:r>
              <a:rPr lang="en-US" sz="2400" i="1" dirty="0">
                <a:latin typeface="Times New Roman" pitchFamily="18" charset="0"/>
                <a:cs typeface="Times New Roman" pitchFamily="18" charset="0"/>
              </a:rPr>
              <a:t>works on</a:t>
            </a:r>
            <a:r>
              <a:rPr lang="en-US" sz="2400" dirty="0">
                <a:latin typeface="Times New Roman" pitchFamily="18" charset="0"/>
                <a:cs typeface="Times New Roman" pitchFamily="18" charset="0"/>
              </a:rPr>
              <a:t> the </a:t>
            </a:r>
            <a:r>
              <a:rPr lang="en-US" sz="2400" dirty="0" err="1">
                <a:latin typeface="Times New Roman" pitchFamily="18" charset="0"/>
                <a:cs typeface="Times New Roman" pitchFamily="18" charset="0"/>
              </a:rPr>
              <a:t>ProductX</a:t>
            </a:r>
            <a:r>
              <a:rPr lang="en-US" sz="2400" dirty="0">
                <a:latin typeface="Times New Roman" pitchFamily="18" charset="0"/>
                <a:cs typeface="Times New Roman" pitchFamily="18" charset="0"/>
              </a:rPr>
              <a:t> PROJECT, or EMPLOYEE Franklin Wong </a:t>
            </a:r>
            <a:r>
              <a:rPr lang="en-US" sz="2400" i="1" dirty="0">
                <a:latin typeface="Times New Roman" pitchFamily="18" charset="0"/>
                <a:cs typeface="Times New Roman" pitchFamily="18" charset="0"/>
              </a:rPr>
              <a:t>manages</a:t>
            </a:r>
            <a:r>
              <a:rPr lang="en-US" sz="2400" dirty="0">
                <a:latin typeface="Times New Roman" pitchFamily="18" charset="0"/>
                <a:cs typeface="Times New Roman" pitchFamily="18" charset="0"/>
              </a:rPr>
              <a:t> the Research DEPARTMENT.</a:t>
            </a:r>
          </a:p>
          <a:p>
            <a:pPr marL="457200" lvl="1" indent="0" algn="just">
              <a:lnSpc>
                <a:spcPct val="80000"/>
              </a:lnSpc>
              <a:defRPr/>
            </a:pPr>
            <a:endParaRPr lang="en-US" sz="2400" dirty="0">
              <a:latin typeface="Times New Roman" pitchFamily="18" charset="0"/>
              <a:cs typeface="Times New Roman" pitchFamily="18" charset="0"/>
            </a:endParaRPr>
          </a:p>
          <a:p>
            <a:pPr marL="342900" indent="-342900" algn="just">
              <a:lnSpc>
                <a:spcPct val="80000"/>
              </a:lnSpc>
              <a:buFont typeface="Arial" pitchFamily="34" charset="0"/>
              <a:buChar char="•"/>
              <a:defRPr/>
            </a:pPr>
            <a:r>
              <a:rPr lang="en-US" sz="2400" dirty="0">
                <a:latin typeface="Times New Roman" pitchFamily="18" charset="0"/>
                <a:cs typeface="Times New Roman" pitchFamily="18" charset="0"/>
              </a:rPr>
              <a:t>Relationships of the same type are grouped or typed into a </a:t>
            </a:r>
            <a:r>
              <a:rPr lang="en-US" sz="2400" b="1" dirty="0">
                <a:latin typeface="Times New Roman" pitchFamily="18" charset="0"/>
                <a:cs typeface="Times New Roman" pitchFamily="18" charset="0"/>
              </a:rPr>
              <a:t>relationship type</a:t>
            </a:r>
            <a:r>
              <a:rPr lang="en-US" sz="2400" dirty="0">
                <a:latin typeface="Times New Roman" pitchFamily="18" charset="0"/>
                <a:cs typeface="Times New Roman" pitchFamily="18" charset="0"/>
              </a:rPr>
              <a:t>.</a:t>
            </a:r>
          </a:p>
          <a:p>
            <a:pPr algn="just">
              <a:lnSpc>
                <a:spcPct val="80000"/>
              </a:lnSpc>
              <a:defRPr/>
            </a:pPr>
            <a:endParaRPr lang="en-US" sz="2400" dirty="0">
              <a:latin typeface="Times New Roman" pitchFamily="18" charset="0"/>
              <a:cs typeface="Times New Roman" pitchFamily="18" charset="0"/>
            </a:endParaRPr>
          </a:p>
          <a:p>
            <a:pPr marL="800100" lvl="1" indent="-342900" algn="just">
              <a:lnSpc>
                <a:spcPct val="80000"/>
              </a:lnSpc>
              <a:buFont typeface="Arial" pitchFamily="34" charset="0"/>
              <a:buChar char="•"/>
              <a:defRPr/>
            </a:pPr>
            <a:r>
              <a:rPr lang="en-US" sz="2400" dirty="0">
                <a:latin typeface="Times New Roman" pitchFamily="18" charset="0"/>
                <a:cs typeface="Times New Roman" pitchFamily="18" charset="0"/>
              </a:rPr>
              <a:t>For example, the WORKS_ON relationship type in which EMPLOYEEs and PROJECTs participate, or the MANAGES relationship type in which EMPLOYEEs and DEPARTMENTs participate.</a:t>
            </a:r>
          </a:p>
          <a:p>
            <a:pPr marL="457200" lvl="1" indent="0" algn="just">
              <a:lnSpc>
                <a:spcPct val="80000"/>
              </a:lnSpc>
              <a:defRPr/>
            </a:pPr>
            <a:endParaRPr lang="en-US" sz="2400" dirty="0">
              <a:latin typeface="Times New Roman" pitchFamily="18" charset="0"/>
              <a:cs typeface="Times New Roman" pitchFamily="18" charset="0"/>
            </a:endParaRPr>
          </a:p>
          <a:p>
            <a:pPr marL="342900" indent="-342900" algn="just">
              <a:lnSpc>
                <a:spcPct val="80000"/>
              </a:lnSpc>
              <a:buFont typeface="Arial" pitchFamily="34" charset="0"/>
              <a:buChar char="•"/>
              <a:defRPr/>
            </a:pPr>
            <a:r>
              <a:rPr lang="en-US" sz="2400" dirty="0">
                <a:latin typeface="Times New Roman" pitchFamily="18" charset="0"/>
                <a:cs typeface="Times New Roman" pitchFamily="18" charset="0"/>
              </a:rPr>
              <a:t>The </a:t>
            </a:r>
            <a:r>
              <a:rPr lang="en-US" sz="2400" dirty="0">
                <a:solidFill>
                  <a:srgbClr val="FF0000"/>
                </a:solidFill>
                <a:latin typeface="Times New Roman" pitchFamily="18" charset="0"/>
                <a:cs typeface="Times New Roman" pitchFamily="18" charset="0"/>
              </a:rPr>
              <a:t>degree</a:t>
            </a:r>
            <a:r>
              <a:rPr lang="en-US" sz="2400" dirty="0">
                <a:latin typeface="Times New Roman" pitchFamily="18" charset="0"/>
                <a:cs typeface="Times New Roman" pitchFamily="18" charset="0"/>
              </a:rPr>
              <a:t> of a relationship type is the number of participating entity types.</a:t>
            </a:r>
          </a:p>
          <a:p>
            <a:pPr algn="just">
              <a:lnSpc>
                <a:spcPct val="80000"/>
              </a:lnSpc>
              <a:defRPr/>
            </a:pPr>
            <a:r>
              <a:rPr lang="en-US" sz="2400" dirty="0">
                <a:latin typeface="Times New Roman" pitchFamily="18" charset="0"/>
                <a:cs typeface="Times New Roman" pitchFamily="18" charset="0"/>
              </a:rPr>
              <a:t> </a:t>
            </a:r>
          </a:p>
          <a:p>
            <a:pPr marL="800100" lvl="1" indent="-342900" algn="just">
              <a:lnSpc>
                <a:spcPct val="80000"/>
              </a:lnSpc>
              <a:buFont typeface="Arial" pitchFamily="34" charset="0"/>
              <a:buChar char="•"/>
              <a:defRPr/>
            </a:pPr>
            <a:r>
              <a:rPr lang="en-US" sz="2400" dirty="0">
                <a:latin typeface="Times New Roman" pitchFamily="18" charset="0"/>
                <a:cs typeface="Times New Roman" pitchFamily="18" charset="0"/>
              </a:rPr>
              <a:t>Both MANAGES and WORKS_ON are </a:t>
            </a:r>
            <a:r>
              <a:rPr lang="en-US" sz="2400" i="1" dirty="0">
                <a:latin typeface="Times New Roman" pitchFamily="18" charset="0"/>
                <a:cs typeface="Times New Roman" pitchFamily="18" charset="0"/>
              </a:rPr>
              <a:t>binary</a:t>
            </a:r>
            <a:r>
              <a:rPr lang="en-US" sz="2400" dirty="0">
                <a:latin typeface="Times New Roman" pitchFamily="18" charset="0"/>
                <a:cs typeface="Times New Roman" pitchFamily="18" charset="0"/>
              </a:rPr>
              <a:t> relationships.</a:t>
            </a:r>
          </a:p>
          <a:p>
            <a:pPr marL="457200" lvl="1" indent="0" algn="just">
              <a:lnSpc>
                <a:spcPct val="80000"/>
              </a:lnSpc>
              <a:defRPr/>
            </a:pPr>
            <a:endParaRPr lang="en-US" sz="2400" dirty="0">
              <a:latin typeface="Times New Roman" pitchFamily="18" charset="0"/>
              <a:cs typeface="Times New Roman" pitchFamily="18" charset="0"/>
            </a:endParaRPr>
          </a:p>
        </p:txBody>
      </p:sp>
      <p:sp>
        <p:nvSpPr>
          <p:cNvPr id="107525" name="Rectangle 2">
            <a:extLst>
              <a:ext uri="{FF2B5EF4-FFF2-40B4-BE49-F238E27FC236}">
                <a16:creationId xmlns:a16="http://schemas.microsoft.com/office/drawing/2014/main" xmlns="" id="{2555D3BE-BB39-47D0-A687-FF11C924DAB7}"/>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dirty="0">
                <a:latin typeface="Times New Roman" panose="02020603050405020304" pitchFamily="18" charset="0"/>
                <a:cs typeface="Times New Roman" panose="02020603050405020304" pitchFamily="18" charset="0"/>
              </a:rPr>
              <a:t>Relationships and Relationship Types</a:t>
            </a:r>
          </a:p>
        </p:txBody>
      </p:sp>
    </p:spTree>
  </p:cSld>
  <p:clrMapOvr>
    <a:masterClrMapping/>
  </p:clrMapOvr>
  <p:transition spd="slow">
    <p:wipe/>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15">
            <a:extLst>
              <a:ext uri="{FF2B5EF4-FFF2-40B4-BE49-F238E27FC236}">
                <a16:creationId xmlns:a16="http://schemas.microsoft.com/office/drawing/2014/main" xmlns="" id="{916A9649-0EC2-4667-80C3-7A2850684B7D}"/>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08547" name="Picture 1">
            <a:extLst>
              <a:ext uri="{FF2B5EF4-FFF2-40B4-BE49-F238E27FC236}">
                <a16:creationId xmlns:a16="http://schemas.microsoft.com/office/drawing/2014/main" xmlns="" id="{3059E12A-C553-4D0C-AAA7-857D8D617E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76" name="Title 3">
            <a:extLst>
              <a:ext uri="{FF2B5EF4-FFF2-40B4-BE49-F238E27FC236}">
                <a16:creationId xmlns:a16="http://schemas.microsoft.com/office/drawing/2014/main" xmlns="" id="{8B18243A-01FA-410C-B732-524B69BA8F15}"/>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9pPr>
          </a:lstStyle>
          <a:p>
            <a:pPr>
              <a:spcBef>
                <a:spcPct val="20000"/>
              </a:spcBef>
              <a:buClr>
                <a:srgbClr val="0BD0D9"/>
              </a:buClr>
              <a:buSzPct val="95000"/>
              <a:buFont typeface="Wingdings 2" pitchFamily="18" charset="2"/>
              <a:buChar char=""/>
              <a:defRPr/>
            </a:pPr>
            <a:r>
              <a:rPr lang="en-US" sz="2400" dirty="0">
                <a:latin typeface="Times New Roman" pitchFamily="18" charset="0"/>
                <a:cs typeface="Times New Roman" pitchFamily="18" charset="0"/>
              </a:rPr>
              <a:t>For a binary relationship set the mapping cardinality must be one of the following types:</a:t>
            </a:r>
          </a:p>
          <a:p>
            <a:pPr lvl="1">
              <a:spcBef>
                <a:spcPct val="20000"/>
              </a:spcBef>
              <a:buClr>
                <a:schemeClr val="accent1"/>
              </a:buClr>
              <a:buSzPct val="85000"/>
              <a:buFont typeface="Wingdings 2" pitchFamily="18" charset="2"/>
              <a:buChar char=""/>
              <a:defRPr/>
            </a:pPr>
            <a:r>
              <a:rPr lang="en-US" sz="2400" dirty="0">
                <a:latin typeface="Times New Roman" pitchFamily="18" charset="0"/>
                <a:cs typeface="Times New Roman" pitchFamily="18" charset="0"/>
              </a:rPr>
              <a:t>One to one</a:t>
            </a:r>
          </a:p>
          <a:p>
            <a:pPr lvl="1">
              <a:spcBef>
                <a:spcPct val="20000"/>
              </a:spcBef>
              <a:buClr>
                <a:schemeClr val="accent1"/>
              </a:buClr>
              <a:buSzPct val="85000"/>
              <a:buFont typeface="Wingdings 2" pitchFamily="18" charset="2"/>
              <a:buChar char=""/>
              <a:defRPr/>
            </a:pPr>
            <a:r>
              <a:rPr lang="en-US" sz="2400" dirty="0">
                <a:latin typeface="Times New Roman" pitchFamily="18" charset="0"/>
                <a:cs typeface="Times New Roman" pitchFamily="18" charset="0"/>
              </a:rPr>
              <a:t>One to many</a:t>
            </a:r>
          </a:p>
          <a:p>
            <a:pPr lvl="1">
              <a:spcBef>
                <a:spcPct val="20000"/>
              </a:spcBef>
              <a:buClr>
                <a:schemeClr val="accent1"/>
              </a:buClr>
              <a:buSzPct val="85000"/>
              <a:buFont typeface="Wingdings 2" pitchFamily="18" charset="2"/>
              <a:buChar char=""/>
              <a:defRPr/>
            </a:pPr>
            <a:r>
              <a:rPr lang="en-US" sz="2400" dirty="0">
                <a:latin typeface="Times New Roman" pitchFamily="18" charset="0"/>
                <a:cs typeface="Times New Roman" pitchFamily="18" charset="0"/>
              </a:rPr>
              <a:t>Many to one</a:t>
            </a:r>
          </a:p>
          <a:p>
            <a:pPr lvl="1">
              <a:spcBef>
                <a:spcPct val="20000"/>
              </a:spcBef>
              <a:buClr>
                <a:schemeClr val="accent1"/>
              </a:buClr>
              <a:buSzPct val="85000"/>
              <a:buFont typeface="Wingdings 2" pitchFamily="18" charset="2"/>
              <a:buChar char=""/>
              <a:defRPr/>
            </a:pPr>
            <a:r>
              <a:rPr lang="en-US" sz="2400" dirty="0">
                <a:latin typeface="Times New Roman" pitchFamily="18" charset="0"/>
                <a:cs typeface="Times New Roman" pitchFamily="18" charset="0"/>
              </a:rPr>
              <a:t>Many to many </a:t>
            </a:r>
          </a:p>
          <a:p>
            <a:pPr marL="457200" lvl="1" indent="0">
              <a:spcBef>
                <a:spcPct val="20000"/>
              </a:spcBef>
              <a:buClr>
                <a:schemeClr val="accent1"/>
              </a:buClr>
              <a:buSzPct val="85000"/>
              <a:defRPr/>
            </a:pPr>
            <a:endParaRPr lang="en-US" sz="2400" dirty="0">
              <a:latin typeface="Times New Roman" pitchFamily="18" charset="0"/>
              <a:cs typeface="Times New Roman" pitchFamily="18" charset="0"/>
            </a:endParaRPr>
          </a:p>
        </p:txBody>
      </p:sp>
      <p:sp>
        <p:nvSpPr>
          <p:cNvPr id="108549" name="Rectangle 2">
            <a:extLst>
              <a:ext uri="{FF2B5EF4-FFF2-40B4-BE49-F238E27FC236}">
                <a16:creationId xmlns:a16="http://schemas.microsoft.com/office/drawing/2014/main" xmlns="" id="{BD34B2B4-4303-46CD-9538-D22506B335F9}"/>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Mapping Cardinality Constraints</a:t>
            </a:r>
            <a:endParaRPr lang="en-US" altLang="en-US" b="1">
              <a:latin typeface="Calibri Light" panose="020F0302020204030204" pitchFamily="34" charset="0"/>
            </a:endParaRPr>
          </a:p>
        </p:txBody>
      </p:sp>
      <p:pic>
        <p:nvPicPr>
          <p:cNvPr id="108550" name="Picture 6">
            <a:extLst>
              <a:ext uri="{FF2B5EF4-FFF2-40B4-BE49-F238E27FC236}">
                <a16:creationId xmlns:a16="http://schemas.microsoft.com/office/drawing/2014/main" xmlns="" id="{62C9A8ED-0429-4466-9C1C-F885A0FE6B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24" t="9708" r="417" b="9708"/>
          <a:stretch>
            <a:fillRect/>
          </a:stretch>
        </p:blipFill>
        <p:spPr bwMode="auto">
          <a:xfrm>
            <a:off x="3244850" y="1744663"/>
            <a:ext cx="6796088" cy="3541712"/>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108551" name="Text Box 3">
            <a:extLst>
              <a:ext uri="{FF2B5EF4-FFF2-40B4-BE49-F238E27FC236}">
                <a16:creationId xmlns:a16="http://schemas.microsoft.com/office/drawing/2014/main" xmlns="" id="{A156F869-5DD0-4B01-87EC-94E0BD352890}"/>
              </a:ext>
            </a:extLst>
          </p:cNvPr>
          <p:cNvSpPr txBox="1">
            <a:spLocks noChangeArrowheads="1"/>
          </p:cNvSpPr>
          <p:nvPr/>
        </p:nvSpPr>
        <p:spPr bwMode="auto">
          <a:xfrm>
            <a:off x="3494088" y="5545138"/>
            <a:ext cx="5899150"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sz="1600" b="1">
                <a:latin typeface="Times New Roman" panose="02020603050405020304" pitchFamily="18" charset="0"/>
                <a:ea typeface="MS PGothic" panose="020B0600070205080204" pitchFamily="34" charset="-128"/>
                <a:cs typeface="Times New Roman" panose="02020603050405020304" pitchFamily="18" charset="0"/>
              </a:rPr>
              <a:t>Figure 3.7 Cardinality mapping : a) One  to one  b) One to many                                                   </a:t>
            </a:r>
          </a:p>
        </p:txBody>
      </p:sp>
    </p:spTree>
  </p:cSld>
  <p:clrMapOvr>
    <a:masterClrMapping/>
  </p:clrMapOvr>
  <p:transition spd="slow">
    <p:wipe/>
  </p:transition>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15">
            <a:extLst>
              <a:ext uri="{FF2B5EF4-FFF2-40B4-BE49-F238E27FC236}">
                <a16:creationId xmlns:a16="http://schemas.microsoft.com/office/drawing/2014/main" xmlns="" id="{F356B539-996A-4BA9-A825-77099A37D5E4}"/>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09571" name="Picture 1">
            <a:extLst>
              <a:ext uri="{FF2B5EF4-FFF2-40B4-BE49-F238E27FC236}">
                <a16:creationId xmlns:a16="http://schemas.microsoft.com/office/drawing/2014/main" xmlns="" id="{F8338898-6F81-4954-A773-698422E257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9572" name="Title 3">
            <a:extLst>
              <a:ext uri="{FF2B5EF4-FFF2-40B4-BE49-F238E27FC236}">
                <a16:creationId xmlns:a16="http://schemas.microsoft.com/office/drawing/2014/main" xmlns="" id="{15F16F27-41DD-4D8B-95D6-774EA7301688}"/>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09573" name="Rectangle 2">
            <a:extLst>
              <a:ext uri="{FF2B5EF4-FFF2-40B4-BE49-F238E27FC236}">
                <a16:creationId xmlns:a16="http://schemas.microsoft.com/office/drawing/2014/main" xmlns="" id="{2A485C55-1B47-4502-AE5B-7DFCED74AC04}"/>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Mapping Cardinalities</a:t>
            </a:r>
            <a:endParaRPr lang="en-US" altLang="en-US" b="1">
              <a:latin typeface="Calibri Light" panose="020F0302020204030204" pitchFamily="34" charset="0"/>
            </a:endParaRPr>
          </a:p>
        </p:txBody>
      </p:sp>
      <p:pic>
        <p:nvPicPr>
          <p:cNvPr id="109574" name="Picture 6">
            <a:extLst>
              <a:ext uri="{FF2B5EF4-FFF2-40B4-BE49-F238E27FC236}">
                <a16:creationId xmlns:a16="http://schemas.microsoft.com/office/drawing/2014/main" xmlns="" id="{2DF45E68-01EC-4D47-97D0-88BD7CB71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581" t="9547" r="388" b="9805"/>
          <a:stretch>
            <a:fillRect/>
          </a:stretch>
        </p:blipFill>
        <p:spPr bwMode="auto">
          <a:xfrm>
            <a:off x="2338388" y="1535113"/>
            <a:ext cx="6816725" cy="2944812"/>
          </a:xfrm>
          <a:prstGeom prst="rect">
            <a:avLst/>
          </a:prstGeom>
          <a:noFill/>
          <a:ln w="38100" cmpd="dbl">
            <a:solidFill>
              <a:schemeClr val="tx2"/>
            </a:solidFill>
            <a:miter lim="800000"/>
            <a:headEnd/>
            <a:tailEnd/>
          </a:ln>
          <a:extLst>
            <a:ext uri="{909E8E84-426E-40DD-AFC4-6F175D3DCCD1}">
              <a14:hiddenFill xmlns:a14="http://schemas.microsoft.com/office/drawing/2010/main">
                <a:solidFill>
                  <a:srgbClr val="FFFFFF"/>
                </a:solidFill>
              </a14:hiddenFill>
            </a:ext>
          </a:extLst>
        </p:spPr>
      </p:pic>
      <p:sp>
        <p:nvSpPr>
          <p:cNvPr id="109575" name="Text Box 3">
            <a:extLst>
              <a:ext uri="{FF2B5EF4-FFF2-40B4-BE49-F238E27FC236}">
                <a16:creationId xmlns:a16="http://schemas.microsoft.com/office/drawing/2014/main" xmlns="" id="{A7295127-05FA-4205-BF00-9A86FC9D4A0B}"/>
              </a:ext>
            </a:extLst>
          </p:cNvPr>
          <p:cNvSpPr txBox="1">
            <a:spLocks noChangeArrowheads="1"/>
          </p:cNvSpPr>
          <p:nvPr/>
        </p:nvSpPr>
        <p:spPr bwMode="auto">
          <a:xfrm>
            <a:off x="2092325" y="4859338"/>
            <a:ext cx="6773863"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50000"/>
              </a:spcBef>
              <a:buFontTx/>
              <a:buNone/>
            </a:pPr>
            <a:r>
              <a:rPr lang="en-US" altLang="en-US" sz="1600" b="1">
                <a:latin typeface="Times New Roman" panose="02020603050405020304" pitchFamily="18" charset="0"/>
                <a:ea typeface="MS PGothic" panose="020B0600070205080204" pitchFamily="34" charset="-128"/>
                <a:cs typeface="Times New Roman" panose="02020603050405020304" pitchFamily="18" charset="0"/>
              </a:rPr>
              <a:t>Figure 3.8 Cardinality mapping :  a) Many to one  b) Many to many</a:t>
            </a:r>
          </a:p>
        </p:txBody>
      </p:sp>
    </p:spTree>
  </p:cSld>
  <p:clrMapOvr>
    <a:masterClrMapping/>
  </p:clrMapOvr>
  <p:transition spd="slow">
    <p:wipe/>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15">
            <a:extLst>
              <a:ext uri="{FF2B5EF4-FFF2-40B4-BE49-F238E27FC236}">
                <a16:creationId xmlns:a16="http://schemas.microsoft.com/office/drawing/2014/main" xmlns="" id="{B22AAF4B-0503-4B9C-80AC-135AD392AAD1}"/>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12643" name="Picture 1">
            <a:extLst>
              <a:ext uri="{FF2B5EF4-FFF2-40B4-BE49-F238E27FC236}">
                <a16:creationId xmlns:a16="http://schemas.microsoft.com/office/drawing/2014/main" xmlns="" id="{3E7476B3-13D8-444D-A75A-FDE7F34527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8852" name="Title 3">
            <a:extLst>
              <a:ext uri="{FF2B5EF4-FFF2-40B4-BE49-F238E27FC236}">
                <a16:creationId xmlns:a16="http://schemas.microsoft.com/office/drawing/2014/main" xmlns="" id="{E70ED9D5-930C-405B-BA6B-0A22CAA0C8B8}"/>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pitchFamily="34" charset="0"/>
                <a:cs typeface="Arial" pitchFamily="34" charset="0"/>
              </a:defRPr>
            </a:lvl9pPr>
          </a:lstStyle>
          <a:p>
            <a:pPr marL="342900" indent="-342900" algn="just">
              <a:buFont typeface="Arial" pitchFamily="34" charset="0"/>
              <a:buChar char="•"/>
              <a:defRPr/>
            </a:pPr>
            <a:r>
              <a:rPr lang="en-US" sz="2400" dirty="0">
                <a:solidFill>
                  <a:srgbClr val="FF0000"/>
                </a:solidFill>
                <a:latin typeface="Times New Roman" pitchFamily="18" charset="0"/>
                <a:cs typeface="Times New Roman" pitchFamily="18" charset="0"/>
              </a:rPr>
              <a:t>Relationship Type:</a:t>
            </a:r>
          </a:p>
          <a:p>
            <a:pPr marL="800100" lvl="1" indent="-342900" algn="just">
              <a:buFont typeface="Arial" pitchFamily="34" charset="0"/>
              <a:buChar char="•"/>
              <a:defRPr/>
            </a:pPr>
            <a:r>
              <a:rPr lang="en-US" sz="2400" dirty="0">
                <a:latin typeface="Times New Roman" pitchFamily="18" charset="0"/>
                <a:cs typeface="Times New Roman" pitchFamily="18" charset="0"/>
              </a:rPr>
              <a:t>Is the schema description of a relationship</a:t>
            </a:r>
          </a:p>
          <a:p>
            <a:pPr marL="800100" lvl="1" indent="-342900" algn="just">
              <a:buFont typeface="Arial" pitchFamily="34" charset="0"/>
              <a:buChar char="•"/>
              <a:defRPr/>
            </a:pPr>
            <a:r>
              <a:rPr lang="en-US" sz="2400" dirty="0">
                <a:latin typeface="Times New Roman" pitchFamily="18" charset="0"/>
                <a:cs typeface="Times New Roman" pitchFamily="18" charset="0"/>
              </a:rPr>
              <a:t>Identifies the relationship name and the participating entity types</a:t>
            </a:r>
          </a:p>
          <a:p>
            <a:pPr marL="800100" lvl="1" indent="-342900" algn="just">
              <a:buFont typeface="Arial" pitchFamily="34" charset="0"/>
              <a:buChar char="•"/>
              <a:defRPr/>
            </a:pPr>
            <a:r>
              <a:rPr lang="en-US" sz="2400" dirty="0">
                <a:latin typeface="Times New Roman" pitchFamily="18" charset="0"/>
                <a:cs typeface="Times New Roman" pitchFamily="18" charset="0"/>
              </a:rPr>
              <a:t>Also identifies certain relationship constraints</a:t>
            </a:r>
          </a:p>
          <a:p>
            <a:pPr marL="342900" indent="-342900" algn="just">
              <a:buFont typeface="Arial" pitchFamily="34" charset="0"/>
              <a:buChar char="•"/>
              <a:defRPr/>
            </a:pPr>
            <a:r>
              <a:rPr lang="en-US" sz="2400" dirty="0">
                <a:solidFill>
                  <a:srgbClr val="FF0000"/>
                </a:solidFill>
                <a:latin typeface="Times New Roman" pitchFamily="18" charset="0"/>
                <a:cs typeface="Times New Roman" pitchFamily="18" charset="0"/>
              </a:rPr>
              <a:t>Relationship Set:</a:t>
            </a:r>
          </a:p>
          <a:p>
            <a:pPr marL="800100" lvl="1" indent="-342900" algn="just">
              <a:buFont typeface="Arial" pitchFamily="34" charset="0"/>
              <a:buChar char="•"/>
              <a:defRPr/>
            </a:pPr>
            <a:r>
              <a:rPr lang="en-US" sz="2400" dirty="0">
                <a:latin typeface="Times New Roman" pitchFamily="18" charset="0"/>
                <a:cs typeface="Times New Roman" pitchFamily="18" charset="0"/>
              </a:rPr>
              <a:t>The current set of relationship instances represented in the database</a:t>
            </a:r>
          </a:p>
          <a:p>
            <a:pPr marL="800100" lvl="1" indent="-342900" algn="just">
              <a:buFont typeface="Arial" pitchFamily="34" charset="0"/>
              <a:buChar char="•"/>
              <a:defRPr/>
            </a:pPr>
            <a:r>
              <a:rPr lang="en-US" sz="2400" dirty="0">
                <a:latin typeface="Times New Roman" pitchFamily="18" charset="0"/>
                <a:cs typeface="Times New Roman" pitchFamily="18" charset="0"/>
              </a:rPr>
              <a:t>The current </a:t>
            </a:r>
            <a:r>
              <a:rPr lang="en-US" sz="2400" i="1" dirty="0">
                <a:latin typeface="Times New Roman" pitchFamily="18" charset="0"/>
                <a:cs typeface="Times New Roman" pitchFamily="18" charset="0"/>
              </a:rPr>
              <a:t>state</a:t>
            </a:r>
            <a:r>
              <a:rPr lang="en-US" sz="2400" dirty="0">
                <a:latin typeface="Times New Roman" pitchFamily="18" charset="0"/>
                <a:cs typeface="Times New Roman" pitchFamily="18" charset="0"/>
              </a:rPr>
              <a:t> of a relationship type</a:t>
            </a:r>
          </a:p>
          <a:p>
            <a:pPr marL="342900" indent="-342900" algn="just">
              <a:buFont typeface="Arial" pitchFamily="34" charset="0"/>
              <a:buChar char="•"/>
              <a:defRPr/>
            </a:pPr>
            <a:r>
              <a:rPr lang="en-US" sz="2400" dirty="0">
                <a:latin typeface="Times New Roman" pitchFamily="18" charset="0"/>
                <a:cs typeface="Times New Roman" pitchFamily="18" charset="0"/>
              </a:rPr>
              <a:t>Each instance in the set relates individual participating entities – one from each participating entity type</a:t>
            </a:r>
          </a:p>
          <a:p>
            <a:pPr marL="342900" indent="-342900" algn="just">
              <a:buFont typeface="Arial" pitchFamily="34" charset="0"/>
              <a:buChar char="•"/>
              <a:defRPr/>
            </a:pPr>
            <a:r>
              <a:rPr lang="en-US" sz="2400" dirty="0">
                <a:latin typeface="Times New Roman" pitchFamily="18" charset="0"/>
                <a:cs typeface="Times New Roman" pitchFamily="18" charset="0"/>
              </a:rPr>
              <a:t>In ER diagrams, we represent the </a:t>
            </a:r>
            <a:r>
              <a:rPr lang="en-US" sz="2400" i="1" dirty="0">
                <a:latin typeface="Times New Roman" pitchFamily="18" charset="0"/>
                <a:cs typeface="Times New Roman" pitchFamily="18" charset="0"/>
              </a:rPr>
              <a:t>relationship type </a:t>
            </a:r>
            <a:r>
              <a:rPr lang="en-US" sz="2400" dirty="0">
                <a:latin typeface="Times New Roman" pitchFamily="18" charset="0"/>
                <a:cs typeface="Times New Roman" pitchFamily="18" charset="0"/>
              </a:rPr>
              <a:t>as follows:</a:t>
            </a:r>
          </a:p>
          <a:p>
            <a:pPr lvl="1" algn="just">
              <a:defRPr/>
            </a:pPr>
            <a:r>
              <a:rPr lang="en-US" sz="2400" dirty="0">
                <a:latin typeface="Times New Roman" pitchFamily="18" charset="0"/>
                <a:cs typeface="Times New Roman" pitchFamily="18" charset="0"/>
              </a:rPr>
              <a:t>Diamond-shaped box is used to display a relationship type Connected to the participating entity types via straight lines</a:t>
            </a:r>
          </a:p>
          <a:p>
            <a:pPr marL="800100" lvl="1" indent="-342900" algn="just">
              <a:buFont typeface="Arial" pitchFamily="34" charset="0"/>
              <a:buChar char="•"/>
              <a:defRPr/>
            </a:pPr>
            <a:endParaRPr lang="en-US" sz="2400" dirty="0">
              <a:latin typeface="Times New Roman" pitchFamily="18" charset="0"/>
              <a:cs typeface="Times New Roman" pitchFamily="18" charset="0"/>
            </a:endParaRPr>
          </a:p>
        </p:txBody>
      </p:sp>
      <p:sp>
        <p:nvSpPr>
          <p:cNvPr id="112645" name="Rectangle 2">
            <a:extLst>
              <a:ext uri="{FF2B5EF4-FFF2-40B4-BE49-F238E27FC236}">
                <a16:creationId xmlns:a16="http://schemas.microsoft.com/office/drawing/2014/main" xmlns="" id="{E7D0A3E8-66E3-4675-B06F-6A3E82EA462E}"/>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dirty="0">
                <a:latin typeface="Times New Roman" panose="02020603050405020304" pitchFamily="18" charset="0"/>
                <a:cs typeface="Times New Roman" panose="02020603050405020304" pitchFamily="18" charset="0"/>
              </a:rPr>
              <a:t>Relationship type vs. relationship set</a:t>
            </a:r>
          </a:p>
        </p:txBody>
      </p:sp>
    </p:spTree>
  </p:cSld>
  <p:clrMapOvr>
    <a:masterClrMapping/>
  </p:clrMapOvr>
  <p:transition spd="slow">
    <p:wipe/>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15">
            <a:extLst>
              <a:ext uri="{FF2B5EF4-FFF2-40B4-BE49-F238E27FC236}">
                <a16:creationId xmlns:a16="http://schemas.microsoft.com/office/drawing/2014/main" xmlns="" id="{1FEE1203-C60C-42A2-BB85-EF6F6E33BC2D}"/>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19811" name="Picture 1">
            <a:extLst>
              <a:ext uri="{FF2B5EF4-FFF2-40B4-BE49-F238E27FC236}">
                <a16:creationId xmlns:a16="http://schemas.microsoft.com/office/drawing/2014/main" xmlns="" id="{85816675-6B81-4030-A39B-326A21076A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9812" name="Title 3">
            <a:extLst>
              <a:ext uri="{FF2B5EF4-FFF2-40B4-BE49-F238E27FC236}">
                <a16:creationId xmlns:a16="http://schemas.microsoft.com/office/drawing/2014/main" xmlns="" id="{4550F9BA-7B6D-452D-91ED-189426525873}"/>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19813" name="Rectangle 2">
            <a:extLst>
              <a:ext uri="{FF2B5EF4-FFF2-40B4-BE49-F238E27FC236}">
                <a16:creationId xmlns:a16="http://schemas.microsoft.com/office/drawing/2014/main" xmlns="" id="{2C897BF4-115B-4C12-97EF-520E53947E61}"/>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Constraints on Relationships</a:t>
            </a:r>
          </a:p>
        </p:txBody>
      </p:sp>
      <p:sp>
        <p:nvSpPr>
          <p:cNvPr id="119814" name="Rectangle 1029">
            <a:extLst>
              <a:ext uri="{FF2B5EF4-FFF2-40B4-BE49-F238E27FC236}">
                <a16:creationId xmlns:a16="http://schemas.microsoft.com/office/drawing/2014/main" xmlns="" id="{E7AD2091-E11A-4EA8-8954-601D34D48F91}"/>
              </a:ext>
            </a:extLst>
          </p:cNvPr>
          <p:cNvSpPr txBox="1">
            <a:spLocks noChangeArrowheads="1"/>
          </p:cNvSpPr>
          <p:nvPr/>
        </p:nvSpPr>
        <p:spPr bwMode="auto">
          <a:xfrm>
            <a:off x="696913" y="1143000"/>
            <a:ext cx="10223500"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i="1" dirty="0">
                <a:solidFill>
                  <a:srgbClr val="FF0000"/>
                </a:solidFill>
                <a:latin typeface="Times New Roman" panose="02020603050405020304" pitchFamily="18" charset="0"/>
                <a:cs typeface="Times New Roman" panose="02020603050405020304" pitchFamily="18" charset="0"/>
              </a:rPr>
              <a:t>Cardinality Ratio and Participation Constraint together form Structural Constraints</a:t>
            </a:r>
          </a:p>
          <a:p>
            <a:pPr algn="just"/>
            <a:r>
              <a:rPr lang="en-US" altLang="en-US" sz="2400" dirty="0">
                <a:latin typeface="Times New Roman" panose="02020603050405020304" pitchFamily="18" charset="0"/>
                <a:cs typeface="Times New Roman" panose="02020603050405020304" pitchFamily="18" charset="0"/>
              </a:rPr>
              <a:t>Constraints on Relationship Types</a:t>
            </a:r>
          </a:p>
          <a:p>
            <a:pPr lvl="1" algn="just"/>
            <a:r>
              <a:rPr lang="en-US" altLang="en-US" dirty="0">
                <a:latin typeface="Times New Roman" panose="02020603050405020304" pitchFamily="18" charset="0"/>
                <a:cs typeface="Times New Roman" panose="02020603050405020304" pitchFamily="18" charset="0"/>
              </a:rPr>
              <a:t>(Also known as ratio constraints)</a:t>
            </a:r>
          </a:p>
          <a:p>
            <a:pPr lvl="1" algn="just"/>
            <a:r>
              <a:rPr lang="en-US" altLang="en-US" dirty="0">
                <a:latin typeface="Times New Roman" panose="02020603050405020304" pitchFamily="18" charset="0"/>
                <a:cs typeface="Times New Roman" panose="02020603050405020304" pitchFamily="18" charset="0"/>
              </a:rPr>
              <a:t>Cardinality Ratio (specifies </a:t>
            </a:r>
            <a:r>
              <a:rPr lang="en-US" altLang="en-US" i="1" dirty="0">
                <a:latin typeface="Times New Roman" panose="02020603050405020304" pitchFamily="18" charset="0"/>
                <a:cs typeface="Times New Roman" panose="02020603050405020304" pitchFamily="18" charset="0"/>
              </a:rPr>
              <a:t>maximum</a:t>
            </a:r>
            <a:r>
              <a:rPr lang="en-US" altLang="en-US" dirty="0">
                <a:latin typeface="Times New Roman" panose="02020603050405020304" pitchFamily="18" charset="0"/>
                <a:cs typeface="Times New Roman" panose="02020603050405020304" pitchFamily="18" charset="0"/>
              </a:rPr>
              <a:t> participation) </a:t>
            </a:r>
          </a:p>
          <a:p>
            <a:pPr lvl="2" algn="just"/>
            <a:r>
              <a:rPr lang="en-US" altLang="en-US" sz="2400" dirty="0">
                <a:latin typeface="Times New Roman" panose="02020603050405020304" pitchFamily="18" charset="0"/>
                <a:cs typeface="Times New Roman" panose="02020603050405020304" pitchFamily="18" charset="0"/>
              </a:rPr>
              <a:t>One-to-one (1:1)</a:t>
            </a:r>
          </a:p>
          <a:p>
            <a:pPr lvl="2" algn="just"/>
            <a:r>
              <a:rPr lang="en-US" altLang="en-US" sz="2400" dirty="0">
                <a:latin typeface="Times New Roman" panose="02020603050405020304" pitchFamily="18" charset="0"/>
                <a:cs typeface="Times New Roman" panose="02020603050405020304" pitchFamily="18" charset="0"/>
              </a:rPr>
              <a:t>One-to-many (1:N) or Many-to-one (N:1)</a:t>
            </a:r>
          </a:p>
          <a:p>
            <a:pPr lvl="2" algn="just"/>
            <a:r>
              <a:rPr lang="en-US" altLang="en-US" sz="2400" dirty="0">
                <a:latin typeface="Times New Roman" panose="02020603050405020304" pitchFamily="18" charset="0"/>
                <a:cs typeface="Times New Roman" panose="02020603050405020304" pitchFamily="18" charset="0"/>
              </a:rPr>
              <a:t>Many-to-many (M:N)</a:t>
            </a:r>
          </a:p>
          <a:p>
            <a:pPr lvl="1" algn="just"/>
            <a:r>
              <a:rPr lang="en-US" altLang="en-US" dirty="0">
                <a:latin typeface="Times New Roman" panose="02020603050405020304" pitchFamily="18" charset="0"/>
                <a:cs typeface="Times New Roman" panose="02020603050405020304" pitchFamily="18" charset="0"/>
              </a:rPr>
              <a:t>Existence Dependency Constraint (specifies </a:t>
            </a:r>
            <a:r>
              <a:rPr lang="en-US" altLang="en-US" i="1" dirty="0">
                <a:latin typeface="Times New Roman" panose="02020603050405020304" pitchFamily="18" charset="0"/>
                <a:cs typeface="Times New Roman" panose="02020603050405020304" pitchFamily="18" charset="0"/>
              </a:rPr>
              <a:t>minimum</a:t>
            </a:r>
            <a:r>
              <a:rPr lang="en-US" altLang="en-US" dirty="0">
                <a:latin typeface="Times New Roman" panose="02020603050405020304" pitchFamily="18" charset="0"/>
                <a:cs typeface="Times New Roman" panose="02020603050405020304" pitchFamily="18" charset="0"/>
              </a:rPr>
              <a:t> participation) (also called participation constraint)</a:t>
            </a:r>
          </a:p>
          <a:p>
            <a:pPr lvl="2" algn="just"/>
            <a:r>
              <a:rPr lang="en-US" altLang="en-US" sz="2400" dirty="0">
                <a:latin typeface="Times New Roman" panose="02020603050405020304" pitchFamily="18" charset="0"/>
                <a:cs typeface="Times New Roman" panose="02020603050405020304" pitchFamily="18" charset="0"/>
              </a:rPr>
              <a:t>zero (optional participation, not existence-dependent) </a:t>
            </a:r>
            <a:r>
              <a:rPr lang="en-US" altLang="en-US" sz="2400" i="1" dirty="0">
                <a:solidFill>
                  <a:srgbClr val="FF0000"/>
                </a:solidFill>
                <a:latin typeface="Times New Roman" panose="02020603050405020304" pitchFamily="18" charset="0"/>
                <a:cs typeface="Times New Roman" panose="02020603050405020304" pitchFamily="18" charset="0"/>
              </a:rPr>
              <a:t>PARTIAL</a:t>
            </a:r>
          </a:p>
          <a:p>
            <a:pPr lvl="2" algn="just"/>
            <a:r>
              <a:rPr lang="en-US" altLang="en-US" sz="2400" dirty="0">
                <a:latin typeface="Times New Roman" panose="02020603050405020304" pitchFamily="18" charset="0"/>
                <a:cs typeface="Times New Roman" panose="02020603050405020304" pitchFamily="18" charset="0"/>
              </a:rPr>
              <a:t>one or more (mandatory participation, existence-dependent) </a:t>
            </a:r>
            <a:r>
              <a:rPr lang="en-US" altLang="en-US" sz="2400" i="1" dirty="0">
                <a:solidFill>
                  <a:srgbClr val="FF0000"/>
                </a:solidFill>
                <a:latin typeface="Times New Roman" panose="02020603050405020304" pitchFamily="18" charset="0"/>
                <a:cs typeface="Times New Roman" panose="02020603050405020304" pitchFamily="18" charset="0"/>
              </a:rPr>
              <a:t>TOTAL</a:t>
            </a:r>
          </a:p>
        </p:txBody>
      </p:sp>
    </p:spTree>
  </p:cSld>
  <p:clrMapOvr>
    <a:masterClrMapping/>
  </p:clrMapOvr>
  <p:transition spd="slow">
    <p:wipe/>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15">
            <a:extLst>
              <a:ext uri="{FF2B5EF4-FFF2-40B4-BE49-F238E27FC236}">
                <a16:creationId xmlns:a16="http://schemas.microsoft.com/office/drawing/2014/main" xmlns="" id="{0C2C105D-F396-43CF-90CA-EA958F60F853}"/>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23907" name="Picture 1">
            <a:extLst>
              <a:ext uri="{FF2B5EF4-FFF2-40B4-BE49-F238E27FC236}">
                <a16:creationId xmlns:a16="http://schemas.microsoft.com/office/drawing/2014/main" xmlns="" id="{D2C3BE50-18E5-4764-BA1C-131135F18B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04" name="Title 3">
            <a:extLst>
              <a:ext uri="{FF2B5EF4-FFF2-40B4-BE49-F238E27FC236}">
                <a16:creationId xmlns:a16="http://schemas.microsoft.com/office/drawing/2014/main" xmlns="" id="{101FA903-8E7B-4AC9-97DE-41BD7883CEB9}"/>
              </a:ext>
            </a:extLst>
          </p:cNvPr>
          <p:cNvSpPr txBox="1">
            <a:spLocks/>
          </p:cNvSpPr>
          <p:nvPr/>
        </p:nvSpPr>
        <p:spPr bwMode="auto">
          <a:xfrm>
            <a:off x="463550" y="852488"/>
            <a:ext cx="11353800" cy="4862512"/>
          </a:xfrm>
          <a:prstGeom prst="rect">
            <a:avLst/>
          </a:prstGeom>
          <a:noFill/>
          <a:ln>
            <a:noFill/>
          </a:ln>
        </p:spPr>
        <p:txBody>
          <a:bodyPr/>
          <a:lstStyle>
            <a:lvl1pPr marL="3429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800100" indent="-3429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lgn="just">
              <a:lnSpc>
                <a:spcPct val="90000"/>
              </a:lnSpc>
              <a:buFont typeface="Arial" charset="0"/>
              <a:buChar char="•"/>
              <a:defRPr/>
            </a:pPr>
            <a:endParaRPr lang="en-US" sz="2400" dirty="0">
              <a:solidFill>
                <a:srgbClr val="FF0000"/>
              </a:solidFill>
              <a:latin typeface="Times New Roman" pitchFamily="18" charset="0"/>
              <a:cs typeface="Times New Roman" pitchFamily="18" charset="0"/>
            </a:endParaRPr>
          </a:p>
          <a:p>
            <a:pPr algn="just">
              <a:lnSpc>
                <a:spcPct val="90000"/>
              </a:lnSpc>
              <a:buFont typeface="Arial" charset="0"/>
              <a:buChar char="•"/>
              <a:defRPr/>
            </a:pPr>
            <a:r>
              <a:rPr lang="en-US" sz="2400" dirty="0">
                <a:solidFill>
                  <a:srgbClr val="FF0000"/>
                </a:solidFill>
                <a:latin typeface="Times New Roman" pitchFamily="18" charset="0"/>
                <a:cs typeface="Times New Roman" pitchFamily="18" charset="0"/>
              </a:rPr>
              <a:t>Cardinality ratio (of </a:t>
            </a:r>
            <a:r>
              <a:rPr lang="en-US" sz="2400" dirty="0">
                <a:latin typeface="Times New Roman" pitchFamily="18" charset="0"/>
                <a:cs typeface="Times New Roman" pitchFamily="18" charset="0"/>
              </a:rPr>
              <a:t>a binary relationship): 1:1, 1:N, N:1, or M:N</a:t>
            </a:r>
          </a:p>
          <a:p>
            <a:pPr lvl="1" algn="just">
              <a:lnSpc>
                <a:spcPct val="90000"/>
              </a:lnSpc>
              <a:buFont typeface="Arial" charset="0"/>
              <a:buChar char="•"/>
              <a:defRPr/>
            </a:pPr>
            <a:r>
              <a:rPr lang="en-US" sz="2400" dirty="0">
                <a:latin typeface="Times New Roman" pitchFamily="18" charset="0"/>
                <a:cs typeface="Times New Roman" pitchFamily="18" charset="0"/>
              </a:rPr>
              <a:t>Shown by placing appropriate numbers on the relationship edges.</a:t>
            </a:r>
          </a:p>
          <a:p>
            <a:pPr marL="457200" lvl="1" indent="0" algn="just">
              <a:lnSpc>
                <a:spcPct val="90000"/>
              </a:lnSpc>
              <a:defRPr/>
            </a:pPr>
            <a:endParaRPr lang="en-US" sz="2400" dirty="0">
              <a:latin typeface="Times New Roman" pitchFamily="18" charset="0"/>
              <a:cs typeface="Times New Roman" pitchFamily="18" charset="0"/>
            </a:endParaRPr>
          </a:p>
          <a:p>
            <a:pPr algn="just">
              <a:lnSpc>
                <a:spcPct val="90000"/>
              </a:lnSpc>
              <a:buFont typeface="Arial" charset="0"/>
              <a:buChar char="•"/>
              <a:defRPr/>
            </a:pPr>
            <a:r>
              <a:rPr lang="en-US" sz="2400" dirty="0">
                <a:solidFill>
                  <a:srgbClr val="FF0000"/>
                </a:solidFill>
                <a:latin typeface="Times New Roman" pitchFamily="18" charset="0"/>
                <a:cs typeface="Times New Roman" pitchFamily="18" charset="0"/>
              </a:rPr>
              <a:t>Participation constraint </a:t>
            </a:r>
            <a:r>
              <a:rPr lang="en-US" sz="2400" dirty="0">
                <a:latin typeface="Times New Roman" pitchFamily="18" charset="0"/>
                <a:cs typeface="Times New Roman" pitchFamily="18" charset="0"/>
              </a:rPr>
              <a:t>(on each participating entity type): total (called existence dependency) or partial.</a:t>
            </a:r>
          </a:p>
          <a:p>
            <a:pPr lvl="1" algn="just">
              <a:lnSpc>
                <a:spcPct val="90000"/>
              </a:lnSpc>
              <a:buFont typeface="Arial" charset="0"/>
              <a:buChar char="•"/>
              <a:defRPr/>
            </a:pPr>
            <a:r>
              <a:rPr lang="en-US" sz="2400" dirty="0">
                <a:latin typeface="Times New Roman" pitchFamily="18" charset="0"/>
                <a:cs typeface="Times New Roman" pitchFamily="18" charset="0"/>
              </a:rPr>
              <a:t>Total shown by double line, partial by single line.</a:t>
            </a:r>
          </a:p>
        </p:txBody>
      </p:sp>
      <p:sp>
        <p:nvSpPr>
          <p:cNvPr id="123909" name="Rectangle 2">
            <a:extLst>
              <a:ext uri="{FF2B5EF4-FFF2-40B4-BE49-F238E27FC236}">
                <a16:creationId xmlns:a16="http://schemas.microsoft.com/office/drawing/2014/main" xmlns="" id="{AC2F68D9-E5FD-417C-8932-AF86517DB4C8}"/>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Notation for Constraints on Relationships</a:t>
            </a:r>
          </a:p>
        </p:txBody>
      </p:sp>
    </p:spTree>
  </p:cSld>
  <p:clrMapOvr>
    <a:masterClrMapping/>
  </p:clrMapOvr>
  <p:transition spd="slow">
    <p:wipe/>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15">
            <a:extLst>
              <a:ext uri="{FF2B5EF4-FFF2-40B4-BE49-F238E27FC236}">
                <a16:creationId xmlns:a16="http://schemas.microsoft.com/office/drawing/2014/main" xmlns="" id="{4BA07437-640D-4FD2-AC84-ACB0A53003BA}"/>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13667" name="Picture 1">
            <a:extLst>
              <a:ext uri="{FF2B5EF4-FFF2-40B4-BE49-F238E27FC236}">
                <a16:creationId xmlns:a16="http://schemas.microsoft.com/office/drawing/2014/main" xmlns="" id="{EDB3E489-E4A0-4B5A-8D01-1DC29E8FD7A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3668" name="Title 3">
            <a:extLst>
              <a:ext uri="{FF2B5EF4-FFF2-40B4-BE49-F238E27FC236}">
                <a16:creationId xmlns:a16="http://schemas.microsoft.com/office/drawing/2014/main" xmlns="" id="{DA467D22-7481-4AE0-9047-C52DE9F9300A}"/>
              </a:ext>
            </a:extLst>
          </p:cNvPr>
          <p:cNvSpPr txBox="1">
            <a:spLocks/>
          </p:cNvSpPr>
          <p:nvPr/>
        </p:nvSpPr>
        <p:spPr bwMode="auto">
          <a:xfrm>
            <a:off x="463550" y="1162050"/>
            <a:ext cx="11353800" cy="4552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13669" name="Rectangle 2">
            <a:extLst>
              <a:ext uri="{FF2B5EF4-FFF2-40B4-BE49-F238E27FC236}">
                <a16:creationId xmlns:a16="http://schemas.microsoft.com/office/drawing/2014/main" xmlns="" id="{33A6EE74-BB3E-431D-ADF5-8727C022C216}"/>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Refining the COMPANY database schema by introducing relationships</a:t>
            </a:r>
          </a:p>
        </p:txBody>
      </p:sp>
      <p:sp>
        <p:nvSpPr>
          <p:cNvPr id="113670" name="Rectangle 2051">
            <a:extLst>
              <a:ext uri="{FF2B5EF4-FFF2-40B4-BE49-F238E27FC236}">
                <a16:creationId xmlns:a16="http://schemas.microsoft.com/office/drawing/2014/main" xmlns="" id="{50A0BB09-DE94-431E-811A-A1026ECFA748}"/>
              </a:ext>
            </a:extLst>
          </p:cNvPr>
          <p:cNvSpPr txBox="1">
            <a:spLocks noChangeArrowheads="1"/>
          </p:cNvSpPr>
          <p:nvPr/>
        </p:nvSpPr>
        <p:spPr bwMode="auto">
          <a:xfrm>
            <a:off x="1330325" y="1443038"/>
            <a:ext cx="1008697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dirty="0">
                <a:latin typeface="Times New Roman" panose="02020603050405020304" pitchFamily="18" charset="0"/>
                <a:cs typeface="Times New Roman" panose="02020603050405020304" pitchFamily="18" charset="0"/>
              </a:rPr>
              <a:t>By examining the requirements, six relationship types are identified</a:t>
            </a:r>
          </a:p>
          <a:p>
            <a:pPr algn="just"/>
            <a:r>
              <a:rPr lang="en-US" altLang="en-US" sz="2400" dirty="0">
                <a:latin typeface="Times New Roman" panose="02020603050405020304" pitchFamily="18" charset="0"/>
                <a:cs typeface="Times New Roman" panose="02020603050405020304" pitchFamily="18" charset="0"/>
              </a:rPr>
              <a:t>All are </a:t>
            </a:r>
            <a:r>
              <a:rPr lang="en-US" altLang="en-US" sz="2400" i="1" dirty="0">
                <a:latin typeface="Times New Roman" panose="02020603050405020304" pitchFamily="18" charset="0"/>
                <a:cs typeface="Times New Roman" panose="02020603050405020304" pitchFamily="18" charset="0"/>
              </a:rPr>
              <a:t>binary</a:t>
            </a:r>
            <a:r>
              <a:rPr lang="en-US" altLang="en-US" sz="2400" dirty="0">
                <a:latin typeface="Times New Roman" panose="02020603050405020304" pitchFamily="18" charset="0"/>
                <a:cs typeface="Times New Roman" panose="02020603050405020304" pitchFamily="18" charset="0"/>
              </a:rPr>
              <a:t> relationships( degree 2)</a:t>
            </a:r>
          </a:p>
          <a:p>
            <a:pPr algn="just"/>
            <a:r>
              <a:rPr lang="en-US" altLang="en-US" sz="2400" dirty="0">
                <a:latin typeface="Times New Roman" panose="02020603050405020304" pitchFamily="18" charset="0"/>
                <a:cs typeface="Times New Roman" panose="02020603050405020304" pitchFamily="18" charset="0"/>
              </a:rPr>
              <a:t>Listed below with their participating entity types:</a:t>
            </a:r>
          </a:p>
          <a:p>
            <a:pPr lvl="1" algn="just"/>
            <a:r>
              <a:rPr lang="en-US" altLang="en-US" dirty="0">
                <a:latin typeface="Times New Roman" panose="02020603050405020304" pitchFamily="18" charset="0"/>
                <a:cs typeface="Times New Roman" panose="02020603050405020304" pitchFamily="18" charset="0"/>
              </a:rPr>
              <a:t>WORKS_FOR (between EMPLOYEE, DEPARTMENT)</a:t>
            </a:r>
          </a:p>
          <a:p>
            <a:pPr lvl="1" algn="just"/>
            <a:r>
              <a:rPr lang="en-US" altLang="en-US" dirty="0">
                <a:latin typeface="Times New Roman" panose="02020603050405020304" pitchFamily="18" charset="0"/>
                <a:cs typeface="Times New Roman" panose="02020603050405020304" pitchFamily="18" charset="0"/>
              </a:rPr>
              <a:t>MANAGES (also between EMPLOYEE, DEPARTMENT)</a:t>
            </a:r>
          </a:p>
          <a:p>
            <a:pPr lvl="1" algn="just"/>
            <a:r>
              <a:rPr lang="en-US" altLang="en-US" dirty="0">
                <a:latin typeface="Times New Roman" panose="02020603050405020304" pitchFamily="18" charset="0"/>
                <a:cs typeface="Times New Roman" panose="02020603050405020304" pitchFamily="18" charset="0"/>
              </a:rPr>
              <a:t>CONTROLS (between DEPARTMENT, PROJECT)</a:t>
            </a:r>
          </a:p>
          <a:p>
            <a:pPr lvl="1" algn="just"/>
            <a:r>
              <a:rPr lang="en-US" altLang="en-US" dirty="0">
                <a:latin typeface="Times New Roman" panose="02020603050405020304" pitchFamily="18" charset="0"/>
                <a:cs typeface="Times New Roman" panose="02020603050405020304" pitchFamily="18" charset="0"/>
              </a:rPr>
              <a:t>WORKS_ON (between EMPLOYEE, PROJECT)</a:t>
            </a:r>
          </a:p>
          <a:p>
            <a:pPr lvl="1" algn="just"/>
            <a:r>
              <a:rPr lang="en-US" altLang="en-US" dirty="0">
                <a:latin typeface="Times New Roman" panose="02020603050405020304" pitchFamily="18" charset="0"/>
                <a:cs typeface="Times New Roman" panose="02020603050405020304" pitchFamily="18" charset="0"/>
              </a:rPr>
              <a:t>SUPERVISION (between EMPLOYEE (as subordinate), EMPLOYEE (as supervisor))</a:t>
            </a:r>
          </a:p>
          <a:p>
            <a:pPr lvl="1" algn="just"/>
            <a:r>
              <a:rPr lang="en-US" altLang="en-US" dirty="0">
                <a:latin typeface="Times New Roman" panose="02020603050405020304" pitchFamily="18" charset="0"/>
                <a:cs typeface="Times New Roman" panose="02020603050405020304" pitchFamily="18" charset="0"/>
              </a:rPr>
              <a:t>DEPENDENTS_OF (between DEPENDENT, EMPLOYEE)</a:t>
            </a:r>
          </a:p>
          <a:p>
            <a:pPr lvl="1" algn="just"/>
            <a:endParaRPr lang="en-US" altLang="en-US" dirty="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13670">
                                            <p:txEl>
                                              <p:pRg st="3" end="3"/>
                                            </p:txEl>
                                          </p:spTgt>
                                        </p:tgtEl>
                                        <p:attrNameLst>
                                          <p:attrName>style.visibility</p:attrName>
                                        </p:attrNameLst>
                                      </p:cBhvr>
                                      <p:to>
                                        <p:strVal val="visible"/>
                                      </p:to>
                                    </p:set>
                                    <p:animEffect transition="in" filter="barn(inVertical)">
                                      <p:cBhvr>
                                        <p:cTn id="7" dur="500"/>
                                        <p:tgtEl>
                                          <p:spTgt spid="113670">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113670">
                                            <p:txEl>
                                              <p:pRg st="4" end="4"/>
                                            </p:txEl>
                                          </p:spTgt>
                                        </p:tgtEl>
                                        <p:attrNameLst>
                                          <p:attrName>style.visibility</p:attrName>
                                        </p:attrNameLst>
                                      </p:cBhvr>
                                      <p:to>
                                        <p:strVal val="visible"/>
                                      </p:to>
                                    </p:set>
                                    <p:animEffect transition="in" filter="barn(inVertical)">
                                      <p:cBhvr>
                                        <p:cTn id="12" dur="500"/>
                                        <p:tgtEl>
                                          <p:spTgt spid="113670">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113670">
                                            <p:txEl>
                                              <p:pRg st="5" end="5"/>
                                            </p:txEl>
                                          </p:spTgt>
                                        </p:tgtEl>
                                        <p:attrNameLst>
                                          <p:attrName>style.visibility</p:attrName>
                                        </p:attrNameLst>
                                      </p:cBhvr>
                                      <p:to>
                                        <p:strVal val="visible"/>
                                      </p:to>
                                    </p:set>
                                    <p:animEffect transition="in" filter="barn(inVertical)">
                                      <p:cBhvr>
                                        <p:cTn id="17" dur="500"/>
                                        <p:tgtEl>
                                          <p:spTgt spid="113670">
                                            <p:txEl>
                                              <p:pRg st="5" end="5"/>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42" presetClass="entr" presetSubtype="0" fill="hold" nodeType="clickEffect">
                                  <p:stCondLst>
                                    <p:cond delay="0"/>
                                  </p:stCondLst>
                                  <p:childTnLst>
                                    <p:set>
                                      <p:cBhvr>
                                        <p:cTn id="21" dur="1" fill="hold">
                                          <p:stCondLst>
                                            <p:cond delay="0"/>
                                          </p:stCondLst>
                                        </p:cTn>
                                        <p:tgtEl>
                                          <p:spTgt spid="113670">
                                            <p:txEl>
                                              <p:pRg st="6" end="6"/>
                                            </p:txEl>
                                          </p:spTgt>
                                        </p:tgtEl>
                                        <p:attrNameLst>
                                          <p:attrName>style.visibility</p:attrName>
                                        </p:attrNameLst>
                                      </p:cBhvr>
                                      <p:to>
                                        <p:strVal val="visible"/>
                                      </p:to>
                                    </p:set>
                                    <p:animEffect transition="in" filter="fade">
                                      <p:cBhvr>
                                        <p:cTn id="22" dur="1000"/>
                                        <p:tgtEl>
                                          <p:spTgt spid="113670">
                                            <p:txEl>
                                              <p:pRg st="6" end="6"/>
                                            </p:txEl>
                                          </p:spTgt>
                                        </p:tgtEl>
                                      </p:cBhvr>
                                    </p:animEffect>
                                    <p:anim calcmode="lin" valueType="num">
                                      <p:cBhvr>
                                        <p:cTn id="23" dur="1000" fill="hold"/>
                                        <p:tgtEl>
                                          <p:spTgt spid="113670">
                                            <p:txEl>
                                              <p:pRg st="6" end="6"/>
                                            </p:txEl>
                                          </p:spTgt>
                                        </p:tgtEl>
                                        <p:attrNameLst>
                                          <p:attrName>ppt_x</p:attrName>
                                        </p:attrNameLst>
                                      </p:cBhvr>
                                      <p:tavLst>
                                        <p:tav tm="0">
                                          <p:val>
                                            <p:strVal val="#ppt_x"/>
                                          </p:val>
                                        </p:tav>
                                        <p:tav tm="100000">
                                          <p:val>
                                            <p:strVal val="#ppt_x"/>
                                          </p:val>
                                        </p:tav>
                                      </p:tavLst>
                                    </p:anim>
                                    <p:anim calcmode="lin" valueType="num">
                                      <p:cBhvr>
                                        <p:cTn id="24" dur="1000" fill="hold"/>
                                        <p:tgtEl>
                                          <p:spTgt spid="113670">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113670">
                                            <p:txEl>
                                              <p:pRg st="7" end="7"/>
                                            </p:txEl>
                                          </p:spTgt>
                                        </p:tgtEl>
                                        <p:attrNameLst>
                                          <p:attrName>style.visibility</p:attrName>
                                        </p:attrNameLst>
                                      </p:cBhvr>
                                      <p:to>
                                        <p:strVal val="visible"/>
                                      </p:to>
                                    </p:set>
                                    <p:animEffect transition="in" filter="fade">
                                      <p:cBhvr>
                                        <p:cTn id="29" dur="1000"/>
                                        <p:tgtEl>
                                          <p:spTgt spid="113670">
                                            <p:txEl>
                                              <p:pRg st="7" end="7"/>
                                            </p:txEl>
                                          </p:spTgt>
                                        </p:tgtEl>
                                      </p:cBhvr>
                                    </p:animEffect>
                                    <p:anim calcmode="lin" valueType="num">
                                      <p:cBhvr>
                                        <p:cTn id="30" dur="1000" fill="hold"/>
                                        <p:tgtEl>
                                          <p:spTgt spid="113670">
                                            <p:txEl>
                                              <p:pRg st="7" end="7"/>
                                            </p:txEl>
                                          </p:spTgt>
                                        </p:tgtEl>
                                        <p:attrNameLst>
                                          <p:attrName>ppt_x</p:attrName>
                                        </p:attrNameLst>
                                      </p:cBhvr>
                                      <p:tavLst>
                                        <p:tav tm="0">
                                          <p:val>
                                            <p:strVal val="#ppt_x"/>
                                          </p:val>
                                        </p:tav>
                                        <p:tav tm="100000">
                                          <p:val>
                                            <p:strVal val="#ppt_x"/>
                                          </p:val>
                                        </p:tav>
                                      </p:tavLst>
                                    </p:anim>
                                    <p:anim calcmode="lin" valueType="num">
                                      <p:cBhvr>
                                        <p:cTn id="31" dur="1000" fill="hold"/>
                                        <p:tgtEl>
                                          <p:spTgt spid="113670">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113670">
                                            <p:txEl>
                                              <p:pRg st="8" end="8"/>
                                            </p:txEl>
                                          </p:spTgt>
                                        </p:tgtEl>
                                        <p:attrNameLst>
                                          <p:attrName>style.visibility</p:attrName>
                                        </p:attrNameLst>
                                      </p:cBhvr>
                                      <p:to>
                                        <p:strVal val="visible"/>
                                      </p:to>
                                    </p:set>
                                    <p:animEffect transition="in" filter="fade">
                                      <p:cBhvr>
                                        <p:cTn id="36" dur="1000"/>
                                        <p:tgtEl>
                                          <p:spTgt spid="113670">
                                            <p:txEl>
                                              <p:pRg st="8" end="8"/>
                                            </p:txEl>
                                          </p:spTgt>
                                        </p:tgtEl>
                                      </p:cBhvr>
                                    </p:animEffect>
                                    <p:anim calcmode="lin" valueType="num">
                                      <p:cBhvr>
                                        <p:cTn id="37" dur="1000" fill="hold"/>
                                        <p:tgtEl>
                                          <p:spTgt spid="113670">
                                            <p:txEl>
                                              <p:pRg st="8" end="8"/>
                                            </p:txEl>
                                          </p:spTgt>
                                        </p:tgtEl>
                                        <p:attrNameLst>
                                          <p:attrName>ppt_x</p:attrName>
                                        </p:attrNameLst>
                                      </p:cBhvr>
                                      <p:tavLst>
                                        <p:tav tm="0">
                                          <p:val>
                                            <p:strVal val="#ppt_x"/>
                                          </p:val>
                                        </p:tav>
                                        <p:tav tm="100000">
                                          <p:val>
                                            <p:strVal val="#ppt_x"/>
                                          </p:val>
                                        </p:tav>
                                      </p:tavLst>
                                    </p:anim>
                                    <p:anim calcmode="lin" valueType="num">
                                      <p:cBhvr>
                                        <p:cTn id="38" dur="1000" fill="hold"/>
                                        <p:tgtEl>
                                          <p:spTgt spid="113670">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15">
            <a:extLst>
              <a:ext uri="{FF2B5EF4-FFF2-40B4-BE49-F238E27FC236}">
                <a16:creationId xmlns:a16="http://schemas.microsoft.com/office/drawing/2014/main" xmlns="" id="{0A0B484C-570C-499E-A46D-E482C855EB05}"/>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10595" name="Picture 1">
            <a:extLst>
              <a:ext uri="{FF2B5EF4-FFF2-40B4-BE49-F238E27FC236}">
                <a16:creationId xmlns:a16="http://schemas.microsoft.com/office/drawing/2014/main" xmlns="" id="{23BFB9B1-F268-49CB-8BFB-8470F33A31B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6" name="Title 3">
            <a:extLst>
              <a:ext uri="{FF2B5EF4-FFF2-40B4-BE49-F238E27FC236}">
                <a16:creationId xmlns:a16="http://schemas.microsoft.com/office/drawing/2014/main" xmlns="" id="{25E6482F-9B9C-4123-BA6C-00C7042590ED}"/>
              </a:ext>
            </a:extLst>
          </p:cNvPr>
          <p:cNvSpPr txBox="1">
            <a:spLocks/>
          </p:cNvSpPr>
          <p:nvPr/>
        </p:nvSpPr>
        <p:spPr bwMode="auto">
          <a:xfrm>
            <a:off x="463550" y="852488"/>
            <a:ext cx="11353800" cy="5434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18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800" b="1" dirty="0">
                <a:latin typeface="Times New Roman" panose="02020603050405020304" pitchFamily="18" charset="0"/>
                <a:cs typeface="Times New Roman" panose="02020603050405020304" pitchFamily="18" charset="0"/>
              </a:rPr>
              <a:t>Figure 3.9 Some instances in the WORKS_FOR relationship set, which represents a </a:t>
            </a:r>
          </a:p>
          <a:p>
            <a:pPr algn="ctr" eaLnBrk="1" hangingPunct="1">
              <a:lnSpc>
                <a:spcPct val="101000"/>
              </a:lnSpc>
              <a:spcBef>
                <a:spcPct val="0"/>
              </a:spcBef>
              <a:buFontTx/>
              <a:buNone/>
            </a:pPr>
            <a:r>
              <a:rPr lang="en-IN" altLang="en-US" sz="1800" b="1" dirty="0">
                <a:latin typeface="Times New Roman" panose="02020603050405020304" pitchFamily="18" charset="0"/>
                <a:cs typeface="Times New Roman" panose="02020603050405020304" pitchFamily="18" charset="0"/>
              </a:rPr>
              <a:t>relationship type WORKS_FOR between EMPLOYEE and the DEPARTMENT</a:t>
            </a:r>
          </a:p>
        </p:txBody>
      </p:sp>
      <p:sp>
        <p:nvSpPr>
          <p:cNvPr id="110597" name="Rectangle 2">
            <a:extLst>
              <a:ext uri="{FF2B5EF4-FFF2-40B4-BE49-F238E27FC236}">
                <a16:creationId xmlns:a16="http://schemas.microsoft.com/office/drawing/2014/main" xmlns="" id="{C0786784-935C-4224-905C-F2AB90C23569}"/>
              </a:ext>
            </a:extLst>
          </p:cNvPr>
          <p:cNvSpPr txBox="1">
            <a:spLocks noChangeArrowheads="1"/>
          </p:cNvSpPr>
          <p:nvPr/>
        </p:nvSpPr>
        <p:spPr bwMode="auto">
          <a:xfrm>
            <a:off x="1192213" y="214313"/>
            <a:ext cx="10225087"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dirty="0">
                <a:latin typeface="Times New Roman" panose="02020603050405020304" pitchFamily="18" charset="0"/>
                <a:cs typeface="Times New Roman" panose="02020603050405020304" pitchFamily="18" charset="0"/>
              </a:rPr>
              <a:t>Relationship instances of the WORKS_FOR between EMPLOYEE and DEPARTMENT</a:t>
            </a:r>
          </a:p>
        </p:txBody>
      </p:sp>
      <p:pic>
        <p:nvPicPr>
          <p:cNvPr id="110598" name="Picture 7">
            <a:extLst>
              <a:ext uri="{FF2B5EF4-FFF2-40B4-BE49-F238E27FC236}">
                <a16:creationId xmlns:a16="http://schemas.microsoft.com/office/drawing/2014/main" xmlns="" id="{B8159BF8-994B-4D77-B47D-995EDB27E3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96338" y="1095375"/>
            <a:ext cx="5943600" cy="4619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TextBox 2">
            <a:extLst>
              <a:ext uri="{FF2B5EF4-FFF2-40B4-BE49-F238E27FC236}">
                <a16:creationId xmlns:a16="http://schemas.microsoft.com/office/drawing/2014/main" xmlns="" id="{2AEF4B84-9CC2-484D-8204-8E72EEC864F2}"/>
              </a:ext>
            </a:extLst>
          </p:cNvPr>
          <p:cNvSpPr txBox="1"/>
          <p:nvPr/>
        </p:nvSpPr>
        <p:spPr>
          <a:xfrm>
            <a:off x="773723" y="1687513"/>
            <a:ext cx="2743200" cy="369332"/>
          </a:xfrm>
          <a:prstGeom prst="rect">
            <a:avLst/>
          </a:prstGeom>
          <a:noFill/>
        </p:spPr>
        <p:txBody>
          <a:bodyPr wrap="square" rtlCol="0">
            <a:spAutoFit/>
          </a:bodyPr>
          <a:lstStyle/>
          <a:p>
            <a:r>
              <a:rPr lang="en-US" altLang="en-US" b="1" dirty="0">
                <a:latin typeface="Times New Roman" panose="02020603050405020304" pitchFamily="18" charset="0"/>
                <a:cs typeface="Times New Roman" panose="02020603050405020304" pitchFamily="18" charset="0"/>
              </a:rPr>
              <a:t>N:1 relationship</a:t>
            </a:r>
            <a:endParaRPr lang="en-IN" dirty="0"/>
          </a:p>
        </p:txBody>
      </p:sp>
    </p:spTree>
    <p:extLst>
      <p:ext uri="{BB962C8B-B14F-4D97-AF65-F5344CB8AC3E}">
        <p14:creationId xmlns:p14="http://schemas.microsoft.com/office/powerpoint/2010/main" val="178500394"/>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10598"/>
                                        </p:tgtEl>
                                        <p:attrNameLst>
                                          <p:attrName>style.visibility</p:attrName>
                                        </p:attrNameLst>
                                      </p:cBhvr>
                                      <p:to>
                                        <p:strVal val="visible"/>
                                      </p:to>
                                    </p:set>
                                    <p:animEffect transition="in" filter="fade">
                                      <p:cBhvr>
                                        <p:cTn id="14" dur="1000"/>
                                        <p:tgtEl>
                                          <p:spTgt spid="110598"/>
                                        </p:tgtEl>
                                      </p:cBhvr>
                                    </p:animEffect>
                                    <p:anim calcmode="lin" valueType="num">
                                      <p:cBhvr>
                                        <p:cTn id="15" dur="1000" fill="hold"/>
                                        <p:tgtEl>
                                          <p:spTgt spid="110598"/>
                                        </p:tgtEl>
                                        <p:attrNameLst>
                                          <p:attrName>ppt_x</p:attrName>
                                        </p:attrNameLst>
                                      </p:cBhvr>
                                      <p:tavLst>
                                        <p:tav tm="0">
                                          <p:val>
                                            <p:strVal val="#ppt_x"/>
                                          </p:val>
                                        </p:tav>
                                        <p:tav tm="100000">
                                          <p:val>
                                            <p:strVal val="#ppt_x"/>
                                          </p:val>
                                        </p:tav>
                                      </p:tavLst>
                                    </p:anim>
                                    <p:anim calcmode="lin" valueType="num">
                                      <p:cBhvr>
                                        <p:cTn id="16" dur="1000" fill="hold"/>
                                        <p:tgtEl>
                                          <p:spTgt spid="11059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059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596" grpId="0"/>
      <p:bldP spid="3" grpId="0"/>
    </p:bld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Rectangle 15">
            <a:extLst>
              <a:ext uri="{FF2B5EF4-FFF2-40B4-BE49-F238E27FC236}">
                <a16:creationId xmlns:a16="http://schemas.microsoft.com/office/drawing/2014/main" xmlns="" id="{03344A76-3F26-42DE-BAA5-F9D174F3BD56}"/>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11619" name="Picture 1">
            <a:extLst>
              <a:ext uri="{FF2B5EF4-FFF2-40B4-BE49-F238E27FC236}">
                <a16:creationId xmlns:a16="http://schemas.microsoft.com/office/drawing/2014/main" xmlns="" id="{69E95639-F375-48FA-835D-598C5FD5F13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1620" name="Title 3">
            <a:extLst>
              <a:ext uri="{FF2B5EF4-FFF2-40B4-BE49-F238E27FC236}">
                <a16:creationId xmlns:a16="http://schemas.microsoft.com/office/drawing/2014/main" xmlns="" id="{F6E46863-F0AD-4AD7-B9A0-2CE2793084F9}"/>
              </a:ext>
            </a:extLst>
          </p:cNvPr>
          <p:cNvSpPr txBox="1">
            <a:spLocks/>
          </p:cNvSpPr>
          <p:nvPr/>
        </p:nvSpPr>
        <p:spPr bwMode="auto">
          <a:xfrm>
            <a:off x="463550" y="1204913"/>
            <a:ext cx="11353800" cy="52054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dirty="0">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600" b="1" dirty="0">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600" b="1" dirty="0">
                <a:latin typeface="Times New Roman" panose="02020603050405020304" pitchFamily="18" charset="0"/>
                <a:cs typeface="Times New Roman" panose="02020603050405020304" pitchFamily="18" charset="0"/>
              </a:rPr>
              <a:t>Figure 3.10 An M:N relationship, WORKS_ON</a:t>
            </a:r>
          </a:p>
        </p:txBody>
      </p:sp>
      <p:sp>
        <p:nvSpPr>
          <p:cNvPr id="111621" name="Rectangle 2">
            <a:extLst>
              <a:ext uri="{FF2B5EF4-FFF2-40B4-BE49-F238E27FC236}">
                <a16:creationId xmlns:a16="http://schemas.microsoft.com/office/drawing/2014/main" xmlns="" id="{7098A5C2-6586-43AF-AC0D-C1284304B75A}"/>
              </a:ext>
            </a:extLst>
          </p:cNvPr>
          <p:cNvSpPr txBox="1">
            <a:spLocks noChangeArrowheads="1"/>
          </p:cNvSpPr>
          <p:nvPr/>
        </p:nvSpPr>
        <p:spPr bwMode="auto">
          <a:xfrm>
            <a:off x="1192213" y="134938"/>
            <a:ext cx="10225087"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dirty="0">
                <a:latin typeface="Times New Roman" panose="02020603050405020304" pitchFamily="18" charset="0"/>
                <a:cs typeface="Times New Roman" panose="02020603050405020304" pitchFamily="18" charset="0"/>
              </a:rPr>
              <a:t>Relationship instances of WORKS_ON relationship between EMPLOYEE and PROJECT</a:t>
            </a:r>
          </a:p>
        </p:txBody>
      </p:sp>
      <p:pic>
        <p:nvPicPr>
          <p:cNvPr id="111622" name="Picture 7">
            <a:extLst>
              <a:ext uri="{FF2B5EF4-FFF2-40B4-BE49-F238E27FC236}">
                <a16:creationId xmlns:a16="http://schemas.microsoft.com/office/drawing/2014/main" xmlns="" id="{5060AC77-C9C1-4DE2-8C4E-9977B75A2E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45306" y="1033463"/>
            <a:ext cx="6334125" cy="5076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a:extLst>
              <a:ext uri="{FF2B5EF4-FFF2-40B4-BE49-F238E27FC236}">
                <a16:creationId xmlns:a16="http://schemas.microsoft.com/office/drawing/2014/main" xmlns="" id="{0031FB2B-D54E-4322-885E-136C7174D410}"/>
              </a:ext>
            </a:extLst>
          </p:cNvPr>
          <p:cNvSpPr txBox="1"/>
          <p:nvPr/>
        </p:nvSpPr>
        <p:spPr>
          <a:xfrm>
            <a:off x="374650" y="1730326"/>
            <a:ext cx="2860919" cy="369332"/>
          </a:xfrm>
          <a:prstGeom prst="rect">
            <a:avLst/>
          </a:prstGeom>
          <a:noFill/>
        </p:spPr>
        <p:txBody>
          <a:bodyPr wrap="square" rtlCol="0">
            <a:spAutoFit/>
          </a:bodyPr>
          <a:lstStyle/>
          <a:p>
            <a:r>
              <a:rPr lang="en-US" altLang="en-US" b="1" dirty="0">
                <a:latin typeface="Times New Roman" panose="02020603050405020304" pitchFamily="18" charset="0"/>
                <a:cs typeface="Times New Roman" panose="02020603050405020304" pitchFamily="18" charset="0"/>
              </a:rPr>
              <a:t>M:N Relationship</a:t>
            </a:r>
            <a:endParaRPr lang="en-IN" dirty="0"/>
          </a:p>
        </p:txBody>
      </p:sp>
    </p:spTree>
    <p:extLst>
      <p:ext uri="{BB962C8B-B14F-4D97-AF65-F5344CB8AC3E}">
        <p14:creationId xmlns:p14="http://schemas.microsoft.com/office/powerpoint/2010/main" val="3271216953"/>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42" presetClass="entr" presetSubtype="0" fill="hold" nodeType="clickEffect">
                                  <p:stCondLst>
                                    <p:cond delay="0"/>
                                  </p:stCondLst>
                                  <p:childTnLst>
                                    <p:set>
                                      <p:cBhvr>
                                        <p:cTn id="12" dur="1" fill="hold">
                                          <p:stCondLst>
                                            <p:cond delay="0"/>
                                          </p:stCondLst>
                                        </p:cTn>
                                        <p:tgtEl>
                                          <p:spTgt spid="111622"/>
                                        </p:tgtEl>
                                        <p:attrNameLst>
                                          <p:attrName>style.visibility</p:attrName>
                                        </p:attrNameLst>
                                      </p:cBhvr>
                                      <p:to>
                                        <p:strVal val="visible"/>
                                      </p:to>
                                    </p:set>
                                    <p:animEffect transition="in" filter="fade">
                                      <p:cBhvr>
                                        <p:cTn id="13" dur="1000"/>
                                        <p:tgtEl>
                                          <p:spTgt spid="111622"/>
                                        </p:tgtEl>
                                      </p:cBhvr>
                                    </p:animEffect>
                                    <p:anim calcmode="lin" valueType="num">
                                      <p:cBhvr>
                                        <p:cTn id="14" dur="1000" fill="hold"/>
                                        <p:tgtEl>
                                          <p:spTgt spid="111622"/>
                                        </p:tgtEl>
                                        <p:attrNameLst>
                                          <p:attrName>ppt_x</p:attrName>
                                        </p:attrNameLst>
                                      </p:cBhvr>
                                      <p:tavLst>
                                        <p:tav tm="0">
                                          <p:val>
                                            <p:strVal val="#ppt_x"/>
                                          </p:val>
                                        </p:tav>
                                        <p:tav tm="100000">
                                          <p:val>
                                            <p:strVal val="#ppt_x"/>
                                          </p:val>
                                        </p:tav>
                                      </p:tavLst>
                                    </p:anim>
                                    <p:anim calcmode="lin" valueType="num">
                                      <p:cBhvr>
                                        <p:cTn id="15" dur="1000" fill="hold"/>
                                        <p:tgtEl>
                                          <p:spTgt spid="111622"/>
                                        </p:tgtEl>
                                        <p:attrNameLst>
                                          <p:attrName>ppt_y</p:attrName>
                                        </p:attrNameLst>
                                      </p:cBhvr>
                                      <p:tavLst>
                                        <p:tav tm="0">
                                          <p:val>
                                            <p:strVal val="#ppt_y+.1"/>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grpId="0" nodeType="clickEffect">
                                  <p:stCondLst>
                                    <p:cond delay="0"/>
                                  </p:stCondLst>
                                  <p:childTnLst>
                                    <p:set>
                                      <p:cBhvr>
                                        <p:cTn id="19" dur="1" fill="hold">
                                          <p:stCondLst>
                                            <p:cond delay="0"/>
                                          </p:stCondLst>
                                        </p:cTn>
                                        <p:tgtEl>
                                          <p:spTgt spid="111620"/>
                                        </p:tgtEl>
                                        <p:attrNameLst>
                                          <p:attrName>style.visibility</p:attrName>
                                        </p:attrNameLst>
                                      </p:cBhvr>
                                      <p:to>
                                        <p:strVal val="visible"/>
                                      </p:to>
                                    </p:set>
                                    <p:animEffect transition="in" filter="fade">
                                      <p:cBhvr>
                                        <p:cTn id="20" dur="1000"/>
                                        <p:tgtEl>
                                          <p:spTgt spid="111620"/>
                                        </p:tgtEl>
                                      </p:cBhvr>
                                    </p:animEffect>
                                    <p:anim calcmode="lin" valueType="num">
                                      <p:cBhvr>
                                        <p:cTn id="21" dur="1000" fill="hold"/>
                                        <p:tgtEl>
                                          <p:spTgt spid="111620"/>
                                        </p:tgtEl>
                                        <p:attrNameLst>
                                          <p:attrName>ppt_x</p:attrName>
                                        </p:attrNameLst>
                                      </p:cBhvr>
                                      <p:tavLst>
                                        <p:tav tm="0">
                                          <p:val>
                                            <p:strVal val="#ppt_x"/>
                                          </p:val>
                                        </p:tav>
                                        <p:tav tm="100000">
                                          <p:val>
                                            <p:strVal val="#ppt_x"/>
                                          </p:val>
                                        </p:tav>
                                      </p:tavLst>
                                    </p:anim>
                                    <p:anim calcmode="lin" valueType="num">
                                      <p:cBhvr>
                                        <p:cTn id="22" dur="1000" fill="hold"/>
                                        <p:tgtEl>
                                          <p:spTgt spid="1116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620" grpId="0"/>
      <p:bldP spid="2" grpId="0"/>
    </p:bld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5DA044D-4E36-4E02-ACF0-72FDF8DC6A6F}"/>
              </a:ext>
            </a:extLst>
          </p:cNvPr>
          <p:cNvSpPr>
            <a:spLocks noGrp="1"/>
          </p:cNvSpPr>
          <p:nvPr>
            <p:ph type="title"/>
          </p:nvPr>
        </p:nvSpPr>
        <p:spPr/>
        <p:txBody>
          <a:bodyPr/>
          <a:lstStyle/>
          <a:p>
            <a:r>
              <a:rPr lang="en-IN" dirty="0"/>
              <a:t>Manages (an employee manages a department)</a:t>
            </a:r>
          </a:p>
        </p:txBody>
      </p:sp>
      <p:sp>
        <p:nvSpPr>
          <p:cNvPr id="3" name="Content Placeholder 2">
            <a:extLst>
              <a:ext uri="{FF2B5EF4-FFF2-40B4-BE49-F238E27FC236}">
                <a16:creationId xmlns:a16="http://schemas.microsoft.com/office/drawing/2014/main" xmlns="" id="{01041F83-B96A-4B59-9C48-9489D5465959}"/>
              </a:ext>
            </a:extLst>
          </p:cNvPr>
          <p:cNvSpPr>
            <a:spLocks noGrp="1"/>
          </p:cNvSpPr>
          <p:nvPr>
            <p:ph idx="1"/>
          </p:nvPr>
        </p:nvSpPr>
        <p:spPr/>
        <p:txBody>
          <a:bodyPr/>
          <a:lstStyle/>
          <a:p>
            <a:r>
              <a:rPr lang="en-IN" dirty="0"/>
              <a:t>Employee                                Manages                 Department</a:t>
            </a:r>
          </a:p>
        </p:txBody>
      </p:sp>
      <p:sp>
        <p:nvSpPr>
          <p:cNvPr id="4" name="Oval 3">
            <a:extLst>
              <a:ext uri="{FF2B5EF4-FFF2-40B4-BE49-F238E27FC236}">
                <a16:creationId xmlns:a16="http://schemas.microsoft.com/office/drawing/2014/main" xmlns="" id="{D8B52761-F6C5-4F87-B67A-E6EA5B772692}"/>
              </a:ext>
            </a:extLst>
          </p:cNvPr>
          <p:cNvSpPr/>
          <p:nvPr/>
        </p:nvSpPr>
        <p:spPr>
          <a:xfrm>
            <a:off x="1491175" y="2433711"/>
            <a:ext cx="1885070" cy="32074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xmlns="" id="{06CF6D7F-53E4-4C22-9139-86E674CC4805}"/>
              </a:ext>
            </a:extLst>
          </p:cNvPr>
          <p:cNvSpPr/>
          <p:nvPr/>
        </p:nvSpPr>
        <p:spPr>
          <a:xfrm>
            <a:off x="4885007" y="2496051"/>
            <a:ext cx="1885070" cy="32074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Oval 6">
            <a:extLst>
              <a:ext uri="{FF2B5EF4-FFF2-40B4-BE49-F238E27FC236}">
                <a16:creationId xmlns:a16="http://schemas.microsoft.com/office/drawing/2014/main" xmlns="" id="{B8B7C6C3-4BA6-4470-AAEF-3F3A2A98604F}"/>
              </a:ext>
            </a:extLst>
          </p:cNvPr>
          <p:cNvSpPr/>
          <p:nvPr/>
        </p:nvSpPr>
        <p:spPr>
          <a:xfrm>
            <a:off x="7648136" y="2433711"/>
            <a:ext cx="1885070" cy="320743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xmlns="" id="{9D8872C6-017E-4C6C-A4C0-EF43AA0740F8}"/>
              </a:ext>
            </a:extLst>
          </p:cNvPr>
          <p:cNvSpPr/>
          <p:nvPr/>
        </p:nvSpPr>
        <p:spPr>
          <a:xfrm>
            <a:off x="2327031" y="2759828"/>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xmlns="" id="{E64B30F9-E6C4-486A-B182-BE26596B73FD}"/>
              </a:ext>
            </a:extLst>
          </p:cNvPr>
          <p:cNvSpPr/>
          <p:nvPr/>
        </p:nvSpPr>
        <p:spPr>
          <a:xfrm>
            <a:off x="2293033" y="3251386"/>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xmlns="" id="{B22F1E7D-9A2C-4F60-97BF-64B3D072049E}"/>
              </a:ext>
            </a:extLst>
          </p:cNvPr>
          <p:cNvSpPr/>
          <p:nvPr/>
        </p:nvSpPr>
        <p:spPr>
          <a:xfrm>
            <a:off x="2270760" y="3622427"/>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xmlns="" id="{8339072A-955E-44EA-9012-EA831E812E35}"/>
              </a:ext>
            </a:extLst>
          </p:cNvPr>
          <p:cNvSpPr/>
          <p:nvPr/>
        </p:nvSpPr>
        <p:spPr>
          <a:xfrm>
            <a:off x="2293033" y="4015151"/>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xmlns="" id="{67FAFFAD-50ED-48BF-84FC-0A12D2D6C45C}"/>
              </a:ext>
            </a:extLst>
          </p:cNvPr>
          <p:cNvSpPr/>
          <p:nvPr/>
        </p:nvSpPr>
        <p:spPr>
          <a:xfrm>
            <a:off x="2327031" y="4436011"/>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xmlns="" id="{3296072C-88BF-4BA9-9518-2A5417C96D46}"/>
              </a:ext>
            </a:extLst>
          </p:cNvPr>
          <p:cNvSpPr/>
          <p:nvPr/>
        </p:nvSpPr>
        <p:spPr>
          <a:xfrm>
            <a:off x="2327031" y="4911969"/>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xmlns="" id="{B4D00A12-6AAB-4C9A-B3CF-D302D1B9A079}"/>
              </a:ext>
            </a:extLst>
          </p:cNvPr>
          <p:cNvSpPr/>
          <p:nvPr/>
        </p:nvSpPr>
        <p:spPr>
          <a:xfrm>
            <a:off x="5686865" y="4754611"/>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xmlns="" id="{42B2093B-424C-4927-A124-8ADB59961E4E}"/>
              </a:ext>
            </a:extLst>
          </p:cNvPr>
          <p:cNvSpPr/>
          <p:nvPr/>
        </p:nvSpPr>
        <p:spPr>
          <a:xfrm>
            <a:off x="5686865" y="4006813"/>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xmlns="" id="{0E31DA13-27A3-4D02-937B-301B58877E1D}"/>
              </a:ext>
            </a:extLst>
          </p:cNvPr>
          <p:cNvSpPr/>
          <p:nvPr/>
        </p:nvSpPr>
        <p:spPr>
          <a:xfrm>
            <a:off x="5686865" y="3324664"/>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xmlns="" id="{DC9C4CCA-9F0F-4447-84D3-499556B686FD}"/>
              </a:ext>
            </a:extLst>
          </p:cNvPr>
          <p:cNvSpPr/>
          <p:nvPr/>
        </p:nvSpPr>
        <p:spPr>
          <a:xfrm>
            <a:off x="8449994" y="4647600"/>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xmlns="" id="{085DBF58-3F8A-4DE8-B4CA-935DE5F2D548}"/>
              </a:ext>
            </a:extLst>
          </p:cNvPr>
          <p:cNvSpPr/>
          <p:nvPr/>
        </p:nvSpPr>
        <p:spPr>
          <a:xfrm>
            <a:off x="8330421" y="3834557"/>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xmlns="" id="{12B02C71-A042-44C0-96A8-5265A6DD257C}"/>
              </a:ext>
            </a:extLst>
          </p:cNvPr>
          <p:cNvSpPr/>
          <p:nvPr/>
        </p:nvSpPr>
        <p:spPr>
          <a:xfrm>
            <a:off x="8329248" y="3108690"/>
            <a:ext cx="281354" cy="154745"/>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21" name="Straight Arrow Connector 20">
            <a:extLst>
              <a:ext uri="{FF2B5EF4-FFF2-40B4-BE49-F238E27FC236}">
                <a16:creationId xmlns:a16="http://schemas.microsoft.com/office/drawing/2014/main" xmlns="" id="{A02C24D8-20F4-44BD-825F-796F61730D3B}"/>
              </a:ext>
            </a:extLst>
          </p:cNvPr>
          <p:cNvCxnSpPr>
            <a:cxnSpLocks/>
            <a:stCxn id="8" idx="3"/>
          </p:cNvCxnSpPr>
          <p:nvPr/>
        </p:nvCxnSpPr>
        <p:spPr>
          <a:xfrm>
            <a:off x="2608385" y="2837201"/>
            <a:ext cx="2991143" cy="487463"/>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xmlns="" id="{06A5B270-80C5-4C4F-9199-A6896A286B18}"/>
              </a:ext>
            </a:extLst>
          </p:cNvPr>
          <p:cNvCxnSpPr>
            <a:cxnSpLocks/>
          </p:cNvCxnSpPr>
          <p:nvPr/>
        </p:nvCxnSpPr>
        <p:spPr>
          <a:xfrm flipV="1">
            <a:off x="5968219" y="3251386"/>
            <a:ext cx="2219178" cy="1776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5" name="Straight Arrow Connector 24">
            <a:extLst>
              <a:ext uri="{FF2B5EF4-FFF2-40B4-BE49-F238E27FC236}">
                <a16:creationId xmlns:a16="http://schemas.microsoft.com/office/drawing/2014/main" xmlns="" id="{63BB0172-02F4-4191-95D2-AD86E266B88F}"/>
              </a:ext>
            </a:extLst>
          </p:cNvPr>
          <p:cNvCxnSpPr>
            <a:cxnSpLocks/>
          </p:cNvCxnSpPr>
          <p:nvPr/>
        </p:nvCxnSpPr>
        <p:spPr>
          <a:xfrm flipV="1">
            <a:off x="2635055" y="4909356"/>
            <a:ext cx="2964473" cy="7998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6" name="Straight Arrow Connector 25">
            <a:extLst>
              <a:ext uri="{FF2B5EF4-FFF2-40B4-BE49-F238E27FC236}">
                <a16:creationId xmlns:a16="http://schemas.microsoft.com/office/drawing/2014/main" xmlns="" id="{CE38799E-E391-4337-A2E9-776D64BB74C6}"/>
              </a:ext>
            </a:extLst>
          </p:cNvPr>
          <p:cNvCxnSpPr>
            <a:cxnSpLocks/>
          </p:cNvCxnSpPr>
          <p:nvPr/>
        </p:nvCxnSpPr>
        <p:spPr>
          <a:xfrm>
            <a:off x="2552114" y="3689018"/>
            <a:ext cx="3047414" cy="40350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0" name="Straight Arrow Connector 29">
            <a:extLst>
              <a:ext uri="{FF2B5EF4-FFF2-40B4-BE49-F238E27FC236}">
                <a16:creationId xmlns:a16="http://schemas.microsoft.com/office/drawing/2014/main" xmlns="" id="{B44B4BFE-707C-4AF3-92D6-07CEE23F5BCD}"/>
              </a:ext>
            </a:extLst>
          </p:cNvPr>
          <p:cNvCxnSpPr>
            <a:cxnSpLocks/>
          </p:cNvCxnSpPr>
          <p:nvPr/>
        </p:nvCxnSpPr>
        <p:spPr>
          <a:xfrm flipV="1">
            <a:off x="5998701" y="3936590"/>
            <a:ext cx="2219178" cy="1776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xmlns="" id="{B32BE8E5-DACD-4A2B-89E5-F479803E46F7}"/>
              </a:ext>
            </a:extLst>
          </p:cNvPr>
          <p:cNvCxnSpPr>
            <a:cxnSpLocks/>
          </p:cNvCxnSpPr>
          <p:nvPr/>
        </p:nvCxnSpPr>
        <p:spPr>
          <a:xfrm flipV="1">
            <a:off x="6055556" y="4679613"/>
            <a:ext cx="2219178" cy="1776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32" name="TextBox 31">
            <a:extLst>
              <a:ext uri="{FF2B5EF4-FFF2-40B4-BE49-F238E27FC236}">
                <a16:creationId xmlns:a16="http://schemas.microsoft.com/office/drawing/2014/main" xmlns="" id="{A7C9E7C9-9639-4206-8073-B9DC081D5A02}"/>
              </a:ext>
            </a:extLst>
          </p:cNvPr>
          <p:cNvSpPr txBox="1"/>
          <p:nvPr/>
        </p:nvSpPr>
        <p:spPr>
          <a:xfrm>
            <a:off x="9734843" y="2496051"/>
            <a:ext cx="2271932" cy="369332"/>
          </a:xfrm>
          <a:prstGeom prst="rect">
            <a:avLst/>
          </a:prstGeom>
          <a:noFill/>
        </p:spPr>
        <p:txBody>
          <a:bodyPr wrap="square" rtlCol="0">
            <a:spAutoFit/>
          </a:bodyPr>
          <a:lstStyle/>
          <a:p>
            <a:r>
              <a:rPr lang="en-IN" dirty="0"/>
              <a:t>1:1 Relation</a:t>
            </a:r>
          </a:p>
        </p:txBody>
      </p:sp>
    </p:spTree>
    <p:extLst>
      <p:ext uri="{BB962C8B-B14F-4D97-AF65-F5344CB8AC3E}">
        <p14:creationId xmlns:p14="http://schemas.microsoft.com/office/powerpoint/2010/main" val="3613610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fade">
                                      <p:cBhvr>
                                        <p:cTn id="7" dur="1000"/>
                                        <p:tgtEl>
                                          <p:spTgt spid="32"/>
                                        </p:tgtEl>
                                      </p:cBhvr>
                                    </p:animEffect>
                                    <p:anim calcmode="lin" valueType="num">
                                      <p:cBhvr>
                                        <p:cTn id="8" dur="1000" fill="hold"/>
                                        <p:tgtEl>
                                          <p:spTgt spid="32"/>
                                        </p:tgtEl>
                                        <p:attrNameLst>
                                          <p:attrName>ppt_x</p:attrName>
                                        </p:attrNameLst>
                                      </p:cBhvr>
                                      <p:tavLst>
                                        <p:tav tm="0">
                                          <p:val>
                                            <p:strVal val="#ppt_x"/>
                                          </p:val>
                                        </p:tav>
                                        <p:tav tm="100000">
                                          <p:val>
                                            <p:strVal val="#ppt_x"/>
                                          </p:val>
                                        </p:tav>
                                      </p:tavLst>
                                    </p:anim>
                                    <p:anim calcmode="lin" valueType="num">
                                      <p:cBhvr>
                                        <p:cTn id="9" dur="1000" fill="hold"/>
                                        <p:tgtEl>
                                          <p:spTgt spid="3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1000"/>
                                        <p:tgtEl>
                                          <p:spTgt spid="9"/>
                                        </p:tgtEl>
                                      </p:cBhvr>
                                    </p:animEffect>
                                    <p:anim calcmode="lin" valueType="num">
                                      <p:cBhvr>
                                        <p:cTn id="20" dur="1000" fill="hold"/>
                                        <p:tgtEl>
                                          <p:spTgt spid="9"/>
                                        </p:tgtEl>
                                        <p:attrNameLst>
                                          <p:attrName>ppt_x</p:attrName>
                                        </p:attrNameLst>
                                      </p:cBhvr>
                                      <p:tavLst>
                                        <p:tav tm="0">
                                          <p:val>
                                            <p:strVal val="#ppt_x"/>
                                          </p:val>
                                        </p:tav>
                                        <p:tav tm="100000">
                                          <p:val>
                                            <p:strVal val="#ppt_x"/>
                                          </p:val>
                                        </p:tav>
                                      </p:tavLst>
                                    </p:anim>
                                    <p:anim calcmode="lin" valueType="num">
                                      <p:cBhvr>
                                        <p:cTn id="21" dur="1000" fill="hold"/>
                                        <p:tgtEl>
                                          <p:spTgt spid="9"/>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1000"/>
                                        <p:tgtEl>
                                          <p:spTgt spid="10"/>
                                        </p:tgtEl>
                                      </p:cBhvr>
                                    </p:animEffect>
                                    <p:anim calcmode="lin" valueType="num">
                                      <p:cBhvr>
                                        <p:cTn id="25" dur="1000" fill="hold"/>
                                        <p:tgtEl>
                                          <p:spTgt spid="10"/>
                                        </p:tgtEl>
                                        <p:attrNameLst>
                                          <p:attrName>ppt_x</p:attrName>
                                        </p:attrNameLst>
                                      </p:cBhvr>
                                      <p:tavLst>
                                        <p:tav tm="0">
                                          <p:val>
                                            <p:strVal val="#ppt_x"/>
                                          </p:val>
                                        </p:tav>
                                        <p:tav tm="100000">
                                          <p:val>
                                            <p:strVal val="#ppt_x"/>
                                          </p:val>
                                        </p:tav>
                                      </p:tavLst>
                                    </p:anim>
                                    <p:anim calcmode="lin" valueType="num">
                                      <p:cBhvr>
                                        <p:cTn id="26" dur="1000" fill="hold"/>
                                        <p:tgtEl>
                                          <p:spTgt spid="10"/>
                                        </p:tgtEl>
                                        <p:attrNameLst>
                                          <p:attrName>ppt_y</p:attrName>
                                        </p:attrNameLst>
                                      </p:cBhvr>
                                      <p:tavLst>
                                        <p:tav tm="0">
                                          <p:val>
                                            <p:strVal val="#ppt_y+.1"/>
                                          </p:val>
                                        </p:tav>
                                        <p:tav tm="100000">
                                          <p:val>
                                            <p:strVal val="#ppt_y"/>
                                          </p:val>
                                        </p:tav>
                                      </p:tavLst>
                                    </p:anim>
                                  </p:childTnLst>
                                </p:cTn>
                              </p:par>
                              <p:par>
                                <p:cTn id="27" presetID="42" presetClass="entr" presetSubtype="0" fill="hold" grpId="0" nodeType="withEffect">
                                  <p:stCondLst>
                                    <p:cond delay="0"/>
                                  </p:stCondLst>
                                  <p:childTnLst>
                                    <p:set>
                                      <p:cBhvr>
                                        <p:cTn id="28" dur="1" fill="hold">
                                          <p:stCondLst>
                                            <p:cond delay="0"/>
                                          </p:stCondLst>
                                        </p:cTn>
                                        <p:tgtEl>
                                          <p:spTgt spid="11"/>
                                        </p:tgtEl>
                                        <p:attrNameLst>
                                          <p:attrName>style.visibility</p:attrName>
                                        </p:attrNameLst>
                                      </p:cBhvr>
                                      <p:to>
                                        <p:strVal val="visible"/>
                                      </p:to>
                                    </p:set>
                                    <p:animEffect transition="in" filter="fade">
                                      <p:cBhvr>
                                        <p:cTn id="29" dur="1000"/>
                                        <p:tgtEl>
                                          <p:spTgt spid="11"/>
                                        </p:tgtEl>
                                      </p:cBhvr>
                                    </p:animEffect>
                                    <p:anim calcmode="lin" valueType="num">
                                      <p:cBhvr>
                                        <p:cTn id="30" dur="1000" fill="hold"/>
                                        <p:tgtEl>
                                          <p:spTgt spid="11"/>
                                        </p:tgtEl>
                                        <p:attrNameLst>
                                          <p:attrName>ppt_x</p:attrName>
                                        </p:attrNameLst>
                                      </p:cBhvr>
                                      <p:tavLst>
                                        <p:tav tm="0">
                                          <p:val>
                                            <p:strVal val="#ppt_x"/>
                                          </p:val>
                                        </p:tav>
                                        <p:tav tm="100000">
                                          <p:val>
                                            <p:strVal val="#ppt_x"/>
                                          </p:val>
                                        </p:tav>
                                      </p:tavLst>
                                    </p:anim>
                                    <p:anim calcmode="lin" valueType="num">
                                      <p:cBhvr>
                                        <p:cTn id="31" dur="1000" fill="hold"/>
                                        <p:tgtEl>
                                          <p:spTgt spid="11"/>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fade">
                                      <p:cBhvr>
                                        <p:cTn id="34" dur="1000"/>
                                        <p:tgtEl>
                                          <p:spTgt spid="12"/>
                                        </p:tgtEl>
                                      </p:cBhvr>
                                    </p:animEffect>
                                    <p:anim calcmode="lin" valueType="num">
                                      <p:cBhvr>
                                        <p:cTn id="35" dur="1000" fill="hold"/>
                                        <p:tgtEl>
                                          <p:spTgt spid="12"/>
                                        </p:tgtEl>
                                        <p:attrNameLst>
                                          <p:attrName>ppt_x</p:attrName>
                                        </p:attrNameLst>
                                      </p:cBhvr>
                                      <p:tavLst>
                                        <p:tav tm="0">
                                          <p:val>
                                            <p:strVal val="#ppt_x"/>
                                          </p:val>
                                        </p:tav>
                                        <p:tav tm="100000">
                                          <p:val>
                                            <p:strVal val="#ppt_x"/>
                                          </p:val>
                                        </p:tav>
                                      </p:tavLst>
                                    </p:anim>
                                    <p:anim calcmode="lin" valueType="num">
                                      <p:cBhvr>
                                        <p:cTn id="36" dur="1000" fill="hold"/>
                                        <p:tgtEl>
                                          <p:spTgt spid="12"/>
                                        </p:tgtEl>
                                        <p:attrNameLst>
                                          <p:attrName>ppt_y</p:attrName>
                                        </p:attrNameLst>
                                      </p:cBhvr>
                                      <p:tavLst>
                                        <p:tav tm="0">
                                          <p:val>
                                            <p:strVal val="#ppt_y+.1"/>
                                          </p:val>
                                        </p:tav>
                                        <p:tav tm="100000">
                                          <p:val>
                                            <p:strVal val="#ppt_y"/>
                                          </p:val>
                                        </p:tav>
                                      </p:tavLst>
                                    </p:anim>
                                  </p:childTnLst>
                                </p:cTn>
                              </p:par>
                              <p:par>
                                <p:cTn id="37" presetID="42" presetClass="entr" presetSubtype="0" fill="hold" grpId="0" nodeType="with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1000"/>
                                        <p:tgtEl>
                                          <p:spTgt spid="13"/>
                                        </p:tgtEl>
                                      </p:cBhvr>
                                    </p:animEffect>
                                    <p:anim calcmode="lin" valueType="num">
                                      <p:cBhvr>
                                        <p:cTn id="40" dur="1000" fill="hold"/>
                                        <p:tgtEl>
                                          <p:spTgt spid="13"/>
                                        </p:tgtEl>
                                        <p:attrNameLst>
                                          <p:attrName>ppt_x</p:attrName>
                                        </p:attrNameLst>
                                      </p:cBhvr>
                                      <p:tavLst>
                                        <p:tav tm="0">
                                          <p:val>
                                            <p:strVal val="#ppt_x"/>
                                          </p:val>
                                        </p:tav>
                                        <p:tav tm="100000">
                                          <p:val>
                                            <p:strVal val="#ppt_x"/>
                                          </p:val>
                                        </p:tav>
                                      </p:tavLst>
                                    </p:anim>
                                    <p:anim calcmode="lin" valueType="num">
                                      <p:cBhvr>
                                        <p:cTn id="41" dur="1000" fill="hold"/>
                                        <p:tgtEl>
                                          <p:spTgt spid="13"/>
                                        </p:tgtEl>
                                        <p:attrNameLst>
                                          <p:attrName>ppt_y</p:attrName>
                                        </p:attrNameLst>
                                      </p:cBhvr>
                                      <p:tavLst>
                                        <p:tav tm="0">
                                          <p:val>
                                            <p:strVal val="#ppt_y+.1"/>
                                          </p:val>
                                        </p:tav>
                                        <p:tav tm="100000">
                                          <p:val>
                                            <p:strVal val="#ppt_y"/>
                                          </p:val>
                                        </p:tav>
                                      </p:tavLst>
                                    </p:anim>
                                  </p:childTnLst>
                                </p:cTn>
                              </p:par>
                              <p:par>
                                <p:cTn id="42" presetID="42" presetClass="entr" presetSubtype="0" fill="hold" grpId="0" nodeType="withEffect">
                                  <p:stCondLst>
                                    <p:cond delay="0"/>
                                  </p:stCondLst>
                                  <p:childTnLst>
                                    <p:set>
                                      <p:cBhvr>
                                        <p:cTn id="43" dur="1" fill="hold">
                                          <p:stCondLst>
                                            <p:cond delay="0"/>
                                          </p:stCondLst>
                                        </p:cTn>
                                        <p:tgtEl>
                                          <p:spTgt spid="14"/>
                                        </p:tgtEl>
                                        <p:attrNameLst>
                                          <p:attrName>style.visibility</p:attrName>
                                        </p:attrNameLst>
                                      </p:cBhvr>
                                      <p:to>
                                        <p:strVal val="visible"/>
                                      </p:to>
                                    </p:set>
                                    <p:animEffect transition="in" filter="fade">
                                      <p:cBhvr>
                                        <p:cTn id="44" dur="1000"/>
                                        <p:tgtEl>
                                          <p:spTgt spid="14"/>
                                        </p:tgtEl>
                                      </p:cBhvr>
                                    </p:animEffect>
                                    <p:anim calcmode="lin" valueType="num">
                                      <p:cBhvr>
                                        <p:cTn id="45" dur="1000" fill="hold"/>
                                        <p:tgtEl>
                                          <p:spTgt spid="14"/>
                                        </p:tgtEl>
                                        <p:attrNameLst>
                                          <p:attrName>ppt_x</p:attrName>
                                        </p:attrNameLst>
                                      </p:cBhvr>
                                      <p:tavLst>
                                        <p:tav tm="0">
                                          <p:val>
                                            <p:strVal val="#ppt_x"/>
                                          </p:val>
                                        </p:tav>
                                        <p:tav tm="100000">
                                          <p:val>
                                            <p:strVal val="#ppt_x"/>
                                          </p:val>
                                        </p:tav>
                                      </p:tavLst>
                                    </p:anim>
                                    <p:anim calcmode="lin" valueType="num">
                                      <p:cBhvr>
                                        <p:cTn id="46" dur="1000" fill="hold"/>
                                        <p:tgtEl>
                                          <p:spTgt spid="14"/>
                                        </p:tgtEl>
                                        <p:attrNameLst>
                                          <p:attrName>ppt_y</p:attrName>
                                        </p:attrNameLst>
                                      </p:cBhvr>
                                      <p:tavLst>
                                        <p:tav tm="0">
                                          <p:val>
                                            <p:strVal val="#ppt_y+.1"/>
                                          </p:val>
                                        </p:tav>
                                        <p:tav tm="100000">
                                          <p:val>
                                            <p:strVal val="#ppt_y"/>
                                          </p:val>
                                        </p:tav>
                                      </p:tavLst>
                                    </p:anim>
                                  </p:childTnLst>
                                </p:cTn>
                              </p:par>
                              <p:par>
                                <p:cTn id="47" presetID="42" presetClass="entr" presetSubtype="0" fill="hold" grpId="0" nodeType="withEffect">
                                  <p:stCondLst>
                                    <p:cond delay="0"/>
                                  </p:stCondLst>
                                  <p:childTnLst>
                                    <p:set>
                                      <p:cBhvr>
                                        <p:cTn id="48" dur="1" fill="hold">
                                          <p:stCondLst>
                                            <p:cond delay="0"/>
                                          </p:stCondLst>
                                        </p:cTn>
                                        <p:tgtEl>
                                          <p:spTgt spid="15"/>
                                        </p:tgtEl>
                                        <p:attrNameLst>
                                          <p:attrName>style.visibility</p:attrName>
                                        </p:attrNameLst>
                                      </p:cBhvr>
                                      <p:to>
                                        <p:strVal val="visible"/>
                                      </p:to>
                                    </p:set>
                                    <p:animEffect transition="in" filter="fade">
                                      <p:cBhvr>
                                        <p:cTn id="49" dur="1000"/>
                                        <p:tgtEl>
                                          <p:spTgt spid="15"/>
                                        </p:tgtEl>
                                      </p:cBhvr>
                                    </p:animEffect>
                                    <p:anim calcmode="lin" valueType="num">
                                      <p:cBhvr>
                                        <p:cTn id="50" dur="1000" fill="hold"/>
                                        <p:tgtEl>
                                          <p:spTgt spid="15"/>
                                        </p:tgtEl>
                                        <p:attrNameLst>
                                          <p:attrName>ppt_x</p:attrName>
                                        </p:attrNameLst>
                                      </p:cBhvr>
                                      <p:tavLst>
                                        <p:tav tm="0">
                                          <p:val>
                                            <p:strVal val="#ppt_x"/>
                                          </p:val>
                                        </p:tav>
                                        <p:tav tm="100000">
                                          <p:val>
                                            <p:strVal val="#ppt_x"/>
                                          </p:val>
                                        </p:tav>
                                      </p:tavLst>
                                    </p:anim>
                                    <p:anim calcmode="lin" valueType="num">
                                      <p:cBhvr>
                                        <p:cTn id="51" dur="1000" fill="hold"/>
                                        <p:tgtEl>
                                          <p:spTgt spid="15"/>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16"/>
                                        </p:tgtEl>
                                        <p:attrNameLst>
                                          <p:attrName>style.visibility</p:attrName>
                                        </p:attrNameLst>
                                      </p:cBhvr>
                                      <p:to>
                                        <p:strVal val="visible"/>
                                      </p:to>
                                    </p:set>
                                    <p:animEffect transition="in" filter="fade">
                                      <p:cBhvr>
                                        <p:cTn id="54" dur="1000"/>
                                        <p:tgtEl>
                                          <p:spTgt spid="16"/>
                                        </p:tgtEl>
                                      </p:cBhvr>
                                    </p:animEffect>
                                    <p:anim calcmode="lin" valueType="num">
                                      <p:cBhvr>
                                        <p:cTn id="55" dur="1000" fill="hold"/>
                                        <p:tgtEl>
                                          <p:spTgt spid="16"/>
                                        </p:tgtEl>
                                        <p:attrNameLst>
                                          <p:attrName>ppt_x</p:attrName>
                                        </p:attrNameLst>
                                      </p:cBhvr>
                                      <p:tavLst>
                                        <p:tav tm="0">
                                          <p:val>
                                            <p:strVal val="#ppt_x"/>
                                          </p:val>
                                        </p:tav>
                                        <p:tav tm="100000">
                                          <p:val>
                                            <p:strVal val="#ppt_x"/>
                                          </p:val>
                                        </p:tav>
                                      </p:tavLst>
                                    </p:anim>
                                    <p:anim calcmode="lin" valueType="num">
                                      <p:cBhvr>
                                        <p:cTn id="56" dur="1000" fill="hold"/>
                                        <p:tgtEl>
                                          <p:spTgt spid="16"/>
                                        </p:tgtEl>
                                        <p:attrNameLst>
                                          <p:attrName>ppt_y</p:attrName>
                                        </p:attrNameLst>
                                      </p:cBhvr>
                                      <p:tavLst>
                                        <p:tav tm="0">
                                          <p:val>
                                            <p:strVal val="#ppt_y+.1"/>
                                          </p:val>
                                        </p:tav>
                                        <p:tav tm="100000">
                                          <p:val>
                                            <p:strVal val="#ppt_y"/>
                                          </p:val>
                                        </p:tav>
                                      </p:tavLst>
                                    </p:anim>
                                  </p:childTnLst>
                                </p:cTn>
                              </p:par>
                              <p:par>
                                <p:cTn id="57" presetID="42" presetClass="entr" presetSubtype="0" fill="hold" grpId="0" nodeType="withEffect">
                                  <p:stCondLst>
                                    <p:cond delay="0"/>
                                  </p:stCondLst>
                                  <p:childTnLst>
                                    <p:set>
                                      <p:cBhvr>
                                        <p:cTn id="58" dur="1" fill="hold">
                                          <p:stCondLst>
                                            <p:cond delay="0"/>
                                          </p:stCondLst>
                                        </p:cTn>
                                        <p:tgtEl>
                                          <p:spTgt spid="17"/>
                                        </p:tgtEl>
                                        <p:attrNameLst>
                                          <p:attrName>style.visibility</p:attrName>
                                        </p:attrNameLst>
                                      </p:cBhvr>
                                      <p:to>
                                        <p:strVal val="visible"/>
                                      </p:to>
                                    </p:set>
                                    <p:animEffect transition="in" filter="fade">
                                      <p:cBhvr>
                                        <p:cTn id="59" dur="1000"/>
                                        <p:tgtEl>
                                          <p:spTgt spid="17"/>
                                        </p:tgtEl>
                                      </p:cBhvr>
                                    </p:animEffect>
                                    <p:anim calcmode="lin" valueType="num">
                                      <p:cBhvr>
                                        <p:cTn id="60" dur="1000" fill="hold"/>
                                        <p:tgtEl>
                                          <p:spTgt spid="17"/>
                                        </p:tgtEl>
                                        <p:attrNameLst>
                                          <p:attrName>ppt_x</p:attrName>
                                        </p:attrNameLst>
                                      </p:cBhvr>
                                      <p:tavLst>
                                        <p:tav tm="0">
                                          <p:val>
                                            <p:strVal val="#ppt_x"/>
                                          </p:val>
                                        </p:tav>
                                        <p:tav tm="100000">
                                          <p:val>
                                            <p:strVal val="#ppt_x"/>
                                          </p:val>
                                        </p:tav>
                                      </p:tavLst>
                                    </p:anim>
                                    <p:anim calcmode="lin" valueType="num">
                                      <p:cBhvr>
                                        <p:cTn id="61" dur="1000" fill="hold"/>
                                        <p:tgtEl>
                                          <p:spTgt spid="17"/>
                                        </p:tgtEl>
                                        <p:attrNameLst>
                                          <p:attrName>ppt_y</p:attrName>
                                        </p:attrNameLst>
                                      </p:cBhvr>
                                      <p:tavLst>
                                        <p:tav tm="0">
                                          <p:val>
                                            <p:strVal val="#ppt_y+.1"/>
                                          </p:val>
                                        </p:tav>
                                        <p:tav tm="100000">
                                          <p:val>
                                            <p:strVal val="#ppt_y"/>
                                          </p:val>
                                        </p:tav>
                                      </p:tavLst>
                                    </p:anim>
                                  </p:childTnLst>
                                </p:cTn>
                              </p:par>
                              <p:par>
                                <p:cTn id="62" presetID="42" presetClass="entr" presetSubtype="0" fill="hold" grpId="0" nodeType="withEffect">
                                  <p:stCondLst>
                                    <p:cond delay="0"/>
                                  </p:stCondLst>
                                  <p:childTnLst>
                                    <p:set>
                                      <p:cBhvr>
                                        <p:cTn id="63" dur="1" fill="hold">
                                          <p:stCondLst>
                                            <p:cond delay="0"/>
                                          </p:stCondLst>
                                        </p:cTn>
                                        <p:tgtEl>
                                          <p:spTgt spid="18"/>
                                        </p:tgtEl>
                                        <p:attrNameLst>
                                          <p:attrName>style.visibility</p:attrName>
                                        </p:attrNameLst>
                                      </p:cBhvr>
                                      <p:to>
                                        <p:strVal val="visible"/>
                                      </p:to>
                                    </p:set>
                                    <p:animEffect transition="in" filter="fade">
                                      <p:cBhvr>
                                        <p:cTn id="64" dur="1000"/>
                                        <p:tgtEl>
                                          <p:spTgt spid="18"/>
                                        </p:tgtEl>
                                      </p:cBhvr>
                                    </p:animEffect>
                                    <p:anim calcmode="lin" valueType="num">
                                      <p:cBhvr>
                                        <p:cTn id="65" dur="1000" fill="hold"/>
                                        <p:tgtEl>
                                          <p:spTgt spid="18"/>
                                        </p:tgtEl>
                                        <p:attrNameLst>
                                          <p:attrName>ppt_x</p:attrName>
                                        </p:attrNameLst>
                                      </p:cBhvr>
                                      <p:tavLst>
                                        <p:tav tm="0">
                                          <p:val>
                                            <p:strVal val="#ppt_x"/>
                                          </p:val>
                                        </p:tav>
                                        <p:tav tm="100000">
                                          <p:val>
                                            <p:strVal val="#ppt_x"/>
                                          </p:val>
                                        </p:tav>
                                      </p:tavLst>
                                    </p:anim>
                                    <p:anim calcmode="lin" valueType="num">
                                      <p:cBhvr>
                                        <p:cTn id="66" dur="1000" fill="hold"/>
                                        <p:tgtEl>
                                          <p:spTgt spid="18"/>
                                        </p:tgtEl>
                                        <p:attrNameLst>
                                          <p:attrName>ppt_y</p:attrName>
                                        </p:attrNameLst>
                                      </p:cBhvr>
                                      <p:tavLst>
                                        <p:tav tm="0">
                                          <p:val>
                                            <p:strVal val="#ppt_y+.1"/>
                                          </p:val>
                                        </p:tav>
                                        <p:tav tm="100000">
                                          <p:val>
                                            <p:strVal val="#ppt_y"/>
                                          </p:val>
                                        </p:tav>
                                      </p:tavLst>
                                    </p:anim>
                                  </p:childTnLst>
                                </p:cTn>
                              </p:par>
                              <p:par>
                                <p:cTn id="67" presetID="42" presetClass="entr" presetSubtype="0" fill="hold" grpId="0" nodeType="withEffect">
                                  <p:stCondLst>
                                    <p:cond delay="0"/>
                                  </p:stCondLst>
                                  <p:childTnLst>
                                    <p:set>
                                      <p:cBhvr>
                                        <p:cTn id="68" dur="1" fill="hold">
                                          <p:stCondLst>
                                            <p:cond delay="0"/>
                                          </p:stCondLst>
                                        </p:cTn>
                                        <p:tgtEl>
                                          <p:spTgt spid="19"/>
                                        </p:tgtEl>
                                        <p:attrNameLst>
                                          <p:attrName>style.visibility</p:attrName>
                                        </p:attrNameLst>
                                      </p:cBhvr>
                                      <p:to>
                                        <p:strVal val="visible"/>
                                      </p:to>
                                    </p:set>
                                    <p:animEffect transition="in" filter="fade">
                                      <p:cBhvr>
                                        <p:cTn id="69" dur="1000"/>
                                        <p:tgtEl>
                                          <p:spTgt spid="19"/>
                                        </p:tgtEl>
                                      </p:cBhvr>
                                    </p:animEffect>
                                    <p:anim calcmode="lin" valueType="num">
                                      <p:cBhvr>
                                        <p:cTn id="70" dur="1000" fill="hold"/>
                                        <p:tgtEl>
                                          <p:spTgt spid="19"/>
                                        </p:tgtEl>
                                        <p:attrNameLst>
                                          <p:attrName>ppt_x</p:attrName>
                                        </p:attrNameLst>
                                      </p:cBhvr>
                                      <p:tavLst>
                                        <p:tav tm="0">
                                          <p:val>
                                            <p:strVal val="#ppt_x"/>
                                          </p:val>
                                        </p:tav>
                                        <p:tav tm="100000">
                                          <p:val>
                                            <p:strVal val="#ppt_x"/>
                                          </p:val>
                                        </p:tav>
                                      </p:tavLst>
                                    </p:anim>
                                    <p:anim calcmode="lin" valueType="num">
                                      <p:cBhvr>
                                        <p:cTn id="71" dur="1000" fill="hold"/>
                                        <p:tgtEl>
                                          <p:spTgt spid="19"/>
                                        </p:tgtEl>
                                        <p:attrNameLst>
                                          <p:attrName>ppt_y</p:attrName>
                                        </p:attrNameLst>
                                      </p:cBhvr>
                                      <p:tavLst>
                                        <p:tav tm="0">
                                          <p:val>
                                            <p:strVal val="#ppt_y+.1"/>
                                          </p:val>
                                        </p:tav>
                                        <p:tav tm="100000">
                                          <p:val>
                                            <p:strVal val="#ppt_y"/>
                                          </p:val>
                                        </p:tav>
                                      </p:tavLst>
                                    </p:anim>
                                  </p:childTnLst>
                                </p:cTn>
                              </p:par>
                              <p:par>
                                <p:cTn id="72" presetID="42" presetClass="entr" presetSubtype="0" fill="hold" nodeType="withEffect">
                                  <p:stCondLst>
                                    <p:cond delay="0"/>
                                  </p:stCondLst>
                                  <p:childTnLst>
                                    <p:set>
                                      <p:cBhvr>
                                        <p:cTn id="73" dur="1" fill="hold">
                                          <p:stCondLst>
                                            <p:cond delay="0"/>
                                          </p:stCondLst>
                                        </p:cTn>
                                        <p:tgtEl>
                                          <p:spTgt spid="21"/>
                                        </p:tgtEl>
                                        <p:attrNameLst>
                                          <p:attrName>style.visibility</p:attrName>
                                        </p:attrNameLst>
                                      </p:cBhvr>
                                      <p:to>
                                        <p:strVal val="visible"/>
                                      </p:to>
                                    </p:set>
                                    <p:animEffect transition="in" filter="fade">
                                      <p:cBhvr>
                                        <p:cTn id="74" dur="1000"/>
                                        <p:tgtEl>
                                          <p:spTgt spid="21"/>
                                        </p:tgtEl>
                                      </p:cBhvr>
                                    </p:animEffect>
                                    <p:anim calcmode="lin" valueType="num">
                                      <p:cBhvr>
                                        <p:cTn id="75" dur="1000" fill="hold"/>
                                        <p:tgtEl>
                                          <p:spTgt spid="21"/>
                                        </p:tgtEl>
                                        <p:attrNameLst>
                                          <p:attrName>ppt_x</p:attrName>
                                        </p:attrNameLst>
                                      </p:cBhvr>
                                      <p:tavLst>
                                        <p:tav tm="0">
                                          <p:val>
                                            <p:strVal val="#ppt_x"/>
                                          </p:val>
                                        </p:tav>
                                        <p:tav tm="100000">
                                          <p:val>
                                            <p:strVal val="#ppt_x"/>
                                          </p:val>
                                        </p:tav>
                                      </p:tavLst>
                                    </p:anim>
                                    <p:anim calcmode="lin" valueType="num">
                                      <p:cBhvr>
                                        <p:cTn id="76" dur="1000" fill="hold"/>
                                        <p:tgtEl>
                                          <p:spTgt spid="21"/>
                                        </p:tgtEl>
                                        <p:attrNameLst>
                                          <p:attrName>ppt_y</p:attrName>
                                        </p:attrNameLst>
                                      </p:cBhvr>
                                      <p:tavLst>
                                        <p:tav tm="0">
                                          <p:val>
                                            <p:strVal val="#ppt_y+.1"/>
                                          </p:val>
                                        </p:tav>
                                        <p:tav tm="100000">
                                          <p:val>
                                            <p:strVal val="#ppt_y"/>
                                          </p:val>
                                        </p:tav>
                                      </p:tavLst>
                                    </p:anim>
                                  </p:childTnLst>
                                </p:cTn>
                              </p:par>
                              <p:par>
                                <p:cTn id="77" presetID="42" presetClass="entr" presetSubtype="0" fill="hold" nodeType="with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fade">
                                      <p:cBhvr>
                                        <p:cTn id="79" dur="1000"/>
                                        <p:tgtEl>
                                          <p:spTgt spid="24"/>
                                        </p:tgtEl>
                                      </p:cBhvr>
                                    </p:animEffect>
                                    <p:anim calcmode="lin" valueType="num">
                                      <p:cBhvr>
                                        <p:cTn id="80" dur="1000" fill="hold"/>
                                        <p:tgtEl>
                                          <p:spTgt spid="24"/>
                                        </p:tgtEl>
                                        <p:attrNameLst>
                                          <p:attrName>ppt_x</p:attrName>
                                        </p:attrNameLst>
                                      </p:cBhvr>
                                      <p:tavLst>
                                        <p:tav tm="0">
                                          <p:val>
                                            <p:strVal val="#ppt_x"/>
                                          </p:val>
                                        </p:tav>
                                        <p:tav tm="100000">
                                          <p:val>
                                            <p:strVal val="#ppt_x"/>
                                          </p:val>
                                        </p:tav>
                                      </p:tavLst>
                                    </p:anim>
                                    <p:anim calcmode="lin" valueType="num">
                                      <p:cBhvr>
                                        <p:cTn id="81" dur="1000" fill="hold"/>
                                        <p:tgtEl>
                                          <p:spTgt spid="24"/>
                                        </p:tgtEl>
                                        <p:attrNameLst>
                                          <p:attrName>ppt_y</p:attrName>
                                        </p:attrNameLst>
                                      </p:cBhvr>
                                      <p:tavLst>
                                        <p:tav tm="0">
                                          <p:val>
                                            <p:strVal val="#ppt_y+.1"/>
                                          </p:val>
                                        </p:tav>
                                        <p:tav tm="100000">
                                          <p:val>
                                            <p:strVal val="#ppt_y"/>
                                          </p:val>
                                        </p:tav>
                                      </p:tavLst>
                                    </p:anim>
                                  </p:childTnLst>
                                </p:cTn>
                              </p:par>
                              <p:par>
                                <p:cTn id="82" presetID="42" presetClass="entr" presetSubtype="0" fill="hold" nodeType="with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1000"/>
                                        <p:tgtEl>
                                          <p:spTgt spid="25"/>
                                        </p:tgtEl>
                                      </p:cBhvr>
                                    </p:animEffect>
                                    <p:anim calcmode="lin" valueType="num">
                                      <p:cBhvr>
                                        <p:cTn id="85" dur="1000" fill="hold"/>
                                        <p:tgtEl>
                                          <p:spTgt spid="25"/>
                                        </p:tgtEl>
                                        <p:attrNameLst>
                                          <p:attrName>ppt_x</p:attrName>
                                        </p:attrNameLst>
                                      </p:cBhvr>
                                      <p:tavLst>
                                        <p:tav tm="0">
                                          <p:val>
                                            <p:strVal val="#ppt_x"/>
                                          </p:val>
                                        </p:tav>
                                        <p:tav tm="100000">
                                          <p:val>
                                            <p:strVal val="#ppt_x"/>
                                          </p:val>
                                        </p:tav>
                                      </p:tavLst>
                                    </p:anim>
                                    <p:anim calcmode="lin" valueType="num">
                                      <p:cBhvr>
                                        <p:cTn id="86" dur="1000" fill="hold"/>
                                        <p:tgtEl>
                                          <p:spTgt spid="25"/>
                                        </p:tgtEl>
                                        <p:attrNameLst>
                                          <p:attrName>ppt_y</p:attrName>
                                        </p:attrNameLst>
                                      </p:cBhvr>
                                      <p:tavLst>
                                        <p:tav tm="0">
                                          <p:val>
                                            <p:strVal val="#ppt_y+.1"/>
                                          </p:val>
                                        </p:tav>
                                        <p:tav tm="100000">
                                          <p:val>
                                            <p:strVal val="#ppt_y"/>
                                          </p:val>
                                        </p:tav>
                                      </p:tavLst>
                                    </p:anim>
                                  </p:childTnLst>
                                </p:cTn>
                              </p:par>
                              <p:par>
                                <p:cTn id="87" presetID="42" presetClass="entr" presetSubtype="0" fill="hold" nodeType="withEffect">
                                  <p:stCondLst>
                                    <p:cond delay="0"/>
                                  </p:stCondLst>
                                  <p:childTnLst>
                                    <p:set>
                                      <p:cBhvr>
                                        <p:cTn id="88" dur="1" fill="hold">
                                          <p:stCondLst>
                                            <p:cond delay="0"/>
                                          </p:stCondLst>
                                        </p:cTn>
                                        <p:tgtEl>
                                          <p:spTgt spid="26"/>
                                        </p:tgtEl>
                                        <p:attrNameLst>
                                          <p:attrName>style.visibility</p:attrName>
                                        </p:attrNameLst>
                                      </p:cBhvr>
                                      <p:to>
                                        <p:strVal val="visible"/>
                                      </p:to>
                                    </p:set>
                                    <p:animEffect transition="in" filter="fade">
                                      <p:cBhvr>
                                        <p:cTn id="89" dur="1000"/>
                                        <p:tgtEl>
                                          <p:spTgt spid="26"/>
                                        </p:tgtEl>
                                      </p:cBhvr>
                                    </p:animEffect>
                                    <p:anim calcmode="lin" valueType="num">
                                      <p:cBhvr>
                                        <p:cTn id="90" dur="1000" fill="hold"/>
                                        <p:tgtEl>
                                          <p:spTgt spid="26"/>
                                        </p:tgtEl>
                                        <p:attrNameLst>
                                          <p:attrName>ppt_x</p:attrName>
                                        </p:attrNameLst>
                                      </p:cBhvr>
                                      <p:tavLst>
                                        <p:tav tm="0">
                                          <p:val>
                                            <p:strVal val="#ppt_x"/>
                                          </p:val>
                                        </p:tav>
                                        <p:tav tm="100000">
                                          <p:val>
                                            <p:strVal val="#ppt_x"/>
                                          </p:val>
                                        </p:tav>
                                      </p:tavLst>
                                    </p:anim>
                                    <p:anim calcmode="lin" valueType="num">
                                      <p:cBhvr>
                                        <p:cTn id="91" dur="1000" fill="hold"/>
                                        <p:tgtEl>
                                          <p:spTgt spid="26"/>
                                        </p:tgtEl>
                                        <p:attrNameLst>
                                          <p:attrName>ppt_y</p:attrName>
                                        </p:attrNameLst>
                                      </p:cBhvr>
                                      <p:tavLst>
                                        <p:tav tm="0">
                                          <p:val>
                                            <p:strVal val="#ppt_y+.1"/>
                                          </p:val>
                                        </p:tav>
                                        <p:tav tm="100000">
                                          <p:val>
                                            <p:strVal val="#ppt_y"/>
                                          </p:val>
                                        </p:tav>
                                      </p:tavLst>
                                    </p:anim>
                                  </p:childTnLst>
                                </p:cTn>
                              </p:par>
                              <p:par>
                                <p:cTn id="92" presetID="42" presetClass="entr" presetSubtype="0" fill="hold" nodeType="withEffect">
                                  <p:stCondLst>
                                    <p:cond delay="0"/>
                                  </p:stCondLst>
                                  <p:childTnLst>
                                    <p:set>
                                      <p:cBhvr>
                                        <p:cTn id="93" dur="1" fill="hold">
                                          <p:stCondLst>
                                            <p:cond delay="0"/>
                                          </p:stCondLst>
                                        </p:cTn>
                                        <p:tgtEl>
                                          <p:spTgt spid="30"/>
                                        </p:tgtEl>
                                        <p:attrNameLst>
                                          <p:attrName>style.visibility</p:attrName>
                                        </p:attrNameLst>
                                      </p:cBhvr>
                                      <p:to>
                                        <p:strVal val="visible"/>
                                      </p:to>
                                    </p:set>
                                    <p:animEffect transition="in" filter="fade">
                                      <p:cBhvr>
                                        <p:cTn id="94" dur="1000"/>
                                        <p:tgtEl>
                                          <p:spTgt spid="30"/>
                                        </p:tgtEl>
                                      </p:cBhvr>
                                    </p:animEffect>
                                    <p:anim calcmode="lin" valueType="num">
                                      <p:cBhvr>
                                        <p:cTn id="95" dur="1000" fill="hold"/>
                                        <p:tgtEl>
                                          <p:spTgt spid="30"/>
                                        </p:tgtEl>
                                        <p:attrNameLst>
                                          <p:attrName>ppt_x</p:attrName>
                                        </p:attrNameLst>
                                      </p:cBhvr>
                                      <p:tavLst>
                                        <p:tav tm="0">
                                          <p:val>
                                            <p:strVal val="#ppt_x"/>
                                          </p:val>
                                        </p:tav>
                                        <p:tav tm="100000">
                                          <p:val>
                                            <p:strVal val="#ppt_x"/>
                                          </p:val>
                                        </p:tav>
                                      </p:tavLst>
                                    </p:anim>
                                    <p:anim calcmode="lin" valueType="num">
                                      <p:cBhvr>
                                        <p:cTn id="96" dur="1000" fill="hold"/>
                                        <p:tgtEl>
                                          <p:spTgt spid="30"/>
                                        </p:tgtEl>
                                        <p:attrNameLst>
                                          <p:attrName>ppt_y</p:attrName>
                                        </p:attrNameLst>
                                      </p:cBhvr>
                                      <p:tavLst>
                                        <p:tav tm="0">
                                          <p:val>
                                            <p:strVal val="#ppt_y+.1"/>
                                          </p:val>
                                        </p:tav>
                                        <p:tav tm="100000">
                                          <p:val>
                                            <p:strVal val="#ppt_y"/>
                                          </p:val>
                                        </p:tav>
                                      </p:tavLst>
                                    </p:anim>
                                  </p:childTnLst>
                                </p:cTn>
                              </p:par>
                              <p:par>
                                <p:cTn id="97" presetID="42" presetClass="entr" presetSubtype="0" fill="hold" nodeType="withEffect">
                                  <p:stCondLst>
                                    <p:cond delay="0"/>
                                  </p:stCondLst>
                                  <p:childTnLst>
                                    <p:set>
                                      <p:cBhvr>
                                        <p:cTn id="98" dur="1" fill="hold">
                                          <p:stCondLst>
                                            <p:cond delay="0"/>
                                          </p:stCondLst>
                                        </p:cTn>
                                        <p:tgtEl>
                                          <p:spTgt spid="31"/>
                                        </p:tgtEl>
                                        <p:attrNameLst>
                                          <p:attrName>style.visibility</p:attrName>
                                        </p:attrNameLst>
                                      </p:cBhvr>
                                      <p:to>
                                        <p:strVal val="visible"/>
                                      </p:to>
                                    </p:set>
                                    <p:animEffect transition="in" filter="fade">
                                      <p:cBhvr>
                                        <p:cTn id="99" dur="1000"/>
                                        <p:tgtEl>
                                          <p:spTgt spid="31"/>
                                        </p:tgtEl>
                                      </p:cBhvr>
                                    </p:animEffect>
                                    <p:anim calcmode="lin" valueType="num">
                                      <p:cBhvr>
                                        <p:cTn id="100" dur="1000" fill="hold"/>
                                        <p:tgtEl>
                                          <p:spTgt spid="31"/>
                                        </p:tgtEl>
                                        <p:attrNameLst>
                                          <p:attrName>ppt_x</p:attrName>
                                        </p:attrNameLst>
                                      </p:cBhvr>
                                      <p:tavLst>
                                        <p:tav tm="0">
                                          <p:val>
                                            <p:strVal val="#ppt_x"/>
                                          </p:val>
                                        </p:tav>
                                        <p:tav tm="100000">
                                          <p:val>
                                            <p:strVal val="#ppt_x"/>
                                          </p:val>
                                        </p:tav>
                                      </p:tavLst>
                                    </p:anim>
                                    <p:anim calcmode="lin" valueType="num">
                                      <p:cBhvr>
                                        <p:cTn id="101"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par>
                    <p:cTn id="102" fill="hold">
                      <p:stCondLst>
                        <p:cond delay="indefinite"/>
                      </p:stCondLst>
                      <p:childTnLst>
                        <p:par>
                          <p:cTn id="103" fill="hold">
                            <p:stCondLst>
                              <p:cond delay="0"/>
                            </p:stCondLst>
                            <p:childTnLst>
                              <p:par>
                                <p:cTn id="104" presetID="42" presetClass="entr" presetSubtype="0" fill="hold" grpId="0" nodeType="clickEffect">
                                  <p:stCondLst>
                                    <p:cond delay="0"/>
                                  </p:stCondLst>
                                  <p:childTnLst>
                                    <p:set>
                                      <p:cBhvr>
                                        <p:cTn id="105" dur="1" fill="hold">
                                          <p:stCondLst>
                                            <p:cond delay="0"/>
                                          </p:stCondLst>
                                        </p:cTn>
                                        <p:tgtEl>
                                          <p:spTgt spid="3">
                                            <p:txEl>
                                              <p:pRg st="0" end="0"/>
                                            </p:txEl>
                                          </p:spTgt>
                                        </p:tgtEl>
                                        <p:attrNameLst>
                                          <p:attrName>style.visibility</p:attrName>
                                        </p:attrNameLst>
                                      </p:cBhvr>
                                      <p:to>
                                        <p:strVal val="visible"/>
                                      </p:to>
                                    </p:set>
                                    <p:animEffect transition="in" filter="fade">
                                      <p:cBhvr>
                                        <p:cTn id="106" dur="1000"/>
                                        <p:tgtEl>
                                          <p:spTgt spid="3">
                                            <p:txEl>
                                              <p:pRg st="0" end="0"/>
                                            </p:txEl>
                                          </p:spTgt>
                                        </p:tgtEl>
                                      </p:cBhvr>
                                    </p:animEffect>
                                    <p:anim calcmode="lin" valueType="num">
                                      <p:cBhvr>
                                        <p:cTn id="107"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08"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32" grpId="0"/>
    </p:bld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7A55486-C75F-484D-B8BE-DE459B531409}"/>
              </a:ext>
            </a:extLst>
          </p:cNvPr>
          <p:cNvSpPr>
            <a:spLocks noGrp="1"/>
          </p:cNvSpPr>
          <p:nvPr>
            <p:ph type="title"/>
          </p:nvPr>
        </p:nvSpPr>
        <p:spPr/>
        <p:txBody>
          <a:bodyPr/>
          <a:lstStyle/>
          <a:p>
            <a:r>
              <a:rPr lang="en-US" altLang="en-US" dirty="0">
                <a:latin typeface="Times New Roman" panose="02020603050405020304" pitchFamily="18" charset="0"/>
                <a:cs typeface="Times New Roman" panose="02020603050405020304" pitchFamily="18" charset="0"/>
              </a:rPr>
              <a:t>CONTROLS (between DEPARTMENT, PROJECT)</a:t>
            </a:r>
            <a:endParaRPr lang="en-IN" dirty="0"/>
          </a:p>
        </p:txBody>
      </p:sp>
      <p:sp>
        <p:nvSpPr>
          <p:cNvPr id="3" name="Content Placeholder 2">
            <a:extLst>
              <a:ext uri="{FF2B5EF4-FFF2-40B4-BE49-F238E27FC236}">
                <a16:creationId xmlns:a16="http://schemas.microsoft.com/office/drawing/2014/main" xmlns="" id="{FD12C0EB-5EB5-4346-90D4-F3D8DFE52294}"/>
              </a:ext>
            </a:extLst>
          </p:cNvPr>
          <p:cNvSpPr>
            <a:spLocks noGrp="1"/>
          </p:cNvSpPr>
          <p:nvPr>
            <p:ph idx="1"/>
          </p:nvPr>
        </p:nvSpPr>
        <p:spPr/>
        <p:txBody>
          <a:bodyPr/>
          <a:lstStyle/>
          <a:p>
            <a:r>
              <a:rPr lang="en-IN" dirty="0"/>
              <a:t>1: N relationship</a:t>
            </a:r>
          </a:p>
          <a:p>
            <a:pPr marL="0" indent="0">
              <a:buNone/>
            </a:pPr>
            <a:r>
              <a:rPr lang="en-IN" dirty="0"/>
              <a:t>                    Department                 Controls                     Project</a:t>
            </a:r>
          </a:p>
        </p:txBody>
      </p:sp>
      <p:sp>
        <p:nvSpPr>
          <p:cNvPr id="4" name="Oval 3">
            <a:extLst>
              <a:ext uri="{FF2B5EF4-FFF2-40B4-BE49-F238E27FC236}">
                <a16:creationId xmlns:a16="http://schemas.microsoft.com/office/drawing/2014/main" xmlns="" id="{A64C0FE2-BE0B-43CE-BECD-F46D0B2D5339}"/>
              </a:ext>
            </a:extLst>
          </p:cNvPr>
          <p:cNvSpPr/>
          <p:nvPr/>
        </p:nvSpPr>
        <p:spPr>
          <a:xfrm>
            <a:off x="2890910" y="3235569"/>
            <a:ext cx="1505243" cy="3076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Oval 4">
            <a:extLst>
              <a:ext uri="{FF2B5EF4-FFF2-40B4-BE49-F238E27FC236}">
                <a16:creationId xmlns:a16="http://schemas.microsoft.com/office/drawing/2014/main" xmlns="" id="{4D989EF6-7128-440C-BE1A-B6DDBB88741C}"/>
              </a:ext>
            </a:extLst>
          </p:cNvPr>
          <p:cNvSpPr/>
          <p:nvPr/>
        </p:nvSpPr>
        <p:spPr>
          <a:xfrm>
            <a:off x="5696241" y="3235568"/>
            <a:ext cx="1505243" cy="3076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Oval 5">
            <a:extLst>
              <a:ext uri="{FF2B5EF4-FFF2-40B4-BE49-F238E27FC236}">
                <a16:creationId xmlns:a16="http://schemas.microsoft.com/office/drawing/2014/main" xmlns="" id="{72E45034-CDC5-453C-98A6-5FCE75027018}"/>
              </a:ext>
            </a:extLst>
          </p:cNvPr>
          <p:cNvSpPr/>
          <p:nvPr/>
        </p:nvSpPr>
        <p:spPr>
          <a:xfrm>
            <a:off x="8548468" y="3235568"/>
            <a:ext cx="1505243" cy="307633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xmlns="" id="{9592B9EB-84D8-4DD0-9459-020AE3362E7D}"/>
              </a:ext>
            </a:extLst>
          </p:cNvPr>
          <p:cNvSpPr/>
          <p:nvPr/>
        </p:nvSpPr>
        <p:spPr>
          <a:xfrm>
            <a:off x="3516923" y="3781339"/>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xmlns="" id="{7CBFE8F9-F466-4C76-9F66-061D10050A89}"/>
              </a:ext>
            </a:extLst>
          </p:cNvPr>
          <p:cNvSpPr/>
          <p:nvPr/>
        </p:nvSpPr>
        <p:spPr>
          <a:xfrm>
            <a:off x="3516922" y="4247423"/>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9" name="Rectangle 8">
            <a:extLst>
              <a:ext uri="{FF2B5EF4-FFF2-40B4-BE49-F238E27FC236}">
                <a16:creationId xmlns:a16="http://schemas.microsoft.com/office/drawing/2014/main" xmlns="" id="{D8405E74-FDE2-4A08-BBAA-B4615CDC20E6}"/>
              </a:ext>
            </a:extLst>
          </p:cNvPr>
          <p:cNvSpPr/>
          <p:nvPr/>
        </p:nvSpPr>
        <p:spPr>
          <a:xfrm>
            <a:off x="3530989" y="4746109"/>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xmlns="" id="{90597A68-77CB-4739-AE80-AF317A98D37E}"/>
              </a:ext>
            </a:extLst>
          </p:cNvPr>
          <p:cNvSpPr/>
          <p:nvPr/>
        </p:nvSpPr>
        <p:spPr>
          <a:xfrm>
            <a:off x="3519264" y="5722905"/>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1" name="Rectangle 10">
            <a:extLst>
              <a:ext uri="{FF2B5EF4-FFF2-40B4-BE49-F238E27FC236}">
                <a16:creationId xmlns:a16="http://schemas.microsoft.com/office/drawing/2014/main" xmlns="" id="{7E0E05F4-C267-46FB-AF98-7C1CD835CF31}"/>
              </a:ext>
            </a:extLst>
          </p:cNvPr>
          <p:cNvSpPr/>
          <p:nvPr/>
        </p:nvSpPr>
        <p:spPr>
          <a:xfrm>
            <a:off x="3530989" y="5259277"/>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xmlns="" id="{A44635CF-CD4D-41D2-B8E7-B080411FE331}"/>
              </a:ext>
            </a:extLst>
          </p:cNvPr>
          <p:cNvSpPr/>
          <p:nvPr/>
        </p:nvSpPr>
        <p:spPr>
          <a:xfrm>
            <a:off x="6336320" y="3781339"/>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xmlns="" id="{95AC8B8C-50BA-4B79-8AB0-3068D79385D7}"/>
              </a:ext>
            </a:extLst>
          </p:cNvPr>
          <p:cNvSpPr/>
          <p:nvPr/>
        </p:nvSpPr>
        <p:spPr>
          <a:xfrm>
            <a:off x="6345697" y="4190682"/>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xmlns="" id="{CE88D962-7073-496F-A91A-AC2AEB1E94DC}"/>
              </a:ext>
            </a:extLst>
          </p:cNvPr>
          <p:cNvSpPr/>
          <p:nvPr/>
        </p:nvSpPr>
        <p:spPr>
          <a:xfrm>
            <a:off x="6345697" y="4867693"/>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xmlns="" id="{4EE50285-49CA-49C2-A83E-51101A3C8B31}"/>
              </a:ext>
            </a:extLst>
          </p:cNvPr>
          <p:cNvSpPr/>
          <p:nvPr/>
        </p:nvSpPr>
        <p:spPr>
          <a:xfrm>
            <a:off x="6359768" y="5579414"/>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xmlns="" id="{5F70FE18-9AB2-4787-97E5-8405F2F69519}"/>
              </a:ext>
            </a:extLst>
          </p:cNvPr>
          <p:cNvSpPr/>
          <p:nvPr/>
        </p:nvSpPr>
        <p:spPr>
          <a:xfrm>
            <a:off x="9196748" y="5384865"/>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xmlns="" id="{87E57458-F836-4039-86AF-0C4F07E53F58}"/>
              </a:ext>
            </a:extLst>
          </p:cNvPr>
          <p:cNvSpPr/>
          <p:nvPr/>
        </p:nvSpPr>
        <p:spPr>
          <a:xfrm>
            <a:off x="9197917" y="4909896"/>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xmlns="" id="{EA953A33-4101-45CF-90DC-B893BB28F020}"/>
              </a:ext>
            </a:extLst>
          </p:cNvPr>
          <p:cNvSpPr/>
          <p:nvPr/>
        </p:nvSpPr>
        <p:spPr>
          <a:xfrm>
            <a:off x="9196748" y="4358003"/>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xmlns="" id="{F52A3611-5700-4DB3-BDF1-0C6D46EADA44}"/>
              </a:ext>
            </a:extLst>
          </p:cNvPr>
          <p:cNvSpPr/>
          <p:nvPr/>
        </p:nvSpPr>
        <p:spPr>
          <a:xfrm>
            <a:off x="9196748" y="3806110"/>
            <a:ext cx="225083" cy="168812"/>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IN"/>
          </a:p>
        </p:txBody>
      </p:sp>
      <p:cxnSp>
        <p:nvCxnSpPr>
          <p:cNvPr id="22" name="Straight Arrow Connector 21">
            <a:extLst>
              <a:ext uri="{FF2B5EF4-FFF2-40B4-BE49-F238E27FC236}">
                <a16:creationId xmlns:a16="http://schemas.microsoft.com/office/drawing/2014/main" xmlns="" id="{4F0E52B3-E912-4E29-9C34-B48FBC2A1F78}"/>
              </a:ext>
            </a:extLst>
          </p:cNvPr>
          <p:cNvCxnSpPr/>
          <p:nvPr/>
        </p:nvCxnSpPr>
        <p:spPr>
          <a:xfrm>
            <a:off x="3756072" y="3890516"/>
            <a:ext cx="244778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3" name="Straight Arrow Connector 22">
            <a:extLst>
              <a:ext uri="{FF2B5EF4-FFF2-40B4-BE49-F238E27FC236}">
                <a16:creationId xmlns:a16="http://schemas.microsoft.com/office/drawing/2014/main" xmlns="" id="{58D086E9-DDBB-4791-9653-5ADE9138B778}"/>
              </a:ext>
            </a:extLst>
          </p:cNvPr>
          <p:cNvCxnSpPr/>
          <p:nvPr/>
        </p:nvCxnSpPr>
        <p:spPr>
          <a:xfrm>
            <a:off x="6584851" y="3890516"/>
            <a:ext cx="2447780" cy="0"/>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Straight Arrow Connector 23">
            <a:extLst>
              <a:ext uri="{FF2B5EF4-FFF2-40B4-BE49-F238E27FC236}">
                <a16:creationId xmlns:a16="http://schemas.microsoft.com/office/drawing/2014/main" xmlns="" id="{C5B4A654-B00A-47FE-B733-675A3D553BCC}"/>
              </a:ext>
            </a:extLst>
          </p:cNvPr>
          <p:cNvCxnSpPr>
            <a:cxnSpLocks/>
          </p:cNvCxnSpPr>
          <p:nvPr/>
        </p:nvCxnSpPr>
        <p:spPr>
          <a:xfrm>
            <a:off x="3728525" y="3970631"/>
            <a:ext cx="2601929" cy="361198"/>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 name="Straight Arrow Connector 27">
            <a:extLst>
              <a:ext uri="{FF2B5EF4-FFF2-40B4-BE49-F238E27FC236}">
                <a16:creationId xmlns:a16="http://schemas.microsoft.com/office/drawing/2014/main" xmlns="" id="{ECB08820-AF1A-42BB-AA80-342DA9DDA755}"/>
              </a:ext>
            </a:extLst>
          </p:cNvPr>
          <p:cNvCxnSpPr>
            <a:cxnSpLocks/>
            <a:stCxn id="13" idx="3"/>
            <a:endCxn id="18" idx="1"/>
          </p:cNvCxnSpPr>
          <p:nvPr/>
        </p:nvCxnSpPr>
        <p:spPr>
          <a:xfrm>
            <a:off x="6570780" y="4275088"/>
            <a:ext cx="2627137" cy="719214"/>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1" name="Straight Arrow Connector 30">
            <a:extLst>
              <a:ext uri="{FF2B5EF4-FFF2-40B4-BE49-F238E27FC236}">
                <a16:creationId xmlns:a16="http://schemas.microsoft.com/office/drawing/2014/main" xmlns="" id="{F652B970-C44C-4EA1-A312-A1ACB457CACE}"/>
              </a:ext>
            </a:extLst>
          </p:cNvPr>
          <p:cNvCxnSpPr>
            <a:cxnSpLocks/>
          </p:cNvCxnSpPr>
          <p:nvPr/>
        </p:nvCxnSpPr>
        <p:spPr>
          <a:xfrm>
            <a:off x="3759147" y="4855412"/>
            <a:ext cx="2554169" cy="8081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3" name="Straight Arrow Connector 32">
            <a:extLst>
              <a:ext uri="{FF2B5EF4-FFF2-40B4-BE49-F238E27FC236}">
                <a16:creationId xmlns:a16="http://schemas.microsoft.com/office/drawing/2014/main" xmlns="" id="{CC78E0F0-E897-4864-A0C5-E3DBFB2CC5DC}"/>
              </a:ext>
            </a:extLst>
          </p:cNvPr>
          <p:cNvCxnSpPr>
            <a:cxnSpLocks/>
          </p:cNvCxnSpPr>
          <p:nvPr/>
        </p:nvCxnSpPr>
        <p:spPr>
          <a:xfrm flipV="1">
            <a:off x="6584851" y="4498266"/>
            <a:ext cx="2611897" cy="42461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5" name="Straight Arrow Connector 34">
            <a:extLst>
              <a:ext uri="{FF2B5EF4-FFF2-40B4-BE49-F238E27FC236}">
                <a16:creationId xmlns:a16="http://schemas.microsoft.com/office/drawing/2014/main" xmlns="" id="{55D52987-EE48-4BA0-9FD7-516069380CF1}"/>
              </a:ext>
            </a:extLst>
          </p:cNvPr>
          <p:cNvCxnSpPr>
            <a:cxnSpLocks/>
          </p:cNvCxnSpPr>
          <p:nvPr/>
        </p:nvCxnSpPr>
        <p:spPr>
          <a:xfrm flipV="1">
            <a:off x="3805599" y="5722905"/>
            <a:ext cx="2524855" cy="84406"/>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37" name="Straight Arrow Connector 36">
            <a:extLst>
              <a:ext uri="{FF2B5EF4-FFF2-40B4-BE49-F238E27FC236}">
                <a16:creationId xmlns:a16="http://schemas.microsoft.com/office/drawing/2014/main" xmlns="" id="{72060B26-B4B1-4620-822F-786377DE46DB}"/>
              </a:ext>
            </a:extLst>
          </p:cNvPr>
          <p:cNvCxnSpPr>
            <a:cxnSpLocks/>
          </p:cNvCxnSpPr>
          <p:nvPr/>
        </p:nvCxnSpPr>
        <p:spPr>
          <a:xfrm flipV="1">
            <a:off x="6584851" y="5469271"/>
            <a:ext cx="2611897" cy="19454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30476206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par>
                                <p:cTn id="24" presetID="42"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1000"/>
                                        <p:tgtEl>
                                          <p:spTgt spid="8"/>
                                        </p:tgtEl>
                                      </p:cBhvr>
                                    </p:animEffect>
                                    <p:anim calcmode="lin" valueType="num">
                                      <p:cBhvr>
                                        <p:cTn id="27" dur="1000" fill="hold"/>
                                        <p:tgtEl>
                                          <p:spTgt spid="8"/>
                                        </p:tgtEl>
                                        <p:attrNameLst>
                                          <p:attrName>ppt_x</p:attrName>
                                        </p:attrNameLst>
                                      </p:cBhvr>
                                      <p:tavLst>
                                        <p:tav tm="0">
                                          <p:val>
                                            <p:strVal val="#ppt_x"/>
                                          </p:val>
                                        </p:tav>
                                        <p:tav tm="100000">
                                          <p:val>
                                            <p:strVal val="#ppt_x"/>
                                          </p:val>
                                        </p:tav>
                                      </p:tavLst>
                                    </p:anim>
                                    <p:anim calcmode="lin" valueType="num">
                                      <p:cBhvr>
                                        <p:cTn id="28" dur="1000" fill="hold"/>
                                        <p:tgtEl>
                                          <p:spTgt spid="8"/>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9"/>
                                        </p:tgtEl>
                                        <p:attrNameLst>
                                          <p:attrName>style.visibility</p:attrName>
                                        </p:attrNameLst>
                                      </p:cBhvr>
                                      <p:to>
                                        <p:strVal val="visible"/>
                                      </p:to>
                                    </p:set>
                                    <p:animEffect transition="in" filter="fade">
                                      <p:cBhvr>
                                        <p:cTn id="31" dur="1000"/>
                                        <p:tgtEl>
                                          <p:spTgt spid="9"/>
                                        </p:tgtEl>
                                      </p:cBhvr>
                                    </p:animEffect>
                                    <p:anim calcmode="lin" valueType="num">
                                      <p:cBhvr>
                                        <p:cTn id="32" dur="1000" fill="hold"/>
                                        <p:tgtEl>
                                          <p:spTgt spid="9"/>
                                        </p:tgtEl>
                                        <p:attrNameLst>
                                          <p:attrName>ppt_x</p:attrName>
                                        </p:attrNameLst>
                                      </p:cBhvr>
                                      <p:tavLst>
                                        <p:tav tm="0">
                                          <p:val>
                                            <p:strVal val="#ppt_x"/>
                                          </p:val>
                                        </p:tav>
                                        <p:tav tm="100000">
                                          <p:val>
                                            <p:strVal val="#ppt_x"/>
                                          </p:val>
                                        </p:tav>
                                      </p:tavLst>
                                    </p:anim>
                                    <p:anim calcmode="lin" valueType="num">
                                      <p:cBhvr>
                                        <p:cTn id="33" dur="1000" fill="hold"/>
                                        <p:tgtEl>
                                          <p:spTgt spid="9"/>
                                        </p:tgtEl>
                                        <p:attrNameLst>
                                          <p:attrName>ppt_y</p:attrName>
                                        </p:attrNameLst>
                                      </p:cBhvr>
                                      <p:tavLst>
                                        <p:tav tm="0">
                                          <p:val>
                                            <p:strVal val="#ppt_y+.1"/>
                                          </p:val>
                                        </p:tav>
                                        <p:tav tm="100000">
                                          <p:val>
                                            <p:strVal val="#ppt_y"/>
                                          </p:val>
                                        </p:tav>
                                      </p:tavLst>
                                    </p:anim>
                                  </p:childTnLst>
                                </p:cTn>
                              </p:par>
                              <p:par>
                                <p:cTn id="34" presetID="42" presetClass="entr" presetSubtype="0" fill="hold" grpId="0" nodeType="withEffect">
                                  <p:stCondLst>
                                    <p:cond delay="0"/>
                                  </p:stCondLst>
                                  <p:childTnLst>
                                    <p:set>
                                      <p:cBhvr>
                                        <p:cTn id="35" dur="1" fill="hold">
                                          <p:stCondLst>
                                            <p:cond delay="0"/>
                                          </p:stCondLst>
                                        </p:cTn>
                                        <p:tgtEl>
                                          <p:spTgt spid="10"/>
                                        </p:tgtEl>
                                        <p:attrNameLst>
                                          <p:attrName>style.visibility</p:attrName>
                                        </p:attrNameLst>
                                      </p:cBhvr>
                                      <p:to>
                                        <p:strVal val="visible"/>
                                      </p:to>
                                    </p:set>
                                    <p:animEffect transition="in" filter="fade">
                                      <p:cBhvr>
                                        <p:cTn id="36" dur="1000"/>
                                        <p:tgtEl>
                                          <p:spTgt spid="10"/>
                                        </p:tgtEl>
                                      </p:cBhvr>
                                    </p:animEffect>
                                    <p:anim calcmode="lin" valueType="num">
                                      <p:cBhvr>
                                        <p:cTn id="37" dur="1000" fill="hold"/>
                                        <p:tgtEl>
                                          <p:spTgt spid="10"/>
                                        </p:tgtEl>
                                        <p:attrNameLst>
                                          <p:attrName>ppt_x</p:attrName>
                                        </p:attrNameLst>
                                      </p:cBhvr>
                                      <p:tavLst>
                                        <p:tav tm="0">
                                          <p:val>
                                            <p:strVal val="#ppt_x"/>
                                          </p:val>
                                        </p:tav>
                                        <p:tav tm="100000">
                                          <p:val>
                                            <p:strVal val="#ppt_x"/>
                                          </p:val>
                                        </p:tav>
                                      </p:tavLst>
                                    </p:anim>
                                    <p:anim calcmode="lin" valueType="num">
                                      <p:cBhvr>
                                        <p:cTn id="38" dur="1000" fill="hold"/>
                                        <p:tgtEl>
                                          <p:spTgt spid="10"/>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1000"/>
                                        <p:tgtEl>
                                          <p:spTgt spid="11"/>
                                        </p:tgtEl>
                                      </p:cBhvr>
                                    </p:animEffect>
                                    <p:anim calcmode="lin" valueType="num">
                                      <p:cBhvr>
                                        <p:cTn id="42" dur="1000" fill="hold"/>
                                        <p:tgtEl>
                                          <p:spTgt spid="11"/>
                                        </p:tgtEl>
                                        <p:attrNameLst>
                                          <p:attrName>ppt_x</p:attrName>
                                        </p:attrNameLst>
                                      </p:cBhvr>
                                      <p:tavLst>
                                        <p:tav tm="0">
                                          <p:val>
                                            <p:strVal val="#ppt_x"/>
                                          </p:val>
                                        </p:tav>
                                        <p:tav tm="100000">
                                          <p:val>
                                            <p:strVal val="#ppt_x"/>
                                          </p:val>
                                        </p:tav>
                                      </p:tavLst>
                                    </p:anim>
                                    <p:anim calcmode="lin" valueType="num">
                                      <p:cBhvr>
                                        <p:cTn id="43" dur="1000" fill="hold"/>
                                        <p:tgtEl>
                                          <p:spTgt spid="11"/>
                                        </p:tgtEl>
                                        <p:attrNameLst>
                                          <p:attrName>ppt_y</p:attrName>
                                        </p:attrNameLst>
                                      </p:cBhvr>
                                      <p:tavLst>
                                        <p:tav tm="0">
                                          <p:val>
                                            <p:strVal val="#ppt_y+.1"/>
                                          </p:val>
                                        </p:tav>
                                        <p:tav tm="100000">
                                          <p:val>
                                            <p:strVal val="#ppt_y"/>
                                          </p:val>
                                        </p:tav>
                                      </p:tavLst>
                                    </p:anim>
                                  </p:childTnLst>
                                </p:cTn>
                              </p:par>
                              <p:par>
                                <p:cTn id="44" presetID="42" presetClass="entr" presetSubtype="0" fill="hold" grpId="0" nodeType="withEffect">
                                  <p:stCondLst>
                                    <p:cond delay="0"/>
                                  </p:stCondLst>
                                  <p:childTnLst>
                                    <p:set>
                                      <p:cBhvr>
                                        <p:cTn id="45" dur="1" fill="hold">
                                          <p:stCondLst>
                                            <p:cond delay="0"/>
                                          </p:stCondLst>
                                        </p:cTn>
                                        <p:tgtEl>
                                          <p:spTgt spid="12"/>
                                        </p:tgtEl>
                                        <p:attrNameLst>
                                          <p:attrName>style.visibility</p:attrName>
                                        </p:attrNameLst>
                                      </p:cBhvr>
                                      <p:to>
                                        <p:strVal val="visible"/>
                                      </p:to>
                                    </p:set>
                                    <p:animEffect transition="in" filter="fade">
                                      <p:cBhvr>
                                        <p:cTn id="46" dur="1000"/>
                                        <p:tgtEl>
                                          <p:spTgt spid="12"/>
                                        </p:tgtEl>
                                      </p:cBhvr>
                                    </p:animEffect>
                                    <p:anim calcmode="lin" valueType="num">
                                      <p:cBhvr>
                                        <p:cTn id="47" dur="1000" fill="hold"/>
                                        <p:tgtEl>
                                          <p:spTgt spid="12"/>
                                        </p:tgtEl>
                                        <p:attrNameLst>
                                          <p:attrName>ppt_x</p:attrName>
                                        </p:attrNameLst>
                                      </p:cBhvr>
                                      <p:tavLst>
                                        <p:tav tm="0">
                                          <p:val>
                                            <p:strVal val="#ppt_x"/>
                                          </p:val>
                                        </p:tav>
                                        <p:tav tm="100000">
                                          <p:val>
                                            <p:strVal val="#ppt_x"/>
                                          </p:val>
                                        </p:tav>
                                      </p:tavLst>
                                    </p:anim>
                                    <p:anim calcmode="lin" valueType="num">
                                      <p:cBhvr>
                                        <p:cTn id="48" dur="1000" fill="hold"/>
                                        <p:tgtEl>
                                          <p:spTgt spid="12"/>
                                        </p:tgtEl>
                                        <p:attrNameLst>
                                          <p:attrName>ppt_y</p:attrName>
                                        </p:attrNameLst>
                                      </p:cBhvr>
                                      <p:tavLst>
                                        <p:tav tm="0">
                                          <p:val>
                                            <p:strVal val="#ppt_y+.1"/>
                                          </p:val>
                                        </p:tav>
                                        <p:tav tm="100000">
                                          <p:val>
                                            <p:strVal val="#ppt_y"/>
                                          </p:val>
                                        </p:tav>
                                      </p:tavLst>
                                    </p:anim>
                                  </p:childTnLst>
                                </p:cTn>
                              </p:par>
                              <p:par>
                                <p:cTn id="49" presetID="42" presetClass="entr" presetSubtype="0" fill="hold" grpId="0" nodeType="with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fade">
                                      <p:cBhvr>
                                        <p:cTn id="51" dur="1000"/>
                                        <p:tgtEl>
                                          <p:spTgt spid="13"/>
                                        </p:tgtEl>
                                      </p:cBhvr>
                                    </p:animEffect>
                                    <p:anim calcmode="lin" valueType="num">
                                      <p:cBhvr>
                                        <p:cTn id="52" dur="1000" fill="hold"/>
                                        <p:tgtEl>
                                          <p:spTgt spid="13"/>
                                        </p:tgtEl>
                                        <p:attrNameLst>
                                          <p:attrName>ppt_x</p:attrName>
                                        </p:attrNameLst>
                                      </p:cBhvr>
                                      <p:tavLst>
                                        <p:tav tm="0">
                                          <p:val>
                                            <p:strVal val="#ppt_x"/>
                                          </p:val>
                                        </p:tav>
                                        <p:tav tm="100000">
                                          <p:val>
                                            <p:strVal val="#ppt_x"/>
                                          </p:val>
                                        </p:tav>
                                      </p:tavLst>
                                    </p:anim>
                                    <p:anim calcmode="lin" valueType="num">
                                      <p:cBhvr>
                                        <p:cTn id="53" dur="1000" fill="hold"/>
                                        <p:tgtEl>
                                          <p:spTgt spid="13"/>
                                        </p:tgtEl>
                                        <p:attrNameLst>
                                          <p:attrName>ppt_y</p:attrName>
                                        </p:attrNameLst>
                                      </p:cBhvr>
                                      <p:tavLst>
                                        <p:tav tm="0">
                                          <p:val>
                                            <p:strVal val="#ppt_y+.1"/>
                                          </p:val>
                                        </p:tav>
                                        <p:tav tm="100000">
                                          <p:val>
                                            <p:strVal val="#ppt_y"/>
                                          </p:val>
                                        </p:tav>
                                      </p:tavLst>
                                    </p:anim>
                                  </p:childTnLst>
                                </p:cTn>
                              </p:par>
                              <p:par>
                                <p:cTn id="54" presetID="42" presetClass="entr" presetSubtype="0" fill="hold" grpId="0" nodeType="withEffect">
                                  <p:stCondLst>
                                    <p:cond delay="0"/>
                                  </p:stCondLst>
                                  <p:childTnLst>
                                    <p:set>
                                      <p:cBhvr>
                                        <p:cTn id="55" dur="1" fill="hold">
                                          <p:stCondLst>
                                            <p:cond delay="0"/>
                                          </p:stCondLst>
                                        </p:cTn>
                                        <p:tgtEl>
                                          <p:spTgt spid="14"/>
                                        </p:tgtEl>
                                        <p:attrNameLst>
                                          <p:attrName>style.visibility</p:attrName>
                                        </p:attrNameLst>
                                      </p:cBhvr>
                                      <p:to>
                                        <p:strVal val="visible"/>
                                      </p:to>
                                    </p:set>
                                    <p:animEffect transition="in" filter="fade">
                                      <p:cBhvr>
                                        <p:cTn id="56" dur="1000"/>
                                        <p:tgtEl>
                                          <p:spTgt spid="14"/>
                                        </p:tgtEl>
                                      </p:cBhvr>
                                    </p:animEffect>
                                    <p:anim calcmode="lin" valueType="num">
                                      <p:cBhvr>
                                        <p:cTn id="57" dur="1000" fill="hold"/>
                                        <p:tgtEl>
                                          <p:spTgt spid="14"/>
                                        </p:tgtEl>
                                        <p:attrNameLst>
                                          <p:attrName>ppt_x</p:attrName>
                                        </p:attrNameLst>
                                      </p:cBhvr>
                                      <p:tavLst>
                                        <p:tav tm="0">
                                          <p:val>
                                            <p:strVal val="#ppt_x"/>
                                          </p:val>
                                        </p:tav>
                                        <p:tav tm="100000">
                                          <p:val>
                                            <p:strVal val="#ppt_x"/>
                                          </p:val>
                                        </p:tav>
                                      </p:tavLst>
                                    </p:anim>
                                    <p:anim calcmode="lin" valueType="num">
                                      <p:cBhvr>
                                        <p:cTn id="58" dur="1000" fill="hold"/>
                                        <p:tgtEl>
                                          <p:spTgt spid="14"/>
                                        </p:tgtEl>
                                        <p:attrNameLst>
                                          <p:attrName>ppt_y</p:attrName>
                                        </p:attrNameLst>
                                      </p:cBhvr>
                                      <p:tavLst>
                                        <p:tav tm="0">
                                          <p:val>
                                            <p:strVal val="#ppt_y+.1"/>
                                          </p:val>
                                        </p:tav>
                                        <p:tav tm="100000">
                                          <p:val>
                                            <p:strVal val="#ppt_y"/>
                                          </p:val>
                                        </p:tav>
                                      </p:tavLst>
                                    </p:anim>
                                  </p:childTnLst>
                                </p:cTn>
                              </p:par>
                              <p:par>
                                <p:cTn id="59" presetID="42" presetClass="entr" presetSubtype="0" fill="hold" grpId="0" nodeType="with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fade">
                                      <p:cBhvr>
                                        <p:cTn id="61" dur="1000"/>
                                        <p:tgtEl>
                                          <p:spTgt spid="15"/>
                                        </p:tgtEl>
                                      </p:cBhvr>
                                    </p:animEffect>
                                    <p:anim calcmode="lin" valueType="num">
                                      <p:cBhvr>
                                        <p:cTn id="62" dur="1000" fill="hold"/>
                                        <p:tgtEl>
                                          <p:spTgt spid="15"/>
                                        </p:tgtEl>
                                        <p:attrNameLst>
                                          <p:attrName>ppt_x</p:attrName>
                                        </p:attrNameLst>
                                      </p:cBhvr>
                                      <p:tavLst>
                                        <p:tav tm="0">
                                          <p:val>
                                            <p:strVal val="#ppt_x"/>
                                          </p:val>
                                        </p:tav>
                                        <p:tav tm="100000">
                                          <p:val>
                                            <p:strVal val="#ppt_x"/>
                                          </p:val>
                                        </p:tav>
                                      </p:tavLst>
                                    </p:anim>
                                    <p:anim calcmode="lin" valueType="num">
                                      <p:cBhvr>
                                        <p:cTn id="63" dur="1000" fill="hold"/>
                                        <p:tgtEl>
                                          <p:spTgt spid="15"/>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fade">
                                      <p:cBhvr>
                                        <p:cTn id="66" dur="1000"/>
                                        <p:tgtEl>
                                          <p:spTgt spid="17"/>
                                        </p:tgtEl>
                                      </p:cBhvr>
                                    </p:animEffect>
                                    <p:anim calcmode="lin" valueType="num">
                                      <p:cBhvr>
                                        <p:cTn id="67" dur="1000" fill="hold"/>
                                        <p:tgtEl>
                                          <p:spTgt spid="17"/>
                                        </p:tgtEl>
                                        <p:attrNameLst>
                                          <p:attrName>ppt_x</p:attrName>
                                        </p:attrNameLst>
                                      </p:cBhvr>
                                      <p:tavLst>
                                        <p:tav tm="0">
                                          <p:val>
                                            <p:strVal val="#ppt_x"/>
                                          </p:val>
                                        </p:tav>
                                        <p:tav tm="100000">
                                          <p:val>
                                            <p:strVal val="#ppt_x"/>
                                          </p:val>
                                        </p:tav>
                                      </p:tavLst>
                                    </p:anim>
                                    <p:anim calcmode="lin" valueType="num">
                                      <p:cBhvr>
                                        <p:cTn id="68" dur="1000" fill="hold"/>
                                        <p:tgtEl>
                                          <p:spTgt spid="17"/>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18"/>
                                        </p:tgtEl>
                                        <p:attrNameLst>
                                          <p:attrName>style.visibility</p:attrName>
                                        </p:attrNameLst>
                                      </p:cBhvr>
                                      <p:to>
                                        <p:strVal val="visible"/>
                                      </p:to>
                                    </p:set>
                                    <p:animEffect transition="in" filter="fade">
                                      <p:cBhvr>
                                        <p:cTn id="71" dur="1000"/>
                                        <p:tgtEl>
                                          <p:spTgt spid="18"/>
                                        </p:tgtEl>
                                      </p:cBhvr>
                                    </p:animEffect>
                                    <p:anim calcmode="lin" valueType="num">
                                      <p:cBhvr>
                                        <p:cTn id="72" dur="1000" fill="hold"/>
                                        <p:tgtEl>
                                          <p:spTgt spid="18"/>
                                        </p:tgtEl>
                                        <p:attrNameLst>
                                          <p:attrName>ppt_x</p:attrName>
                                        </p:attrNameLst>
                                      </p:cBhvr>
                                      <p:tavLst>
                                        <p:tav tm="0">
                                          <p:val>
                                            <p:strVal val="#ppt_x"/>
                                          </p:val>
                                        </p:tav>
                                        <p:tav tm="100000">
                                          <p:val>
                                            <p:strVal val="#ppt_x"/>
                                          </p:val>
                                        </p:tav>
                                      </p:tavLst>
                                    </p:anim>
                                    <p:anim calcmode="lin" valueType="num">
                                      <p:cBhvr>
                                        <p:cTn id="73" dur="1000" fill="hold"/>
                                        <p:tgtEl>
                                          <p:spTgt spid="18"/>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19"/>
                                        </p:tgtEl>
                                        <p:attrNameLst>
                                          <p:attrName>style.visibility</p:attrName>
                                        </p:attrNameLst>
                                      </p:cBhvr>
                                      <p:to>
                                        <p:strVal val="visible"/>
                                      </p:to>
                                    </p:set>
                                    <p:animEffect transition="in" filter="fade">
                                      <p:cBhvr>
                                        <p:cTn id="76" dur="1000"/>
                                        <p:tgtEl>
                                          <p:spTgt spid="19"/>
                                        </p:tgtEl>
                                      </p:cBhvr>
                                    </p:animEffect>
                                    <p:anim calcmode="lin" valueType="num">
                                      <p:cBhvr>
                                        <p:cTn id="77" dur="1000" fill="hold"/>
                                        <p:tgtEl>
                                          <p:spTgt spid="19"/>
                                        </p:tgtEl>
                                        <p:attrNameLst>
                                          <p:attrName>ppt_x</p:attrName>
                                        </p:attrNameLst>
                                      </p:cBhvr>
                                      <p:tavLst>
                                        <p:tav tm="0">
                                          <p:val>
                                            <p:strVal val="#ppt_x"/>
                                          </p:val>
                                        </p:tav>
                                        <p:tav tm="100000">
                                          <p:val>
                                            <p:strVal val="#ppt_x"/>
                                          </p:val>
                                        </p:tav>
                                      </p:tavLst>
                                    </p:anim>
                                    <p:anim calcmode="lin" valueType="num">
                                      <p:cBhvr>
                                        <p:cTn id="78" dur="1000" fill="hold"/>
                                        <p:tgtEl>
                                          <p:spTgt spid="19"/>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fade">
                                      <p:cBhvr>
                                        <p:cTn id="81" dur="1000"/>
                                        <p:tgtEl>
                                          <p:spTgt spid="20"/>
                                        </p:tgtEl>
                                      </p:cBhvr>
                                    </p:animEffect>
                                    <p:anim calcmode="lin" valueType="num">
                                      <p:cBhvr>
                                        <p:cTn id="82" dur="1000" fill="hold"/>
                                        <p:tgtEl>
                                          <p:spTgt spid="20"/>
                                        </p:tgtEl>
                                        <p:attrNameLst>
                                          <p:attrName>ppt_x</p:attrName>
                                        </p:attrNameLst>
                                      </p:cBhvr>
                                      <p:tavLst>
                                        <p:tav tm="0">
                                          <p:val>
                                            <p:strVal val="#ppt_x"/>
                                          </p:val>
                                        </p:tav>
                                        <p:tav tm="100000">
                                          <p:val>
                                            <p:strVal val="#ppt_x"/>
                                          </p:val>
                                        </p:tav>
                                      </p:tavLst>
                                    </p:anim>
                                    <p:anim calcmode="lin" valueType="num">
                                      <p:cBhvr>
                                        <p:cTn id="83" dur="1000" fill="hold"/>
                                        <p:tgtEl>
                                          <p:spTgt spid="20"/>
                                        </p:tgtEl>
                                        <p:attrNameLst>
                                          <p:attrName>ppt_y</p:attrName>
                                        </p:attrNameLst>
                                      </p:cBhvr>
                                      <p:tavLst>
                                        <p:tav tm="0">
                                          <p:val>
                                            <p:strVal val="#ppt_y+.1"/>
                                          </p:val>
                                        </p:tav>
                                        <p:tav tm="100000">
                                          <p:val>
                                            <p:strVal val="#ppt_y"/>
                                          </p:val>
                                        </p:tav>
                                      </p:tavLst>
                                    </p:anim>
                                  </p:childTnLst>
                                </p:cTn>
                              </p:par>
                              <p:par>
                                <p:cTn id="84" presetID="42" presetClass="entr" presetSubtype="0" fill="hold" nodeType="withEffect">
                                  <p:stCondLst>
                                    <p:cond delay="0"/>
                                  </p:stCondLst>
                                  <p:childTnLst>
                                    <p:set>
                                      <p:cBhvr>
                                        <p:cTn id="85" dur="1" fill="hold">
                                          <p:stCondLst>
                                            <p:cond delay="0"/>
                                          </p:stCondLst>
                                        </p:cTn>
                                        <p:tgtEl>
                                          <p:spTgt spid="22"/>
                                        </p:tgtEl>
                                        <p:attrNameLst>
                                          <p:attrName>style.visibility</p:attrName>
                                        </p:attrNameLst>
                                      </p:cBhvr>
                                      <p:to>
                                        <p:strVal val="visible"/>
                                      </p:to>
                                    </p:set>
                                    <p:animEffect transition="in" filter="fade">
                                      <p:cBhvr>
                                        <p:cTn id="86" dur="1000"/>
                                        <p:tgtEl>
                                          <p:spTgt spid="22"/>
                                        </p:tgtEl>
                                      </p:cBhvr>
                                    </p:animEffect>
                                    <p:anim calcmode="lin" valueType="num">
                                      <p:cBhvr>
                                        <p:cTn id="87" dur="1000" fill="hold"/>
                                        <p:tgtEl>
                                          <p:spTgt spid="22"/>
                                        </p:tgtEl>
                                        <p:attrNameLst>
                                          <p:attrName>ppt_x</p:attrName>
                                        </p:attrNameLst>
                                      </p:cBhvr>
                                      <p:tavLst>
                                        <p:tav tm="0">
                                          <p:val>
                                            <p:strVal val="#ppt_x"/>
                                          </p:val>
                                        </p:tav>
                                        <p:tav tm="100000">
                                          <p:val>
                                            <p:strVal val="#ppt_x"/>
                                          </p:val>
                                        </p:tav>
                                      </p:tavLst>
                                    </p:anim>
                                    <p:anim calcmode="lin" valueType="num">
                                      <p:cBhvr>
                                        <p:cTn id="88" dur="1000" fill="hold"/>
                                        <p:tgtEl>
                                          <p:spTgt spid="22"/>
                                        </p:tgtEl>
                                        <p:attrNameLst>
                                          <p:attrName>ppt_y</p:attrName>
                                        </p:attrNameLst>
                                      </p:cBhvr>
                                      <p:tavLst>
                                        <p:tav tm="0">
                                          <p:val>
                                            <p:strVal val="#ppt_y+.1"/>
                                          </p:val>
                                        </p:tav>
                                        <p:tav tm="100000">
                                          <p:val>
                                            <p:strVal val="#ppt_y"/>
                                          </p:val>
                                        </p:tav>
                                      </p:tavLst>
                                    </p:anim>
                                  </p:childTnLst>
                                </p:cTn>
                              </p:par>
                              <p:par>
                                <p:cTn id="89" presetID="42" presetClass="entr" presetSubtype="0" fill="hold" nodeType="withEffect">
                                  <p:stCondLst>
                                    <p:cond delay="0"/>
                                  </p:stCondLst>
                                  <p:childTnLst>
                                    <p:set>
                                      <p:cBhvr>
                                        <p:cTn id="90" dur="1" fill="hold">
                                          <p:stCondLst>
                                            <p:cond delay="0"/>
                                          </p:stCondLst>
                                        </p:cTn>
                                        <p:tgtEl>
                                          <p:spTgt spid="23"/>
                                        </p:tgtEl>
                                        <p:attrNameLst>
                                          <p:attrName>style.visibility</p:attrName>
                                        </p:attrNameLst>
                                      </p:cBhvr>
                                      <p:to>
                                        <p:strVal val="visible"/>
                                      </p:to>
                                    </p:set>
                                    <p:animEffect transition="in" filter="fade">
                                      <p:cBhvr>
                                        <p:cTn id="91" dur="1000"/>
                                        <p:tgtEl>
                                          <p:spTgt spid="23"/>
                                        </p:tgtEl>
                                      </p:cBhvr>
                                    </p:animEffect>
                                    <p:anim calcmode="lin" valueType="num">
                                      <p:cBhvr>
                                        <p:cTn id="92" dur="1000" fill="hold"/>
                                        <p:tgtEl>
                                          <p:spTgt spid="23"/>
                                        </p:tgtEl>
                                        <p:attrNameLst>
                                          <p:attrName>ppt_x</p:attrName>
                                        </p:attrNameLst>
                                      </p:cBhvr>
                                      <p:tavLst>
                                        <p:tav tm="0">
                                          <p:val>
                                            <p:strVal val="#ppt_x"/>
                                          </p:val>
                                        </p:tav>
                                        <p:tav tm="100000">
                                          <p:val>
                                            <p:strVal val="#ppt_x"/>
                                          </p:val>
                                        </p:tav>
                                      </p:tavLst>
                                    </p:anim>
                                    <p:anim calcmode="lin" valueType="num">
                                      <p:cBhvr>
                                        <p:cTn id="93" dur="1000" fill="hold"/>
                                        <p:tgtEl>
                                          <p:spTgt spid="23"/>
                                        </p:tgtEl>
                                        <p:attrNameLst>
                                          <p:attrName>ppt_y</p:attrName>
                                        </p:attrNameLst>
                                      </p:cBhvr>
                                      <p:tavLst>
                                        <p:tav tm="0">
                                          <p:val>
                                            <p:strVal val="#ppt_y+.1"/>
                                          </p:val>
                                        </p:tav>
                                        <p:tav tm="100000">
                                          <p:val>
                                            <p:strVal val="#ppt_y"/>
                                          </p:val>
                                        </p:tav>
                                      </p:tavLst>
                                    </p:anim>
                                  </p:childTnLst>
                                </p:cTn>
                              </p:par>
                              <p:par>
                                <p:cTn id="94" presetID="42" presetClass="entr" presetSubtype="0" fill="hold" nodeType="withEffect">
                                  <p:stCondLst>
                                    <p:cond delay="0"/>
                                  </p:stCondLst>
                                  <p:childTnLst>
                                    <p:set>
                                      <p:cBhvr>
                                        <p:cTn id="95" dur="1" fill="hold">
                                          <p:stCondLst>
                                            <p:cond delay="0"/>
                                          </p:stCondLst>
                                        </p:cTn>
                                        <p:tgtEl>
                                          <p:spTgt spid="24"/>
                                        </p:tgtEl>
                                        <p:attrNameLst>
                                          <p:attrName>style.visibility</p:attrName>
                                        </p:attrNameLst>
                                      </p:cBhvr>
                                      <p:to>
                                        <p:strVal val="visible"/>
                                      </p:to>
                                    </p:set>
                                    <p:animEffect transition="in" filter="fade">
                                      <p:cBhvr>
                                        <p:cTn id="96" dur="1000"/>
                                        <p:tgtEl>
                                          <p:spTgt spid="24"/>
                                        </p:tgtEl>
                                      </p:cBhvr>
                                    </p:animEffect>
                                    <p:anim calcmode="lin" valueType="num">
                                      <p:cBhvr>
                                        <p:cTn id="97" dur="1000" fill="hold"/>
                                        <p:tgtEl>
                                          <p:spTgt spid="24"/>
                                        </p:tgtEl>
                                        <p:attrNameLst>
                                          <p:attrName>ppt_x</p:attrName>
                                        </p:attrNameLst>
                                      </p:cBhvr>
                                      <p:tavLst>
                                        <p:tav tm="0">
                                          <p:val>
                                            <p:strVal val="#ppt_x"/>
                                          </p:val>
                                        </p:tav>
                                        <p:tav tm="100000">
                                          <p:val>
                                            <p:strVal val="#ppt_x"/>
                                          </p:val>
                                        </p:tav>
                                      </p:tavLst>
                                    </p:anim>
                                    <p:anim calcmode="lin" valueType="num">
                                      <p:cBhvr>
                                        <p:cTn id="98" dur="1000" fill="hold"/>
                                        <p:tgtEl>
                                          <p:spTgt spid="24"/>
                                        </p:tgtEl>
                                        <p:attrNameLst>
                                          <p:attrName>ppt_y</p:attrName>
                                        </p:attrNameLst>
                                      </p:cBhvr>
                                      <p:tavLst>
                                        <p:tav tm="0">
                                          <p:val>
                                            <p:strVal val="#ppt_y+.1"/>
                                          </p:val>
                                        </p:tav>
                                        <p:tav tm="100000">
                                          <p:val>
                                            <p:strVal val="#ppt_y"/>
                                          </p:val>
                                        </p:tav>
                                      </p:tavLst>
                                    </p:anim>
                                  </p:childTnLst>
                                </p:cTn>
                              </p:par>
                              <p:par>
                                <p:cTn id="99" presetID="42" presetClass="entr" presetSubtype="0" fill="hold" nodeType="withEffect">
                                  <p:stCondLst>
                                    <p:cond delay="0"/>
                                  </p:stCondLst>
                                  <p:childTnLst>
                                    <p:set>
                                      <p:cBhvr>
                                        <p:cTn id="100" dur="1" fill="hold">
                                          <p:stCondLst>
                                            <p:cond delay="0"/>
                                          </p:stCondLst>
                                        </p:cTn>
                                        <p:tgtEl>
                                          <p:spTgt spid="28"/>
                                        </p:tgtEl>
                                        <p:attrNameLst>
                                          <p:attrName>style.visibility</p:attrName>
                                        </p:attrNameLst>
                                      </p:cBhvr>
                                      <p:to>
                                        <p:strVal val="visible"/>
                                      </p:to>
                                    </p:set>
                                    <p:animEffect transition="in" filter="fade">
                                      <p:cBhvr>
                                        <p:cTn id="101" dur="1000"/>
                                        <p:tgtEl>
                                          <p:spTgt spid="28"/>
                                        </p:tgtEl>
                                      </p:cBhvr>
                                    </p:animEffect>
                                    <p:anim calcmode="lin" valueType="num">
                                      <p:cBhvr>
                                        <p:cTn id="102" dur="1000" fill="hold"/>
                                        <p:tgtEl>
                                          <p:spTgt spid="28"/>
                                        </p:tgtEl>
                                        <p:attrNameLst>
                                          <p:attrName>ppt_x</p:attrName>
                                        </p:attrNameLst>
                                      </p:cBhvr>
                                      <p:tavLst>
                                        <p:tav tm="0">
                                          <p:val>
                                            <p:strVal val="#ppt_x"/>
                                          </p:val>
                                        </p:tav>
                                        <p:tav tm="100000">
                                          <p:val>
                                            <p:strVal val="#ppt_x"/>
                                          </p:val>
                                        </p:tav>
                                      </p:tavLst>
                                    </p:anim>
                                    <p:anim calcmode="lin" valueType="num">
                                      <p:cBhvr>
                                        <p:cTn id="103" dur="1000" fill="hold"/>
                                        <p:tgtEl>
                                          <p:spTgt spid="28"/>
                                        </p:tgtEl>
                                        <p:attrNameLst>
                                          <p:attrName>ppt_y</p:attrName>
                                        </p:attrNameLst>
                                      </p:cBhvr>
                                      <p:tavLst>
                                        <p:tav tm="0">
                                          <p:val>
                                            <p:strVal val="#ppt_y+.1"/>
                                          </p:val>
                                        </p:tav>
                                        <p:tav tm="100000">
                                          <p:val>
                                            <p:strVal val="#ppt_y"/>
                                          </p:val>
                                        </p:tav>
                                      </p:tavLst>
                                    </p:anim>
                                  </p:childTnLst>
                                </p:cTn>
                              </p:par>
                              <p:par>
                                <p:cTn id="104" presetID="42" presetClass="entr" presetSubtype="0" fill="hold" nodeType="withEffect">
                                  <p:stCondLst>
                                    <p:cond delay="0"/>
                                  </p:stCondLst>
                                  <p:childTnLst>
                                    <p:set>
                                      <p:cBhvr>
                                        <p:cTn id="105" dur="1" fill="hold">
                                          <p:stCondLst>
                                            <p:cond delay="0"/>
                                          </p:stCondLst>
                                        </p:cTn>
                                        <p:tgtEl>
                                          <p:spTgt spid="31"/>
                                        </p:tgtEl>
                                        <p:attrNameLst>
                                          <p:attrName>style.visibility</p:attrName>
                                        </p:attrNameLst>
                                      </p:cBhvr>
                                      <p:to>
                                        <p:strVal val="visible"/>
                                      </p:to>
                                    </p:set>
                                    <p:animEffect transition="in" filter="fade">
                                      <p:cBhvr>
                                        <p:cTn id="106" dur="1000"/>
                                        <p:tgtEl>
                                          <p:spTgt spid="31"/>
                                        </p:tgtEl>
                                      </p:cBhvr>
                                    </p:animEffect>
                                    <p:anim calcmode="lin" valueType="num">
                                      <p:cBhvr>
                                        <p:cTn id="107" dur="1000" fill="hold"/>
                                        <p:tgtEl>
                                          <p:spTgt spid="31"/>
                                        </p:tgtEl>
                                        <p:attrNameLst>
                                          <p:attrName>ppt_x</p:attrName>
                                        </p:attrNameLst>
                                      </p:cBhvr>
                                      <p:tavLst>
                                        <p:tav tm="0">
                                          <p:val>
                                            <p:strVal val="#ppt_x"/>
                                          </p:val>
                                        </p:tav>
                                        <p:tav tm="100000">
                                          <p:val>
                                            <p:strVal val="#ppt_x"/>
                                          </p:val>
                                        </p:tav>
                                      </p:tavLst>
                                    </p:anim>
                                    <p:anim calcmode="lin" valueType="num">
                                      <p:cBhvr>
                                        <p:cTn id="108" dur="1000" fill="hold"/>
                                        <p:tgtEl>
                                          <p:spTgt spid="31"/>
                                        </p:tgtEl>
                                        <p:attrNameLst>
                                          <p:attrName>ppt_y</p:attrName>
                                        </p:attrNameLst>
                                      </p:cBhvr>
                                      <p:tavLst>
                                        <p:tav tm="0">
                                          <p:val>
                                            <p:strVal val="#ppt_y+.1"/>
                                          </p:val>
                                        </p:tav>
                                        <p:tav tm="100000">
                                          <p:val>
                                            <p:strVal val="#ppt_y"/>
                                          </p:val>
                                        </p:tav>
                                      </p:tavLst>
                                    </p:anim>
                                  </p:childTnLst>
                                </p:cTn>
                              </p:par>
                              <p:par>
                                <p:cTn id="109" presetID="42" presetClass="entr" presetSubtype="0" fill="hold" nodeType="withEffect">
                                  <p:stCondLst>
                                    <p:cond delay="0"/>
                                  </p:stCondLst>
                                  <p:childTnLst>
                                    <p:set>
                                      <p:cBhvr>
                                        <p:cTn id="110" dur="1" fill="hold">
                                          <p:stCondLst>
                                            <p:cond delay="0"/>
                                          </p:stCondLst>
                                        </p:cTn>
                                        <p:tgtEl>
                                          <p:spTgt spid="33"/>
                                        </p:tgtEl>
                                        <p:attrNameLst>
                                          <p:attrName>style.visibility</p:attrName>
                                        </p:attrNameLst>
                                      </p:cBhvr>
                                      <p:to>
                                        <p:strVal val="visible"/>
                                      </p:to>
                                    </p:set>
                                    <p:animEffect transition="in" filter="fade">
                                      <p:cBhvr>
                                        <p:cTn id="111" dur="1000"/>
                                        <p:tgtEl>
                                          <p:spTgt spid="33"/>
                                        </p:tgtEl>
                                      </p:cBhvr>
                                    </p:animEffect>
                                    <p:anim calcmode="lin" valueType="num">
                                      <p:cBhvr>
                                        <p:cTn id="112" dur="1000" fill="hold"/>
                                        <p:tgtEl>
                                          <p:spTgt spid="33"/>
                                        </p:tgtEl>
                                        <p:attrNameLst>
                                          <p:attrName>ppt_x</p:attrName>
                                        </p:attrNameLst>
                                      </p:cBhvr>
                                      <p:tavLst>
                                        <p:tav tm="0">
                                          <p:val>
                                            <p:strVal val="#ppt_x"/>
                                          </p:val>
                                        </p:tav>
                                        <p:tav tm="100000">
                                          <p:val>
                                            <p:strVal val="#ppt_x"/>
                                          </p:val>
                                        </p:tav>
                                      </p:tavLst>
                                    </p:anim>
                                    <p:anim calcmode="lin" valueType="num">
                                      <p:cBhvr>
                                        <p:cTn id="113" dur="1000" fill="hold"/>
                                        <p:tgtEl>
                                          <p:spTgt spid="33"/>
                                        </p:tgtEl>
                                        <p:attrNameLst>
                                          <p:attrName>ppt_y</p:attrName>
                                        </p:attrNameLst>
                                      </p:cBhvr>
                                      <p:tavLst>
                                        <p:tav tm="0">
                                          <p:val>
                                            <p:strVal val="#ppt_y+.1"/>
                                          </p:val>
                                        </p:tav>
                                        <p:tav tm="100000">
                                          <p:val>
                                            <p:strVal val="#ppt_y"/>
                                          </p:val>
                                        </p:tav>
                                      </p:tavLst>
                                    </p:anim>
                                  </p:childTnLst>
                                </p:cTn>
                              </p:par>
                              <p:par>
                                <p:cTn id="114" presetID="42" presetClass="entr" presetSubtype="0" fill="hold" nodeType="withEffect">
                                  <p:stCondLst>
                                    <p:cond delay="0"/>
                                  </p:stCondLst>
                                  <p:childTnLst>
                                    <p:set>
                                      <p:cBhvr>
                                        <p:cTn id="115" dur="1" fill="hold">
                                          <p:stCondLst>
                                            <p:cond delay="0"/>
                                          </p:stCondLst>
                                        </p:cTn>
                                        <p:tgtEl>
                                          <p:spTgt spid="35"/>
                                        </p:tgtEl>
                                        <p:attrNameLst>
                                          <p:attrName>style.visibility</p:attrName>
                                        </p:attrNameLst>
                                      </p:cBhvr>
                                      <p:to>
                                        <p:strVal val="visible"/>
                                      </p:to>
                                    </p:set>
                                    <p:animEffect transition="in" filter="fade">
                                      <p:cBhvr>
                                        <p:cTn id="116" dur="1000"/>
                                        <p:tgtEl>
                                          <p:spTgt spid="35"/>
                                        </p:tgtEl>
                                      </p:cBhvr>
                                    </p:animEffect>
                                    <p:anim calcmode="lin" valueType="num">
                                      <p:cBhvr>
                                        <p:cTn id="117" dur="1000" fill="hold"/>
                                        <p:tgtEl>
                                          <p:spTgt spid="35"/>
                                        </p:tgtEl>
                                        <p:attrNameLst>
                                          <p:attrName>ppt_x</p:attrName>
                                        </p:attrNameLst>
                                      </p:cBhvr>
                                      <p:tavLst>
                                        <p:tav tm="0">
                                          <p:val>
                                            <p:strVal val="#ppt_x"/>
                                          </p:val>
                                        </p:tav>
                                        <p:tav tm="100000">
                                          <p:val>
                                            <p:strVal val="#ppt_x"/>
                                          </p:val>
                                        </p:tav>
                                      </p:tavLst>
                                    </p:anim>
                                    <p:anim calcmode="lin" valueType="num">
                                      <p:cBhvr>
                                        <p:cTn id="118" dur="1000" fill="hold"/>
                                        <p:tgtEl>
                                          <p:spTgt spid="35"/>
                                        </p:tgtEl>
                                        <p:attrNameLst>
                                          <p:attrName>ppt_y</p:attrName>
                                        </p:attrNameLst>
                                      </p:cBhvr>
                                      <p:tavLst>
                                        <p:tav tm="0">
                                          <p:val>
                                            <p:strVal val="#ppt_y+.1"/>
                                          </p:val>
                                        </p:tav>
                                        <p:tav tm="100000">
                                          <p:val>
                                            <p:strVal val="#ppt_y"/>
                                          </p:val>
                                        </p:tav>
                                      </p:tavLst>
                                    </p:anim>
                                  </p:childTnLst>
                                </p:cTn>
                              </p:par>
                              <p:par>
                                <p:cTn id="119" presetID="42" presetClass="entr" presetSubtype="0" fill="hold" nodeType="withEffect">
                                  <p:stCondLst>
                                    <p:cond delay="0"/>
                                  </p:stCondLst>
                                  <p:childTnLst>
                                    <p:set>
                                      <p:cBhvr>
                                        <p:cTn id="120" dur="1" fill="hold">
                                          <p:stCondLst>
                                            <p:cond delay="0"/>
                                          </p:stCondLst>
                                        </p:cTn>
                                        <p:tgtEl>
                                          <p:spTgt spid="37"/>
                                        </p:tgtEl>
                                        <p:attrNameLst>
                                          <p:attrName>style.visibility</p:attrName>
                                        </p:attrNameLst>
                                      </p:cBhvr>
                                      <p:to>
                                        <p:strVal val="visible"/>
                                      </p:to>
                                    </p:set>
                                    <p:animEffect transition="in" filter="fade">
                                      <p:cBhvr>
                                        <p:cTn id="121" dur="1000"/>
                                        <p:tgtEl>
                                          <p:spTgt spid="37"/>
                                        </p:tgtEl>
                                      </p:cBhvr>
                                    </p:animEffect>
                                    <p:anim calcmode="lin" valueType="num">
                                      <p:cBhvr>
                                        <p:cTn id="122" dur="1000" fill="hold"/>
                                        <p:tgtEl>
                                          <p:spTgt spid="37"/>
                                        </p:tgtEl>
                                        <p:attrNameLst>
                                          <p:attrName>ppt_x</p:attrName>
                                        </p:attrNameLst>
                                      </p:cBhvr>
                                      <p:tavLst>
                                        <p:tav tm="0">
                                          <p:val>
                                            <p:strVal val="#ppt_x"/>
                                          </p:val>
                                        </p:tav>
                                        <p:tav tm="100000">
                                          <p:val>
                                            <p:strVal val="#ppt_x"/>
                                          </p:val>
                                        </p:tav>
                                      </p:tavLst>
                                    </p:anim>
                                    <p:anim calcmode="lin" valueType="num">
                                      <p:cBhvr>
                                        <p:cTn id="123" dur="1000" fill="hold"/>
                                        <p:tgtEl>
                                          <p:spTgt spid="3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7" grpId="0" animBg="1"/>
      <p:bldP spid="18" grpId="0" animBg="1"/>
      <p:bldP spid="19" grpId="0" animBg="1"/>
      <p:bldP spid="20" grpId="0" animBg="1"/>
    </p:bld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15">
            <a:extLst>
              <a:ext uri="{FF2B5EF4-FFF2-40B4-BE49-F238E27FC236}">
                <a16:creationId xmlns:a16="http://schemas.microsoft.com/office/drawing/2014/main" xmlns="" id="{BFE9DF1E-A0C3-4E79-B812-9CA2D51930EF}"/>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16739" name="Picture 1">
            <a:extLst>
              <a:ext uri="{FF2B5EF4-FFF2-40B4-BE49-F238E27FC236}">
                <a16:creationId xmlns:a16="http://schemas.microsoft.com/office/drawing/2014/main" xmlns="" id="{293AE349-1E08-4A58-A8AA-CD94D2613A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40" name="Title 3">
            <a:extLst>
              <a:ext uri="{FF2B5EF4-FFF2-40B4-BE49-F238E27FC236}">
                <a16:creationId xmlns:a16="http://schemas.microsoft.com/office/drawing/2014/main" xmlns="" id="{D43FC0A1-BF65-4C79-B8DF-B70C432C8B80}"/>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16741" name="Rectangle 2">
            <a:extLst>
              <a:ext uri="{FF2B5EF4-FFF2-40B4-BE49-F238E27FC236}">
                <a16:creationId xmlns:a16="http://schemas.microsoft.com/office/drawing/2014/main" xmlns="" id="{02E1977C-A3A8-44A1-AFE8-726B489F5518}"/>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Recursive Relationship Type</a:t>
            </a:r>
          </a:p>
        </p:txBody>
      </p:sp>
      <p:sp>
        <p:nvSpPr>
          <p:cNvPr id="116742" name="Rectangle 1029">
            <a:extLst>
              <a:ext uri="{FF2B5EF4-FFF2-40B4-BE49-F238E27FC236}">
                <a16:creationId xmlns:a16="http://schemas.microsoft.com/office/drawing/2014/main" xmlns="" id="{C01B00B4-70FA-4DEF-919C-55BDC83EF1D9}"/>
              </a:ext>
            </a:extLst>
          </p:cNvPr>
          <p:cNvSpPr txBox="1">
            <a:spLocks noChangeArrowheads="1"/>
          </p:cNvSpPr>
          <p:nvPr/>
        </p:nvSpPr>
        <p:spPr bwMode="auto">
          <a:xfrm>
            <a:off x="657225" y="1143000"/>
            <a:ext cx="10898188"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a:latin typeface="Times New Roman" panose="02020603050405020304" pitchFamily="18" charset="0"/>
                <a:cs typeface="Times New Roman" panose="02020603050405020304" pitchFamily="18" charset="0"/>
              </a:rPr>
              <a:t>An relationship type whose with the same participating entity type in </a:t>
            </a:r>
            <a:r>
              <a:rPr lang="en-US" altLang="en-US" sz="2400" b="1">
                <a:latin typeface="Times New Roman" panose="02020603050405020304" pitchFamily="18" charset="0"/>
                <a:cs typeface="Times New Roman" panose="02020603050405020304" pitchFamily="18" charset="0"/>
              </a:rPr>
              <a:t>distinct roles</a:t>
            </a:r>
          </a:p>
          <a:p>
            <a:pPr algn="just"/>
            <a:r>
              <a:rPr lang="en-US" altLang="en-US" sz="2400">
                <a:latin typeface="Times New Roman" panose="02020603050405020304" pitchFamily="18" charset="0"/>
                <a:cs typeface="Times New Roman" panose="02020603050405020304" pitchFamily="18" charset="0"/>
              </a:rPr>
              <a:t>Example: the SUPERVISION relationship</a:t>
            </a:r>
          </a:p>
          <a:p>
            <a:pPr algn="just"/>
            <a:r>
              <a:rPr lang="en-US" altLang="en-US" sz="2400">
                <a:latin typeface="Times New Roman" panose="02020603050405020304" pitchFamily="18" charset="0"/>
                <a:cs typeface="Times New Roman" panose="02020603050405020304" pitchFamily="18" charset="0"/>
              </a:rPr>
              <a:t>EMPLOYEE participates twice in two distinct roles:</a:t>
            </a:r>
          </a:p>
          <a:p>
            <a:pPr lvl="1" algn="just"/>
            <a:r>
              <a:rPr lang="en-US" altLang="en-US">
                <a:latin typeface="Times New Roman" panose="02020603050405020304" pitchFamily="18" charset="0"/>
                <a:cs typeface="Times New Roman" panose="02020603050405020304" pitchFamily="18" charset="0"/>
              </a:rPr>
              <a:t>supervisor (or boss) role</a:t>
            </a:r>
          </a:p>
          <a:p>
            <a:pPr lvl="1" algn="just"/>
            <a:r>
              <a:rPr lang="en-US" altLang="en-US">
                <a:latin typeface="Times New Roman" panose="02020603050405020304" pitchFamily="18" charset="0"/>
                <a:cs typeface="Times New Roman" panose="02020603050405020304" pitchFamily="18" charset="0"/>
              </a:rPr>
              <a:t>supervisee (or subordinate) role</a:t>
            </a:r>
          </a:p>
          <a:p>
            <a:pPr algn="just"/>
            <a:r>
              <a:rPr lang="en-US" altLang="en-US" sz="2400">
                <a:latin typeface="Times New Roman" panose="02020603050405020304" pitchFamily="18" charset="0"/>
                <a:cs typeface="Times New Roman" panose="02020603050405020304" pitchFamily="18" charset="0"/>
              </a:rPr>
              <a:t>Each relationship instance relates two distinct EMPLOYEE entities:</a:t>
            </a:r>
          </a:p>
          <a:p>
            <a:pPr lvl="1" algn="just"/>
            <a:r>
              <a:rPr lang="en-US" altLang="en-US">
                <a:latin typeface="Times New Roman" panose="02020603050405020304" pitchFamily="18" charset="0"/>
                <a:cs typeface="Times New Roman" panose="02020603050405020304" pitchFamily="18" charset="0"/>
              </a:rPr>
              <a:t>One employee in </a:t>
            </a:r>
            <a:r>
              <a:rPr lang="en-US" altLang="en-US" i="1">
                <a:latin typeface="Times New Roman" panose="02020603050405020304" pitchFamily="18" charset="0"/>
                <a:cs typeface="Times New Roman" panose="02020603050405020304" pitchFamily="18" charset="0"/>
              </a:rPr>
              <a:t>supervisor</a:t>
            </a:r>
            <a:r>
              <a:rPr lang="en-US" altLang="en-US">
                <a:latin typeface="Times New Roman" panose="02020603050405020304" pitchFamily="18" charset="0"/>
                <a:cs typeface="Times New Roman" panose="02020603050405020304" pitchFamily="18" charset="0"/>
              </a:rPr>
              <a:t> role</a:t>
            </a:r>
          </a:p>
          <a:p>
            <a:pPr lvl="1" algn="just"/>
            <a:r>
              <a:rPr lang="en-US" altLang="en-US">
                <a:latin typeface="Times New Roman" panose="02020603050405020304" pitchFamily="18" charset="0"/>
                <a:cs typeface="Times New Roman" panose="02020603050405020304" pitchFamily="18" charset="0"/>
              </a:rPr>
              <a:t>One employee in </a:t>
            </a:r>
            <a:r>
              <a:rPr lang="en-US" altLang="en-US" i="1">
                <a:latin typeface="Times New Roman" panose="02020603050405020304" pitchFamily="18" charset="0"/>
                <a:cs typeface="Times New Roman" panose="02020603050405020304" pitchFamily="18" charset="0"/>
              </a:rPr>
              <a:t>supervisee</a:t>
            </a:r>
            <a:r>
              <a:rPr lang="en-US" altLang="en-US">
                <a:latin typeface="Times New Roman" panose="02020603050405020304" pitchFamily="18" charset="0"/>
                <a:cs typeface="Times New Roman" panose="02020603050405020304" pitchFamily="18" charset="0"/>
              </a:rPr>
              <a:t> role</a:t>
            </a:r>
          </a:p>
        </p:txBody>
      </p:sp>
    </p:spTree>
  </p:cSld>
  <p:clrMapOvr>
    <a:masterClrMapping/>
  </p:clrMapOvr>
  <p:transition spd="slow">
    <p:wip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15">
            <a:extLst>
              <a:ext uri="{FF2B5EF4-FFF2-40B4-BE49-F238E27FC236}">
                <a16:creationId xmlns:a16="http://schemas.microsoft.com/office/drawing/2014/main" xmlns="" id="{CDDF61F3-C4A9-43BE-A388-D833734E2CD3}"/>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21859" name="Picture 1">
            <a:extLst>
              <a:ext uri="{FF2B5EF4-FFF2-40B4-BE49-F238E27FC236}">
                <a16:creationId xmlns:a16="http://schemas.microsoft.com/office/drawing/2014/main" xmlns="" id="{CDCAEDEE-1040-45B2-91E9-79F9FE9599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Title 3">
            <a:extLst>
              <a:ext uri="{FF2B5EF4-FFF2-40B4-BE49-F238E27FC236}">
                <a16:creationId xmlns:a16="http://schemas.microsoft.com/office/drawing/2014/main" xmlns="" id="{994F95D1-08A5-49B7-BE71-6867BFB70DA8}"/>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18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800" b="1">
                <a:latin typeface="Times New Roman" panose="02020603050405020304" pitchFamily="18" charset="0"/>
                <a:cs typeface="Times New Roman" panose="02020603050405020304" pitchFamily="18" charset="0"/>
              </a:rPr>
              <a:t>Figure 3.13 A recursive relationship SUPERVISION between EMPLOYEE </a:t>
            </a:r>
          </a:p>
          <a:p>
            <a:pPr algn="ctr" eaLnBrk="1" hangingPunct="1">
              <a:lnSpc>
                <a:spcPct val="101000"/>
              </a:lnSpc>
              <a:spcBef>
                <a:spcPct val="0"/>
              </a:spcBef>
              <a:buFontTx/>
              <a:buNone/>
            </a:pPr>
            <a:r>
              <a:rPr lang="en-IN" altLang="en-US" sz="1800" b="1">
                <a:latin typeface="Times New Roman" panose="02020603050405020304" pitchFamily="18" charset="0"/>
                <a:cs typeface="Times New Roman" panose="02020603050405020304" pitchFamily="18" charset="0"/>
              </a:rPr>
              <a:t>in the supervisor role  (1) and EMPLOYEE in the subordinate role (2)</a:t>
            </a:r>
          </a:p>
          <a:p>
            <a:pPr algn="r" eaLnBrk="1" hangingPunct="1">
              <a:lnSpc>
                <a:spcPct val="101000"/>
              </a:lnSpc>
              <a:spcBef>
                <a:spcPct val="0"/>
              </a:spcBef>
              <a:buFontTx/>
              <a:buNone/>
            </a:pPr>
            <a:endParaRPr lang="en-IN" altLang="en-US" sz="1800" b="1">
              <a:latin typeface="Times New Roman" panose="02020603050405020304" pitchFamily="18" charset="0"/>
              <a:cs typeface="Times New Roman" panose="02020603050405020304" pitchFamily="18" charset="0"/>
            </a:endParaRPr>
          </a:p>
        </p:txBody>
      </p:sp>
      <p:sp>
        <p:nvSpPr>
          <p:cNvPr id="121861" name="Rectangle 2">
            <a:extLst>
              <a:ext uri="{FF2B5EF4-FFF2-40B4-BE49-F238E27FC236}">
                <a16:creationId xmlns:a16="http://schemas.microsoft.com/office/drawing/2014/main" xmlns="" id="{29832046-9051-43BF-8976-BE5C0D642361}"/>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A Recursive Relationship Supervision</a:t>
            </a:r>
          </a:p>
        </p:txBody>
      </p:sp>
      <p:pic>
        <p:nvPicPr>
          <p:cNvPr id="121862" name="Picture 7">
            <a:extLst>
              <a:ext uri="{FF2B5EF4-FFF2-40B4-BE49-F238E27FC236}">
                <a16:creationId xmlns:a16="http://schemas.microsoft.com/office/drawing/2014/main" xmlns="" id="{3B9E2528-313D-4B57-83F9-FB3B0CD6E0C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4475" y="954088"/>
            <a:ext cx="8656638" cy="441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15">
            <a:extLst>
              <a:ext uri="{FF2B5EF4-FFF2-40B4-BE49-F238E27FC236}">
                <a16:creationId xmlns:a16="http://schemas.microsoft.com/office/drawing/2014/main" xmlns="" id="{54394086-FDD1-4955-8B9C-1E81676D0614}"/>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17763" name="Picture 1">
            <a:extLst>
              <a:ext uri="{FF2B5EF4-FFF2-40B4-BE49-F238E27FC236}">
                <a16:creationId xmlns:a16="http://schemas.microsoft.com/office/drawing/2014/main" xmlns="" id="{9C7B3A1F-CD90-44E8-9359-AAA2AC5568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7764" name="Title 3">
            <a:extLst>
              <a:ext uri="{FF2B5EF4-FFF2-40B4-BE49-F238E27FC236}">
                <a16:creationId xmlns:a16="http://schemas.microsoft.com/office/drawing/2014/main" xmlns="" id="{DD35EF07-32AE-4BDD-93D1-7492BD3004DE}"/>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17765" name="Rectangle 2">
            <a:extLst>
              <a:ext uri="{FF2B5EF4-FFF2-40B4-BE49-F238E27FC236}">
                <a16:creationId xmlns:a16="http://schemas.microsoft.com/office/drawing/2014/main" xmlns="" id="{C363FD10-03F7-4895-9630-AC555ECE0B11}"/>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Weak Entity Types</a:t>
            </a:r>
          </a:p>
        </p:txBody>
      </p:sp>
      <p:sp>
        <p:nvSpPr>
          <p:cNvPr id="117766" name="Rectangle 2051">
            <a:extLst>
              <a:ext uri="{FF2B5EF4-FFF2-40B4-BE49-F238E27FC236}">
                <a16:creationId xmlns:a16="http://schemas.microsoft.com/office/drawing/2014/main" xmlns="" id="{07EDA50D-0273-4303-8F3D-9DAC60EDF074}"/>
              </a:ext>
            </a:extLst>
          </p:cNvPr>
          <p:cNvSpPr txBox="1">
            <a:spLocks noChangeArrowheads="1"/>
          </p:cNvSpPr>
          <p:nvPr/>
        </p:nvSpPr>
        <p:spPr bwMode="auto">
          <a:xfrm>
            <a:off x="744538" y="998538"/>
            <a:ext cx="10672762"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dirty="0">
                <a:latin typeface="Times New Roman" panose="02020603050405020304" pitchFamily="18" charset="0"/>
                <a:cs typeface="Times New Roman" panose="02020603050405020304" pitchFamily="18" charset="0"/>
              </a:rPr>
              <a:t>An entity that does not have a key attribute</a:t>
            </a:r>
          </a:p>
          <a:p>
            <a:pPr algn="just"/>
            <a:r>
              <a:rPr lang="en-US" altLang="en-US" sz="2400" dirty="0">
                <a:latin typeface="Times New Roman" panose="02020603050405020304" pitchFamily="18" charset="0"/>
                <a:cs typeface="Times New Roman" panose="02020603050405020304" pitchFamily="18" charset="0"/>
              </a:rPr>
              <a:t>A weak entity must participate in an identifying relationship type with an owner or identifying entity type</a:t>
            </a:r>
          </a:p>
          <a:p>
            <a:pPr algn="just"/>
            <a:r>
              <a:rPr lang="en-US" altLang="en-US" sz="2400" dirty="0">
                <a:latin typeface="Times New Roman" panose="02020603050405020304" pitchFamily="18" charset="0"/>
                <a:cs typeface="Times New Roman" panose="02020603050405020304" pitchFamily="18" charset="0"/>
              </a:rPr>
              <a:t>Entities are identified by the combination of:</a:t>
            </a:r>
          </a:p>
          <a:p>
            <a:pPr lvl="1" algn="just"/>
            <a:r>
              <a:rPr lang="en-US" altLang="en-US" dirty="0">
                <a:latin typeface="Times New Roman" panose="02020603050405020304" pitchFamily="18" charset="0"/>
                <a:cs typeface="Times New Roman" panose="02020603050405020304" pitchFamily="18" charset="0"/>
              </a:rPr>
              <a:t>A partial key of the weak entity type</a:t>
            </a:r>
          </a:p>
          <a:p>
            <a:pPr lvl="1" algn="just"/>
            <a:r>
              <a:rPr lang="en-US" altLang="en-US" dirty="0">
                <a:latin typeface="Times New Roman" panose="02020603050405020304" pitchFamily="18" charset="0"/>
                <a:cs typeface="Times New Roman" panose="02020603050405020304" pitchFamily="18" charset="0"/>
              </a:rPr>
              <a:t>The particular entity they are related to the </a:t>
            </a:r>
            <a:r>
              <a:rPr lang="en-US" altLang="en-US" b="1" dirty="0">
                <a:solidFill>
                  <a:srgbClr val="FF0000"/>
                </a:solidFill>
                <a:latin typeface="Times New Roman" panose="02020603050405020304" pitchFamily="18" charset="0"/>
                <a:cs typeface="Times New Roman" panose="02020603050405020304" pitchFamily="18" charset="0"/>
              </a:rPr>
              <a:t>identifying entity type/owner entity type</a:t>
            </a:r>
          </a:p>
          <a:p>
            <a:pPr algn="just"/>
            <a:r>
              <a:rPr lang="en-US" altLang="en-US" sz="2400" b="1" dirty="0">
                <a:latin typeface="Times New Roman" panose="02020603050405020304" pitchFamily="18" charset="0"/>
                <a:cs typeface="Times New Roman" panose="02020603050405020304" pitchFamily="18" charset="0"/>
              </a:rPr>
              <a:t>Example: </a:t>
            </a:r>
          </a:p>
          <a:p>
            <a:pPr lvl="1" algn="just"/>
            <a:r>
              <a:rPr lang="en-US" altLang="en-US" dirty="0">
                <a:latin typeface="Times New Roman" panose="02020603050405020304" pitchFamily="18" charset="0"/>
                <a:cs typeface="Times New Roman" panose="02020603050405020304" pitchFamily="18" charset="0"/>
              </a:rPr>
              <a:t>A DEPENDENT entity is identified by the dependent’s first name, </a:t>
            </a:r>
            <a:r>
              <a:rPr lang="en-US" altLang="en-US" i="1" dirty="0">
                <a:latin typeface="Times New Roman" panose="02020603050405020304" pitchFamily="18" charset="0"/>
                <a:cs typeface="Times New Roman" panose="02020603050405020304" pitchFamily="18" charset="0"/>
              </a:rPr>
              <a:t>and</a:t>
            </a:r>
            <a:r>
              <a:rPr lang="en-US" altLang="en-US" dirty="0">
                <a:latin typeface="Times New Roman" panose="02020603050405020304" pitchFamily="18" charset="0"/>
                <a:cs typeface="Times New Roman" panose="02020603050405020304" pitchFamily="18" charset="0"/>
              </a:rPr>
              <a:t> the specific EMPLOYEE with whom the dependent is related</a:t>
            </a:r>
          </a:p>
          <a:p>
            <a:pPr lvl="1" algn="just"/>
            <a:r>
              <a:rPr lang="en-US" altLang="en-US" dirty="0">
                <a:latin typeface="Times New Roman" panose="02020603050405020304" pitchFamily="18" charset="0"/>
                <a:cs typeface="Times New Roman" panose="02020603050405020304" pitchFamily="18" charset="0"/>
              </a:rPr>
              <a:t>Name of DEPENDENT is the </a:t>
            </a:r>
            <a:r>
              <a:rPr lang="en-US" altLang="en-US" i="1" dirty="0">
                <a:latin typeface="Times New Roman" panose="02020603050405020304" pitchFamily="18" charset="0"/>
                <a:cs typeface="Times New Roman" panose="02020603050405020304" pitchFamily="18" charset="0"/>
              </a:rPr>
              <a:t>partial key</a:t>
            </a:r>
          </a:p>
          <a:p>
            <a:pPr lvl="1" algn="just"/>
            <a:r>
              <a:rPr lang="en-US" altLang="en-US" dirty="0">
                <a:latin typeface="Times New Roman" panose="02020603050405020304" pitchFamily="18" charset="0"/>
                <a:cs typeface="Times New Roman" panose="02020603050405020304" pitchFamily="18" charset="0"/>
              </a:rPr>
              <a:t>DEPENDENT is a </a:t>
            </a:r>
            <a:r>
              <a:rPr lang="en-US" altLang="en-US" i="1" dirty="0">
                <a:latin typeface="Times New Roman" panose="02020603050405020304" pitchFamily="18" charset="0"/>
                <a:cs typeface="Times New Roman" panose="02020603050405020304" pitchFamily="18" charset="0"/>
              </a:rPr>
              <a:t>weak entity type</a:t>
            </a:r>
          </a:p>
          <a:p>
            <a:pPr lvl="1" algn="just"/>
            <a:r>
              <a:rPr lang="en-US" altLang="en-US" dirty="0">
                <a:latin typeface="Times New Roman" panose="02020603050405020304" pitchFamily="18" charset="0"/>
                <a:cs typeface="Times New Roman" panose="02020603050405020304" pitchFamily="18" charset="0"/>
              </a:rPr>
              <a:t>EMPLOYEE is its identifying entity type via the identifying relationship type DEPENDENT_OF</a:t>
            </a:r>
          </a:p>
        </p:txBody>
      </p:sp>
    </p:spTree>
  </p:cSld>
  <p:clrMapOvr>
    <a:masterClrMapping/>
  </p:clrMapOvr>
  <p:transition spd="slow">
    <p:wip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30DBA30-74A6-461B-95B0-B961B8D481D7}"/>
              </a:ext>
            </a:extLst>
          </p:cNvPr>
          <p:cNvSpPr>
            <a:spLocks noGrp="1"/>
          </p:cNvSpPr>
          <p:nvPr>
            <p:ph type="title"/>
          </p:nvPr>
        </p:nvSpPr>
        <p:spPr/>
        <p:txBody>
          <a:bodyPr/>
          <a:lstStyle/>
          <a:p>
            <a:r>
              <a:rPr lang="en-IN" dirty="0"/>
              <a:t>DEPENDENTS_OF - Identifying Relation </a:t>
            </a:r>
          </a:p>
        </p:txBody>
      </p:sp>
      <p:sp>
        <p:nvSpPr>
          <p:cNvPr id="3" name="Content Placeholder 2">
            <a:extLst>
              <a:ext uri="{FF2B5EF4-FFF2-40B4-BE49-F238E27FC236}">
                <a16:creationId xmlns:a16="http://schemas.microsoft.com/office/drawing/2014/main" xmlns="" id="{219D218F-E4C6-4E45-92A8-987CA1A29575}"/>
              </a:ext>
            </a:extLst>
          </p:cNvPr>
          <p:cNvSpPr>
            <a:spLocks noGrp="1"/>
          </p:cNvSpPr>
          <p:nvPr>
            <p:ph idx="1"/>
          </p:nvPr>
        </p:nvSpPr>
        <p:spPr/>
        <p:txBody>
          <a:bodyPr/>
          <a:lstStyle/>
          <a:p>
            <a:r>
              <a:rPr lang="en-IN" dirty="0"/>
              <a:t>DEPENDENTS_OF, a 1:N relationship type between EMPLOYEE and DEPENDENT, which is also the identifying relationship for the weak entity type DEPENDENT. </a:t>
            </a:r>
          </a:p>
          <a:p>
            <a:r>
              <a:rPr lang="en-IN" dirty="0"/>
              <a:t>The participation of EMPLOYEE is partial, whereas that of DEPENDENT is total</a:t>
            </a:r>
          </a:p>
        </p:txBody>
      </p:sp>
    </p:spTree>
    <p:extLst>
      <p:ext uri="{BB962C8B-B14F-4D97-AF65-F5344CB8AC3E}">
        <p14:creationId xmlns:p14="http://schemas.microsoft.com/office/powerpoint/2010/main" val="329387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15">
            <a:extLst>
              <a:ext uri="{FF2B5EF4-FFF2-40B4-BE49-F238E27FC236}">
                <a16:creationId xmlns:a16="http://schemas.microsoft.com/office/drawing/2014/main" xmlns="" id="{340DD823-2468-45F8-B929-49A1F09A0D29}"/>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24931" name="Picture 1">
            <a:extLst>
              <a:ext uri="{FF2B5EF4-FFF2-40B4-BE49-F238E27FC236}">
                <a16:creationId xmlns:a16="http://schemas.microsoft.com/office/drawing/2014/main" xmlns="" id="{6B81D689-BE01-4BB6-9AA0-DDE489B794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2" name="Title 3">
            <a:extLst>
              <a:ext uri="{FF2B5EF4-FFF2-40B4-BE49-F238E27FC236}">
                <a16:creationId xmlns:a16="http://schemas.microsoft.com/office/drawing/2014/main" xmlns="" id="{C7B16001-CCA9-4362-A4BD-21436B45E5E1}"/>
              </a:ext>
            </a:extLst>
          </p:cNvPr>
          <p:cNvSpPr txBox="1">
            <a:spLocks/>
          </p:cNvSpPr>
          <p:nvPr/>
        </p:nvSpPr>
        <p:spPr bwMode="auto">
          <a:xfrm>
            <a:off x="463550" y="852488"/>
            <a:ext cx="11353800" cy="560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800" b="1">
                <a:latin typeface="Times New Roman" panose="02020603050405020304" pitchFamily="18" charset="0"/>
                <a:cs typeface="Times New Roman" panose="02020603050405020304" pitchFamily="18" charset="0"/>
              </a:rPr>
              <a:t>Figure 3.14 Summary of the notation for ER diagram</a:t>
            </a:r>
          </a:p>
        </p:txBody>
      </p:sp>
      <p:sp>
        <p:nvSpPr>
          <p:cNvPr id="124933" name="Rectangle 2">
            <a:extLst>
              <a:ext uri="{FF2B5EF4-FFF2-40B4-BE49-F238E27FC236}">
                <a16:creationId xmlns:a16="http://schemas.microsoft.com/office/drawing/2014/main" xmlns="" id="{F9874F9E-B656-48EB-B835-7FC1BC1BECEE}"/>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Summary of notation for ER diagrams</a:t>
            </a:r>
          </a:p>
        </p:txBody>
      </p:sp>
      <p:pic>
        <p:nvPicPr>
          <p:cNvPr id="124934" name="Picture 7">
            <a:extLst>
              <a:ext uri="{FF2B5EF4-FFF2-40B4-BE49-F238E27FC236}">
                <a16:creationId xmlns:a16="http://schemas.microsoft.com/office/drawing/2014/main" xmlns="" id="{DC175B33-AB5A-4079-999E-B453FE056B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76525" y="923925"/>
            <a:ext cx="6838950" cy="5010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D3AF91A-4EFC-4D10-88DC-61E5D05F57F0}"/>
              </a:ext>
            </a:extLst>
          </p:cNvPr>
          <p:cNvSpPr>
            <a:spLocks noGrp="1"/>
          </p:cNvSpPr>
          <p:nvPr>
            <p:ph type="title"/>
          </p:nvPr>
        </p:nvSpPr>
        <p:spPr/>
        <p:txBody>
          <a:bodyPr/>
          <a:lstStyle/>
          <a:p>
            <a:r>
              <a:rPr lang="en-IN" dirty="0" err="1"/>
              <a:t>Works_For</a:t>
            </a:r>
            <a:endParaRPr lang="en-IN" dirty="0"/>
          </a:p>
        </p:txBody>
      </p:sp>
      <p:pic>
        <p:nvPicPr>
          <p:cNvPr id="9" name="Picture 8">
            <a:extLst>
              <a:ext uri="{FF2B5EF4-FFF2-40B4-BE49-F238E27FC236}">
                <a16:creationId xmlns:a16="http://schemas.microsoft.com/office/drawing/2014/main" xmlns="" id="{570EADF8-0E75-4510-9B2E-CBEC191E2515}"/>
              </a:ext>
            </a:extLst>
          </p:cNvPr>
          <p:cNvPicPr>
            <a:picLocks noChangeAspect="1"/>
          </p:cNvPicPr>
          <p:nvPr/>
        </p:nvPicPr>
        <p:blipFill>
          <a:blip r:embed="rId2"/>
          <a:stretch>
            <a:fillRect/>
          </a:stretch>
        </p:blipFill>
        <p:spPr>
          <a:xfrm>
            <a:off x="8474374" y="2476500"/>
            <a:ext cx="2276475" cy="1905000"/>
          </a:xfrm>
          <a:prstGeom prst="rect">
            <a:avLst/>
          </a:prstGeom>
        </p:spPr>
      </p:pic>
      <p:pic>
        <p:nvPicPr>
          <p:cNvPr id="12" name="Picture 11">
            <a:extLst>
              <a:ext uri="{FF2B5EF4-FFF2-40B4-BE49-F238E27FC236}">
                <a16:creationId xmlns:a16="http://schemas.microsoft.com/office/drawing/2014/main" xmlns="" id="{B0777C9A-5DA9-4A5F-85A6-4E8B1D5E3CC6}"/>
              </a:ext>
            </a:extLst>
          </p:cNvPr>
          <p:cNvPicPr>
            <a:picLocks noChangeAspect="1"/>
          </p:cNvPicPr>
          <p:nvPr/>
        </p:nvPicPr>
        <p:blipFill rotWithShape="1">
          <a:blip r:embed="rId3"/>
          <a:srcRect r="57925" b="42918"/>
          <a:stretch/>
        </p:blipFill>
        <p:spPr>
          <a:xfrm>
            <a:off x="1192676" y="1815905"/>
            <a:ext cx="3759151" cy="2522806"/>
          </a:xfrm>
          <a:prstGeom prst="rect">
            <a:avLst/>
          </a:prstGeom>
        </p:spPr>
      </p:pic>
      <p:sp>
        <p:nvSpPr>
          <p:cNvPr id="13" name="Diamond 12">
            <a:extLst>
              <a:ext uri="{FF2B5EF4-FFF2-40B4-BE49-F238E27FC236}">
                <a16:creationId xmlns:a16="http://schemas.microsoft.com/office/drawing/2014/main" xmlns="" id="{653C46AC-E581-4B85-9706-67C785FE9F3A}"/>
              </a:ext>
            </a:extLst>
          </p:cNvPr>
          <p:cNvSpPr/>
          <p:nvPr/>
        </p:nvSpPr>
        <p:spPr>
          <a:xfrm>
            <a:off x="5219114" y="3429000"/>
            <a:ext cx="2391507" cy="1044526"/>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a:t>Works_For</a:t>
            </a:r>
            <a:endParaRPr lang="en-IN" dirty="0"/>
          </a:p>
        </p:txBody>
      </p:sp>
      <p:cxnSp>
        <p:nvCxnSpPr>
          <p:cNvPr id="15" name="Straight Connector 14">
            <a:extLst>
              <a:ext uri="{FF2B5EF4-FFF2-40B4-BE49-F238E27FC236}">
                <a16:creationId xmlns:a16="http://schemas.microsoft.com/office/drawing/2014/main" xmlns="" id="{41985C84-A8B1-43D5-8756-7C1AE1D8E7C1}"/>
              </a:ext>
            </a:extLst>
          </p:cNvPr>
          <p:cNvCxnSpPr>
            <a:endCxn id="13" idx="1"/>
          </p:cNvCxnSpPr>
          <p:nvPr/>
        </p:nvCxnSpPr>
        <p:spPr>
          <a:xfrm flipV="1">
            <a:off x="3717627" y="3951263"/>
            <a:ext cx="1501487" cy="72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CE15EB27-E827-4CAF-B0E4-8A4C5D5431E7}"/>
              </a:ext>
            </a:extLst>
          </p:cNvPr>
          <p:cNvCxnSpPr/>
          <p:nvPr/>
        </p:nvCxnSpPr>
        <p:spPr>
          <a:xfrm flipV="1">
            <a:off x="3717626" y="4053840"/>
            <a:ext cx="1501487" cy="72097"/>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xmlns="" id="{616D9FE3-3EBB-43EF-96E4-4D4675C35ADC}"/>
              </a:ext>
            </a:extLst>
          </p:cNvPr>
          <p:cNvCxnSpPr>
            <a:cxnSpLocks/>
            <a:stCxn id="13" idx="3"/>
          </p:cNvCxnSpPr>
          <p:nvPr/>
        </p:nvCxnSpPr>
        <p:spPr>
          <a:xfrm>
            <a:off x="7610621" y="3951263"/>
            <a:ext cx="1131040" cy="36048"/>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xmlns="" id="{D20567E4-4927-4233-B801-FC567B61A275}"/>
              </a:ext>
            </a:extLst>
          </p:cNvPr>
          <p:cNvCxnSpPr>
            <a:cxnSpLocks/>
          </p:cNvCxnSpPr>
          <p:nvPr/>
        </p:nvCxnSpPr>
        <p:spPr>
          <a:xfrm>
            <a:off x="7641568" y="4035816"/>
            <a:ext cx="1131040" cy="36048"/>
          </a:xfrm>
          <a:prstGeom prst="line">
            <a:avLst/>
          </a:prstGeom>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xmlns="" id="{8563A5B2-8731-49CF-A745-5E94B189E7F6}"/>
              </a:ext>
            </a:extLst>
          </p:cNvPr>
          <p:cNvSpPr txBox="1"/>
          <p:nvPr/>
        </p:nvSpPr>
        <p:spPr>
          <a:xfrm>
            <a:off x="4107766" y="3671668"/>
            <a:ext cx="633046" cy="369332"/>
          </a:xfrm>
          <a:prstGeom prst="rect">
            <a:avLst/>
          </a:prstGeom>
          <a:noFill/>
        </p:spPr>
        <p:txBody>
          <a:bodyPr wrap="square" rtlCol="0">
            <a:spAutoFit/>
          </a:bodyPr>
          <a:lstStyle/>
          <a:p>
            <a:r>
              <a:rPr lang="en-IN" dirty="0"/>
              <a:t>N</a:t>
            </a:r>
          </a:p>
        </p:txBody>
      </p:sp>
      <p:sp>
        <p:nvSpPr>
          <p:cNvPr id="22" name="TextBox 21">
            <a:extLst>
              <a:ext uri="{FF2B5EF4-FFF2-40B4-BE49-F238E27FC236}">
                <a16:creationId xmlns:a16="http://schemas.microsoft.com/office/drawing/2014/main" xmlns="" id="{E67316DF-016E-4832-980F-77AE96D8C6F2}"/>
              </a:ext>
            </a:extLst>
          </p:cNvPr>
          <p:cNvSpPr txBox="1"/>
          <p:nvPr/>
        </p:nvSpPr>
        <p:spPr>
          <a:xfrm>
            <a:off x="7877908" y="3565519"/>
            <a:ext cx="633046" cy="369332"/>
          </a:xfrm>
          <a:prstGeom prst="rect">
            <a:avLst/>
          </a:prstGeom>
          <a:noFill/>
        </p:spPr>
        <p:txBody>
          <a:bodyPr wrap="square" rtlCol="0">
            <a:spAutoFit/>
          </a:bodyPr>
          <a:lstStyle/>
          <a:p>
            <a:r>
              <a:rPr lang="en-IN" dirty="0"/>
              <a:t>1</a:t>
            </a:r>
          </a:p>
        </p:txBody>
      </p:sp>
    </p:spTree>
    <p:extLst>
      <p:ext uri="{BB962C8B-B14F-4D97-AF65-F5344CB8AC3E}">
        <p14:creationId xmlns:p14="http://schemas.microsoft.com/office/powerpoint/2010/main" val="35539904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fade">
                                      <p:cBhvr>
                                        <p:cTn id="14" dur="1000"/>
                                        <p:tgtEl>
                                          <p:spTgt spid="9"/>
                                        </p:tgtEl>
                                      </p:cBhvr>
                                    </p:animEffect>
                                    <p:anim calcmode="lin" valueType="num">
                                      <p:cBhvr>
                                        <p:cTn id="15" dur="1000" fill="hold"/>
                                        <p:tgtEl>
                                          <p:spTgt spid="9"/>
                                        </p:tgtEl>
                                        <p:attrNameLst>
                                          <p:attrName>ppt_x</p:attrName>
                                        </p:attrNameLst>
                                      </p:cBhvr>
                                      <p:tavLst>
                                        <p:tav tm="0">
                                          <p:val>
                                            <p:strVal val="#ppt_x"/>
                                          </p:val>
                                        </p:tav>
                                        <p:tav tm="100000">
                                          <p:val>
                                            <p:strVal val="#ppt_x"/>
                                          </p:val>
                                        </p:tav>
                                      </p:tavLst>
                                    </p:anim>
                                    <p:anim calcmode="lin" valueType="num">
                                      <p:cBhvr>
                                        <p:cTn id="1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1000"/>
                                        <p:tgtEl>
                                          <p:spTgt spid="13"/>
                                        </p:tgtEl>
                                      </p:cBhvr>
                                    </p:animEffect>
                                    <p:anim calcmode="lin" valueType="num">
                                      <p:cBhvr>
                                        <p:cTn id="22" dur="1000" fill="hold"/>
                                        <p:tgtEl>
                                          <p:spTgt spid="13"/>
                                        </p:tgtEl>
                                        <p:attrNameLst>
                                          <p:attrName>ppt_x</p:attrName>
                                        </p:attrNameLst>
                                      </p:cBhvr>
                                      <p:tavLst>
                                        <p:tav tm="0">
                                          <p:val>
                                            <p:strVal val="#ppt_x"/>
                                          </p:val>
                                        </p:tav>
                                        <p:tav tm="100000">
                                          <p:val>
                                            <p:strVal val="#ppt_x"/>
                                          </p:val>
                                        </p:tav>
                                      </p:tavLst>
                                    </p:anim>
                                    <p:anim calcmode="lin" valueType="num">
                                      <p:cBhvr>
                                        <p:cTn id="2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fade">
                                      <p:cBhvr>
                                        <p:cTn id="28" dur="1000"/>
                                        <p:tgtEl>
                                          <p:spTgt spid="21"/>
                                        </p:tgtEl>
                                      </p:cBhvr>
                                    </p:animEffect>
                                    <p:anim calcmode="lin" valueType="num">
                                      <p:cBhvr>
                                        <p:cTn id="29" dur="1000" fill="hold"/>
                                        <p:tgtEl>
                                          <p:spTgt spid="21"/>
                                        </p:tgtEl>
                                        <p:attrNameLst>
                                          <p:attrName>ppt_x</p:attrName>
                                        </p:attrNameLst>
                                      </p:cBhvr>
                                      <p:tavLst>
                                        <p:tav tm="0">
                                          <p:val>
                                            <p:strVal val="#ppt_x"/>
                                          </p:val>
                                        </p:tav>
                                        <p:tav tm="100000">
                                          <p:val>
                                            <p:strVal val="#ppt_x"/>
                                          </p:val>
                                        </p:tav>
                                      </p:tavLst>
                                    </p:anim>
                                    <p:anim calcmode="lin" valueType="num">
                                      <p:cBhvr>
                                        <p:cTn id="30" dur="1000" fill="hold"/>
                                        <p:tgtEl>
                                          <p:spTgt spid="21"/>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fade">
                                      <p:cBhvr>
                                        <p:cTn id="33" dur="1000"/>
                                        <p:tgtEl>
                                          <p:spTgt spid="16"/>
                                        </p:tgtEl>
                                      </p:cBhvr>
                                    </p:animEffect>
                                    <p:anim calcmode="lin" valueType="num">
                                      <p:cBhvr>
                                        <p:cTn id="34" dur="1000" fill="hold"/>
                                        <p:tgtEl>
                                          <p:spTgt spid="16"/>
                                        </p:tgtEl>
                                        <p:attrNameLst>
                                          <p:attrName>ppt_x</p:attrName>
                                        </p:attrNameLst>
                                      </p:cBhvr>
                                      <p:tavLst>
                                        <p:tav tm="0">
                                          <p:val>
                                            <p:strVal val="#ppt_x"/>
                                          </p:val>
                                        </p:tav>
                                        <p:tav tm="100000">
                                          <p:val>
                                            <p:strVal val="#ppt_x"/>
                                          </p:val>
                                        </p:tav>
                                      </p:tavLst>
                                    </p:anim>
                                    <p:anim calcmode="lin" valueType="num">
                                      <p:cBhvr>
                                        <p:cTn id="35" dur="1000" fill="hold"/>
                                        <p:tgtEl>
                                          <p:spTgt spid="16"/>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1000"/>
                                        <p:tgtEl>
                                          <p:spTgt spid="15"/>
                                        </p:tgtEl>
                                      </p:cBhvr>
                                    </p:animEffect>
                                    <p:anim calcmode="lin" valueType="num">
                                      <p:cBhvr>
                                        <p:cTn id="39" dur="1000" fill="hold"/>
                                        <p:tgtEl>
                                          <p:spTgt spid="15"/>
                                        </p:tgtEl>
                                        <p:attrNameLst>
                                          <p:attrName>ppt_x</p:attrName>
                                        </p:attrNameLst>
                                      </p:cBhvr>
                                      <p:tavLst>
                                        <p:tav tm="0">
                                          <p:val>
                                            <p:strVal val="#ppt_x"/>
                                          </p:val>
                                        </p:tav>
                                        <p:tav tm="100000">
                                          <p:val>
                                            <p:strVal val="#ppt_x"/>
                                          </p:val>
                                        </p:tav>
                                      </p:tavLst>
                                    </p:anim>
                                    <p:anim calcmode="lin" valueType="num">
                                      <p:cBhvr>
                                        <p:cTn id="40" dur="1000" fill="hold"/>
                                        <p:tgtEl>
                                          <p:spTgt spid="15"/>
                                        </p:tgtEl>
                                        <p:attrNameLst>
                                          <p:attrName>ppt_y</p:attrName>
                                        </p:attrNameLst>
                                      </p:cBhvr>
                                      <p:tavLst>
                                        <p:tav tm="0">
                                          <p:val>
                                            <p:strVal val="#ppt_y+.1"/>
                                          </p:val>
                                        </p:tav>
                                        <p:tav tm="100000">
                                          <p:val>
                                            <p:strVal val="#ppt_y"/>
                                          </p:val>
                                        </p:tav>
                                      </p:tavLst>
                                    </p:anim>
                                  </p:childTnLst>
                                </p:cTn>
                              </p:par>
                              <p:par>
                                <p:cTn id="41" presetID="42" presetClass="entr" presetSubtype="0" fill="hold"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1000"/>
                                        <p:tgtEl>
                                          <p:spTgt spid="17"/>
                                        </p:tgtEl>
                                      </p:cBhvr>
                                    </p:animEffect>
                                    <p:anim calcmode="lin" valueType="num">
                                      <p:cBhvr>
                                        <p:cTn id="44" dur="1000" fill="hold"/>
                                        <p:tgtEl>
                                          <p:spTgt spid="17"/>
                                        </p:tgtEl>
                                        <p:attrNameLst>
                                          <p:attrName>ppt_x</p:attrName>
                                        </p:attrNameLst>
                                      </p:cBhvr>
                                      <p:tavLst>
                                        <p:tav tm="0">
                                          <p:val>
                                            <p:strVal val="#ppt_x"/>
                                          </p:val>
                                        </p:tav>
                                        <p:tav tm="100000">
                                          <p:val>
                                            <p:strVal val="#ppt_x"/>
                                          </p:val>
                                        </p:tav>
                                      </p:tavLst>
                                    </p:anim>
                                    <p:anim calcmode="lin" valueType="num">
                                      <p:cBhvr>
                                        <p:cTn id="45" dur="1000" fill="hold"/>
                                        <p:tgtEl>
                                          <p:spTgt spid="17"/>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20"/>
                                        </p:tgtEl>
                                        <p:attrNameLst>
                                          <p:attrName>style.visibility</p:attrName>
                                        </p:attrNameLst>
                                      </p:cBhvr>
                                      <p:to>
                                        <p:strVal val="visible"/>
                                      </p:to>
                                    </p:set>
                                    <p:animEffect transition="in" filter="fade">
                                      <p:cBhvr>
                                        <p:cTn id="48" dur="1000"/>
                                        <p:tgtEl>
                                          <p:spTgt spid="20"/>
                                        </p:tgtEl>
                                      </p:cBhvr>
                                    </p:animEffect>
                                    <p:anim calcmode="lin" valueType="num">
                                      <p:cBhvr>
                                        <p:cTn id="49" dur="1000" fill="hold"/>
                                        <p:tgtEl>
                                          <p:spTgt spid="20"/>
                                        </p:tgtEl>
                                        <p:attrNameLst>
                                          <p:attrName>ppt_x</p:attrName>
                                        </p:attrNameLst>
                                      </p:cBhvr>
                                      <p:tavLst>
                                        <p:tav tm="0">
                                          <p:val>
                                            <p:strVal val="#ppt_x"/>
                                          </p:val>
                                        </p:tav>
                                        <p:tav tm="100000">
                                          <p:val>
                                            <p:strVal val="#ppt_x"/>
                                          </p:val>
                                        </p:tav>
                                      </p:tavLst>
                                    </p:anim>
                                    <p:anim calcmode="lin" valueType="num">
                                      <p:cBhvr>
                                        <p:cTn id="50" dur="1000" fill="hold"/>
                                        <p:tgtEl>
                                          <p:spTgt spid="20"/>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22"/>
                                        </p:tgtEl>
                                        <p:attrNameLst>
                                          <p:attrName>style.visibility</p:attrName>
                                        </p:attrNameLst>
                                      </p:cBhvr>
                                      <p:to>
                                        <p:strVal val="visible"/>
                                      </p:to>
                                    </p:set>
                                    <p:animEffect transition="in" filter="fade">
                                      <p:cBhvr>
                                        <p:cTn id="53" dur="1000"/>
                                        <p:tgtEl>
                                          <p:spTgt spid="22"/>
                                        </p:tgtEl>
                                      </p:cBhvr>
                                    </p:animEffect>
                                    <p:anim calcmode="lin" valueType="num">
                                      <p:cBhvr>
                                        <p:cTn id="54" dur="1000" fill="hold"/>
                                        <p:tgtEl>
                                          <p:spTgt spid="22"/>
                                        </p:tgtEl>
                                        <p:attrNameLst>
                                          <p:attrName>ppt_x</p:attrName>
                                        </p:attrNameLst>
                                      </p:cBhvr>
                                      <p:tavLst>
                                        <p:tav tm="0">
                                          <p:val>
                                            <p:strVal val="#ppt_x"/>
                                          </p:val>
                                        </p:tav>
                                        <p:tav tm="100000">
                                          <p:val>
                                            <p:strVal val="#ppt_x"/>
                                          </p:val>
                                        </p:tav>
                                      </p:tavLst>
                                    </p:anim>
                                    <p:anim calcmode="lin" valueType="num">
                                      <p:cBhvr>
                                        <p:cTn id="55"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21" grpId="0"/>
      <p:bldP spid="22" grpId="0"/>
    </p:bld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xmlns="" id="{DF910E5A-2B98-4429-940A-156878B91A43}"/>
              </a:ext>
            </a:extLst>
          </p:cNvPr>
          <p:cNvPicPr>
            <a:picLocks noChangeAspect="1"/>
          </p:cNvPicPr>
          <p:nvPr/>
        </p:nvPicPr>
        <p:blipFill>
          <a:blip r:embed="rId2"/>
          <a:stretch>
            <a:fillRect/>
          </a:stretch>
        </p:blipFill>
        <p:spPr>
          <a:xfrm>
            <a:off x="7544702" y="3607116"/>
            <a:ext cx="3021238" cy="2205283"/>
          </a:xfrm>
          <a:prstGeom prst="rect">
            <a:avLst/>
          </a:prstGeom>
        </p:spPr>
      </p:pic>
      <p:pic>
        <p:nvPicPr>
          <p:cNvPr id="5" name="Content Placeholder 4">
            <a:extLst>
              <a:ext uri="{FF2B5EF4-FFF2-40B4-BE49-F238E27FC236}">
                <a16:creationId xmlns:a16="http://schemas.microsoft.com/office/drawing/2014/main" xmlns="" id="{938C629A-8010-4595-9F29-44BC339648B8}"/>
              </a:ext>
            </a:extLst>
          </p:cNvPr>
          <p:cNvPicPr>
            <a:picLocks noGrp="1" noChangeAspect="1"/>
          </p:cNvPicPr>
          <p:nvPr>
            <p:ph idx="1"/>
          </p:nvPr>
        </p:nvPicPr>
        <p:blipFill rotWithShape="1">
          <a:blip r:embed="rId3"/>
          <a:srcRect r="56541" b="43350"/>
          <a:stretch/>
        </p:blipFill>
        <p:spPr>
          <a:xfrm>
            <a:off x="1135064" y="1637958"/>
            <a:ext cx="3822828" cy="2465021"/>
          </a:xfrm>
        </p:spPr>
      </p:pic>
      <p:sp>
        <p:nvSpPr>
          <p:cNvPr id="2" name="Title 1">
            <a:extLst>
              <a:ext uri="{FF2B5EF4-FFF2-40B4-BE49-F238E27FC236}">
                <a16:creationId xmlns:a16="http://schemas.microsoft.com/office/drawing/2014/main" xmlns="" id="{243BFD0E-4A74-42DD-B01D-769742CC5307}"/>
              </a:ext>
            </a:extLst>
          </p:cNvPr>
          <p:cNvSpPr>
            <a:spLocks noGrp="1"/>
          </p:cNvSpPr>
          <p:nvPr>
            <p:ph type="title"/>
          </p:nvPr>
        </p:nvSpPr>
        <p:spPr>
          <a:xfrm>
            <a:off x="838200" y="365126"/>
            <a:ext cx="10515600" cy="1008552"/>
          </a:xfrm>
        </p:spPr>
        <p:txBody>
          <a:bodyPr/>
          <a:lstStyle/>
          <a:p>
            <a:r>
              <a:rPr lang="en-IN" dirty="0" err="1"/>
              <a:t>Works_on</a:t>
            </a:r>
            <a:endParaRPr lang="en-IN" dirty="0"/>
          </a:p>
        </p:txBody>
      </p:sp>
      <p:sp>
        <p:nvSpPr>
          <p:cNvPr id="8" name="Diamond 7">
            <a:extLst>
              <a:ext uri="{FF2B5EF4-FFF2-40B4-BE49-F238E27FC236}">
                <a16:creationId xmlns:a16="http://schemas.microsoft.com/office/drawing/2014/main" xmlns="" id="{0F451052-0FB4-4858-8325-50732BCEC4EA}"/>
              </a:ext>
            </a:extLst>
          </p:cNvPr>
          <p:cNvSpPr/>
          <p:nvPr/>
        </p:nvSpPr>
        <p:spPr>
          <a:xfrm>
            <a:off x="5077062" y="3302902"/>
            <a:ext cx="2437027" cy="1058594"/>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err="1"/>
              <a:t>Works_on</a:t>
            </a:r>
            <a:endParaRPr lang="en-IN" dirty="0"/>
          </a:p>
        </p:txBody>
      </p:sp>
      <p:cxnSp>
        <p:nvCxnSpPr>
          <p:cNvPr id="10" name="Straight Connector 9">
            <a:extLst>
              <a:ext uri="{FF2B5EF4-FFF2-40B4-BE49-F238E27FC236}">
                <a16:creationId xmlns:a16="http://schemas.microsoft.com/office/drawing/2014/main" xmlns="" id="{306DADD0-94F9-4DA5-B9A1-7B2EE6B01078}"/>
              </a:ext>
            </a:extLst>
          </p:cNvPr>
          <p:cNvCxnSpPr/>
          <p:nvPr/>
        </p:nvCxnSpPr>
        <p:spPr>
          <a:xfrm>
            <a:off x="3615397" y="3832199"/>
            <a:ext cx="14489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7865CD23-90C6-4C10-A1F4-774CB7A22438}"/>
              </a:ext>
            </a:extLst>
          </p:cNvPr>
          <p:cNvCxnSpPr/>
          <p:nvPr/>
        </p:nvCxnSpPr>
        <p:spPr>
          <a:xfrm>
            <a:off x="3615397" y="3938218"/>
            <a:ext cx="14489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134BA509-DFDF-433B-B796-8021659B8D08}"/>
              </a:ext>
            </a:extLst>
          </p:cNvPr>
          <p:cNvCxnSpPr>
            <a:cxnSpLocks/>
          </p:cNvCxnSpPr>
          <p:nvPr/>
        </p:nvCxnSpPr>
        <p:spPr>
          <a:xfrm>
            <a:off x="7544702" y="3832199"/>
            <a:ext cx="117726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6DA6F0C3-348D-4EA8-8747-93176A5016E9}"/>
              </a:ext>
            </a:extLst>
          </p:cNvPr>
          <p:cNvCxnSpPr>
            <a:cxnSpLocks/>
          </p:cNvCxnSpPr>
          <p:nvPr/>
        </p:nvCxnSpPr>
        <p:spPr>
          <a:xfrm>
            <a:off x="7516030" y="3961566"/>
            <a:ext cx="1207880" cy="0"/>
          </a:xfrm>
          <a:prstGeom prst="line">
            <a:avLst/>
          </a:prstGeom>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xmlns="" id="{2E34EFF1-5ABE-4BA9-B4C4-24EB79764EC1}"/>
              </a:ext>
            </a:extLst>
          </p:cNvPr>
          <p:cNvSpPr txBox="1"/>
          <p:nvPr/>
        </p:nvSpPr>
        <p:spPr>
          <a:xfrm>
            <a:off x="4121834" y="3302902"/>
            <a:ext cx="717452" cy="369332"/>
          </a:xfrm>
          <a:prstGeom prst="rect">
            <a:avLst/>
          </a:prstGeom>
          <a:noFill/>
        </p:spPr>
        <p:txBody>
          <a:bodyPr wrap="square" rtlCol="0">
            <a:spAutoFit/>
          </a:bodyPr>
          <a:lstStyle/>
          <a:p>
            <a:r>
              <a:rPr lang="en-IN" dirty="0"/>
              <a:t>M</a:t>
            </a:r>
          </a:p>
        </p:txBody>
      </p:sp>
      <p:sp>
        <p:nvSpPr>
          <p:cNvPr id="20" name="TextBox 19">
            <a:extLst>
              <a:ext uri="{FF2B5EF4-FFF2-40B4-BE49-F238E27FC236}">
                <a16:creationId xmlns:a16="http://schemas.microsoft.com/office/drawing/2014/main" xmlns="" id="{9D931515-C782-4E71-8CC3-31B3CE367F59}"/>
              </a:ext>
            </a:extLst>
          </p:cNvPr>
          <p:cNvSpPr txBox="1"/>
          <p:nvPr/>
        </p:nvSpPr>
        <p:spPr>
          <a:xfrm>
            <a:off x="7759303" y="3324801"/>
            <a:ext cx="717452" cy="369332"/>
          </a:xfrm>
          <a:prstGeom prst="rect">
            <a:avLst/>
          </a:prstGeom>
          <a:noFill/>
        </p:spPr>
        <p:txBody>
          <a:bodyPr wrap="square" rtlCol="0">
            <a:spAutoFit/>
          </a:bodyPr>
          <a:lstStyle/>
          <a:p>
            <a:r>
              <a:rPr lang="en-IN" dirty="0"/>
              <a:t>N</a:t>
            </a:r>
          </a:p>
        </p:txBody>
      </p:sp>
      <p:sp>
        <p:nvSpPr>
          <p:cNvPr id="21" name="Oval 20">
            <a:extLst>
              <a:ext uri="{FF2B5EF4-FFF2-40B4-BE49-F238E27FC236}">
                <a16:creationId xmlns:a16="http://schemas.microsoft.com/office/drawing/2014/main" xmlns="" id="{6EC07079-71A2-4BEC-9F02-A78C1E523D19}"/>
              </a:ext>
            </a:extLst>
          </p:cNvPr>
          <p:cNvSpPr/>
          <p:nvPr/>
        </p:nvSpPr>
        <p:spPr>
          <a:xfrm>
            <a:off x="5584874" y="2489982"/>
            <a:ext cx="1294228" cy="548640"/>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Hours</a:t>
            </a:r>
          </a:p>
        </p:txBody>
      </p:sp>
      <p:cxnSp>
        <p:nvCxnSpPr>
          <p:cNvPr id="23" name="Straight Connector 22">
            <a:extLst>
              <a:ext uri="{FF2B5EF4-FFF2-40B4-BE49-F238E27FC236}">
                <a16:creationId xmlns:a16="http://schemas.microsoft.com/office/drawing/2014/main" xmlns="" id="{57CB8823-C659-41A4-B2B0-A24E5675B320}"/>
              </a:ext>
            </a:extLst>
          </p:cNvPr>
          <p:cNvCxnSpPr>
            <a:endCxn id="8" idx="0"/>
          </p:cNvCxnSpPr>
          <p:nvPr/>
        </p:nvCxnSpPr>
        <p:spPr>
          <a:xfrm flipH="1">
            <a:off x="6295576" y="3038622"/>
            <a:ext cx="119292" cy="26428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68208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ppt_x</p:attrName>
                                        </p:attrNameLst>
                                      </p:cBhvr>
                                      <p:tavLst>
                                        <p:tav tm="0">
                                          <p:val>
                                            <p:strVal val="#ppt_x"/>
                                          </p:val>
                                        </p:tav>
                                        <p:tav tm="100000">
                                          <p:val>
                                            <p:strVal val="#ppt_x"/>
                                          </p:val>
                                        </p:tav>
                                      </p:tavLst>
                                    </p:anim>
                                    <p:anim calcmode="lin" valueType="num">
                                      <p:cBhvr>
                                        <p:cTn id="35" dur="1000" fill="hold"/>
                                        <p:tgtEl>
                                          <p:spTgt spid="10"/>
                                        </p:tgtEl>
                                        <p:attrNameLst>
                                          <p:attrName>ppt_y</p:attrName>
                                        </p:attrNameLst>
                                      </p:cBhvr>
                                      <p:tavLst>
                                        <p:tav tm="0">
                                          <p:val>
                                            <p:strVal val="#ppt_y+.1"/>
                                          </p:val>
                                        </p:tav>
                                        <p:tav tm="100000">
                                          <p:val>
                                            <p:strVal val="#ppt_y"/>
                                          </p:val>
                                        </p:tav>
                                      </p:tavLst>
                                    </p:anim>
                                  </p:childTnLst>
                                </p:cTn>
                              </p:par>
                              <p:par>
                                <p:cTn id="36" presetID="42" presetClass="entr" presetSubtype="0" fill="hold" grpId="0" nodeType="with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1000"/>
                                        <p:tgtEl>
                                          <p:spTgt spid="19"/>
                                        </p:tgtEl>
                                      </p:cBhvr>
                                    </p:animEffect>
                                    <p:anim calcmode="lin" valueType="num">
                                      <p:cBhvr>
                                        <p:cTn id="39" dur="1000" fill="hold"/>
                                        <p:tgtEl>
                                          <p:spTgt spid="19"/>
                                        </p:tgtEl>
                                        <p:attrNameLst>
                                          <p:attrName>ppt_x</p:attrName>
                                        </p:attrNameLst>
                                      </p:cBhvr>
                                      <p:tavLst>
                                        <p:tav tm="0">
                                          <p:val>
                                            <p:strVal val="#ppt_x"/>
                                          </p:val>
                                        </p:tav>
                                        <p:tav tm="100000">
                                          <p:val>
                                            <p:strVal val="#ppt_x"/>
                                          </p:val>
                                        </p:tav>
                                      </p:tavLst>
                                    </p:anim>
                                    <p:anim calcmode="lin" valueType="num">
                                      <p:cBhvr>
                                        <p:cTn id="40" dur="1000" fill="hold"/>
                                        <p:tgtEl>
                                          <p:spTgt spid="19"/>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fade">
                                      <p:cBhvr>
                                        <p:cTn id="45" dur="1000"/>
                                        <p:tgtEl>
                                          <p:spTgt spid="12"/>
                                        </p:tgtEl>
                                      </p:cBhvr>
                                    </p:animEffect>
                                    <p:anim calcmode="lin" valueType="num">
                                      <p:cBhvr>
                                        <p:cTn id="46" dur="1000" fill="hold"/>
                                        <p:tgtEl>
                                          <p:spTgt spid="12"/>
                                        </p:tgtEl>
                                        <p:attrNameLst>
                                          <p:attrName>ppt_x</p:attrName>
                                        </p:attrNameLst>
                                      </p:cBhvr>
                                      <p:tavLst>
                                        <p:tav tm="0">
                                          <p:val>
                                            <p:strVal val="#ppt_x"/>
                                          </p:val>
                                        </p:tav>
                                        <p:tav tm="100000">
                                          <p:val>
                                            <p:strVal val="#ppt_x"/>
                                          </p:val>
                                        </p:tav>
                                      </p:tavLst>
                                    </p:anim>
                                    <p:anim calcmode="lin" valueType="num">
                                      <p:cBhvr>
                                        <p:cTn id="47" dur="1000" fill="hold"/>
                                        <p:tgtEl>
                                          <p:spTgt spid="12"/>
                                        </p:tgtEl>
                                        <p:attrNameLst>
                                          <p:attrName>ppt_y</p:attrName>
                                        </p:attrNameLst>
                                      </p:cBhvr>
                                      <p:tavLst>
                                        <p:tav tm="0">
                                          <p:val>
                                            <p:strVal val="#ppt_y+.1"/>
                                          </p:val>
                                        </p:tav>
                                        <p:tav tm="100000">
                                          <p:val>
                                            <p:strVal val="#ppt_y"/>
                                          </p:val>
                                        </p:tav>
                                      </p:tavLst>
                                    </p:anim>
                                  </p:childTnLst>
                                </p:cTn>
                              </p:par>
                              <p:par>
                                <p:cTn id="48" presetID="42" presetClass="entr" presetSubtype="0" fill="hold" nodeType="withEffect">
                                  <p:stCondLst>
                                    <p:cond delay="0"/>
                                  </p:stCondLst>
                                  <p:childTnLst>
                                    <p:set>
                                      <p:cBhvr>
                                        <p:cTn id="49" dur="1" fill="hold">
                                          <p:stCondLst>
                                            <p:cond delay="0"/>
                                          </p:stCondLst>
                                        </p:cTn>
                                        <p:tgtEl>
                                          <p:spTgt spid="16"/>
                                        </p:tgtEl>
                                        <p:attrNameLst>
                                          <p:attrName>style.visibility</p:attrName>
                                        </p:attrNameLst>
                                      </p:cBhvr>
                                      <p:to>
                                        <p:strVal val="visible"/>
                                      </p:to>
                                    </p:set>
                                    <p:animEffect transition="in" filter="fade">
                                      <p:cBhvr>
                                        <p:cTn id="50" dur="1000"/>
                                        <p:tgtEl>
                                          <p:spTgt spid="16"/>
                                        </p:tgtEl>
                                      </p:cBhvr>
                                    </p:animEffect>
                                    <p:anim calcmode="lin" valueType="num">
                                      <p:cBhvr>
                                        <p:cTn id="51" dur="1000" fill="hold"/>
                                        <p:tgtEl>
                                          <p:spTgt spid="16"/>
                                        </p:tgtEl>
                                        <p:attrNameLst>
                                          <p:attrName>ppt_x</p:attrName>
                                        </p:attrNameLst>
                                      </p:cBhvr>
                                      <p:tavLst>
                                        <p:tav tm="0">
                                          <p:val>
                                            <p:strVal val="#ppt_x"/>
                                          </p:val>
                                        </p:tav>
                                        <p:tav tm="100000">
                                          <p:val>
                                            <p:strVal val="#ppt_x"/>
                                          </p:val>
                                        </p:tav>
                                      </p:tavLst>
                                    </p:anim>
                                    <p:anim calcmode="lin" valueType="num">
                                      <p:cBhvr>
                                        <p:cTn id="52" dur="1000" fill="hold"/>
                                        <p:tgtEl>
                                          <p:spTgt spid="16"/>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20"/>
                                        </p:tgtEl>
                                        <p:attrNameLst>
                                          <p:attrName>style.visibility</p:attrName>
                                        </p:attrNameLst>
                                      </p:cBhvr>
                                      <p:to>
                                        <p:strVal val="visible"/>
                                      </p:to>
                                    </p:set>
                                    <p:animEffect transition="in" filter="fade">
                                      <p:cBhvr>
                                        <p:cTn id="55" dur="1000"/>
                                        <p:tgtEl>
                                          <p:spTgt spid="20"/>
                                        </p:tgtEl>
                                      </p:cBhvr>
                                    </p:animEffect>
                                    <p:anim calcmode="lin" valueType="num">
                                      <p:cBhvr>
                                        <p:cTn id="56" dur="1000" fill="hold"/>
                                        <p:tgtEl>
                                          <p:spTgt spid="20"/>
                                        </p:tgtEl>
                                        <p:attrNameLst>
                                          <p:attrName>ppt_x</p:attrName>
                                        </p:attrNameLst>
                                      </p:cBhvr>
                                      <p:tavLst>
                                        <p:tav tm="0">
                                          <p:val>
                                            <p:strVal val="#ppt_x"/>
                                          </p:val>
                                        </p:tav>
                                        <p:tav tm="100000">
                                          <p:val>
                                            <p:strVal val="#ppt_x"/>
                                          </p:val>
                                        </p:tav>
                                      </p:tavLst>
                                    </p:anim>
                                    <p:anim calcmode="lin" valueType="num">
                                      <p:cBhvr>
                                        <p:cTn id="57" dur="1000" fill="hold"/>
                                        <p:tgtEl>
                                          <p:spTgt spid="2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9" grpId="0"/>
      <p:bldP spid="20" grpId="0"/>
    </p:bld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F25B47D-4777-48FE-80C3-7F362B3A94FD}"/>
              </a:ext>
            </a:extLst>
          </p:cNvPr>
          <p:cNvSpPr>
            <a:spLocks noGrp="1"/>
          </p:cNvSpPr>
          <p:nvPr>
            <p:ph type="title"/>
          </p:nvPr>
        </p:nvSpPr>
        <p:spPr/>
        <p:txBody>
          <a:bodyPr/>
          <a:lstStyle/>
          <a:p>
            <a:r>
              <a:rPr lang="en-IN" dirty="0"/>
              <a:t>Manages</a:t>
            </a:r>
          </a:p>
        </p:txBody>
      </p:sp>
      <p:pic>
        <p:nvPicPr>
          <p:cNvPr id="5" name="Content Placeholder 4">
            <a:extLst>
              <a:ext uri="{FF2B5EF4-FFF2-40B4-BE49-F238E27FC236}">
                <a16:creationId xmlns:a16="http://schemas.microsoft.com/office/drawing/2014/main" xmlns="" id="{5592FC34-640C-4C46-A653-05E3A2814CBD}"/>
              </a:ext>
            </a:extLst>
          </p:cNvPr>
          <p:cNvPicPr>
            <a:picLocks noGrp="1" noChangeAspect="1"/>
          </p:cNvPicPr>
          <p:nvPr>
            <p:ph idx="1"/>
          </p:nvPr>
        </p:nvPicPr>
        <p:blipFill>
          <a:blip r:embed="rId2"/>
          <a:stretch>
            <a:fillRect/>
          </a:stretch>
        </p:blipFill>
        <p:spPr>
          <a:xfrm>
            <a:off x="8770106" y="2651760"/>
            <a:ext cx="2149697" cy="1798910"/>
          </a:xfrm>
        </p:spPr>
      </p:pic>
      <p:pic>
        <p:nvPicPr>
          <p:cNvPr id="7" name="Picture 6">
            <a:extLst>
              <a:ext uri="{FF2B5EF4-FFF2-40B4-BE49-F238E27FC236}">
                <a16:creationId xmlns:a16="http://schemas.microsoft.com/office/drawing/2014/main" xmlns="" id="{2577AA6D-1C2E-4032-B38B-D9B427D6C9F8}"/>
              </a:ext>
            </a:extLst>
          </p:cNvPr>
          <p:cNvPicPr>
            <a:picLocks noChangeAspect="1"/>
          </p:cNvPicPr>
          <p:nvPr/>
        </p:nvPicPr>
        <p:blipFill rotWithShape="1">
          <a:blip r:embed="rId3"/>
          <a:srcRect r="58722" b="46853"/>
          <a:stretch/>
        </p:blipFill>
        <p:spPr>
          <a:xfrm>
            <a:off x="838200" y="1903774"/>
            <a:ext cx="3482542" cy="2218062"/>
          </a:xfrm>
          <a:prstGeom prst="rect">
            <a:avLst/>
          </a:prstGeom>
        </p:spPr>
      </p:pic>
      <p:sp>
        <p:nvSpPr>
          <p:cNvPr id="8" name="Diamond 7">
            <a:extLst>
              <a:ext uri="{FF2B5EF4-FFF2-40B4-BE49-F238E27FC236}">
                <a16:creationId xmlns:a16="http://schemas.microsoft.com/office/drawing/2014/main" xmlns="" id="{AB618C76-F4A8-44F4-B33D-6CEE18D9E58B}"/>
              </a:ext>
            </a:extLst>
          </p:cNvPr>
          <p:cNvSpPr/>
          <p:nvPr/>
        </p:nvSpPr>
        <p:spPr>
          <a:xfrm>
            <a:off x="4879144" y="3429000"/>
            <a:ext cx="2433711" cy="115706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Manages</a:t>
            </a:r>
          </a:p>
        </p:txBody>
      </p:sp>
      <p:cxnSp>
        <p:nvCxnSpPr>
          <p:cNvPr id="10" name="Straight Connector 9">
            <a:extLst>
              <a:ext uri="{FF2B5EF4-FFF2-40B4-BE49-F238E27FC236}">
                <a16:creationId xmlns:a16="http://schemas.microsoft.com/office/drawing/2014/main" xmlns="" id="{718BB4DB-E589-4244-B1E4-17F1DC97D9D7}"/>
              </a:ext>
            </a:extLst>
          </p:cNvPr>
          <p:cNvCxnSpPr>
            <a:endCxn id="8" idx="1"/>
          </p:cNvCxnSpPr>
          <p:nvPr/>
        </p:nvCxnSpPr>
        <p:spPr>
          <a:xfrm>
            <a:off x="3277772" y="4007534"/>
            <a:ext cx="16013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B59067FB-F8AF-4379-A118-418BBEF2AB23}"/>
              </a:ext>
            </a:extLst>
          </p:cNvPr>
          <p:cNvCxnSpPr/>
          <p:nvPr/>
        </p:nvCxnSpPr>
        <p:spPr>
          <a:xfrm>
            <a:off x="7434848" y="4005776"/>
            <a:ext cx="1601372"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302D98B6-B587-4870-ABF6-ADB0C7C133D4}"/>
              </a:ext>
            </a:extLst>
          </p:cNvPr>
          <p:cNvCxnSpPr/>
          <p:nvPr/>
        </p:nvCxnSpPr>
        <p:spPr>
          <a:xfrm>
            <a:off x="7434848" y="4121836"/>
            <a:ext cx="1601372"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4292731E-E76E-4BA8-923D-B1C54D220C09}"/>
              </a:ext>
            </a:extLst>
          </p:cNvPr>
          <p:cNvSpPr txBox="1"/>
          <p:nvPr/>
        </p:nvSpPr>
        <p:spPr>
          <a:xfrm>
            <a:off x="3615397" y="3657600"/>
            <a:ext cx="705345" cy="369332"/>
          </a:xfrm>
          <a:prstGeom prst="rect">
            <a:avLst/>
          </a:prstGeom>
          <a:noFill/>
        </p:spPr>
        <p:txBody>
          <a:bodyPr wrap="square" rtlCol="0">
            <a:spAutoFit/>
          </a:bodyPr>
          <a:lstStyle/>
          <a:p>
            <a:r>
              <a:rPr lang="en-IN" dirty="0"/>
              <a:t>1</a:t>
            </a:r>
          </a:p>
        </p:txBody>
      </p:sp>
      <p:sp>
        <p:nvSpPr>
          <p:cNvPr id="14" name="TextBox 13">
            <a:extLst>
              <a:ext uri="{FF2B5EF4-FFF2-40B4-BE49-F238E27FC236}">
                <a16:creationId xmlns:a16="http://schemas.microsoft.com/office/drawing/2014/main" xmlns="" id="{D8BA1D71-3C74-4696-A22B-5C37AA791F8B}"/>
              </a:ext>
            </a:extLst>
          </p:cNvPr>
          <p:cNvSpPr txBox="1"/>
          <p:nvPr/>
        </p:nvSpPr>
        <p:spPr>
          <a:xfrm>
            <a:off x="7793969" y="3608337"/>
            <a:ext cx="705345" cy="369332"/>
          </a:xfrm>
          <a:prstGeom prst="rect">
            <a:avLst/>
          </a:prstGeom>
          <a:noFill/>
        </p:spPr>
        <p:txBody>
          <a:bodyPr wrap="square" rtlCol="0">
            <a:spAutoFit/>
          </a:bodyPr>
          <a:lstStyle/>
          <a:p>
            <a:r>
              <a:rPr lang="en-IN" dirty="0"/>
              <a:t>1</a:t>
            </a:r>
          </a:p>
        </p:txBody>
      </p:sp>
      <p:sp>
        <p:nvSpPr>
          <p:cNvPr id="15" name="Oval 14">
            <a:extLst>
              <a:ext uri="{FF2B5EF4-FFF2-40B4-BE49-F238E27FC236}">
                <a16:creationId xmlns:a16="http://schemas.microsoft.com/office/drawing/2014/main" xmlns="" id="{17F3E22F-509A-460B-9AE5-E0BDDB1BDBAF}"/>
              </a:ext>
            </a:extLst>
          </p:cNvPr>
          <p:cNvSpPr/>
          <p:nvPr/>
        </p:nvSpPr>
        <p:spPr>
          <a:xfrm>
            <a:off x="4078458" y="4936002"/>
            <a:ext cx="1915551" cy="578517"/>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err="1"/>
              <a:t>Start_Date</a:t>
            </a:r>
            <a:endParaRPr lang="en-IN" dirty="0"/>
          </a:p>
        </p:txBody>
      </p:sp>
      <p:cxnSp>
        <p:nvCxnSpPr>
          <p:cNvPr id="17" name="Straight Connector 16">
            <a:extLst>
              <a:ext uri="{FF2B5EF4-FFF2-40B4-BE49-F238E27FC236}">
                <a16:creationId xmlns:a16="http://schemas.microsoft.com/office/drawing/2014/main" xmlns="" id="{25A46DCE-A07C-47E8-9AA6-F5CACF55969F}"/>
              </a:ext>
            </a:extLst>
          </p:cNvPr>
          <p:cNvCxnSpPr/>
          <p:nvPr/>
        </p:nvCxnSpPr>
        <p:spPr>
          <a:xfrm flipH="1">
            <a:off x="5162843" y="4334922"/>
            <a:ext cx="351692" cy="701312"/>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7967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1000"/>
                                        <p:tgtEl>
                                          <p:spTgt spid="5"/>
                                        </p:tgtEl>
                                      </p:cBhvr>
                                    </p:animEffect>
                                    <p:anim calcmode="lin" valueType="num">
                                      <p:cBhvr>
                                        <p:cTn id="15" dur="1000" fill="hold"/>
                                        <p:tgtEl>
                                          <p:spTgt spid="5"/>
                                        </p:tgtEl>
                                        <p:attrNameLst>
                                          <p:attrName>ppt_x</p:attrName>
                                        </p:attrNameLst>
                                      </p:cBhvr>
                                      <p:tavLst>
                                        <p:tav tm="0">
                                          <p:val>
                                            <p:strVal val="#ppt_x"/>
                                          </p:val>
                                        </p:tav>
                                        <p:tav tm="100000">
                                          <p:val>
                                            <p:strVal val="#ppt_x"/>
                                          </p:val>
                                        </p:tav>
                                      </p:tavLst>
                                    </p:anim>
                                    <p:anim calcmode="lin" valueType="num">
                                      <p:cBhvr>
                                        <p:cTn id="1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par>
                                <p:cTn id="24" presetID="42" presetClass="entr" presetSubtype="0" fill="hold" nodeType="with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fade">
                                      <p:cBhvr>
                                        <p:cTn id="38" dur="1000"/>
                                        <p:tgtEl>
                                          <p:spTgt spid="14"/>
                                        </p:tgtEl>
                                      </p:cBhvr>
                                    </p:animEffect>
                                    <p:anim calcmode="lin" valueType="num">
                                      <p:cBhvr>
                                        <p:cTn id="39" dur="1000" fill="hold"/>
                                        <p:tgtEl>
                                          <p:spTgt spid="14"/>
                                        </p:tgtEl>
                                        <p:attrNameLst>
                                          <p:attrName>ppt_x</p:attrName>
                                        </p:attrNameLst>
                                      </p:cBhvr>
                                      <p:tavLst>
                                        <p:tav tm="0">
                                          <p:val>
                                            <p:strVal val="#ppt_x"/>
                                          </p:val>
                                        </p:tav>
                                        <p:tav tm="100000">
                                          <p:val>
                                            <p:strVal val="#ppt_x"/>
                                          </p:val>
                                        </p:tav>
                                      </p:tavLst>
                                    </p:anim>
                                    <p:anim calcmode="lin" valueType="num">
                                      <p:cBhvr>
                                        <p:cTn id="40" dur="1000" fill="hold"/>
                                        <p:tgtEl>
                                          <p:spTgt spid="14"/>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fade">
                                      <p:cBhvr>
                                        <p:cTn id="43" dur="1000"/>
                                        <p:tgtEl>
                                          <p:spTgt spid="15"/>
                                        </p:tgtEl>
                                      </p:cBhvr>
                                    </p:animEffect>
                                    <p:anim calcmode="lin" valueType="num">
                                      <p:cBhvr>
                                        <p:cTn id="44" dur="1000" fill="hold"/>
                                        <p:tgtEl>
                                          <p:spTgt spid="15"/>
                                        </p:tgtEl>
                                        <p:attrNameLst>
                                          <p:attrName>ppt_x</p:attrName>
                                        </p:attrNameLst>
                                      </p:cBhvr>
                                      <p:tavLst>
                                        <p:tav tm="0">
                                          <p:val>
                                            <p:strVal val="#ppt_x"/>
                                          </p:val>
                                        </p:tav>
                                        <p:tav tm="100000">
                                          <p:val>
                                            <p:strVal val="#ppt_x"/>
                                          </p:val>
                                        </p:tav>
                                      </p:tavLst>
                                    </p:anim>
                                    <p:anim calcmode="lin" valueType="num">
                                      <p:cBhvr>
                                        <p:cTn id="45" dur="1000" fill="hold"/>
                                        <p:tgtEl>
                                          <p:spTgt spid="15"/>
                                        </p:tgtEl>
                                        <p:attrNameLst>
                                          <p:attrName>ppt_y</p:attrName>
                                        </p:attrNameLst>
                                      </p:cBhvr>
                                      <p:tavLst>
                                        <p:tav tm="0">
                                          <p:val>
                                            <p:strVal val="#ppt_y+.1"/>
                                          </p:val>
                                        </p:tav>
                                        <p:tav tm="100000">
                                          <p:val>
                                            <p:strVal val="#ppt_y"/>
                                          </p:val>
                                        </p:tav>
                                      </p:tavLst>
                                    </p:anim>
                                  </p:childTnLst>
                                </p:cTn>
                              </p:par>
                              <p:par>
                                <p:cTn id="46" presetID="42"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1000"/>
                                        <p:tgtEl>
                                          <p:spTgt spid="17"/>
                                        </p:tgtEl>
                                      </p:cBhvr>
                                    </p:animEffect>
                                    <p:anim calcmode="lin" valueType="num">
                                      <p:cBhvr>
                                        <p:cTn id="49" dur="1000" fill="hold"/>
                                        <p:tgtEl>
                                          <p:spTgt spid="17"/>
                                        </p:tgtEl>
                                        <p:attrNameLst>
                                          <p:attrName>ppt_x</p:attrName>
                                        </p:attrNameLst>
                                      </p:cBhvr>
                                      <p:tavLst>
                                        <p:tav tm="0">
                                          <p:val>
                                            <p:strVal val="#ppt_x"/>
                                          </p:val>
                                        </p:tav>
                                        <p:tav tm="100000">
                                          <p:val>
                                            <p:strVal val="#ppt_x"/>
                                          </p:val>
                                        </p:tav>
                                      </p:tavLst>
                                    </p:anim>
                                    <p:anim calcmode="lin" valueType="num">
                                      <p:cBhvr>
                                        <p:cTn id="50" dur="1000" fill="hold"/>
                                        <p:tgtEl>
                                          <p:spTgt spid="17"/>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11"/>
                                        </p:tgtEl>
                                        <p:attrNameLst>
                                          <p:attrName>style.visibility</p:attrName>
                                        </p:attrNameLst>
                                      </p:cBhvr>
                                      <p:to>
                                        <p:strVal val="visible"/>
                                      </p:to>
                                    </p:set>
                                    <p:animEffect transition="in" filter="fade">
                                      <p:cBhvr>
                                        <p:cTn id="53" dur="1000"/>
                                        <p:tgtEl>
                                          <p:spTgt spid="11"/>
                                        </p:tgtEl>
                                      </p:cBhvr>
                                    </p:animEffect>
                                    <p:anim calcmode="lin" valueType="num">
                                      <p:cBhvr>
                                        <p:cTn id="54" dur="1000" fill="hold"/>
                                        <p:tgtEl>
                                          <p:spTgt spid="11"/>
                                        </p:tgtEl>
                                        <p:attrNameLst>
                                          <p:attrName>ppt_x</p:attrName>
                                        </p:attrNameLst>
                                      </p:cBhvr>
                                      <p:tavLst>
                                        <p:tav tm="0">
                                          <p:val>
                                            <p:strVal val="#ppt_x"/>
                                          </p:val>
                                        </p:tav>
                                        <p:tav tm="100000">
                                          <p:val>
                                            <p:strVal val="#ppt_x"/>
                                          </p:val>
                                        </p:tav>
                                      </p:tavLst>
                                    </p:anim>
                                    <p:anim calcmode="lin" valueType="num">
                                      <p:cBhvr>
                                        <p:cTn id="55" dur="1000" fill="hold"/>
                                        <p:tgtEl>
                                          <p:spTgt spid="11"/>
                                        </p:tgtEl>
                                        <p:attrNameLst>
                                          <p:attrName>ppt_y</p:attrName>
                                        </p:attrNameLst>
                                      </p:cBhvr>
                                      <p:tavLst>
                                        <p:tav tm="0">
                                          <p:val>
                                            <p:strVal val="#ppt_y+.1"/>
                                          </p:val>
                                        </p:tav>
                                        <p:tav tm="100000">
                                          <p:val>
                                            <p:strVal val="#ppt_y"/>
                                          </p:val>
                                        </p:tav>
                                      </p:tavLst>
                                    </p:anim>
                                  </p:childTnLst>
                                </p:cTn>
                              </p:par>
                              <p:par>
                                <p:cTn id="56" presetID="42" presetClass="entr" presetSubtype="0" fill="hold" nodeType="with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fade">
                                      <p:cBhvr>
                                        <p:cTn id="58" dur="1000"/>
                                        <p:tgtEl>
                                          <p:spTgt spid="12"/>
                                        </p:tgtEl>
                                      </p:cBhvr>
                                    </p:animEffect>
                                    <p:anim calcmode="lin" valueType="num">
                                      <p:cBhvr>
                                        <p:cTn id="59" dur="1000" fill="hold"/>
                                        <p:tgtEl>
                                          <p:spTgt spid="12"/>
                                        </p:tgtEl>
                                        <p:attrNameLst>
                                          <p:attrName>ppt_x</p:attrName>
                                        </p:attrNameLst>
                                      </p:cBhvr>
                                      <p:tavLst>
                                        <p:tav tm="0">
                                          <p:val>
                                            <p:strVal val="#ppt_x"/>
                                          </p:val>
                                        </p:tav>
                                        <p:tav tm="100000">
                                          <p:val>
                                            <p:strVal val="#ppt_x"/>
                                          </p:val>
                                        </p:tav>
                                      </p:tavLst>
                                    </p:anim>
                                    <p:anim calcmode="lin" valueType="num">
                                      <p:cBhvr>
                                        <p:cTn id="6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p:bldP spid="14" grpId="0"/>
      <p:bldP spid="15" grpId="0" animBg="1"/>
    </p:bld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C13DB5F0-1E53-42BE-9E48-900DCFCDD672}"/>
              </a:ext>
            </a:extLst>
          </p:cNvPr>
          <p:cNvSpPr>
            <a:spLocks noGrp="1"/>
          </p:cNvSpPr>
          <p:nvPr>
            <p:ph type="title"/>
          </p:nvPr>
        </p:nvSpPr>
        <p:spPr/>
        <p:txBody>
          <a:bodyPr/>
          <a:lstStyle/>
          <a:p>
            <a:r>
              <a:rPr lang="en-IN" dirty="0"/>
              <a:t>CONTROLS</a:t>
            </a:r>
          </a:p>
        </p:txBody>
      </p:sp>
      <p:pic>
        <p:nvPicPr>
          <p:cNvPr id="5" name="Content Placeholder 4">
            <a:extLst>
              <a:ext uri="{FF2B5EF4-FFF2-40B4-BE49-F238E27FC236}">
                <a16:creationId xmlns:a16="http://schemas.microsoft.com/office/drawing/2014/main" xmlns="" id="{F2639284-4745-471F-81C4-7BEAE2F21B7C}"/>
              </a:ext>
            </a:extLst>
          </p:cNvPr>
          <p:cNvPicPr>
            <a:picLocks noGrp="1" noChangeAspect="1"/>
          </p:cNvPicPr>
          <p:nvPr>
            <p:ph idx="1"/>
          </p:nvPr>
        </p:nvPicPr>
        <p:blipFill>
          <a:blip r:embed="rId2"/>
          <a:stretch>
            <a:fillRect/>
          </a:stretch>
        </p:blipFill>
        <p:spPr>
          <a:xfrm>
            <a:off x="1232444" y="1853040"/>
            <a:ext cx="2276475" cy="1905000"/>
          </a:xfrm>
        </p:spPr>
      </p:pic>
      <p:pic>
        <p:nvPicPr>
          <p:cNvPr id="7" name="Picture 6">
            <a:extLst>
              <a:ext uri="{FF2B5EF4-FFF2-40B4-BE49-F238E27FC236}">
                <a16:creationId xmlns:a16="http://schemas.microsoft.com/office/drawing/2014/main" xmlns="" id="{60564BCC-7133-4F39-8A81-513B9F5C9B61}"/>
              </a:ext>
            </a:extLst>
          </p:cNvPr>
          <p:cNvPicPr>
            <a:picLocks noChangeAspect="1"/>
          </p:cNvPicPr>
          <p:nvPr/>
        </p:nvPicPr>
        <p:blipFill>
          <a:blip r:embed="rId3"/>
          <a:stretch>
            <a:fillRect/>
          </a:stretch>
        </p:blipFill>
        <p:spPr>
          <a:xfrm>
            <a:off x="7378158" y="3242603"/>
            <a:ext cx="2609850" cy="1905000"/>
          </a:xfrm>
          <a:prstGeom prst="rect">
            <a:avLst/>
          </a:prstGeom>
        </p:spPr>
      </p:pic>
      <p:sp>
        <p:nvSpPr>
          <p:cNvPr id="8" name="Diamond 7">
            <a:extLst>
              <a:ext uri="{FF2B5EF4-FFF2-40B4-BE49-F238E27FC236}">
                <a16:creationId xmlns:a16="http://schemas.microsoft.com/office/drawing/2014/main" xmlns="" id="{8DAF666A-813F-4312-AC47-F6AC516B6C8A}"/>
              </a:ext>
            </a:extLst>
          </p:cNvPr>
          <p:cNvSpPr/>
          <p:nvPr/>
        </p:nvSpPr>
        <p:spPr>
          <a:xfrm>
            <a:off x="4332849" y="2982351"/>
            <a:ext cx="2609850" cy="942535"/>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CONTROLS</a:t>
            </a:r>
          </a:p>
        </p:txBody>
      </p:sp>
      <p:cxnSp>
        <p:nvCxnSpPr>
          <p:cNvPr id="10" name="Straight Connector 9">
            <a:extLst>
              <a:ext uri="{FF2B5EF4-FFF2-40B4-BE49-F238E27FC236}">
                <a16:creationId xmlns:a16="http://schemas.microsoft.com/office/drawing/2014/main" xmlns="" id="{1B459708-7D32-4ECC-8D8B-B4015FFE1A47}"/>
              </a:ext>
            </a:extLst>
          </p:cNvPr>
          <p:cNvCxnSpPr/>
          <p:nvPr/>
        </p:nvCxnSpPr>
        <p:spPr>
          <a:xfrm>
            <a:off x="3151163" y="3425105"/>
            <a:ext cx="118168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xmlns="" id="{1AC603CA-A0D6-4A78-ADE0-6CCF98F7155C}"/>
              </a:ext>
            </a:extLst>
          </p:cNvPr>
          <p:cNvCxnSpPr/>
          <p:nvPr/>
        </p:nvCxnSpPr>
        <p:spPr>
          <a:xfrm>
            <a:off x="7092115" y="3539613"/>
            <a:ext cx="1181686"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xmlns="" id="{EC79CF0C-53B4-4D75-A2D4-F7CAABF91D42}"/>
              </a:ext>
            </a:extLst>
          </p:cNvPr>
          <p:cNvCxnSpPr/>
          <p:nvPr/>
        </p:nvCxnSpPr>
        <p:spPr>
          <a:xfrm>
            <a:off x="7092115" y="3425105"/>
            <a:ext cx="1181686"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607B7011-1BAA-4ABB-8F99-A5B6FC0A37A7}"/>
              </a:ext>
            </a:extLst>
          </p:cNvPr>
          <p:cNvSpPr txBox="1"/>
          <p:nvPr/>
        </p:nvSpPr>
        <p:spPr>
          <a:xfrm>
            <a:off x="3376246" y="3080825"/>
            <a:ext cx="568132" cy="369332"/>
          </a:xfrm>
          <a:prstGeom prst="rect">
            <a:avLst/>
          </a:prstGeom>
          <a:noFill/>
        </p:spPr>
        <p:txBody>
          <a:bodyPr wrap="square" rtlCol="0">
            <a:spAutoFit/>
          </a:bodyPr>
          <a:lstStyle/>
          <a:p>
            <a:r>
              <a:rPr lang="en-IN" dirty="0"/>
              <a:t>1</a:t>
            </a:r>
          </a:p>
        </p:txBody>
      </p:sp>
      <p:sp>
        <p:nvSpPr>
          <p:cNvPr id="14" name="TextBox 13">
            <a:extLst>
              <a:ext uri="{FF2B5EF4-FFF2-40B4-BE49-F238E27FC236}">
                <a16:creationId xmlns:a16="http://schemas.microsoft.com/office/drawing/2014/main" xmlns="" id="{9CC8EC00-6F25-4955-86B2-E8027ADB0BD9}"/>
              </a:ext>
            </a:extLst>
          </p:cNvPr>
          <p:cNvSpPr txBox="1"/>
          <p:nvPr/>
        </p:nvSpPr>
        <p:spPr>
          <a:xfrm>
            <a:off x="7300050" y="2889125"/>
            <a:ext cx="568132" cy="369332"/>
          </a:xfrm>
          <a:prstGeom prst="rect">
            <a:avLst/>
          </a:prstGeom>
          <a:noFill/>
        </p:spPr>
        <p:txBody>
          <a:bodyPr wrap="square" rtlCol="0">
            <a:spAutoFit/>
          </a:bodyPr>
          <a:lstStyle/>
          <a:p>
            <a:r>
              <a:rPr lang="en-IN" dirty="0"/>
              <a:t>N</a:t>
            </a:r>
          </a:p>
        </p:txBody>
      </p:sp>
    </p:spTree>
    <p:extLst>
      <p:ext uri="{BB962C8B-B14F-4D97-AF65-F5344CB8AC3E}">
        <p14:creationId xmlns:p14="http://schemas.microsoft.com/office/powerpoint/2010/main" val="30803581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10"/>
                                        </p:tgtEl>
                                        <p:attrNameLst>
                                          <p:attrName>style.visibility</p:attrName>
                                        </p:attrNameLst>
                                      </p:cBhvr>
                                      <p:to>
                                        <p:strVal val="visible"/>
                                      </p:to>
                                    </p:set>
                                    <p:animEffect transition="in" filter="fade">
                                      <p:cBhvr>
                                        <p:cTn id="26" dur="1000"/>
                                        <p:tgtEl>
                                          <p:spTgt spid="10"/>
                                        </p:tgtEl>
                                      </p:cBhvr>
                                    </p:animEffect>
                                    <p:anim calcmode="lin" valueType="num">
                                      <p:cBhvr>
                                        <p:cTn id="27" dur="1000" fill="hold"/>
                                        <p:tgtEl>
                                          <p:spTgt spid="10"/>
                                        </p:tgtEl>
                                        <p:attrNameLst>
                                          <p:attrName>ppt_x</p:attrName>
                                        </p:attrNameLst>
                                      </p:cBhvr>
                                      <p:tavLst>
                                        <p:tav tm="0">
                                          <p:val>
                                            <p:strVal val="#ppt_x"/>
                                          </p:val>
                                        </p:tav>
                                        <p:tav tm="100000">
                                          <p:val>
                                            <p:strVal val="#ppt_x"/>
                                          </p:val>
                                        </p:tav>
                                      </p:tavLst>
                                    </p:anim>
                                    <p:anim calcmode="lin" valueType="num">
                                      <p:cBhvr>
                                        <p:cTn id="28"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1000"/>
                                        <p:tgtEl>
                                          <p:spTgt spid="11"/>
                                        </p:tgtEl>
                                      </p:cBhvr>
                                    </p:animEffect>
                                    <p:anim calcmode="lin" valueType="num">
                                      <p:cBhvr>
                                        <p:cTn id="34" dur="1000" fill="hold"/>
                                        <p:tgtEl>
                                          <p:spTgt spid="11"/>
                                        </p:tgtEl>
                                        <p:attrNameLst>
                                          <p:attrName>ppt_x</p:attrName>
                                        </p:attrNameLst>
                                      </p:cBhvr>
                                      <p:tavLst>
                                        <p:tav tm="0">
                                          <p:val>
                                            <p:strVal val="#ppt_x"/>
                                          </p:val>
                                        </p:tav>
                                        <p:tav tm="100000">
                                          <p:val>
                                            <p:strVal val="#ppt_x"/>
                                          </p:val>
                                        </p:tav>
                                      </p:tavLst>
                                    </p:anim>
                                    <p:anim calcmode="lin" valueType="num">
                                      <p:cBhvr>
                                        <p:cTn id="35" dur="1000" fill="hold"/>
                                        <p:tgtEl>
                                          <p:spTgt spid="11"/>
                                        </p:tgtEl>
                                        <p:attrNameLst>
                                          <p:attrName>ppt_y</p:attrName>
                                        </p:attrNameLst>
                                      </p:cBhvr>
                                      <p:tavLst>
                                        <p:tav tm="0">
                                          <p:val>
                                            <p:strVal val="#ppt_y+.1"/>
                                          </p:val>
                                        </p:tav>
                                        <p:tav tm="100000">
                                          <p:val>
                                            <p:strVal val="#ppt_y"/>
                                          </p:val>
                                        </p:tav>
                                      </p:tavLst>
                                    </p:anim>
                                  </p:childTnLst>
                                </p:cTn>
                              </p:par>
                              <p:par>
                                <p:cTn id="36" presetID="42" presetClass="entr" presetSubtype="0" fill="hold" nodeType="withEffect">
                                  <p:stCondLst>
                                    <p:cond delay="0"/>
                                  </p:stCondLst>
                                  <p:childTnLst>
                                    <p:set>
                                      <p:cBhvr>
                                        <p:cTn id="37" dur="1" fill="hold">
                                          <p:stCondLst>
                                            <p:cond delay="0"/>
                                          </p:stCondLst>
                                        </p:cTn>
                                        <p:tgtEl>
                                          <p:spTgt spid="12"/>
                                        </p:tgtEl>
                                        <p:attrNameLst>
                                          <p:attrName>style.visibility</p:attrName>
                                        </p:attrNameLst>
                                      </p:cBhvr>
                                      <p:to>
                                        <p:strVal val="visible"/>
                                      </p:to>
                                    </p:set>
                                    <p:animEffect transition="in" filter="fade">
                                      <p:cBhvr>
                                        <p:cTn id="38" dur="1000"/>
                                        <p:tgtEl>
                                          <p:spTgt spid="12"/>
                                        </p:tgtEl>
                                      </p:cBhvr>
                                    </p:animEffect>
                                    <p:anim calcmode="lin" valueType="num">
                                      <p:cBhvr>
                                        <p:cTn id="39" dur="1000" fill="hold"/>
                                        <p:tgtEl>
                                          <p:spTgt spid="12"/>
                                        </p:tgtEl>
                                        <p:attrNameLst>
                                          <p:attrName>ppt_x</p:attrName>
                                        </p:attrNameLst>
                                      </p:cBhvr>
                                      <p:tavLst>
                                        <p:tav tm="0">
                                          <p:val>
                                            <p:strVal val="#ppt_x"/>
                                          </p:val>
                                        </p:tav>
                                        <p:tav tm="100000">
                                          <p:val>
                                            <p:strVal val="#ppt_x"/>
                                          </p:val>
                                        </p:tav>
                                      </p:tavLst>
                                    </p:anim>
                                    <p:anim calcmode="lin" valueType="num">
                                      <p:cBhvr>
                                        <p:cTn id="40"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000"/>
                                        <p:tgtEl>
                                          <p:spTgt spid="13"/>
                                        </p:tgtEl>
                                      </p:cBhvr>
                                    </p:animEffect>
                                    <p:anim calcmode="lin" valueType="num">
                                      <p:cBhvr>
                                        <p:cTn id="46" dur="1000" fill="hold"/>
                                        <p:tgtEl>
                                          <p:spTgt spid="13"/>
                                        </p:tgtEl>
                                        <p:attrNameLst>
                                          <p:attrName>ppt_x</p:attrName>
                                        </p:attrNameLst>
                                      </p:cBhvr>
                                      <p:tavLst>
                                        <p:tav tm="0">
                                          <p:val>
                                            <p:strVal val="#ppt_x"/>
                                          </p:val>
                                        </p:tav>
                                        <p:tav tm="100000">
                                          <p:val>
                                            <p:strVal val="#ppt_x"/>
                                          </p:val>
                                        </p:tav>
                                      </p:tavLst>
                                    </p:anim>
                                    <p:anim calcmode="lin" valueType="num">
                                      <p:cBhvr>
                                        <p:cTn id="47" dur="10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1000"/>
                                        <p:tgtEl>
                                          <p:spTgt spid="14"/>
                                        </p:tgtEl>
                                      </p:cBhvr>
                                    </p:animEffect>
                                    <p:anim calcmode="lin" valueType="num">
                                      <p:cBhvr>
                                        <p:cTn id="51" dur="1000" fill="hold"/>
                                        <p:tgtEl>
                                          <p:spTgt spid="14"/>
                                        </p:tgtEl>
                                        <p:attrNameLst>
                                          <p:attrName>ppt_x</p:attrName>
                                        </p:attrNameLst>
                                      </p:cBhvr>
                                      <p:tavLst>
                                        <p:tav tm="0">
                                          <p:val>
                                            <p:strVal val="#ppt_x"/>
                                          </p:val>
                                        </p:tav>
                                        <p:tav tm="100000">
                                          <p:val>
                                            <p:strVal val="#ppt_x"/>
                                          </p:val>
                                        </p:tav>
                                      </p:tavLst>
                                    </p:anim>
                                    <p:anim calcmode="lin" valueType="num">
                                      <p:cBhvr>
                                        <p:cTn id="52"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3" grpId="0"/>
      <p:bldP spid="14" grpId="0"/>
    </p:bld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A3B176-E1A0-420F-AF97-F11CDA43991E}"/>
              </a:ext>
            </a:extLst>
          </p:cNvPr>
          <p:cNvSpPr>
            <a:spLocks noGrp="1"/>
          </p:cNvSpPr>
          <p:nvPr>
            <p:ph type="title"/>
          </p:nvPr>
        </p:nvSpPr>
        <p:spPr/>
        <p:txBody>
          <a:bodyPr/>
          <a:lstStyle/>
          <a:p>
            <a:r>
              <a:rPr lang="en-IN" dirty="0"/>
              <a:t>SUPERVISION</a:t>
            </a:r>
          </a:p>
        </p:txBody>
      </p:sp>
      <p:pic>
        <p:nvPicPr>
          <p:cNvPr id="5" name="Content Placeholder 4">
            <a:extLst>
              <a:ext uri="{FF2B5EF4-FFF2-40B4-BE49-F238E27FC236}">
                <a16:creationId xmlns:a16="http://schemas.microsoft.com/office/drawing/2014/main" xmlns="" id="{D7513F0A-7FE3-48BE-B13E-F4EBE3F2D95A}"/>
              </a:ext>
            </a:extLst>
          </p:cNvPr>
          <p:cNvPicPr>
            <a:picLocks noGrp="1" noChangeAspect="1"/>
          </p:cNvPicPr>
          <p:nvPr>
            <p:ph idx="1"/>
          </p:nvPr>
        </p:nvPicPr>
        <p:blipFill rotWithShape="1">
          <a:blip r:embed="rId2"/>
          <a:srcRect r="59329" b="38824"/>
          <a:stretch/>
        </p:blipFill>
        <p:spPr>
          <a:xfrm>
            <a:off x="3948603" y="928468"/>
            <a:ext cx="4034818" cy="3002159"/>
          </a:xfrm>
        </p:spPr>
      </p:pic>
      <p:sp>
        <p:nvSpPr>
          <p:cNvPr id="6" name="Diamond 5">
            <a:extLst>
              <a:ext uri="{FF2B5EF4-FFF2-40B4-BE49-F238E27FC236}">
                <a16:creationId xmlns:a16="http://schemas.microsoft.com/office/drawing/2014/main" xmlns="" id="{7788D7B7-DC1C-4CA4-A4A6-42BAEB0C2818}"/>
              </a:ext>
            </a:extLst>
          </p:cNvPr>
          <p:cNvSpPr/>
          <p:nvPr/>
        </p:nvSpPr>
        <p:spPr>
          <a:xfrm>
            <a:off x="4407877" y="4951828"/>
            <a:ext cx="3376246" cy="1111348"/>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t>SUPERVISION</a:t>
            </a:r>
          </a:p>
        </p:txBody>
      </p:sp>
      <p:cxnSp>
        <p:nvCxnSpPr>
          <p:cNvPr id="8" name="Straight Connector 7">
            <a:extLst>
              <a:ext uri="{FF2B5EF4-FFF2-40B4-BE49-F238E27FC236}">
                <a16:creationId xmlns:a16="http://schemas.microsoft.com/office/drawing/2014/main" xmlns="" id="{41BCA889-E8AE-42DA-9B14-8F98AFE6C12D}"/>
              </a:ext>
            </a:extLst>
          </p:cNvPr>
          <p:cNvCxnSpPr>
            <a:endCxn id="6" idx="1"/>
          </p:cNvCxnSpPr>
          <p:nvPr/>
        </p:nvCxnSpPr>
        <p:spPr>
          <a:xfrm flipH="1">
            <a:off x="4407877" y="3429000"/>
            <a:ext cx="980049" cy="2078502"/>
          </a:xfrm>
          <a:prstGeom prst="line">
            <a:avLst/>
          </a:prstGeom>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xmlns="" id="{E0AFEB94-668C-464F-91A4-43FC98C6AA2C}"/>
              </a:ext>
            </a:extLst>
          </p:cNvPr>
          <p:cNvCxnSpPr>
            <a:cxnSpLocks/>
            <a:endCxn id="6" idx="3"/>
          </p:cNvCxnSpPr>
          <p:nvPr/>
        </p:nvCxnSpPr>
        <p:spPr>
          <a:xfrm>
            <a:off x="6804076" y="3429000"/>
            <a:ext cx="980047" cy="2078502"/>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xmlns="" id="{C180C5CB-921B-4010-83E7-7D46FAD46C2F}"/>
              </a:ext>
            </a:extLst>
          </p:cNvPr>
          <p:cNvSpPr txBox="1"/>
          <p:nvPr/>
        </p:nvSpPr>
        <p:spPr>
          <a:xfrm>
            <a:off x="2504049" y="4468251"/>
            <a:ext cx="2405576" cy="369332"/>
          </a:xfrm>
          <a:prstGeom prst="rect">
            <a:avLst/>
          </a:prstGeom>
          <a:noFill/>
        </p:spPr>
        <p:txBody>
          <a:bodyPr wrap="square" rtlCol="0">
            <a:spAutoFit/>
          </a:bodyPr>
          <a:lstStyle/>
          <a:p>
            <a:r>
              <a:rPr lang="en-IN" dirty="0"/>
              <a:t>SUPERVISOR</a:t>
            </a:r>
          </a:p>
        </p:txBody>
      </p:sp>
      <p:sp>
        <p:nvSpPr>
          <p:cNvPr id="13" name="TextBox 12">
            <a:extLst>
              <a:ext uri="{FF2B5EF4-FFF2-40B4-BE49-F238E27FC236}">
                <a16:creationId xmlns:a16="http://schemas.microsoft.com/office/drawing/2014/main" xmlns="" id="{59FF4DE9-CF44-49D6-AA59-2303E4C0ED27}"/>
              </a:ext>
            </a:extLst>
          </p:cNvPr>
          <p:cNvSpPr txBox="1"/>
          <p:nvPr/>
        </p:nvSpPr>
        <p:spPr>
          <a:xfrm>
            <a:off x="7523870" y="4291144"/>
            <a:ext cx="2405576" cy="369332"/>
          </a:xfrm>
          <a:prstGeom prst="rect">
            <a:avLst/>
          </a:prstGeom>
          <a:noFill/>
        </p:spPr>
        <p:txBody>
          <a:bodyPr wrap="square" rtlCol="0">
            <a:spAutoFit/>
          </a:bodyPr>
          <a:lstStyle/>
          <a:p>
            <a:r>
              <a:rPr lang="en-IN" dirty="0"/>
              <a:t>SUBORDINATE</a:t>
            </a:r>
          </a:p>
        </p:txBody>
      </p:sp>
      <p:sp>
        <p:nvSpPr>
          <p:cNvPr id="14" name="TextBox 13">
            <a:extLst>
              <a:ext uri="{FF2B5EF4-FFF2-40B4-BE49-F238E27FC236}">
                <a16:creationId xmlns:a16="http://schemas.microsoft.com/office/drawing/2014/main" xmlns="" id="{8DC4B140-54D4-46B4-B589-24E2534884E8}"/>
              </a:ext>
            </a:extLst>
          </p:cNvPr>
          <p:cNvSpPr txBox="1"/>
          <p:nvPr/>
        </p:nvSpPr>
        <p:spPr>
          <a:xfrm>
            <a:off x="3948603" y="4951828"/>
            <a:ext cx="459274" cy="369332"/>
          </a:xfrm>
          <a:prstGeom prst="rect">
            <a:avLst/>
          </a:prstGeom>
          <a:noFill/>
        </p:spPr>
        <p:txBody>
          <a:bodyPr wrap="square" rtlCol="0">
            <a:spAutoFit/>
          </a:bodyPr>
          <a:lstStyle/>
          <a:p>
            <a:r>
              <a:rPr lang="en-IN" dirty="0"/>
              <a:t>1</a:t>
            </a:r>
          </a:p>
        </p:txBody>
      </p:sp>
      <p:sp>
        <p:nvSpPr>
          <p:cNvPr id="15" name="TextBox 14">
            <a:extLst>
              <a:ext uri="{FF2B5EF4-FFF2-40B4-BE49-F238E27FC236}">
                <a16:creationId xmlns:a16="http://schemas.microsoft.com/office/drawing/2014/main" xmlns="" id="{EA75F836-F08A-4073-852C-066D2F7EEA5B}"/>
              </a:ext>
            </a:extLst>
          </p:cNvPr>
          <p:cNvSpPr txBox="1"/>
          <p:nvPr/>
        </p:nvSpPr>
        <p:spPr>
          <a:xfrm>
            <a:off x="7784123" y="4963551"/>
            <a:ext cx="306874" cy="369332"/>
          </a:xfrm>
          <a:prstGeom prst="rect">
            <a:avLst/>
          </a:prstGeom>
          <a:noFill/>
        </p:spPr>
        <p:txBody>
          <a:bodyPr wrap="square" rtlCol="0">
            <a:spAutoFit/>
          </a:bodyPr>
          <a:lstStyle/>
          <a:p>
            <a:r>
              <a:rPr lang="en-IN" dirty="0"/>
              <a:t>N</a:t>
            </a:r>
          </a:p>
        </p:txBody>
      </p:sp>
    </p:spTree>
    <p:extLst>
      <p:ext uri="{BB962C8B-B14F-4D97-AF65-F5344CB8AC3E}">
        <p14:creationId xmlns:p14="http://schemas.microsoft.com/office/powerpoint/2010/main" val="2716067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9"/>
                                        </p:tgtEl>
                                        <p:attrNameLst>
                                          <p:attrName>style.visibility</p:attrName>
                                        </p:attrNameLst>
                                      </p:cBhvr>
                                      <p:to>
                                        <p:strVal val="visible"/>
                                      </p:to>
                                    </p:set>
                                    <p:animEffect transition="in" filter="fade">
                                      <p:cBhvr>
                                        <p:cTn id="28" dur="1000"/>
                                        <p:tgtEl>
                                          <p:spTgt spid="9"/>
                                        </p:tgtEl>
                                      </p:cBhvr>
                                    </p:animEffect>
                                    <p:anim calcmode="lin" valueType="num">
                                      <p:cBhvr>
                                        <p:cTn id="29" dur="1000" fill="hold"/>
                                        <p:tgtEl>
                                          <p:spTgt spid="9"/>
                                        </p:tgtEl>
                                        <p:attrNameLst>
                                          <p:attrName>ppt_x</p:attrName>
                                        </p:attrNameLst>
                                      </p:cBhvr>
                                      <p:tavLst>
                                        <p:tav tm="0">
                                          <p:val>
                                            <p:strVal val="#ppt_x"/>
                                          </p:val>
                                        </p:tav>
                                        <p:tav tm="100000">
                                          <p:val>
                                            <p:strVal val="#ppt_x"/>
                                          </p:val>
                                        </p:tav>
                                      </p:tavLst>
                                    </p:anim>
                                    <p:anim calcmode="lin" valueType="num">
                                      <p:cBhvr>
                                        <p:cTn id="30"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Effect transition="in" filter="fade">
                                      <p:cBhvr>
                                        <p:cTn id="35" dur="1000"/>
                                        <p:tgtEl>
                                          <p:spTgt spid="13"/>
                                        </p:tgtEl>
                                      </p:cBhvr>
                                    </p:animEffect>
                                    <p:anim calcmode="lin" valueType="num">
                                      <p:cBhvr>
                                        <p:cTn id="36" dur="1000" fill="hold"/>
                                        <p:tgtEl>
                                          <p:spTgt spid="13"/>
                                        </p:tgtEl>
                                        <p:attrNameLst>
                                          <p:attrName>ppt_x</p:attrName>
                                        </p:attrNameLst>
                                      </p:cBhvr>
                                      <p:tavLst>
                                        <p:tav tm="0">
                                          <p:val>
                                            <p:strVal val="#ppt_x"/>
                                          </p:val>
                                        </p:tav>
                                        <p:tav tm="100000">
                                          <p:val>
                                            <p:strVal val="#ppt_x"/>
                                          </p:val>
                                        </p:tav>
                                      </p:tavLst>
                                    </p:anim>
                                    <p:anim calcmode="lin" valueType="num">
                                      <p:cBhvr>
                                        <p:cTn id="37" dur="1000" fill="hold"/>
                                        <p:tgtEl>
                                          <p:spTgt spid="13"/>
                                        </p:tgtEl>
                                        <p:attrNameLst>
                                          <p:attrName>ppt_y</p:attrName>
                                        </p:attrNameLst>
                                      </p:cBhvr>
                                      <p:tavLst>
                                        <p:tav tm="0">
                                          <p:val>
                                            <p:strVal val="#ppt_y+.1"/>
                                          </p:val>
                                        </p:tav>
                                        <p:tav tm="100000">
                                          <p:val>
                                            <p:strVal val="#ppt_y"/>
                                          </p:val>
                                        </p:tav>
                                      </p:tavLst>
                                    </p:anim>
                                  </p:childTnLst>
                                </p:cTn>
                              </p:par>
                              <p:par>
                                <p:cTn id="38" presetID="42" presetClass="entr" presetSubtype="0" fill="hold" grpId="0" nodeType="withEffect">
                                  <p:stCondLst>
                                    <p:cond delay="0"/>
                                  </p:stCondLst>
                                  <p:childTnLst>
                                    <p:set>
                                      <p:cBhvr>
                                        <p:cTn id="39" dur="1" fill="hold">
                                          <p:stCondLst>
                                            <p:cond delay="0"/>
                                          </p:stCondLst>
                                        </p:cTn>
                                        <p:tgtEl>
                                          <p:spTgt spid="12"/>
                                        </p:tgtEl>
                                        <p:attrNameLst>
                                          <p:attrName>style.visibility</p:attrName>
                                        </p:attrNameLst>
                                      </p:cBhvr>
                                      <p:to>
                                        <p:strVal val="visible"/>
                                      </p:to>
                                    </p:set>
                                    <p:animEffect transition="in" filter="fade">
                                      <p:cBhvr>
                                        <p:cTn id="40" dur="1000"/>
                                        <p:tgtEl>
                                          <p:spTgt spid="12"/>
                                        </p:tgtEl>
                                      </p:cBhvr>
                                    </p:animEffect>
                                    <p:anim calcmode="lin" valueType="num">
                                      <p:cBhvr>
                                        <p:cTn id="41" dur="1000" fill="hold"/>
                                        <p:tgtEl>
                                          <p:spTgt spid="12"/>
                                        </p:tgtEl>
                                        <p:attrNameLst>
                                          <p:attrName>ppt_x</p:attrName>
                                        </p:attrNameLst>
                                      </p:cBhvr>
                                      <p:tavLst>
                                        <p:tav tm="0">
                                          <p:val>
                                            <p:strVal val="#ppt_x"/>
                                          </p:val>
                                        </p:tav>
                                        <p:tav tm="100000">
                                          <p:val>
                                            <p:strVal val="#ppt_x"/>
                                          </p:val>
                                        </p:tav>
                                      </p:tavLst>
                                    </p:anim>
                                    <p:anim calcmode="lin" valueType="num">
                                      <p:cBhvr>
                                        <p:cTn id="4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grpId="0" nodeType="clickEffect">
                                  <p:stCondLst>
                                    <p:cond delay="0"/>
                                  </p:stCondLst>
                                  <p:childTnLst>
                                    <p:set>
                                      <p:cBhvr>
                                        <p:cTn id="46" dur="1" fill="hold">
                                          <p:stCondLst>
                                            <p:cond delay="0"/>
                                          </p:stCondLst>
                                        </p:cTn>
                                        <p:tgtEl>
                                          <p:spTgt spid="14"/>
                                        </p:tgtEl>
                                        <p:attrNameLst>
                                          <p:attrName>style.visibility</p:attrName>
                                        </p:attrNameLst>
                                      </p:cBhvr>
                                      <p:to>
                                        <p:strVal val="visible"/>
                                      </p:to>
                                    </p:set>
                                    <p:animEffect transition="in" filter="fade">
                                      <p:cBhvr>
                                        <p:cTn id="47" dur="1000"/>
                                        <p:tgtEl>
                                          <p:spTgt spid="14"/>
                                        </p:tgtEl>
                                      </p:cBhvr>
                                    </p:animEffect>
                                    <p:anim calcmode="lin" valueType="num">
                                      <p:cBhvr>
                                        <p:cTn id="48" dur="1000" fill="hold"/>
                                        <p:tgtEl>
                                          <p:spTgt spid="14"/>
                                        </p:tgtEl>
                                        <p:attrNameLst>
                                          <p:attrName>ppt_x</p:attrName>
                                        </p:attrNameLst>
                                      </p:cBhvr>
                                      <p:tavLst>
                                        <p:tav tm="0">
                                          <p:val>
                                            <p:strVal val="#ppt_x"/>
                                          </p:val>
                                        </p:tav>
                                        <p:tav tm="100000">
                                          <p:val>
                                            <p:strVal val="#ppt_x"/>
                                          </p:val>
                                        </p:tav>
                                      </p:tavLst>
                                    </p:anim>
                                    <p:anim calcmode="lin" valueType="num">
                                      <p:cBhvr>
                                        <p:cTn id="49" dur="1000" fill="hold"/>
                                        <p:tgtEl>
                                          <p:spTgt spid="14"/>
                                        </p:tgtEl>
                                        <p:attrNameLst>
                                          <p:attrName>ppt_y</p:attrName>
                                        </p:attrNameLst>
                                      </p:cBhvr>
                                      <p:tavLst>
                                        <p:tav tm="0">
                                          <p:val>
                                            <p:strVal val="#ppt_y+.1"/>
                                          </p:val>
                                        </p:tav>
                                        <p:tav tm="100000">
                                          <p:val>
                                            <p:strVal val="#ppt_y"/>
                                          </p:val>
                                        </p:tav>
                                      </p:tavLst>
                                    </p:anim>
                                  </p:childTnLst>
                                </p:cTn>
                              </p:par>
                              <p:par>
                                <p:cTn id="50" presetID="42" presetClass="entr" presetSubtype="0" fill="hold" grpId="0" nodeType="withEffect">
                                  <p:stCondLst>
                                    <p:cond delay="0"/>
                                  </p:stCondLst>
                                  <p:childTnLst>
                                    <p:set>
                                      <p:cBhvr>
                                        <p:cTn id="51" dur="1" fill="hold">
                                          <p:stCondLst>
                                            <p:cond delay="0"/>
                                          </p:stCondLst>
                                        </p:cTn>
                                        <p:tgtEl>
                                          <p:spTgt spid="15"/>
                                        </p:tgtEl>
                                        <p:attrNameLst>
                                          <p:attrName>style.visibility</p:attrName>
                                        </p:attrNameLst>
                                      </p:cBhvr>
                                      <p:to>
                                        <p:strVal val="visible"/>
                                      </p:to>
                                    </p:set>
                                    <p:animEffect transition="in" filter="fade">
                                      <p:cBhvr>
                                        <p:cTn id="52" dur="1000"/>
                                        <p:tgtEl>
                                          <p:spTgt spid="15"/>
                                        </p:tgtEl>
                                      </p:cBhvr>
                                    </p:animEffect>
                                    <p:anim calcmode="lin" valueType="num">
                                      <p:cBhvr>
                                        <p:cTn id="53" dur="1000" fill="hold"/>
                                        <p:tgtEl>
                                          <p:spTgt spid="15"/>
                                        </p:tgtEl>
                                        <p:attrNameLst>
                                          <p:attrName>ppt_x</p:attrName>
                                        </p:attrNameLst>
                                      </p:cBhvr>
                                      <p:tavLst>
                                        <p:tav tm="0">
                                          <p:val>
                                            <p:strVal val="#ppt_x"/>
                                          </p:val>
                                        </p:tav>
                                        <p:tav tm="100000">
                                          <p:val>
                                            <p:strVal val="#ppt_x"/>
                                          </p:val>
                                        </p:tav>
                                      </p:tavLst>
                                    </p:anim>
                                    <p:anim calcmode="lin" valueType="num">
                                      <p:cBhvr>
                                        <p:cTn id="54"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2" grpId="0"/>
      <p:bldP spid="13" grpId="0"/>
      <p:bldP spid="14" grpId="0"/>
      <p:bldP spid="15" grpId="0"/>
    </p:bld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472A94C-F09E-4BC2-A50F-85778475632F}"/>
              </a:ext>
            </a:extLst>
          </p:cNvPr>
          <p:cNvSpPr>
            <a:spLocks noGrp="1"/>
          </p:cNvSpPr>
          <p:nvPr>
            <p:ph type="title"/>
          </p:nvPr>
        </p:nvSpPr>
        <p:spPr/>
        <p:txBody>
          <a:bodyPr/>
          <a:lstStyle/>
          <a:p>
            <a:r>
              <a:rPr lang="en-IN" dirty="0"/>
              <a:t>DEPENDENT_OF</a:t>
            </a:r>
          </a:p>
        </p:txBody>
      </p:sp>
      <p:pic>
        <p:nvPicPr>
          <p:cNvPr id="5" name="Content Placeholder 4">
            <a:extLst>
              <a:ext uri="{FF2B5EF4-FFF2-40B4-BE49-F238E27FC236}">
                <a16:creationId xmlns:a16="http://schemas.microsoft.com/office/drawing/2014/main" xmlns="" id="{DB3B260F-89FC-45F3-9EDC-5B4690A4D6EE}"/>
              </a:ext>
            </a:extLst>
          </p:cNvPr>
          <p:cNvPicPr>
            <a:picLocks noGrp="1" noChangeAspect="1"/>
          </p:cNvPicPr>
          <p:nvPr>
            <p:ph idx="1"/>
          </p:nvPr>
        </p:nvPicPr>
        <p:blipFill>
          <a:blip r:embed="rId2"/>
          <a:stretch>
            <a:fillRect/>
          </a:stretch>
        </p:blipFill>
        <p:spPr>
          <a:xfrm>
            <a:off x="0" y="3613666"/>
            <a:ext cx="4686300" cy="1905000"/>
          </a:xfrm>
        </p:spPr>
      </p:pic>
      <p:pic>
        <p:nvPicPr>
          <p:cNvPr id="7" name="Picture 6">
            <a:extLst>
              <a:ext uri="{FF2B5EF4-FFF2-40B4-BE49-F238E27FC236}">
                <a16:creationId xmlns:a16="http://schemas.microsoft.com/office/drawing/2014/main" xmlns="" id="{CC67B3D0-73DF-4461-A108-29996B2D7936}"/>
              </a:ext>
            </a:extLst>
          </p:cNvPr>
          <p:cNvPicPr>
            <a:picLocks noChangeAspect="1"/>
          </p:cNvPicPr>
          <p:nvPr/>
        </p:nvPicPr>
        <p:blipFill rotWithShape="1">
          <a:blip r:embed="rId3"/>
          <a:srcRect r="58974" b="44509"/>
          <a:stretch/>
        </p:blipFill>
        <p:spPr>
          <a:xfrm>
            <a:off x="8653187" y="1690688"/>
            <a:ext cx="3665422" cy="2452468"/>
          </a:xfrm>
          <a:prstGeom prst="rect">
            <a:avLst/>
          </a:prstGeom>
        </p:spPr>
      </p:pic>
      <p:sp>
        <p:nvSpPr>
          <p:cNvPr id="8" name="Diamond 7">
            <a:extLst>
              <a:ext uri="{FF2B5EF4-FFF2-40B4-BE49-F238E27FC236}">
                <a16:creationId xmlns:a16="http://schemas.microsoft.com/office/drawing/2014/main" xmlns="" id="{BB9BE439-4BCB-460E-B517-AC95DD6A0ACC}"/>
              </a:ext>
            </a:extLst>
          </p:cNvPr>
          <p:cNvSpPr/>
          <p:nvPr/>
        </p:nvSpPr>
        <p:spPr>
          <a:xfrm>
            <a:off x="4909625" y="3429000"/>
            <a:ext cx="3234104" cy="1072662"/>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Diamond 8">
            <a:extLst>
              <a:ext uri="{FF2B5EF4-FFF2-40B4-BE49-F238E27FC236}">
                <a16:creationId xmlns:a16="http://schemas.microsoft.com/office/drawing/2014/main" xmlns="" id="{2121B6CA-7D51-4398-9AB7-6E90B1E2F5CD}"/>
              </a:ext>
            </a:extLst>
          </p:cNvPr>
          <p:cNvSpPr/>
          <p:nvPr/>
        </p:nvSpPr>
        <p:spPr>
          <a:xfrm>
            <a:off x="5228639" y="3585503"/>
            <a:ext cx="2596077" cy="759655"/>
          </a:xfrm>
          <a:prstGeom prst="diamond">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IN" dirty="0"/>
              <a:t>DEPENDENT_OF</a:t>
            </a:r>
          </a:p>
        </p:txBody>
      </p:sp>
      <p:cxnSp>
        <p:nvCxnSpPr>
          <p:cNvPr id="11" name="Straight Connector 10">
            <a:extLst>
              <a:ext uri="{FF2B5EF4-FFF2-40B4-BE49-F238E27FC236}">
                <a16:creationId xmlns:a16="http://schemas.microsoft.com/office/drawing/2014/main" xmlns="" id="{DC3714BC-E708-4AFF-9E3E-551CA928A12B}"/>
              </a:ext>
            </a:extLst>
          </p:cNvPr>
          <p:cNvCxnSpPr/>
          <p:nvPr/>
        </p:nvCxnSpPr>
        <p:spPr>
          <a:xfrm>
            <a:off x="3277771" y="3953462"/>
            <a:ext cx="1631853" cy="0"/>
          </a:xfrm>
          <a:prstGeom prst="line">
            <a:avLst/>
          </a:prstGeom>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xmlns="" id="{55C45522-3B77-4DEE-B71E-A3C9914AEFB2}"/>
              </a:ext>
            </a:extLst>
          </p:cNvPr>
          <p:cNvSpPr txBox="1"/>
          <p:nvPr/>
        </p:nvSpPr>
        <p:spPr>
          <a:xfrm>
            <a:off x="7824716" y="3087831"/>
            <a:ext cx="459274" cy="369332"/>
          </a:xfrm>
          <a:prstGeom prst="rect">
            <a:avLst/>
          </a:prstGeom>
          <a:noFill/>
        </p:spPr>
        <p:txBody>
          <a:bodyPr wrap="square" rtlCol="0">
            <a:spAutoFit/>
          </a:bodyPr>
          <a:lstStyle/>
          <a:p>
            <a:r>
              <a:rPr lang="en-IN" dirty="0"/>
              <a:t>1</a:t>
            </a:r>
          </a:p>
        </p:txBody>
      </p:sp>
      <p:sp>
        <p:nvSpPr>
          <p:cNvPr id="14" name="TextBox 13">
            <a:extLst>
              <a:ext uri="{FF2B5EF4-FFF2-40B4-BE49-F238E27FC236}">
                <a16:creationId xmlns:a16="http://schemas.microsoft.com/office/drawing/2014/main" xmlns="" id="{C1608207-E2C4-45CF-98E2-C4E758D0AE72}"/>
              </a:ext>
            </a:extLst>
          </p:cNvPr>
          <p:cNvSpPr txBox="1"/>
          <p:nvPr/>
        </p:nvSpPr>
        <p:spPr>
          <a:xfrm>
            <a:off x="4121834" y="3244334"/>
            <a:ext cx="383480" cy="369332"/>
          </a:xfrm>
          <a:prstGeom prst="rect">
            <a:avLst/>
          </a:prstGeom>
          <a:noFill/>
        </p:spPr>
        <p:txBody>
          <a:bodyPr wrap="square" rtlCol="0">
            <a:spAutoFit/>
          </a:bodyPr>
          <a:lstStyle/>
          <a:p>
            <a:r>
              <a:rPr lang="en-IN" dirty="0"/>
              <a:t>N</a:t>
            </a:r>
          </a:p>
        </p:txBody>
      </p:sp>
      <p:cxnSp>
        <p:nvCxnSpPr>
          <p:cNvPr id="15" name="Straight Connector 14">
            <a:extLst>
              <a:ext uri="{FF2B5EF4-FFF2-40B4-BE49-F238E27FC236}">
                <a16:creationId xmlns:a16="http://schemas.microsoft.com/office/drawing/2014/main" xmlns="" id="{ECA81635-BB14-4896-8C21-0A620CB57865}"/>
              </a:ext>
            </a:extLst>
          </p:cNvPr>
          <p:cNvCxnSpPr/>
          <p:nvPr/>
        </p:nvCxnSpPr>
        <p:spPr>
          <a:xfrm>
            <a:off x="3277772" y="4143156"/>
            <a:ext cx="1631853"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xmlns="" id="{09AC8845-62EE-4324-BE27-483CFE3FD413}"/>
              </a:ext>
            </a:extLst>
          </p:cNvPr>
          <p:cNvCxnSpPr/>
          <p:nvPr/>
        </p:nvCxnSpPr>
        <p:spPr>
          <a:xfrm>
            <a:off x="8226467" y="3953462"/>
            <a:ext cx="163185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70869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1000"/>
                                        <p:tgtEl>
                                          <p:spTgt spid="8"/>
                                        </p:tgtEl>
                                      </p:cBhvr>
                                    </p:animEffect>
                                    <p:anim calcmode="lin" valueType="num">
                                      <p:cBhvr>
                                        <p:cTn id="20" dur="1000" fill="hold"/>
                                        <p:tgtEl>
                                          <p:spTgt spid="8"/>
                                        </p:tgtEl>
                                        <p:attrNameLst>
                                          <p:attrName>ppt_x</p:attrName>
                                        </p:attrNameLst>
                                      </p:cBhvr>
                                      <p:tavLst>
                                        <p:tav tm="0">
                                          <p:val>
                                            <p:strVal val="#ppt_x"/>
                                          </p:val>
                                        </p:tav>
                                        <p:tav tm="100000">
                                          <p:val>
                                            <p:strVal val="#ppt_x"/>
                                          </p:val>
                                        </p:tav>
                                      </p:tavLst>
                                    </p:anim>
                                    <p:anim calcmode="lin" valueType="num">
                                      <p:cBhvr>
                                        <p:cTn id="21" dur="1000" fill="hold"/>
                                        <p:tgtEl>
                                          <p:spTgt spid="8"/>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1000"/>
                                        <p:tgtEl>
                                          <p:spTgt spid="9"/>
                                        </p:tgtEl>
                                      </p:cBhvr>
                                    </p:animEffect>
                                    <p:anim calcmode="lin" valueType="num">
                                      <p:cBhvr>
                                        <p:cTn id="25" dur="1000" fill="hold"/>
                                        <p:tgtEl>
                                          <p:spTgt spid="9"/>
                                        </p:tgtEl>
                                        <p:attrNameLst>
                                          <p:attrName>ppt_x</p:attrName>
                                        </p:attrNameLst>
                                      </p:cBhvr>
                                      <p:tavLst>
                                        <p:tav tm="0">
                                          <p:val>
                                            <p:strVal val="#ppt_x"/>
                                          </p:val>
                                        </p:tav>
                                        <p:tav tm="100000">
                                          <p:val>
                                            <p:strVal val="#ppt_x"/>
                                          </p:val>
                                        </p:tav>
                                      </p:tavLst>
                                    </p:anim>
                                    <p:anim calcmode="lin" valueType="num">
                                      <p:cBhvr>
                                        <p:cTn id="2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1000"/>
                                        <p:tgtEl>
                                          <p:spTgt spid="11"/>
                                        </p:tgtEl>
                                      </p:cBhvr>
                                    </p:animEffect>
                                    <p:anim calcmode="lin" valueType="num">
                                      <p:cBhvr>
                                        <p:cTn id="32" dur="1000" fill="hold"/>
                                        <p:tgtEl>
                                          <p:spTgt spid="11"/>
                                        </p:tgtEl>
                                        <p:attrNameLst>
                                          <p:attrName>ppt_x</p:attrName>
                                        </p:attrNameLst>
                                      </p:cBhvr>
                                      <p:tavLst>
                                        <p:tav tm="0">
                                          <p:val>
                                            <p:strVal val="#ppt_x"/>
                                          </p:val>
                                        </p:tav>
                                        <p:tav tm="100000">
                                          <p:val>
                                            <p:strVal val="#ppt_x"/>
                                          </p:val>
                                        </p:tav>
                                      </p:tavLst>
                                    </p:anim>
                                    <p:anim calcmode="lin" valueType="num">
                                      <p:cBhvr>
                                        <p:cTn id="33" dur="1000" fill="hold"/>
                                        <p:tgtEl>
                                          <p:spTgt spid="11"/>
                                        </p:tgtEl>
                                        <p:attrNameLst>
                                          <p:attrName>ppt_y</p:attrName>
                                        </p:attrNameLst>
                                      </p:cBhvr>
                                      <p:tavLst>
                                        <p:tav tm="0">
                                          <p:val>
                                            <p:strVal val="#ppt_y+.1"/>
                                          </p:val>
                                        </p:tav>
                                        <p:tav tm="100000">
                                          <p:val>
                                            <p:strVal val="#ppt_y"/>
                                          </p:val>
                                        </p:tav>
                                      </p:tavLst>
                                    </p:anim>
                                  </p:childTnLst>
                                </p:cTn>
                              </p:par>
                              <p:par>
                                <p:cTn id="34" presetID="42" presetClass="entr" presetSubtype="0" fill="hold"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1000"/>
                                        <p:tgtEl>
                                          <p:spTgt spid="15"/>
                                        </p:tgtEl>
                                      </p:cBhvr>
                                    </p:animEffect>
                                    <p:anim calcmode="lin" valueType="num">
                                      <p:cBhvr>
                                        <p:cTn id="37" dur="1000" fill="hold"/>
                                        <p:tgtEl>
                                          <p:spTgt spid="15"/>
                                        </p:tgtEl>
                                        <p:attrNameLst>
                                          <p:attrName>ppt_x</p:attrName>
                                        </p:attrNameLst>
                                      </p:cBhvr>
                                      <p:tavLst>
                                        <p:tav tm="0">
                                          <p:val>
                                            <p:strVal val="#ppt_x"/>
                                          </p:val>
                                        </p:tav>
                                        <p:tav tm="100000">
                                          <p:val>
                                            <p:strVal val="#ppt_x"/>
                                          </p:val>
                                        </p:tav>
                                      </p:tavLst>
                                    </p:anim>
                                    <p:anim calcmode="lin" valueType="num">
                                      <p:cBhvr>
                                        <p:cTn id="38" dur="1000" fill="hold"/>
                                        <p:tgtEl>
                                          <p:spTgt spid="15"/>
                                        </p:tgtEl>
                                        <p:attrNameLst>
                                          <p:attrName>ppt_y</p:attrName>
                                        </p:attrNameLst>
                                      </p:cBhvr>
                                      <p:tavLst>
                                        <p:tav tm="0">
                                          <p:val>
                                            <p:strVal val="#ppt_y+.1"/>
                                          </p:val>
                                        </p:tav>
                                        <p:tav tm="100000">
                                          <p:val>
                                            <p:strVal val="#ppt_y"/>
                                          </p:val>
                                        </p:tav>
                                      </p:tavLst>
                                    </p:anim>
                                  </p:childTnLst>
                                </p:cTn>
                              </p:par>
                              <p:par>
                                <p:cTn id="39" presetID="42" presetClass="entr" presetSubtype="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1000"/>
                                        <p:tgtEl>
                                          <p:spTgt spid="16"/>
                                        </p:tgtEl>
                                      </p:cBhvr>
                                    </p:animEffect>
                                    <p:anim calcmode="lin" valueType="num">
                                      <p:cBhvr>
                                        <p:cTn id="42" dur="1000" fill="hold"/>
                                        <p:tgtEl>
                                          <p:spTgt spid="16"/>
                                        </p:tgtEl>
                                        <p:attrNameLst>
                                          <p:attrName>ppt_x</p:attrName>
                                        </p:attrNameLst>
                                      </p:cBhvr>
                                      <p:tavLst>
                                        <p:tav tm="0">
                                          <p:val>
                                            <p:strVal val="#ppt_x"/>
                                          </p:val>
                                        </p:tav>
                                        <p:tav tm="100000">
                                          <p:val>
                                            <p:strVal val="#ppt_x"/>
                                          </p:val>
                                        </p:tav>
                                      </p:tavLst>
                                    </p:anim>
                                    <p:anim calcmode="lin" valueType="num">
                                      <p:cBhvr>
                                        <p:cTn id="43"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42" presetClass="entr" presetSubtype="0" fill="hold" grpId="0" nodeType="clickEffect">
                                  <p:stCondLst>
                                    <p:cond delay="0"/>
                                  </p:stCondLst>
                                  <p:childTnLst>
                                    <p:set>
                                      <p:cBhvr>
                                        <p:cTn id="47" dur="1" fill="hold">
                                          <p:stCondLst>
                                            <p:cond delay="0"/>
                                          </p:stCondLst>
                                        </p:cTn>
                                        <p:tgtEl>
                                          <p:spTgt spid="13"/>
                                        </p:tgtEl>
                                        <p:attrNameLst>
                                          <p:attrName>style.visibility</p:attrName>
                                        </p:attrNameLst>
                                      </p:cBhvr>
                                      <p:to>
                                        <p:strVal val="visible"/>
                                      </p:to>
                                    </p:set>
                                    <p:animEffect transition="in" filter="fade">
                                      <p:cBhvr>
                                        <p:cTn id="48" dur="1000"/>
                                        <p:tgtEl>
                                          <p:spTgt spid="13"/>
                                        </p:tgtEl>
                                      </p:cBhvr>
                                    </p:animEffect>
                                    <p:anim calcmode="lin" valueType="num">
                                      <p:cBhvr>
                                        <p:cTn id="49" dur="1000" fill="hold"/>
                                        <p:tgtEl>
                                          <p:spTgt spid="13"/>
                                        </p:tgtEl>
                                        <p:attrNameLst>
                                          <p:attrName>ppt_x</p:attrName>
                                        </p:attrNameLst>
                                      </p:cBhvr>
                                      <p:tavLst>
                                        <p:tav tm="0">
                                          <p:val>
                                            <p:strVal val="#ppt_x"/>
                                          </p:val>
                                        </p:tav>
                                        <p:tav tm="100000">
                                          <p:val>
                                            <p:strVal val="#ppt_x"/>
                                          </p:val>
                                        </p:tav>
                                      </p:tavLst>
                                    </p:anim>
                                    <p:anim calcmode="lin" valueType="num">
                                      <p:cBhvr>
                                        <p:cTn id="50" dur="1000" fill="hold"/>
                                        <p:tgtEl>
                                          <p:spTgt spid="13"/>
                                        </p:tgtEl>
                                        <p:attrNameLst>
                                          <p:attrName>ppt_y</p:attrName>
                                        </p:attrNameLst>
                                      </p:cBhvr>
                                      <p:tavLst>
                                        <p:tav tm="0">
                                          <p:val>
                                            <p:strVal val="#ppt_y+.1"/>
                                          </p:val>
                                        </p:tav>
                                        <p:tav tm="100000">
                                          <p:val>
                                            <p:strVal val="#ppt_y"/>
                                          </p:val>
                                        </p:tav>
                                      </p:tavLst>
                                    </p:anim>
                                  </p:childTnLst>
                                </p:cTn>
                              </p:par>
                              <p:par>
                                <p:cTn id="51" presetID="42" presetClass="entr" presetSubtype="0" fill="hold" grpId="0" nodeType="withEffect">
                                  <p:stCondLst>
                                    <p:cond delay="0"/>
                                  </p:stCondLst>
                                  <p:childTnLst>
                                    <p:set>
                                      <p:cBhvr>
                                        <p:cTn id="52" dur="1" fill="hold">
                                          <p:stCondLst>
                                            <p:cond delay="0"/>
                                          </p:stCondLst>
                                        </p:cTn>
                                        <p:tgtEl>
                                          <p:spTgt spid="14"/>
                                        </p:tgtEl>
                                        <p:attrNameLst>
                                          <p:attrName>style.visibility</p:attrName>
                                        </p:attrNameLst>
                                      </p:cBhvr>
                                      <p:to>
                                        <p:strVal val="visible"/>
                                      </p:to>
                                    </p:set>
                                    <p:animEffect transition="in" filter="fade">
                                      <p:cBhvr>
                                        <p:cTn id="53" dur="1000"/>
                                        <p:tgtEl>
                                          <p:spTgt spid="14"/>
                                        </p:tgtEl>
                                      </p:cBhvr>
                                    </p:animEffect>
                                    <p:anim calcmode="lin" valueType="num">
                                      <p:cBhvr>
                                        <p:cTn id="54" dur="1000" fill="hold"/>
                                        <p:tgtEl>
                                          <p:spTgt spid="14"/>
                                        </p:tgtEl>
                                        <p:attrNameLst>
                                          <p:attrName>ppt_x</p:attrName>
                                        </p:attrNameLst>
                                      </p:cBhvr>
                                      <p:tavLst>
                                        <p:tav tm="0">
                                          <p:val>
                                            <p:strVal val="#ppt_x"/>
                                          </p:val>
                                        </p:tav>
                                        <p:tav tm="100000">
                                          <p:val>
                                            <p:strVal val="#ppt_x"/>
                                          </p:val>
                                        </p:tav>
                                      </p:tavLst>
                                    </p:anim>
                                    <p:anim calcmode="lin" valueType="num">
                                      <p:cBhvr>
                                        <p:cTn id="55"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3" grpId="0"/>
      <p:bldP spid="14" grpId="0"/>
    </p:bld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15">
            <a:extLst>
              <a:ext uri="{FF2B5EF4-FFF2-40B4-BE49-F238E27FC236}">
                <a16:creationId xmlns:a16="http://schemas.microsoft.com/office/drawing/2014/main" xmlns="" id="{3391C3CE-0FDF-40E8-ACB1-D8731537C5F9}"/>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14691" name="Picture 1">
            <a:extLst>
              <a:ext uri="{FF2B5EF4-FFF2-40B4-BE49-F238E27FC236}">
                <a16:creationId xmlns:a16="http://schemas.microsoft.com/office/drawing/2014/main" xmlns="" id="{8A774A08-146F-4E5C-A9F7-6E2FEA604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4692" name="Title 3">
            <a:extLst>
              <a:ext uri="{FF2B5EF4-FFF2-40B4-BE49-F238E27FC236}">
                <a16:creationId xmlns:a16="http://schemas.microsoft.com/office/drawing/2014/main" xmlns="" id="{ACAA2B1A-3B24-43A1-AF40-41C150C1F786}"/>
              </a:ext>
            </a:extLst>
          </p:cNvPr>
          <p:cNvSpPr txBox="1">
            <a:spLocks/>
          </p:cNvSpPr>
          <p:nvPr/>
        </p:nvSpPr>
        <p:spPr bwMode="auto">
          <a:xfrm>
            <a:off x="463550" y="852488"/>
            <a:ext cx="11353800" cy="5575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1600" b="1">
                <a:latin typeface="Times New Roman" panose="02020603050405020304" pitchFamily="18" charset="0"/>
                <a:cs typeface="Times New Roman" panose="02020603050405020304" pitchFamily="18" charset="0"/>
              </a:rPr>
              <a:t>Figure 3.11 An ER diagram for the COMPANY database. </a:t>
            </a:r>
          </a:p>
        </p:txBody>
      </p:sp>
      <p:sp>
        <p:nvSpPr>
          <p:cNvPr id="114693" name="Rectangle 2">
            <a:extLst>
              <a:ext uri="{FF2B5EF4-FFF2-40B4-BE49-F238E27FC236}">
                <a16:creationId xmlns:a16="http://schemas.microsoft.com/office/drawing/2014/main" xmlns="" id="{3091D337-AB6B-4C5A-AF6E-42B44835A238}"/>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ER DIAGRAM – Relationship Types are: </a:t>
            </a:r>
            <a:r>
              <a:rPr lang="en-US" altLang="en-US">
                <a:latin typeface="Times New Roman" panose="02020603050405020304" pitchFamily="18" charset="0"/>
                <a:cs typeface="Times New Roman" panose="02020603050405020304" pitchFamily="18" charset="0"/>
              </a:rPr>
              <a:t>WORKS_FOR, MANAGES, WORKS_ON, CONTROLS, SUPERVISION, DEPENDENTS_OF</a:t>
            </a:r>
          </a:p>
        </p:txBody>
      </p:sp>
      <p:pic>
        <p:nvPicPr>
          <p:cNvPr id="114694" name="Picture 7">
            <a:extLst>
              <a:ext uri="{FF2B5EF4-FFF2-40B4-BE49-F238E27FC236}">
                <a16:creationId xmlns:a16="http://schemas.microsoft.com/office/drawing/2014/main" xmlns="" id="{5816D182-F611-447C-BE73-7D85E37D6F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35113" y="1562100"/>
            <a:ext cx="9210675" cy="4010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14694"/>
                                        </p:tgtEl>
                                        <p:attrNameLst>
                                          <p:attrName>style.visibility</p:attrName>
                                        </p:attrNameLst>
                                      </p:cBhvr>
                                      <p:to>
                                        <p:strVal val="visible"/>
                                      </p:to>
                                    </p:set>
                                    <p:animEffect transition="in" filter="fade">
                                      <p:cBhvr>
                                        <p:cTn id="7" dur="1000"/>
                                        <p:tgtEl>
                                          <p:spTgt spid="114694"/>
                                        </p:tgtEl>
                                      </p:cBhvr>
                                    </p:animEffect>
                                    <p:anim calcmode="lin" valueType="num">
                                      <p:cBhvr>
                                        <p:cTn id="8" dur="1000" fill="hold"/>
                                        <p:tgtEl>
                                          <p:spTgt spid="114694"/>
                                        </p:tgtEl>
                                        <p:attrNameLst>
                                          <p:attrName>ppt_x</p:attrName>
                                        </p:attrNameLst>
                                      </p:cBhvr>
                                      <p:tavLst>
                                        <p:tav tm="0">
                                          <p:val>
                                            <p:strVal val="#ppt_x"/>
                                          </p:val>
                                        </p:tav>
                                        <p:tav tm="100000">
                                          <p:val>
                                            <p:strVal val="#ppt_x"/>
                                          </p:val>
                                        </p:tav>
                                      </p:tavLst>
                                    </p:anim>
                                    <p:anim calcmode="lin" valueType="num">
                                      <p:cBhvr>
                                        <p:cTn id="9" dur="1000" fill="hold"/>
                                        <p:tgtEl>
                                          <p:spTgt spid="11469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15">
            <a:extLst>
              <a:ext uri="{FF2B5EF4-FFF2-40B4-BE49-F238E27FC236}">
                <a16:creationId xmlns:a16="http://schemas.microsoft.com/office/drawing/2014/main" xmlns="" id="{81ECA929-5E9B-4E8B-99A3-53093659E172}"/>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15715" name="Picture 1">
            <a:extLst>
              <a:ext uri="{FF2B5EF4-FFF2-40B4-BE49-F238E27FC236}">
                <a16:creationId xmlns:a16="http://schemas.microsoft.com/office/drawing/2014/main" xmlns="" id="{DFBF717D-5C50-4D65-9A21-4EA0E2D35B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5716" name="Title 3">
            <a:extLst>
              <a:ext uri="{FF2B5EF4-FFF2-40B4-BE49-F238E27FC236}">
                <a16:creationId xmlns:a16="http://schemas.microsoft.com/office/drawing/2014/main" xmlns="" id="{BD7A5346-2004-4078-B90D-A2195D3CE2FA}"/>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15717" name="Rectangle 2">
            <a:extLst>
              <a:ext uri="{FF2B5EF4-FFF2-40B4-BE49-F238E27FC236}">
                <a16:creationId xmlns:a16="http://schemas.microsoft.com/office/drawing/2014/main" xmlns="" id="{C2B7490B-E30E-4B2E-888A-5F3E1039F4E2}"/>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Discussion on Relationship Types</a:t>
            </a:r>
          </a:p>
        </p:txBody>
      </p:sp>
      <p:sp>
        <p:nvSpPr>
          <p:cNvPr id="115718" name="Rectangle 5">
            <a:extLst>
              <a:ext uri="{FF2B5EF4-FFF2-40B4-BE49-F238E27FC236}">
                <a16:creationId xmlns:a16="http://schemas.microsoft.com/office/drawing/2014/main" xmlns="" id="{9002EB61-F5F3-4BEE-AFC4-4ED66D204AFD}"/>
              </a:ext>
            </a:extLst>
          </p:cNvPr>
          <p:cNvSpPr txBox="1">
            <a:spLocks noChangeArrowheads="1"/>
          </p:cNvSpPr>
          <p:nvPr/>
        </p:nvSpPr>
        <p:spPr bwMode="auto">
          <a:xfrm>
            <a:off x="788988" y="1162050"/>
            <a:ext cx="10144125" cy="457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r>
              <a:rPr lang="en-US" altLang="en-US" sz="2400">
                <a:latin typeface="Times New Roman" panose="02020603050405020304" pitchFamily="18" charset="0"/>
                <a:cs typeface="Times New Roman" panose="02020603050405020304" pitchFamily="18" charset="0"/>
              </a:rPr>
              <a:t>In the refined design, some attributes from the initial entity types are refined into relationships:</a:t>
            </a:r>
          </a:p>
          <a:p>
            <a:pPr lvl="1"/>
            <a:r>
              <a:rPr lang="en-US" altLang="en-US">
                <a:latin typeface="Times New Roman" panose="02020603050405020304" pitchFamily="18" charset="0"/>
                <a:cs typeface="Times New Roman" panose="02020603050405020304" pitchFamily="18" charset="0"/>
              </a:rPr>
              <a:t>Manager of DEPARTMENT -&gt; MANAGES</a:t>
            </a:r>
          </a:p>
          <a:p>
            <a:pPr lvl="1"/>
            <a:r>
              <a:rPr lang="en-US" altLang="en-US">
                <a:latin typeface="Times New Roman" panose="02020603050405020304" pitchFamily="18" charset="0"/>
                <a:cs typeface="Times New Roman" panose="02020603050405020304" pitchFamily="18" charset="0"/>
              </a:rPr>
              <a:t>Works_on of EMPLOYEE -&gt; WORKS_ON</a:t>
            </a:r>
          </a:p>
          <a:p>
            <a:pPr lvl="1"/>
            <a:r>
              <a:rPr lang="en-US" altLang="en-US">
                <a:latin typeface="Times New Roman" panose="02020603050405020304" pitchFamily="18" charset="0"/>
                <a:cs typeface="Times New Roman" panose="02020603050405020304" pitchFamily="18" charset="0"/>
              </a:rPr>
              <a:t>Department of EMPLOYEE -&gt; WORKS_FOR</a:t>
            </a:r>
          </a:p>
          <a:p>
            <a:pPr lvl="1"/>
            <a:r>
              <a:rPr lang="en-US" altLang="en-US">
                <a:latin typeface="Times New Roman" panose="02020603050405020304" pitchFamily="18" charset="0"/>
                <a:cs typeface="Times New Roman" panose="02020603050405020304" pitchFamily="18" charset="0"/>
              </a:rPr>
              <a:t>etc</a:t>
            </a:r>
          </a:p>
          <a:p>
            <a:r>
              <a:rPr lang="en-US" altLang="en-US" sz="2400">
                <a:latin typeface="Times New Roman" panose="02020603050405020304" pitchFamily="18" charset="0"/>
                <a:cs typeface="Times New Roman" panose="02020603050405020304" pitchFamily="18" charset="0"/>
              </a:rPr>
              <a:t>In general, more than one relationship type can exist between the same participating entity types </a:t>
            </a:r>
          </a:p>
          <a:p>
            <a:pPr lvl="1"/>
            <a:r>
              <a:rPr lang="en-US" altLang="en-US">
                <a:latin typeface="Times New Roman" panose="02020603050405020304" pitchFamily="18" charset="0"/>
                <a:cs typeface="Times New Roman" panose="02020603050405020304" pitchFamily="18" charset="0"/>
              </a:rPr>
              <a:t>MANAGES and WORKS_FOR are distinct relationship types between EMPLOYEE and DEPARTMENT</a:t>
            </a:r>
          </a:p>
          <a:p>
            <a:pPr lvl="1"/>
            <a:r>
              <a:rPr lang="en-US" altLang="en-US">
                <a:latin typeface="Times New Roman" panose="02020603050405020304" pitchFamily="18" charset="0"/>
                <a:cs typeface="Times New Roman" panose="02020603050405020304" pitchFamily="18" charset="0"/>
              </a:rPr>
              <a:t>Different meanings and different relationship instances.</a:t>
            </a:r>
          </a:p>
        </p:txBody>
      </p:sp>
    </p:spTree>
  </p:cSld>
  <p:clrMapOvr>
    <a:masterClrMapping/>
  </p:clrMapOvr>
  <p:transition spd="slow">
    <p:wipe/>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15">
            <a:extLst>
              <a:ext uri="{FF2B5EF4-FFF2-40B4-BE49-F238E27FC236}">
                <a16:creationId xmlns:a16="http://schemas.microsoft.com/office/drawing/2014/main" xmlns="" id="{0273278C-5A1D-4C08-B944-7EC4FC9E6122}"/>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25955" name="Picture 1">
            <a:extLst>
              <a:ext uri="{FF2B5EF4-FFF2-40B4-BE49-F238E27FC236}">
                <a16:creationId xmlns:a16="http://schemas.microsoft.com/office/drawing/2014/main" xmlns="" id="{050466BF-AEA6-4302-9194-591F89CB45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E8EBDCC2-EAB0-4B9C-8D1A-18100D0EA32F}"/>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defRPr/>
            </a:pPr>
            <a:r>
              <a:rPr lang="en-IN" sz="2400" dirty="0">
                <a:latin typeface="Times New Roman" pitchFamily="18" charset="0"/>
                <a:cs typeface="Times New Roman" pitchFamily="18" charset="0"/>
              </a:rPr>
              <a:t>22. A ………………. does not have a distinguishing attribute if its own and most are dependent entities, which are part of some another entity.</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Weak entity               b) Strong entity     c) Non-attributes entity   d)Dependent entity</a:t>
            </a:r>
          </a:p>
          <a:p>
            <a:pPr>
              <a:defRPr/>
            </a:pPr>
            <a:endParaRPr lang="en-IN" sz="2400" dirty="0">
              <a:latin typeface="Times New Roman" pitchFamily="18" charset="0"/>
              <a:cs typeface="Times New Roman" pitchFamily="18" charset="0"/>
            </a:endParaRPr>
          </a:p>
          <a:p>
            <a:pPr>
              <a:defRPr/>
            </a:pPr>
            <a:r>
              <a:rPr lang="en-IN" sz="2400" dirty="0" err="1">
                <a:latin typeface="Times New Roman" pitchFamily="18" charset="0"/>
                <a:cs typeface="Times New Roman" pitchFamily="18" charset="0"/>
              </a:rPr>
              <a:t>Ans</a:t>
            </a:r>
            <a:r>
              <a:rPr lang="en-IN" sz="2400" dirty="0">
                <a:latin typeface="Times New Roman" pitchFamily="18" charset="0"/>
                <a:cs typeface="Times New Roman" pitchFamily="18" charset="0"/>
              </a:rPr>
              <a:t>: </a:t>
            </a:r>
            <a:r>
              <a:rPr lang="en-IN" sz="2400" dirty="0">
                <a:solidFill>
                  <a:srgbClr val="00B050"/>
                </a:solidFill>
                <a:latin typeface="Times New Roman" pitchFamily="18" charset="0"/>
                <a:cs typeface="Times New Roman" pitchFamily="18" charset="0"/>
              </a:rPr>
              <a:t>Weak entity</a:t>
            </a:r>
          </a:p>
          <a:p>
            <a:pPr>
              <a:defRPr/>
            </a:pPr>
            <a:endParaRPr lang="en-IN" sz="2400" dirty="0">
              <a:latin typeface="Times New Roman" pitchFamily="18" charset="0"/>
              <a:cs typeface="Times New Roman" pitchFamily="18" charset="0"/>
            </a:endParaRPr>
          </a:p>
          <a:p>
            <a:pPr>
              <a:defRPr/>
            </a:pPr>
            <a:r>
              <a:rPr lang="en-IN" sz="2400" dirty="0">
                <a:latin typeface="Times New Roman" pitchFamily="18" charset="0"/>
                <a:cs typeface="Times New Roman" pitchFamily="18" charset="0"/>
              </a:rPr>
              <a:t>23. The number of tuples in a relation is called its …………. While the number of entities in a relation is called it’s ………………..</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Degree, Cardinality    b) Cardinality, Degree      c) Rows, Columns   d) Columns, Rows</a:t>
            </a:r>
          </a:p>
          <a:p>
            <a:pPr marL="457200" indent="-457200">
              <a:buFont typeface="+mj-lt"/>
              <a:buAutoNum type="alphaLcParenR"/>
              <a:defRPr/>
            </a:pPr>
            <a:endParaRPr lang="en-IN" sz="2400" dirty="0">
              <a:solidFill>
                <a:srgbClr val="FF0000"/>
              </a:solidFill>
              <a:latin typeface="Times New Roman" pitchFamily="18" charset="0"/>
              <a:cs typeface="Times New Roman" pitchFamily="18" charset="0"/>
            </a:endParaRPr>
          </a:p>
          <a:p>
            <a:pPr>
              <a:defRPr/>
            </a:pPr>
            <a:r>
              <a:rPr lang="en-IN" sz="2400" dirty="0" err="1">
                <a:latin typeface="Times New Roman" pitchFamily="18" charset="0"/>
                <a:cs typeface="Times New Roman" pitchFamily="18" charset="0"/>
              </a:rPr>
              <a:t>Ans</a:t>
            </a:r>
            <a:r>
              <a:rPr lang="en-IN" sz="2400" dirty="0">
                <a:latin typeface="Times New Roman" pitchFamily="18" charset="0"/>
                <a:cs typeface="Times New Roman" pitchFamily="18" charset="0"/>
              </a:rPr>
              <a:t>: </a:t>
            </a:r>
            <a:r>
              <a:rPr lang="en-IN" sz="2400" dirty="0">
                <a:solidFill>
                  <a:srgbClr val="00B050"/>
                </a:solidFill>
                <a:latin typeface="Times New Roman" pitchFamily="18" charset="0"/>
                <a:cs typeface="Times New Roman" pitchFamily="18" charset="0"/>
              </a:rPr>
              <a:t>b) Cardinality, Degree</a:t>
            </a:r>
          </a:p>
          <a:p>
            <a:pPr>
              <a:defRPr/>
            </a:pPr>
            <a:endParaRPr lang="en-IN" sz="2400" dirty="0">
              <a:latin typeface="Times New Roman" pitchFamily="18" charset="0"/>
              <a:cs typeface="Times New Roman" pitchFamily="18" charset="0"/>
            </a:endParaRPr>
          </a:p>
        </p:txBody>
      </p:sp>
      <p:sp>
        <p:nvSpPr>
          <p:cNvPr id="125957" name="Rectangle 2">
            <a:extLst>
              <a:ext uri="{FF2B5EF4-FFF2-40B4-BE49-F238E27FC236}">
                <a16:creationId xmlns:a16="http://schemas.microsoft.com/office/drawing/2014/main" xmlns="" id="{0D63AE42-50B0-42F0-90C1-F2A5945943F1}"/>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3428">
                                            <p:txEl>
                                              <p:pRg st="1" end="1"/>
                                            </p:txEl>
                                          </p:spTgt>
                                        </p:tgtEl>
                                        <p:attrNameLst>
                                          <p:attrName>style.visibility</p:attrName>
                                        </p:attrNameLst>
                                      </p:cBhvr>
                                      <p:to>
                                        <p:strVal val="visible"/>
                                      </p:to>
                                    </p:set>
                                    <p:anim calcmode="lin" valueType="num">
                                      <p:cBhvr additive="base">
                                        <p:cTn id="13" dur="5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8">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103428">
                                            <p:txEl>
                                              <p:pRg st="3" end="3"/>
                                            </p:txEl>
                                          </p:spTgt>
                                        </p:tgtEl>
                                        <p:attrNameLst>
                                          <p:attrName>style.visibility</p:attrName>
                                        </p:attrNameLst>
                                      </p:cBhvr>
                                      <p:to>
                                        <p:strVal val="visible"/>
                                      </p:to>
                                    </p:set>
                                    <p:anim calcmode="lin" valueType="num">
                                      <p:cBhvr additive="base">
                                        <p:cTn id="19" dur="500" fill="hold"/>
                                        <p:tgtEl>
                                          <p:spTgt spid="103428">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03428">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103428">
                                            <p:txEl>
                                              <p:pRg st="5" end="5"/>
                                            </p:txEl>
                                          </p:spTgt>
                                        </p:tgtEl>
                                        <p:attrNameLst>
                                          <p:attrName>style.visibility</p:attrName>
                                        </p:attrNameLst>
                                      </p:cBhvr>
                                      <p:to>
                                        <p:strVal val="visible"/>
                                      </p:to>
                                    </p:set>
                                    <p:anim calcmode="lin" valueType="num">
                                      <p:cBhvr additive="base">
                                        <p:cTn id="25" dur="500" fill="hold"/>
                                        <p:tgtEl>
                                          <p:spTgt spid="103428">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42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3428">
                                            <p:txEl>
                                              <p:pRg st="6" end="6"/>
                                            </p:txEl>
                                          </p:spTgt>
                                        </p:tgtEl>
                                        <p:attrNameLst>
                                          <p:attrName>style.visibility</p:attrName>
                                        </p:attrNameLst>
                                      </p:cBhvr>
                                      <p:to>
                                        <p:strVal val="visible"/>
                                      </p:to>
                                    </p:set>
                                    <p:anim calcmode="lin" valueType="num">
                                      <p:cBhvr additive="base">
                                        <p:cTn id="31" dur="500" fill="hold"/>
                                        <p:tgtEl>
                                          <p:spTgt spid="103428">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3428">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03428">
                                            <p:txEl>
                                              <p:pRg st="8" end="8"/>
                                            </p:txEl>
                                          </p:spTgt>
                                        </p:tgtEl>
                                        <p:attrNameLst>
                                          <p:attrName>style.visibility</p:attrName>
                                        </p:attrNameLst>
                                      </p:cBhvr>
                                      <p:to>
                                        <p:strVal val="visible"/>
                                      </p:to>
                                    </p:set>
                                    <p:anim calcmode="lin" valueType="num">
                                      <p:cBhvr additive="base">
                                        <p:cTn id="37" dur="500" fill="hold"/>
                                        <p:tgtEl>
                                          <p:spTgt spid="103428">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3428">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15">
            <a:extLst>
              <a:ext uri="{FF2B5EF4-FFF2-40B4-BE49-F238E27FC236}">
                <a16:creationId xmlns:a16="http://schemas.microsoft.com/office/drawing/2014/main" xmlns="" id="{E4059C98-C64E-4ED0-A128-CF8CCA77BDC1}"/>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26979" name="Picture 1">
            <a:extLst>
              <a:ext uri="{FF2B5EF4-FFF2-40B4-BE49-F238E27FC236}">
                <a16:creationId xmlns:a16="http://schemas.microsoft.com/office/drawing/2014/main" xmlns="" id="{FB47CBF2-D23C-408D-9057-1577FA35E8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3428" name="Title 3">
            <a:extLst>
              <a:ext uri="{FF2B5EF4-FFF2-40B4-BE49-F238E27FC236}">
                <a16:creationId xmlns:a16="http://schemas.microsoft.com/office/drawing/2014/main" xmlns="" id="{501064FF-7D5A-4AF1-932F-F989AC62AE5F}"/>
              </a:ext>
            </a:extLst>
          </p:cNvPr>
          <p:cNvSpPr txBox="1">
            <a:spLocks/>
          </p:cNvSpPr>
          <p:nvPr/>
        </p:nvSpPr>
        <p:spPr bwMode="auto">
          <a:xfrm>
            <a:off x="463550" y="852488"/>
            <a:ext cx="11353800" cy="4862512"/>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defRPr/>
            </a:pPr>
            <a:r>
              <a:rPr lang="en-IN" sz="2400" dirty="0">
                <a:latin typeface="Times New Roman" pitchFamily="18" charset="0"/>
                <a:cs typeface="Times New Roman" pitchFamily="18" charset="0"/>
              </a:rPr>
              <a:t>24. Which are the two ways in which entities can participate in a relationship?</a:t>
            </a:r>
          </a:p>
          <a:p>
            <a:pPr marL="457200" indent="-457200">
              <a:buFont typeface="+mj-lt"/>
              <a:buAutoNum type="alphaLcParenR"/>
              <a:defRPr/>
            </a:pPr>
            <a:r>
              <a:rPr lang="en-IN" sz="2400" dirty="0">
                <a:latin typeface="Times New Roman" pitchFamily="18" charset="0"/>
                <a:cs typeface="Times New Roman" pitchFamily="18" charset="0"/>
              </a:rPr>
              <a:t> </a:t>
            </a:r>
            <a:r>
              <a:rPr lang="en-IN" sz="2400" dirty="0">
                <a:solidFill>
                  <a:srgbClr val="FF0000"/>
                </a:solidFill>
                <a:latin typeface="Times New Roman" pitchFamily="18" charset="0"/>
                <a:cs typeface="Times New Roman" pitchFamily="18" charset="0"/>
              </a:rPr>
              <a:t>Passive and active</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Total and partial</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Simple and Complex</a:t>
            </a:r>
          </a:p>
          <a:p>
            <a:pPr marL="457200" indent="-457200">
              <a:buFont typeface="+mj-lt"/>
              <a:buAutoNum type="alphaLcParenR"/>
              <a:defRPr/>
            </a:pPr>
            <a:r>
              <a:rPr lang="en-IN" sz="2400" dirty="0">
                <a:solidFill>
                  <a:srgbClr val="FF0000"/>
                </a:solidFill>
                <a:latin typeface="Times New Roman" pitchFamily="18" charset="0"/>
                <a:cs typeface="Times New Roman" pitchFamily="18" charset="0"/>
              </a:rPr>
              <a:t>All of the above</a:t>
            </a:r>
          </a:p>
          <a:p>
            <a:pPr>
              <a:defRPr/>
            </a:pPr>
            <a:r>
              <a:rPr lang="en-IN" sz="2400" dirty="0" err="1">
                <a:solidFill>
                  <a:srgbClr val="92D050"/>
                </a:solidFill>
                <a:latin typeface="Times New Roman" pitchFamily="18" charset="0"/>
                <a:cs typeface="Times New Roman" pitchFamily="18" charset="0"/>
              </a:rPr>
              <a:t>Ans</a:t>
            </a:r>
            <a:r>
              <a:rPr lang="en-IN" sz="2400" dirty="0">
                <a:solidFill>
                  <a:srgbClr val="92D050"/>
                </a:solidFill>
                <a:latin typeface="Times New Roman" pitchFamily="18" charset="0"/>
                <a:cs typeface="Times New Roman" pitchFamily="18" charset="0"/>
              </a:rPr>
              <a:t>: Total and partial</a:t>
            </a:r>
          </a:p>
          <a:p>
            <a:pPr>
              <a:defRPr/>
            </a:pPr>
            <a:endParaRPr lang="en-IN" sz="2400" dirty="0"/>
          </a:p>
          <a:p>
            <a:pPr>
              <a:defRPr/>
            </a:pPr>
            <a:r>
              <a:rPr lang="en-IN" sz="2400" dirty="0"/>
              <a:t>25. </a:t>
            </a:r>
            <a:r>
              <a:rPr lang="en-US" sz="2400" dirty="0">
                <a:latin typeface="Times New Roman" pitchFamily="18" charset="0"/>
                <a:cs typeface="Times New Roman" pitchFamily="18" charset="0"/>
              </a:rPr>
              <a:t>In a one-to-many relationship, the entity that is on the one side of the relationship is called  ________ entity.</a:t>
            </a:r>
          </a:p>
          <a:p>
            <a:pPr marL="457200" indent="-457200">
              <a:buFont typeface="+mj-lt"/>
              <a:buAutoNum type="alphaLcParenR"/>
              <a:defRPr/>
            </a:pPr>
            <a:r>
              <a:rPr lang="en-US" sz="2400" dirty="0">
                <a:solidFill>
                  <a:srgbClr val="FF0000"/>
                </a:solidFill>
                <a:latin typeface="Times New Roman" pitchFamily="18" charset="0"/>
                <a:cs typeface="Times New Roman" pitchFamily="18" charset="0"/>
              </a:rPr>
              <a:t>Parent    b)  child     c)instance    d) subtype</a:t>
            </a:r>
          </a:p>
          <a:p>
            <a:pPr>
              <a:defRPr/>
            </a:pPr>
            <a:endParaRPr lang="en-US" sz="2400" dirty="0">
              <a:solidFill>
                <a:srgbClr val="FF0000"/>
              </a:solidFill>
              <a:latin typeface="Times New Roman" pitchFamily="18" charset="0"/>
              <a:cs typeface="Times New Roman" pitchFamily="18" charset="0"/>
            </a:endParaRPr>
          </a:p>
          <a:p>
            <a:pPr>
              <a:defRPr/>
            </a:pPr>
            <a:r>
              <a:rPr lang="en-US" sz="2400" dirty="0" err="1">
                <a:solidFill>
                  <a:srgbClr val="92D050"/>
                </a:solidFill>
                <a:latin typeface="Times New Roman" pitchFamily="18" charset="0"/>
                <a:cs typeface="Times New Roman" pitchFamily="18" charset="0"/>
              </a:rPr>
              <a:t>Ans</a:t>
            </a:r>
            <a:r>
              <a:rPr lang="en-US" sz="2400" dirty="0">
                <a:solidFill>
                  <a:srgbClr val="92D050"/>
                </a:solidFill>
                <a:latin typeface="Times New Roman" pitchFamily="18" charset="0"/>
                <a:cs typeface="Times New Roman" pitchFamily="18" charset="0"/>
              </a:rPr>
              <a:t>: Parent</a:t>
            </a:r>
          </a:p>
          <a:p>
            <a:pPr>
              <a:defRPr/>
            </a:pPr>
            <a:endParaRPr lang="en-IN" sz="2400" dirty="0"/>
          </a:p>
          <a:p>
            <a:pPr>
              <a:defRPr/>
            </a:pPr>
            <a:r>
              <a:rPr lang="en-US" sz="2400" dirty="0"/>
              <a:t> </a:t>
            </a:r>
            <a:endParaRPr lang="en-IN" sz="2400" dirty="0"/>
          </a:p>
          <a:p>
            <a:pPr>
              <a:defRPr/>
            </a:pPr>
            <a:endParaRPr lang="en-IN" sz="2400" dirty="0">
              <a:latin typeface="Times New Roman" pitchFamily="18" charset="0"/>
              <a:cs typeface="Times New Roman" pitchFamily="18" charset="0"/>
            </a:endParaRPr>
          </a:p>
        </p:txBody>
      </p:sp>
      <p:sp>
        <p:nvSpPr>
          <p:cNvPr id="126981" name="Rectangle 2">
            <a:extLst>
              <a:ext uri="{FF2B5EF4-FFF2-40B4-BE49-F238E27FC236}">
                <a16:creationId xmlns:a16="http://schemas.microsoft.com/office/drawing/2014/main" xmlns="" id="{45228BF3-D12F-4065-AEC8-AD5CC8D6FB3C}"/>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Questions</a:t>
            </a:r>
          </a:p>
        </p:txBody>
      </p:sp>
    </p:spTree>
  </p:cSld>
  <p:clrMapOvr>
    <a:masterClrMapping/>
  </p:clrMapOvr>
  <p:transition spd="slow">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03428">
                                            <p:txEl>
                                              <p:pRg st="0" end="0"/>
                                            </p:txEl>
                                          </p:spTgt>
                                        </p:tgtEl>
                                        <p:attrNameLst>
                                          <p:attrName>style.visibility</p:attrName>
                                        </p:attrNameLst>
                                      </p:cBhvr>
                                      <p:to>
                                        <p:strVal val="visible"/>
                                      </p:to>
                                    </p:set>
                                    <p:anim calcmode="lin" valueType="num">
                                      <p:cBhvr additive="base">
                                        <p:cTn id="7" dur="500" fill="hold"/>
                                        <p:tgtEl>
                                          <p:spTgt spid="103428">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03428">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103428">
                                            <p:txEl>
                                              <p:pRg st="1" end="1"/>
                                            </p:txEl>
                                          </p:spTgt>
                                        </p:tgtEl>
                                        <p:attrNameLst>
                                          <p:attrName>style.visibility</p:attrName>
                                        </p:attrNameLst>
                                      </p:cBhvr>
                                      <p:to>
                                        <p:strVal val="visible"/>
                                      </p:to>
                                    </p:set>
                                    <p:anim calcmode="lin" valueType="num">
                                      <p:cBhvr additive="base">
                                        <p:cTn id="13" dur="500" fill="hold"/>
                                        <p:tgtEl>
                                          <p:spTgt spid="103428">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03428">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103428">
                                            <p:txEl>
                                              <p:pRg st="2" end="2"/>
                                            </p:txEl>
                                          </p:spTgt>
                                        </p:tgtEl>
                                        <p:attrNameLst>
                                          <p:attrName>style.visibility</p:attrName>
                                        </p:attrNameLst>
                                      </p:cBhvr>
                                      <p:to>
                                        <p:strVal val="visible"/>
                                      </p:to>
                                    </p:set>
                                    <p:anim calcmode="lin" valueType="num">
                                      <p:cBhvr additive="base">
                                        <p:cTn id="17" dur="500" fill="hold"/>
                                        <p:tgtEl>
                                          <p:spTgt spid="103428">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03428">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03428">
                                            <p:txEl>
                                              <p:pRg st="3" end="3"/>
                                            </p:txEl>
                                          </p:spTgt>
                                        </p:tgtEl>
                                        <p:attrNameLst>
                                          <p:attrName>style.visibility</p:attrName>
                                        </p:attrNameLst>
                                      </p:cBhvr>
                                      <p:to>
                                        <p:strVal val="visible"/>
                                      </p:to>
                                    </p:set>
                                    <p:anim calcmode="lin" valueType="num">
                                      <p:cBhvr additive="base">
                                        <p:cTn id="21" dur="500" fill="hold"/>
                                        <p:tgtEl>
                                          <p:spTgt spid="103428">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03428">
                                            <p:txEl>
                                              <p:pRg st="3" end="3"/>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03428">
                                            <p:txEl>
                                              <p:pRg st="4" end="4"/>
                                            </p:txEl>
                                          </p:spTgt>
                                        </p:tgtEl>
                                        <p:attrNameLst>
                                          <p:attrName>style.visibility</p:attrName>
                                        </p:attrNameLst>
                                      </p:cBhvr>
                                      <p:to>
                                        <p:strVal val="visible"/>
                                      </p:to>
                                    </p:set>
                                    <p:anim calcmode="lin" valueType="num">
                                      <p:cBhvr additive="base">
                                        <p:cTn id="25" dur="500" fill="hold"/>
                                        <p:tgtEl>
                                          <p:spTgt spid="103428">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03428">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nodeType="clickPar">
                      <p:stCondLst>
                        <p:cond delay="indefinite"/>
                      </p:stCondLst>
                      <p:childTnLst>
                        <p:par>
                          <p:cTn id="28" fill="hold" nodeType="withGroup">
                            <p:stCondLst>
                              <p:cond delay="0"/>
                            </p:stCondLst>
                            <p:childTnLst>
                              <p:par>
                                <p:cTn id="29" presetID="2" presetClass="entr" presetSubtype="4" fill="hold" nodeType="clickEffect">
                                  <p:stCondLst>
                                    <p:cond delay="0"/>
                                  </p:stCondLst>
                                  <p:childTnLst>
                                    <p:set>
                                      <p:cBhvr>
                                        <p:cTn id="30" dur="1" fill="hold">
                                          <p:stCondLst>
                                            <p:cond delay="0"/>
                                          </p:stCondLst>
                                        </p:cTn>
                                        <p:tgtEl>
                                          <p:spTgt spid="103428">
                                            <p:txEl>
                                              <p:pRg st="5" end="5"/>
                                            </p:txEl>
                                          </p:spTgt>
                                        </p:tgtEl>
                                        <p:attrNameLst>
                                          <p:attrName>style.visibility</p:attrName>
                                        </p:attrNameLst>
                                      </p:cBhvr>
                                      <p:to>
                                        <p:strVal val="visible"/>
                                      </p:to>
                                    </p:set>
                                    <p:anim calcmode="lin" valueType="num">
                                      <p:cBhvr additive="base">
                                        <p:cTn id="31" dur="500" fill="hold"/>
                                        <p:tgtEl>
                                          <p:spTgt spid="103428">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03428">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nodeType="clickPar">
                      <p:stCondLst>
                        <p:cond delay="indefinite"/>
                      </p:stCondLst>
                      <p:childTnLst>
                        <p:par>
                          <p:cTn id="34" fill="hold" nodeType="withGroup">
                            <p:stCondLst>
                              <p:cond delay="0"/>
                            </p:stCondLst>
                            <p:childTnLst>
                              <p:par>
                                <p:cTn id="35" presetID="2" presetClass="entr" presetSubtype="4" fill="hold" nodeType="clickEffect">
                                  <p:stCondLst>
                                    <p:cond delay="0"/>
                                  </p:stCondLst>
                                  <p:childTnLst>
                                    <p:set>
                                      <p:cBhvr>
                                        <p:cTn id="36" dur="1" fill="hold">
                                          <p:stCondLst>
                                            <p:cond delay="0"/>
                                          </p:stCondLst>
                                        </p:cTn>
                                        <p:tgtEl>
                                          <p:spTgt spid="103428">
                                            <p:txEl>
                                              <p:pRg st="7" end="7"/>
                                            </p:txEl>
                                          </p:spTgt>
                                        </p:tgtEl>
                                        <p:attrNameLst>
                                          <p:attrName>style.visibility</p:attrName>
                                        </p:attrNameLst>
                                      </p:cBhvr>
                                      <p:to>
                                        <p:strVal val="visible"/>
                                      </p:to>
                                    </p:set>
                                    <p:anim calcmode="lin" valueType="num">
                                      <p:cBhvr additive="base">
                                        <p:cTn id="37" dur="500" fill="hold"/>
                                        <p:tgtEl>
                                          <p:spTgt spid="103428">
                                            <p:txEl>
                                              <p:pRg st="7" end="7"/>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103428">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2" presetClass="entr" presetSubtype="4" fill="hold" nodeType="clickEffect">
                                  <p:stCondLst>
                                    <p:cond delay="0"/>
                                  </p:stCondLst>
                                  <p:childTnLst>
                                    <p:set>
                                      <p:cBhvr>
                                        <p:cTn id="42" dur="1" fill="hold">
                                          <p:stCondLst>
                                            <p:cond delay="0"/>
                                          </p:stCondLst>
                                        </p:cTn>
                                        <p:tgtEl>
                                          <p:spTgt spid="103428">
                                            <p:txEl>
                                              <p:pRg st="8" end="8"/>
                                            </p:txEl>
                                          </p:spTgt>
                                        </p:tgtEl>
                                        <p:attrNameLst>
                                          <p:attrName>style.visibility</p:attrName>
                                        </p:attrNameLst>
                                      </p:cBhvr>
                                      <p:to>
                                        <p:strVal val="visible"/>
                                      </p:to>
                                    </p:set>
                                    <p:anim calcmode="lin" valueType="num">
                                      <p:cBhvr additive="base">
                                        <p:cTn id="43" dur="500" fill="hold"/>
                                        <p:tgtEl>
                                          <p:spTgt spid="103428">
                                            <p:txEl>
                                              <p:pRg st="8" end="8"/>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103428">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103428">
                                            <p:txEl>
                                              <p:pRg st="10" end="10"/>
                                            </p:txEl>
                                          </p:spTgt>
                                        </p:tgtEl>
                                        <p:attrNameLst>
                                          <p:attrName>style.visibility</p:attrName>
                                        </p:attrNameLst>
                                      </p:cBhvr>
                                      <p:to>
                                        <p:strVal val="visible"/>
                                      </p:to>
                                    </p:set>
                                    <p:anim calcmode="lin" valueType="num">
                                      <p:cBhvr additive="base">
                                        <p:cTn id="49" dur="500" fill="hold"/>
                                        <p:tgtEl>
                                          <p:spTgt spid="103428">
                                            <p:txEl>
                                              <p:pRg st="10" end="10"/>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103428">
                                            <p:txEl>
                                              <p:pRg st="10" end="1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15">
            <a:extLst>
              <a:ext uri="{FF2B5EF4-FFF2-40B4-BE49-F238E27FC236}">
                <a16:creationId xmlns:a16="http://schemas.microsoft.com/office/drawing/2014/main" xmlns="" id="{63AF2935-62F6-4531-A8FD-530B13837DC0}"/>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30051" name="Picture 1">
            <a:extLst>
              <a:ext uri="{FF2B5EF4-FFF2-40B4-BE49-F238E27FC236}">
                <a16:creationId xmlns:a16="http://schemas.microsoft.com/office/drawing/2014/main" xmlns="" id="{C89FF8E3-12D6-4451-A7A3-414991F54D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0052" name="Title 3">
            <a:extLst>
              <a:ext uri="{FF2B5EF4-FFF2-40B4-BE49-F238E27FC236}">
                <a16:creationId xmlns:a16="http://schemas.microsoft.com/office/drawing/2014/main" xmlns="" id="{60658539-1868-4D92-9EC9-22609C91D578}"/>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30053" name="Rectangle 2">
            <a:extLst>
              <a:ext uri="{FF2B5EF4-FFF2-40B4-BE49-F238E27FC236}">
                <a16:creationId xmlns:a16="http://schemas.microsoft.com/office/drawing/2014/main" xmlns="" id="{1F58E133-4B04-4A9E-B181-5CB754DC55BA}"/>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Recalling concepts</a:t>
            </a:r>
          </a:p>
        </p:txBody>
      </p:sp>
      <p:sp>
        <p:nvSpPr>
          <p:cNvPr id="130054" name="Rectangle 5">
            <a:extLst>
              <a:ext uri="{FF2B5EF4-FFF2-40B4-BE49-F238E27FC236}">
                <a16:creationId xmlns:a16="http://schemas.microsoft.com/office/drawing/2014/main" xmlns="" id="{17435F74-D730-47DA-90C1-33D2CA213DCB}"/>
              </a:ext>
            </a:extLst>
          </p:cNvPr>
          <p:cNvSpPr txBox="1">
            <a:spLocks noChangeArrowheads="1"/>
          </p:cNvSpPr>
          <p:nvPr/>
        </p:nvSpPr>
        <p:spPr bwMode="auto">
          <a:xfrm>
            <a:off x="457200" y="1752600"/>
            <a:ext cx="85344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273050" indent="-2730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20000"/>
              </a:spcBef>
              <a:buClr>
                <a:srgbClr val="0BD0D9"/>
              </a:buClr>
              <a:buSzPct val="95000"/>
              <a:buFont typeface="Wingdings 2" panose="05020102010507070707" pitchFamily="18" charset="2"/>
              <a:buChar char=""/>
            </a:pPr>
            <a:endParaRPr lang="en-US" altLang="en-US" sz="2200">
              <a:ea typeface="MS PGothic" panose="020B0600070205080204" pitchFamily="34" charset="-128"/>
              <a:cs typeface="Times New Roman" panose="02020603050405020304" pitchFamily="18" charset="0"/>
            </a:endParaRPr>
          </a:p>
        </p:txBody>
      </p:sp>
      <p:sp>
        <p:nvSpPr>
          <p:cNvPr id="130055" name="Rectangle 5">
            <a:extLst>
              <a:ext uri="{FF2B5EF4-FFF2-40B4-BE49-F238E27FC236}">
                <a16:creationId xmlns:a16="http://schemas.microsoft.com/office/drawing/2014/main" xmlns="" id="{54A55207-109D-425A-B3F4-3178CDA4E183}"/>
              </a:ext>
            </a:extLst>
          </p:cNvPr>
          <p:cNvSpPr txBox="1">
            <a:spLocks noChangeArrowheads="1"/>
          </p:cNvSpPr>
          <p:nvPr/>
        </p:nvSpPr>
        <p:spPr bwMode="auto">
          <a:xfrm>
            <a:off x="609600" y="1905000"/>
            <a:ext cx="85344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273050" indent="-2730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20000"/>
              </a:spcBef>
              <a:buClr>
                <a:srgbClr val="0BD0D9"/>
              </a:buClr>
              <a:buSzPct val="95000"/>
              <a:buFont typeface="Wingdings 2" panose="05020102010507070707" pitchFamily="18" charset="2"/>
              <a:buChar char=""/>
            </a:pPr>
            <a:endParaRPr lang="en-US" altLang="en-US" sz="2200">
              <a:ea typeface="MS PGothic" panose="020B0600070205080204" pitchFamily="34" charset="-128"/>
              <a:cs typeface="Times New Roman" panose="02020603050405020304" pitchFamily="18" charset="0"/>
            </a:endParaRPr>
          </a:p>
        </p:txBody>
      </p:sp>
      <p:sp>
        <p:nvSpPr>
          <p:cNvPr id="130056" name="Content Placeholder 82">
            <a:extLst>
              <a:ext uri="{FF2B5EF4-FFF2-40B4-BE49-F238E27FC236}">
                <a16:creationId xmlns:a16="http://schemas.microsoft.com/office/drawing/2014/main" xmlns="" id="{3A6A07A3-8163-492A-A86E-78AA5E0508DB}"/>
              </a:ext>
            </a:extLst>
          </p:cNvPr>
          <p:cNvSpPr txBox="1">
            <a:spLocks/>
          </p:cNvSpPr>
          <p:nvPr/>
        </p:nvSpPr>
        <p:spPr bwMode="auto">
          <a:xfrm>
            <a:off x="723900" y="852488"/>
            <a:ext cx="10523538"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a:latin typeface="Times New Roman" panose="02020603050405020304" pitchFamily="18" charset="0"/>
                <a:cs typeface="Times New Roman" panose="02020603050405020304" pitchFamily="18" charset="0"/>
              </a:rPr>
              <a:t>Relationships</a:t>
            </a:r>
          </a:p>
          <a:p>
            <a:pPr algn="just"/>
            <a:r>
              <a:rPr lang="en-US" altLang="en-US" sz="2400">
                <a:latin typeface="Times New Roman" panose="02020603050405020304" pitchFamily="18" charset="0"/>
                <a:cs typeface="Times New Roman" panose="02020603050405020304" pitchFamily="18" charset="0"/>
              </a:rPr>
              <a:t>Constraints</a:t>
            </a:r>
          </a:p>
          <a:p>
            <a:pPr algn="just"/>
            <a:r>
              <a:rPr lang="en-US" altLang="en-US" sz="2400">
                <a:latin typeface="Times New Roman" panose="02020603050405020304" pitchFamily="18" charset="0"/>
                <a:cs typeface="Times New Roman" panose="02020603050405020304" pitchFamily="18" charset="0"/>
              </a:rPr>
              <a:t>Mapping</a:t>
            </a:r>
          </a:p>
          <a:p>
            <a:pPr algn="just"/>
            <a:r>
              <a:rPr lang="en-US" altLang="en-US" sz="2400">
                <a:latin typeface="Times New Roman" panose="02020603050405020304" pitchFamily="18" charset="0"/>
                <a:cs typeface="Times New Roman" panose="02020603050405020304" pitchFamily="18" charset="0"/>
              </a:rPr>
              <a:t>Recursive relationship</a:t>
            </a:r>
          </a:p>
          <a:p>
            <a:pPr algn="just"/>
            <a:r>
              <a:rPr lang="en-US" altLang="en-US" sz="2400">
                <a:latin typeface="Times New Roman" panose="02020603050405020304" pitchFamily="18" charset="0"/>
                <a:cs typeface="Times New Roman" panose="02020603050405020304" pitchFamily="18" charset="0"/>
              </a:rPr>
              <a:t>ER diagram</a:t>
            </a:r>
          </a:p>
        </p:txBody>
      </p:sp>
    </p:spTree>
  </p:cSld>
  <p:clrMapOvr>
    <a:masterClrMapping/>
  </p:clrMapOvr>
  <p:transition spd="slow">
    <p:wipe/>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15">
            <a:extLst>
              <a:ext uri="{FF2B5EF4-FFF2-40B4-BE49-F238E27FC236}">
                <a16:creationId xmlns:a16="http://schemas.microsoft.com/office/drawing/2014/main" xmlns="" id="{9EC57350-4A21-40B5-8A45-32C7C00BB4B2}"/>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31075" name="Picture 1">
            <a:extLst>
              <a:ext uri="{FF2B5EF4-FFF2-40B4-BE49-F238E27FC236}">
                <a16:creationId xmlns:a16="http://schemas.microsoft.com/office/drawing/2014/main" xmlns="" id="{D770B6D9-312F-45FF-B16D-E361E9B54E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1076" name="Title 3">
            <a:extLst>
              <a:ext uri="{FF2B5EF4-FFF2-40B4-BE49-F238E27FC236}">
                <a16:creationId xmlns:a16="http://schemas.microsoft.com/office/drawing/2014/main" xmlns="" id="{C9721D4E-1DB1-4CAE-8ED5-2FCF0C5539D7}"/>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31077" name="Rectangle 2">
            <a:extLst>
              <a:ext uri="{FF2B5EF4-FFF2-40B4-BE49-F238E27FC236}">
                <a16:creationId xmlns:a16="http://schemas.microsoft.com/office/drawing/2014/main" xmlns="" id="{F069C770-3A0E-4705-8244-505A0CF3A40F}"/>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Example</a:t>
            </a:r>
            <a:endParaRPr lang="en-US" altLang="en-US" b="1">
              <a:latin typeface="Calibri Light" panose="020F0302020204030204" pitchFamily="34" charset="0"/>
            </a:endParaRPr>
          </a:p>
        </p:txBody>
      </p:sp>
      <p:sp>
        <p:nvSpPr>
          <p:cNvPr id="131078" name="Rectangle 5">
            <a:extLst>
              <a:ext uri="{FF2B5EF4-FFF2-40B4-BE49-F238E27FC236}">
                <a16:creationId xmlns:a16="http://schemas.microsoft.com/office/drawing/2014/main" xmlns="" id="{8BEB6AD2-5420-4048-9A18-0371B4048CAF}"/>
              </a:ext>
            </a:extLst>
          </p:cNvPr>
          <p:cNvSpPr txBox="1">
            <a:spLocks noChangeArrowheads="1"/>
          </p:cNvSpPr>
          <p:nvPr/>
        </p:nvSpPr>
        <p:spPr bwMode="auto">
          <a:xfrm>
            <a:off x="457200" y="1752600"/>
            <a:ext cx="85344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273050" indent="-2730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20000"/>
              </a:spcBef>
              <a:buClr>
                <a:srgbClr val="0BD0D9"/>
              </a:buClr>
              <a:buSzPct val="95000"/>
              <a:buFont typeface="Wingdings 2" panose="05020102010507070707" pitchFamily="18" charset="2"/>
              <a:buChar char=""/>
            </a:pPr>
            <a:endParaRPr lang="en-US" altLang="en-US" sz="2200">
              <a:ea typeface="MS PGothic" panose="020B0600070205080204" pitchFamily="34" charset="-128"/>
              <a:cs typeface="Times New Roman" panose="02020603050405020304" pitchFamily="18" charset="0"/>
            </a:endParaRPr>
          </a:p>
        </p:txBody>
      </p:sp>
      <p:sp>
        <p:nvSpPr>
          <p:cNvPr id="131079" name="Rectangle 5">
            <a:extLst>
              <a:ext uri="{FF2B5EF4-FFF2-40B4-BE49-F238E27FC236}">
                <a16:creationId xmlns:a16="http://schemas.microsoft.com/office/drawing/2014/main" xmlns="" id="{ED8435A6-360C-499B-B273-B414F1481C54}"/>
              </a:ext>
            </a:extLst>
          </p:cNvPr>
          <p:cNvSpPr txBox="1">
            <a:spLocks noChangeArrowheads="1"/>
          </p:cNvSpPr>
          <p:nvPr/>
        </p:nvSpPr>
        <p:spPr bwMode="auto">
          <a:xfrm>
            <a:off x="609600" y="1905000"/>
            <a:ext cx="85344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488" tIns="44450" rIns="90488" bIns="44450"/>
          <a:lstStyle>
            <a:lvl1pPr marL="273050" indent="-27305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spcBef>
                <a:spcPct val="20000"/>
              </a:spcBef>
              <a:buClr>
                <a:srgbClr val="0BD0D9"/>
              </a:buClr>
              <a:buSzPct val="95000"/>
              <a:buFont typeface="Wingdings 2" panose="05020102010507070707" pitchFamily="18" charset="2"/>
              <a:buChar char=""/>
            </a:pPr>
            <a:endParaRPr lang="en-US" altLang="en-US" sz="2200">
              <a:ea typeface="MS PGothic" panose="020B0600070205080204" pitchFamily="34" charset="-128"/>
              <a:cs typeface="Times New Roman" panose="02020603050405020304" pitchFamily="18" charset="0"/>
            </a:endParaRPr>
          </a:p>
        </p:txBody>
      </p:sp>
      <p:sp>
        <p:nvSpPr>
          <p:cNvPr id="131080" name="Content Placeholder 82">
            <a:extLst>
              <a:ext uri="{FF2B5EF4-FFF2-40B4-BE49-F238E27FC236}">
                <a16:creationId xmlns:a16="http://schemas.microsoft.com/office/drawing/2014/main" xmlns="" id="{24915A26-8377-4B98-914A-B55E54A9825D}"/>
              </a:ext>
            </a:extLst>
          </p:cNvPr>
          <p:cNvSpPr txBox="1">
            <a:spLocks/>
          </p:cNvSpPr>
          <p:nvPr/>
        </p:nvSpPr>
        <p:spPr bwMode="auto">
          <a:xfrm>
            <a:off x="723900" y="852487"/>
            <a:ext cx="10523538" cy="5729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685800" indent="-22860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200" dirty="0">
                <a:latin typeface="Times New Roman" panose="02020603050405020304" pitchFamily="18" charset="0"/>
                <a:cs typeface="Times New Roman" panose="02020603050405020304" pitchFamily="18" charset="0"/>
              </a:rPr>
              <a:t>Assume we have the following application that models cricket teams, capture the following information in the ER- Diagram </a:t>
            </a:r>
          </a:p>
          <a:p>
            <a:pPr algn="just"/>
            <a:r>
              <a:rPr lang="en-US" altLang="en-US" sz="2200" dirty="0">
                <a:latin typeface="Times New Roman" panose="02020603050405020304" pitchFamily="18" charset="0"/>
                <a:cs typeface="Times New Roman" panose="02020603050405020304" pitchFamily="18" charset="0"/>
              </a:rPr>
              <a:t>We have a set of teams, each team has an ID, name, stadium, and to which country this team belongs. </a:t>
            </a:r>
          </a:p>
          <a:p>
            <a:pPr algn="just"/>
            <a:r>
              <a:rPr lang="en-US" altLang="en-US" sz="2200" dirty="0">
                <a:latin typeface="Times New Roman" panose="02020603050405020304" pitchFamily="18" charset="0"/>
                <a:cs typeface="Times New Roman" panose="02020603050405020304" pitchFamily="18" charset="0"/>
              </a:rPr>
              <a:t>Each team has many players, and each player belongs to one team. Each player has a number, name, </a:t>
            </a:r>
            <a:r>
              <a:rPr lang="en-US" altLang="en-US" sz="2200" dirty="0" err="1">
                <a:latin typeface="Times New Roman" panose="02020603050405020304" pitchFamily="18" charset="0"/>
                <a:cs typeface="Times New Roman" panose="02020603050405020304" pitchFamily="18" charset="0"/>
              </a:rPr>
              <a:t>DoB</a:t>
            </a:r>
            <a:r>
              <a:rPr lang="en-US" altLang="en-US" sz="2200" dirty="0">
                <a:latin typeface="Times New Roman" panose="02020603050405020304" pitchFamily="18" charset="0"/>
                <a:cs typeface="Times New Roman" panose="02020603050405020304" pitchFamily="18" charset="0"/>
              </a:rPr>
              <a:t>, start year, and jersey number that he uses. </a:t>
            </a:r>
          </a:p>
          <a:p>
            <a:pPr algn="just"/>
            <a:r>
              <a:rPr lang="en-US" altLang="en-US" sz="2200" dirty="0">
                <a:latin typeface="Times New Roman" panose="02020603050405020304" pitchFamily="18" charset="0"/>
                <a:cs typeface="Times New Roman" panose="02020603050405020304" pitchFamily="18" charset="0"/>
              </a:rPr>
              <a:t>Teams play matches, in each match there is a host team and a guest team. The match takes place in the stadium of the host team. </a:t>
            </a:r>
          </a:p>
          <a:p>
            <a:pPr algn="just"/>
            <a:r>
              <a:rPr lang="en-US" altLang="en-US" sz="2200" dirty="0">
                <a:latin typeface="Times New Roman" panose="02020603050405020304" pitchFamily="18" charset="0"/>
                <a:cs typeface="Times New Roman" panose="02020603050405020304" pitchFamily="18" charset="0"/>
              </a:rPr>
              <a:t>For each match we need to keep track of the following: </a:t>
            </a:r>
          </a:p>
          <a:p>
            <a:pPr lvl="1" algn="just"/>
            <a:r>
              <a:rPr lang="en-US" altLang="en-US" sz="2200" dirty="0">
                <a:latin typeface="Times New Roman" panose="02020603050405020304" pitchFamily="18" charset="0"/>
                <a:cs typeface="Times New Roman" panose="02020603050405020304" pitchFamily="18" charset="0"/>
              </a:rPr>
              <a:t>The date on which the match is played </a:t>
            </a:r>
          </a:p>
          <a:p>
            <a:pPr lvl="1" algn="just"/>
            <a:r>
              <a:rPr lang="en-US" altLang="en-US" sz="2200" dirty="0">
                <a:latin typeface="Times New Roman" panose="02020603050405020304" pitchFamily="18" charset="0"/>
                <a:cs typeface="Times New Roman" panose="02020603050405020304" pitchFamily="18" charset="0"/>
              </a:rPr>
              <a:t>The final result of the match </a:t>
            </a:r>
          </a:p>
          <a:p>
            <a:pPr lvl="1" algn="just"/>
            <a:r>
              <a:rPr lang="en-US" altLang="en-US" sz="2200" dirty="0">
                <a:latin typeface="Times New Roman" panose="02020603050405020304" pitchFamily="18" charset="0"/>
                <a:cs typeface="Times New Roman" panose="02020603050405020304" pitchFamily="18" charset="0"/>
              </a:rPr>
              <a:t>The players participated in the match. For each player, how many runs he scored, whether or not he took wickets, and whether or not he scored 100’s. </a:t>
            </a:r>
          </a:p>
          <a:p>
            <a:pPr algn="just"/>
            <a:r>
              <a:rPr lang="en-US" altLang="en-US" sz="2200" dirty="0">
                <a:latin typeface="Times New Roman" panose="02020603050405020304" pitchFamily="18" charset="0"/>
                <a:cs typeface="Times New Roman" panose="02020603050405020304" pitchFamily="18" charset="0"/>
              </a:rPr>
              <a:t>Each match has exactly three umpires. For each umpire we have an ID, name, </a:t>
            </a:r>
            <a:r>
              <a:rPr lang="en-US" altLang="en-US" sz="2200" dirty="0" err="1">
                <a:latin typeface="Times New Roman" panose="02020603050405020304" pitchFamily="18" charset="0"/>
                <a:cs typeface="Times New Roman" panose="02020603050405020304" pitchFamily="18" charset="0"/>
              </a:rPr>
              <a:t>DoB</a:t>
            </a:r>
            <a:r>
              <a:rPr lang="en-US" altLang="en-US" sz="2200" dirty="0">
                <a:latin typeface="Times New Roman" panose="02020603050405020304" pitchFamily="18" charset="0"/>
                <a:cs typeface="Times New Roman" panose="02020603050405020304" pitchFamily="18" charset="0"/>
              </a:rPr>
              <a:t>, years of experience. Two umpires are main and the other one is the third umpire</a:t>
            </a:r>
            <a:r>
              <a:rPr lang="en-US" altLang="en-US" sz="2600" dirty="0">
                <a:latin typeface="Times New Roman" panose="02020603050405020304" pitchFamily="18" charset="0"/>
                <a:cs typeface="Times New Roman" panose="02020603050405020304" pitchFamily="18" charset="0"/>
              </a:rPr>
              <a:t>.  </a:t>
            </a:r>
          </a:p>
          <a:p>
            <a:pPr lvl="1" algn="just"/>
            <a:endParaRPr lang="en-US" altLang="en-US" dirty="0">
              <a:latin typeface="Times New Roman" panose="02020603050405020304" pitchFamily="18" charset="0"/>
              <a:cs typeface="Times New Roman" panose="02020603050405020304" pitchFamily="18" charset="0"/>
            </a:endParaRPr>
          </a:p>
          <a:p>
            <a:pPr marL="0" indent="0" algn="just">
              <a:buNone/>
            </a:pPr>
            <a:r>
              <a:rPr lang="en-US" altLang="en-US" sz="2400" dirty="0">
                <a:latin typeface="Times New Roman" panose="02020603050405020304" pitchFamily="18" charset="0"/>
                <a:cs typeface="Times New Roman" panose="02020603050405020304" pitchFamily="18" charset="0"/>
              </a:rPr>
              <a:t> </a:t>
            </a:r>
          </a:p>
        </p:txBody>
      </p:sp>
    </p:spTree>
  </p:cSld>
  <p:clrMapOvr>
    <a:masterClrMapping/>
  </p:clrMapOvr>
  <p:transition spd="slow">
    <p:wipe/>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15">
            <a:extLst>
              <a:ext uri="{FF2B5EF4-FFF2-40B4-BE49-F238E27FC236}">
                <a16:creationId xmlns:a16="http://schemas.microsoft.com/office/drawing/2014/main" xmlns="" id="{F8DCEA95-C5EC-4F87-8001-BDF4387F2513}"/>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33123" name="Picture 1">
            <a:extLst>
              <a:ext uri="{FF2B5EF4-FFF2-40B4-BE49-F238E27FC236}">
                <a16:creationId xmlns:a16="http://schemas.microsoft.com/office/drawing/2014/main" xmlns="" id="{EF373248-7BEA-485F-8944-A5152DCAA9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4" name="Title 3">
            <a:extLst>
              <a:ext uri="{FF2B5EF4-FFF2-40B4-BE49-F238E27FC236}">
                <a16:creationId xmlns:a16="http://schemas.microsoft.com/office/drawing/2014/main" xmlns="" id="{D9FC4B9B-9556-402D-9416-51198787A66F}"/>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p:txBody>
      </p:sp>
      <p:sp>
        <p:nvSpPr>
          <p:cNvPr id="133125" name="Rectangle 2">
            <a:extLst>
              <a:ext uri="{FF2B5EF4-FFF2-40B4-BE49-F238E27FC236}">
                <a16:creationId xmlns:a16="http://schemas.microsoft.com/office/drawing/2014/main" xmlns="" id="{C8FE4605-E100-40E0-A696-D0BF98B2E9DB}"/>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Example #2</a:t>
            </a:r>
          </a:p>
        </p:txBody>
      </p:sp>
      <p:sp>
        <p:nvSpPr>
          <p:cNvPr id="133126" name="Content Placeholder 2">
            <a:extLst>
              <a:ext uri="{FF2B5EF4-FFF2-40B4-BE49-F238E27FC236}">
                <a16:creationId xmlns:a16="http://schemas.microsoft.com/office/drawing/2014/main" xmlns="" id="{07C0AFA6-8153-4DF4-8331-27088A38D228}"/>
              </a:ext>
            </a:extLst>
          </p:cNvPr>
          <p:cNvSpPr txBox="1">
            <a:spLocks/>
          </p:cNvSpPr>
          <p:nvPr/>
        </p:nvSpPr>
        <p:spPr bwMode="auto">
          <a:xfrm>
            <a:off x="587375" y="1189038"/>
            <a:ext cx="10737850" cy="4525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just"/>
            <a:r>
              <a:rPr lang="en-US" altLang="en-US" sz="2400">
                <a:latin typeface="Times New Roman" panose="02020603050405020304" pitchFamily="18" charset="0"/>
                <a:cs typeface="Times New Roman" panose="02020603050405020304" pitchFamily="18" charset="0"/>
              </a:rPr>
              <a:t>Company stores information on its shipped item. The requirements are as follows</a:t>
            </a:r>
          </a:p>
          <a:p>
            <a:pPr algn="just"/>
            <a:r>
              <a:rPr lang="en-US" altLang="en-US" sz="2400">
                <a:latin typeface="Times New Roman" panose="02020603050405020304" pitchFamily="18" charset="0"/>
                <a:cs typeface="Times New Roman" panose="02020603050405020304" pitchFamily="18" charset="0"/>
              </a:rPr>
              <a:t>Shipped items can be characterized by item number (unique), weight, insurance amount, destination and delivery date.  Shipped items are received at a single trade center.  </a:t>
            </a:r>
          </a:p>
          <a:p>
            <a:pPr algn="just"/>
            <a:r>
              <a:rPr lang="en-US" altLang="en-US" sz="2400">
                <a:latin typeface="Times New Roman" panose="02020603050405020304" pitchFamily="18" charset="0"/>
                <a:cs typeface="Times New Roman" panose="02020603050405020304" pitchFamily="18" charset="0"/>
              </a:rPr>
              <a:t>Trade centers are characterized by their type, ID, and address.  Shipped items are dispatched via one or more standard transportation.</a:t>
            </a:r>
          </a:p>
          <a:p>
            <a:pPr algn="just"/>
            <a:r>
              <a:rPr lang="en-US" altLang="en-US" sz="2400">
                <a:latin typeface="Times New Roman" panose="02020603050405020304" pitchFamily="18" charset="0"/>
                <a:cs typeface="Times New Roman" panose="02020603050405020304" pitchFamily="18" charset="0"/>
              </a:rPr>
              <a:t>These transportation are characterized by a unique schedule Number, mode (e.g, airways, waterways, roadways), and a delivery Route.  </a:t>
            </a:r>
          </a:p>
          <a:p>
            <a:pPr algn="just"/>
            <a:r>
              <a:rPr lang="en-US" altLang="en-US" sz="2400">
                <a:latin typeface="Times New Roman" panose="02020603050405020304" pitchFamily="18" charset="0"/>
                <a:cs typeface="Times New Roman" panose="02020603050405020304" pitchFamily="18" charset="0"/>
              </a:rPr>
              <a:t>Create an E-R diagram that captures this information.</a:t>
            </a:r>
          </a:p>
          <a:p>
            <a:pPr algn="just"/>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transition spd="slow">
    <p:wipe/>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15">
            <a:extLst>
              <a:ext uri="{FF2B5EF4-FFF2-40B4-BE49-F238E27FC236}">
                <a16:creationId xmlns:a16="http://schemas.microsoft.com/office/drawing/2014/main" xmlns="" id="{490F4B8F-5CBC-4073-AB80-4BB8DA837A35}"/>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44387" name="Picture 1">
            <a:extLst>
              <a:ext uri="{FF2B5EF4-FFF2-40B4-BE49-F238E27FC236}">
                <a16:creationId xmlns:a16="http://schemas.microsoft.com/office/drawing/2014/main" xmlns="" id="{BEA50A1D-8211-4323-BC54-E32F2BBE8A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4388" name="Title 3">
            <a:extLst>
              <a:ext uri="{FF2B5EF4-FFF2-40B4-BE49-F238E27FC236}">
                <a16:creationId xmlns:a16="http://schemas.microsoft.com/office/drawing/2014/main" xmlns="" id="{5E9DF62D-689D-45D2-9629-77D9D8C51AA3}"/>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Draw a complete ER diagram for the following scenario.</a:t>
            </a:r>
            <a:endParaRPr lang="en-IN"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The COMPANY database keeps track of a company’s employees, departments and projects.  </a:t>
            </a:r>
            <a:endParaRPr lang="en-IN"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The company is organized into departments. Each department has a unique name, an unique number and a particular employee who manages the department.</a:t>
            </a:r>
            <a:endParaRPr lang="en-IN"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A department controls a number of projects, each of which has a unique name, unique number and a single location.</a:t>
            </a:r>
            <a:endParaRPr lang="en-IN"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We store each employee’s name, SSN, address, salary, gender and birth date.  An employee is assigned to one department, but may work on several projects, which are not necessarily controlled by the same department.  We keep track of the number hours per week that an employee works on each project. </a:t>
            </a:r>
            <a:endParaRPr lang="en-IN" altLang="en-US" sz="2400" b="1">
              <a:latin typeface="Times New Roman" panose="02020603050405020304" pitchFamily="18" charset="0"/>
              <a:cs typeface="Times New Roman" panose="02020603050405020304" pitchFamily="18" charset="0"/>
            </a:endParaRPr>
          </a:p>
        </p:txBody>
      </p:sp>
      <p:sp>
        <p:nvSpPr>
          <p:cNvPr id="144389" name="Rectangle 2">
            <a:extLst>
              <a:ext uri="{FF2B5EF4-FFF2-40B4-BE49-F238E27FC236}">
                <a16:creationId xmlns:a16="http://schemas.microsoft.com/office/drawing/2014/main" xmlns="" id="{6719CEAC-CE26-4306-A4F4-538FF30EEA67}"/>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Case study #1</a:t>
            </a:r>
          </a:p>
        </p:txBody>
      </p:sp>
    </p:spTree>
  </p:cSld>
  <p:clrMapOvr>
    <a:masterClrMapping/>
  </p:clrMapOvr>
  <p:transition spd="slow">
    <p:wipe/>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15">
            <a:extLst>
              <a:ext uri="{FF2B5EF4-FFF2-40B4-BE49-F238E27FC236}">
                <a16:creationId xmlns:a16="http://schemas.microsoft.com/office/drawing/2014/main" xmlns="" id="{9D3B42FF-B5E3-4702-AC87-42E509F8C3BA}"/>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45411" name="Picture 1">
            <a:extLst>
              <a:ext uri="{FF2B5EF4-FFF2-40B4-BE49-F238E27FC236}">
                <a16:creationId xmlns:a16="http://schemas.microsoft.com/office/drawing/2014/main" xmlns="" id="{2E6D9BE2-807A-41AA-A7B1-99C0B664A7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2" name="Title 3">
            <a:extLst>
              <a:ext uri="{FF2B5EF4-FFF2-40B4-BE49-F238E27FC236}">
                <a16:creationId xmlns:a16="http://schemas.microsoft.com/office/drawing/2014/main" xmlns="" id="{34122522-0573-40F8-B9C3-07DA078E33A3}"/>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 Consider a MOVIE database in which data is recorded .   Draw an ER diagram for the following requirements</a:t>
            </a:r>
            <a:endParaRPr lang="en-IN"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Each movie is identified by title and year of release.  Each movie has a length in minutes one or more genres (such as horror, action, drama,…). Each movie has one or more directors and one or more actors appear in it.  Each movie also has a plot outline.  Finally, each movie has zero or more quotable quotes, each of which is spoken by a particular actor appearing in the movie.</a:t>
            </a:r>
            <a:endParaRPr lang="en-IN"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Actors are identified by name and date of birth and appear in one or more movie.  Each actor has a role in the movie.</a:t>
            </a:r>
            <a:endParaRPr lang="en-IN"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Directors are also identified by name and date of birth and direct one or more movies.  It is possible for a director to act in a movie (including one that he or she may also direct).</a:t>
            </a:r>
            <a:endParaRPr lang="en-IN" altLang="en-US" sz="2400">
              <a:latin typeface="Times New Roman" panose="02020603050405020304" pitchFamily="18" charset="0"/>
              <a:cs typeface="Times New Roman" panose="02020603050405020304" pitchFamily="18" charset="0"/>
            </a:endParaRPr>
          </a:p>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Production companies are identified by name and each has an address.  A production company produces one or more movies.</a:t>
            </a:r>
            <a:endParaRPr lang="en-IN" altLang="en-US" sz="2400" b="1">
              <a:latin typeface="Times New Roman" panose="02020603050405020304" pitchFamily="18" charset="0"/>
              <a:cs typeface="Times New Roman" panose="02020603050405020304" pitchFamily="18" charset="0"/>
            </a:endParaRPr>
          </a:p>
        </p:txBody>
      </p:sp>
      <p:sp>
        <p:nvSpPr>
          <p:cNvPr id="145413" name="Rectangle 2">
            <a:extLst>
              <a:ext uri="{FF2B5EF4-FFF2-40B4-BE49-F238E27FC236}">
                <a16:creationId xmlns:a16="http://schemas.microsoft.com/office/drawing/2014/main" xmlns="" id="{B5FB15E2-E991-4172-A036-ABF2048B0FF2}"/>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Case study #2</a:t>
            </a:r>
          </a:p>
        </p:txBody>
      </p:sp>
    </p:spTree>
  </p:cSld>
  <p:clrMapOvr>
    <a:masterClrMapping/>
  </p:clrMapOvr>
  <p:transition spd="slow">
    <p:wipe/>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15">
            <a:extLst>
              <a:ext uri="{FF2B5EF4-FFF2-40B4-BE49-F238E27FC236}">
                <a16:creationId xmlns:a16="http://schemas.microsoft.com/office/drawing/2014/main" xmlns="" id="{9A7B2794-1399-4849-8938-A6E1310E2D45}"/>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46435" name="Picture 1">
            <a:extLst>
              <a:ext uri="{FF2B5EF4-FFF2-40B4-BE49-F238E27FC236}">
                <a16:creationId xmlns:a16="http://schemas.microsoft.com/office/drawing/2014/main" xmlns="" id="{1AFB7271-2EA9-4183-B277-0F2B4F8093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36" name="Title 3">
            <a:extLst>
              <a:ext uri="{FF2B5EF4-FFF2-40B4-BE49-F238E27FC236}">
                <a16:creationId xmlns:a16="http://schemas.microsoft.com/office/drawing/2014/main" xmlns="" id="{171F80FC-3FBD-4E33-93C1-1DCABEDF67C1}"/>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Draw an ER diagram to represent the Election Information System based on the following descriptions:</a:t>
            </a:r>
          </a:p>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In the Indian national election, a state is divided into a number of constituencies depending upon the population of the state .Several candidates contest elections in each constituency. Candidates may be from some party or independent. The election information system must record the number of votes obtained by each candidate. The system also maintains the voter list and a voter normally belongs to a particular constituency.</a:t>
            </a:r>
          </a:p>
          <a:p>
            <a:pPr algn="just">
              <a:lnSpc>
                <a:spcPct val="100000"/>
              </a:lnSpc>
              <a:spcBef>
                <a:spcPct val="0"/>
              </a:spcBef>
              <a:buFontTx/>
              <a:buNone/>
            </a:pPr>
            <a:r>
              <a:rPr lang="en-US" altLang="en-US" sz="2400">
                <a:latin typeface="Times New Roman" panose="02020603050405020304" pitchFamily="18" charset="0"/>
                <a:cs typeface="Times New Roman" panose="02020603050405020304" pitchFamily="18" charset="0"/>
              </a:rPr>
              <a:t>Note that the party details must also be taken care in the design.</a:t>
            </a:r>
            <a:endParaRPr lang="en-IN" altLang="en-US" sz="2400">
              <a:latin typeface="Times New Roman" panose="02020603050405020304" pitchFamily="18" charset="0"/>
              <a:cs typeface="Times New Roman" panose="02020603050405020304" pitchFamily="18" charset="0"/>
            </a:endParaRPr>
          </a:p>
        </p:txBody>
      </p:sp>
      <p:sp>
        <p:nvSpPr>
          <p:cNvPr id="146437" name="Rectangle 2">
            <a:extLst>
              <a:ext uri="{FF2B5EF4-FFF2-40B4-BE49-F238E27FC236}">
                <a16:creationId xmlns:a16="http://schemas.microsoft.com/office/drawing/2014/main" xmlns="" id="{9F2C0057-98A0-45C1-9434-4F181FD7C48E}"/>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Case study #3</a:t>
            </a:r>
          </a:p>
        </p:txBody>
      </p:sp>
    </p:spTree>
  </p:cSld>
  <p:clrMapOvr>
    <a:masterClrMapping/>
  </p:clrMapOvr>
  <p:transition spd="slow">
    <p:wipe/>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15">
            <a:extLst>
              <a:ext uri="{FF2B5EF4-FFF2-40B4-BE49-F238E27FC236}">
                <a16:creationId xmlns:a16="http://schemas.microsoft.com/office/drawing/2014/main" xmlns="" id="{8AD0825E-C122-4E89-9847-7523601F5258}"/>
              </a:ext>
            </a:extLst>
          </p:cNvPr>
          <p:cNvSpPr>
            <a:spLocks noChangeArrowheads="1"/>
          </p:cNvSpPr>
          <p:nvPr/>
        </p:nvSpPr>
        <p:spPr bwMode="auto">
          <a:xfrm>
            <a:off x="2235200" y="6581775"/>
            <a:ext cx="8932863"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48483" name="Picture 1">
            <a:extLst>
              <a:ext uri="{FF2B5EF4-FFF2-40B4-BE49-F238E27FC236}">
                <a16:creationId xmlns:a16="http://schemas.microsoft.com/office/drawing/2014/main" xmlns="" id="{36D1F708-D353-40F0-BBBA-4B38A1B9F1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5172" name="Title 3">
            <a:extLst>
              <a:ext uri="{FF2B5EF4-FFF2-40B4-BE49-F238E27FC236}">
                <a16:creationId xmlns:a16="http://schemas.microsoft.com/office/drawing/2014/main" xmlns="" id="{0A5C22EF-A767-4567-8BFD-1F3F33144FEC}"/>
              </a:ext>
            </a:extLst>
          </p:cNvPr>
          <p:cNvSpPr txBox="1">
            <a:spLocks/>
          </p:cNvSpPr>
          <p:nvPr/>
        </p:nvSpPr>
        <p:spPr bwMode="auto">
          <a:xfrm>
            <a:off x="463550" y="746125"/>
            <a:ext cx="11353800" cy="5232400"/>
          </a:xfrm>
          <a:prstGeom prst="rect">
            <a:avLst/>
          </a:prstGeom>
          <a:noFill/>
          <a:ln>
            <a:noFill/>
          </a:ln>
        </p:spPr>
        <p:txBody>
          <a:bodyPr/>
          <a:lstStyle>
            <a:lvl1pP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1pPr>
            <a:lvl2pPr marL="742950" indent="-28575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2pPr>
            <a:lvl3pPr marL="11430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3pPr>
            <a:lvl4pPr marL="16002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4pPr>
            <a:lvl5pPr marL="2057400" indent="-2286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5pPr>
            <a:lvl6pPr marL="25146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6pPr>
            <a:lvl7pPr marL="29718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7pPr>
            <a:lvl8pPr marL="34290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8pPr>
            <a:lvl9pPr marL="3886200" indent="-228600" eaLnBrk="0" fontAlgn="base" hangingPunct="0">
              <a:spcBef>
                <a:spcPct val="0"/>
              </a:spcBef>
              <a:spcAft>
                <a:spcPct val="0"/>
              </a:spcAft>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Arial" charset="0"/>
                <a:cs typeface="Arial" charset="0"/>
              </a:defRPr>
            </a:lvl9pPr>
          </a:lstStyle>
          <a:p>
            <a:pPr algn="just">
              <a:defRPr/>
            </a:pPr>
            <a:r>
              <a:rPr lang="en-IN" sz="2400" b="1" dirty="0">
                <a:latin typeface="Times New Roman" pitchFamily="18" charset="0"/>
                <a:cs typeface="Times New Roman" pitchFamily="18" charset="0"/>
              </a:rPr>
              <a:t>For figures and content:</a:t>
            </a:r>
          </a:p>
          <a:p>
            <a:pPr marL="457200" indent="-457200" algn="just">
              <a:buFontTx/>
              <a:buAutoNum type="arabicPeriod"/>
              <a:defRPr/>
            </a:pPr>
            <a:r>
              <a:rPr lang="en-IN" sz="2400" dirty="0">
                <a:latin typeface="Times New Roman" pitchFamily="18" charset="0"/>
                <a:cs typeface="Times New Roman" pitchFamily="18" charset="0"/>
              </a:rPr>
              <a:t>Fundamentals of Database Systems, </a:t>
            </a:r>
            <a:r>
              <a:rPr lang="en-IN" sz="2400" dirty="0" err="1">
                <a:latin typeface="Times New Roman" pitchFamily="18" charset="0"/>
                <a:cs typeface="Times New Roman" pitchFamily="18" charset="0"/>
              </a:rPr>
              <a:t>Ramez</a:t>
            </a:r>
            <a:r>
              <a:rPr lang="en-IN" sz="2400" dirty="0">
                <a:latin typeface="Times New Roman" pitchFamily="18" charset="0"/>
                <a:cs typeface="Times New Roman" pitchFamily="18" charset="0"/>
              </a:rPr>
              <a:t> </a:t>
            </a:r>
            <a:r>
              <a:rPr lang="en-IN" sz="2400" dirty="0" err="1">
                <a:latin typeface="Times New Roman" pitchFamily="18" charset="0"/>
                <a:cs typeface="Times New Roman" pitchFamily="18" charset="0"/>
              </a:rPr>
              <a:t>Elmasri</a:t>
            </a:r>
            <a:r>
              <a:rPr lang="en-IN" sz="2400" dirty="0">
                <a:latin typeface="Times New Roman" pitchFamily="18" charset="0"/>
                <a:cs typeface="Times New Roman" pitchFamily="18" charset="0"/>
              </a:rPr>
              <a:t> and </a:t>
            </a:r>
            <a:r>
              <a:rPr lang="en-IN" sz="2400" dirty="0" err="1">
                <a:latin typeface="Times New Roman" pitchFamily="18" charset="0"/>
                <a:cs typeface="Times New Roman" pitchFamily="18" charset="0"/>
              </a:rPr>
              <a:t>Shamkant</a:t>
            </a:r>
            <a:r>
              <a:rPr lang="en-IN" sz="2400" dirty="0">
                <a:latin typeface="Times New Roman" pitchFamily="18" charset="0"/>
                <a:cs typeface="Times New Roman" pitchFamily="18" charset="0"/>
              </a:rPr>
              <a:t> B. </a:t>
            </a:r>
            <a:r>
              <a:rPr lang="en-IN" sz="2400" dirty="0" err="1">
                <a:latin typeface="Times New Roman" pitchFamily="18" charset="0"/>
                <a:cs typeface="Times New Roman" pitchFamily="18" charset="0"/>
              </a:rPr>
              <a:t>Navathe</a:t>
            </a:r>
            <a:r>
              <a:rPr lang="en-IN" sz="2400" dirty="0">
                <a:latin typeface="Times New Roman" pitchFamily="18" charset="0"/>
                <a:cs typeface="Times New Roman" pitchFamily="18" charset="0"/>
              </a:rPr>
              <a:t>, 7th Edition, 2017, Pearson. </a:t>
            </a:r>
          </a:p>
          <a:p>
            <a:pPr algn="just">
              <a:defRPr/>
            </a:pPr>
            <a:r>
              <a:rPr lang="en-IN" sz="2400" b="1" dirty="0">
                <a:latin typeface="Times New Roman" pitchFamily="18" charset="0"/>
                <a:cs typeface="Times New Roman" pitchFamily="18" charset="0"/>
              </a:rPr>
              <a:t>NPTEL video:</a:t>
            </a:r>
          </a:p>
          <a:p>
            <a:pPr algn="just">
              <a:defRPr/>
            </a:pPr>
            <a:r>
              <a:rPr lang="en-IN" sz="2400" dirty="0">
                <a:latin typeface="Times New Roman" pitchFamily="18" charset="0"/>
                <a:cs typeface="Times New Roman" pitchFamily="18" charset="0"/>
              </a:rPr>
              <a:t>2.</a:t>
            </a:r>
            <a:r>
              <a:rPr lang="en-IN" sz="2400" dirty="0">
                <a:hlinkClick r:id="rId3"/>
              </a:rPr>
              <a:t>http://www.infocobuild.com/education/audio-video-courses/computer-science/DatabaseManagementSystem-IIT-Kharagpur/lecture-14.html</a:t>
            </a:r>
            <a:endParaRPr lang="en-IN" sz="2400" dirty="0"/>
          </a:p>
          <a:p>
            <a:pPr algn="just">
              <a:defRPr/>
            </a:pPr>
            <a:endParaRPr lang="en-US" sz="2400" b="1" dirty="0">
              <a:latin typeface="Times New Roman" pitchFamily="18" charset="0"/>
              <a:cs typeface="Times New Roman" pitchFamily="18" charset="0"/>
            </a:endParaRPr>
          </a:p>
          <a:p>
            <a:pPr algn="just">
              <a:defRPr/>
            </a:pPr>
            <a:r>
              <a:rPr lang="en-US" sz="2400" b="1" dirty="0">
                <a:latin typeface="Times New Roman" pitchFamily="18" charset="0"/>
                <a:cs typeface="Times New Roman" pitchFamily="18" charset="0"/>
              </a:rPr>
              <a:t>Innovative content link: </a:t>
            </a:r>
          </a:p>
          <a:p>
            <a:pPr algn="just">
              <a:defRPr/>
            </a:pPr>
            <a:r>
              <a:rPr lang="en-US" sz="2400" dirty="0">
                <a:latin typeface="Times New Roman" pitchFamily="18" charset="0"/>
                <a:cs typeface="Times New Roman" pitchFamily="18" charset="0"/>
              </a:rPr>
              <a:t>Architecture of a database system by </a:t>
            </a:r>
            <a:r>
              <a:rPr lang="en-IN" sz="2400" dirty="0"/>
              <a:t>Joseph M. </a:t>
            </a:r>
            <a:r>
              <a:rPr lang="en-IN" sz="2400" dirty="0" err="1"/>
              <a:t>Hellerstein</a:t>
            </a:r>
            <a:r>
              <a:rPr lang="en-IN" sz="2400" dirty="0"/>
              <a:t>, Michael </a:t>
            </a:r>
            <a:r>
              <a:rPr lang="en-IN" sz="2400" dirty="0" err="1"/>
              <a:t>Stonebraker</a:t>
            </a:r>
            <a:r>
              <a:rPr lang="en-IN" sz="2400" dirty="0"/>
              <a:t> and James Hamilton</a:t>
            </a:r>
            <a:endParaRPr lang="en-US" sz="2400" dirty="0">
              <a:latin typeface="Times New Roman" pitchFamily="18" charset="0"/>
              <a:cs typeface="Times New Roman" pitchFamily="18" charset="0"/>
            </a:endParaRPr>
          </a:p>
          <a:p>
            <a:pPr algn="just">
              <a:defRPr/>
            </a:pPr>
            <a:r>
              <a:rPr lang="en-IN" sz="2400" dirty="0">
                <a:hlinkClick r:id="rId4"/>
              </a:rPr>
              <a:t>https://dsf.berkeley.edu/papers/fntdb07-architecture.pdf</a:t>
            </a:r>
            <a:r>
              <a:rPr lang="en-IN" sz="2400" dirty="0"/>
              <a:t>  </a:t>
            </a:r>
          </a:p>
          <a:p>
            <a:pPr algn="just">
              <a:defRPr/>
            </a:pPr>
            <a:r>
              <a:rPr lang="en-IN" sz="2400" dirty="0">
                <a:hlinkClick r:id="rId5"/>
              </a:rPr>
              <a:t>http://vlabs.iitkgp.ernet.in/se/4/simulation/</a:t>
            </a:r>
            <a:r>
              <a:rPr lang="en-IN" sz="2400" dirty="0"/>
              <a:t>   (Virtual lab-ER diagram)</a:t>
            </a:r>
          </a:p>
          <a:p>
            <a:pPr algn="just">
              <a:defRPr/>
            </a:pPr>
            <a:r>
              <a:rPr lang="en-IN" sz="2400" dirty="0">
                <a:hlinkClick r:id="rId6"/>
              </a:rPr>
              <a:t>http://www.rebellionrider.com/category/pl-sql</a:t>
            </a:r>
            <a:r>
              <a:rPr lang="en-IN" sz="2400" b="1" dirty="0">
                <a:hlinkClick r:id="rId6"/>
              </a:rPr>
              <a:t>/</a:t>
            </a:r>
            <a:endParaRPr lang="en-IN" sz="2400" b="1" dirty="0"/>
          </a:p>
          <a:p>
            <a:pPr algn="just">
              <a:defRPr/>
            </a:pPr>
            <a:r>
              <a:rPr lang="en-IN" sz="2400" dirty="0">
                <a:hlinkClick r:id="rId7"/>
              </a:rPr>
              <a:t>https://www.lucidchart.com/pages/templates/er-diagram</a:t>
            </a:r>
            <a:endParaRPr lang="en-US" sz="2400" dirty="0">
              <a:latin typeface="Times New Roman" pitchFamily="18" charset="0"/>
              <a:cs typeface="Times New Roman" pitchFamily="18" charset="0"/>
            </a:endParaRPr>
          </a:p>
          <a:p>
            <a:pPr algn="just">
              <a:defRPr/>
            </a:pPr>
            <a:endParaRPr lang="en-IN" sz="2400" dirty="0">
              <a:latin typeface="Times New Roman" pitchFamily="18" charset="0"/>
              <a:cs typeface="Times New Roman" pitchFamily="18" charset="0"/>
            </a:endParaRPr>
          </a:p>
        </p:txBody>
      </p:sp>
      <p:sp>
        <p:nvSpPr>
          <p:cNvPr id="148485" name="Rectangle 2">
            <a:extLst>
              <a:ext uri="{FF2B5EF4-FFF2-40B4-BE49-F238E27FC236}">
                <a16:creationId xmlns:a16="http://schemas.microsoft.com/office/drawing/2014/main" xmlns="" id="{0A4659C3-CA8D-4920-83BC-53CFE8267B9F}"/>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r>
              <a:rPr lang="en-US" altLang="en-US" b="1">
                <a:latin typeface="Times New Roman" panose="02020603050405020304" pitchFamily="18" charset="0"/>
                <a:cs typeface="Times New Roman" panose="02020603050405020304" pitchFamily="18" charset="0"/>
              </a:rPr>
              <a:t>References</a:t>
            </a:r>
          </a:p>
        </p:txBody>
      </p:sp>
    </p:spTree>
  </p:cSld>
  <p:clrMapOvr>
    <a:masterClrMapping/>
  </p:clrMapOvr>
  <p:transition spd="slow">
    <p:wipe/>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15">
            <a:extLst>
              <a:ext uri="{FF2B5EF4-FFF2-40B4-BE49-F238E27FC236}">
                <a16:creationId xmlns:a16="http://schemas.microsoft.com/office/drawing/2014/main" xmlns="" id="{442697F9-65A8-4030-BC28-F8ED9682CF1E}"/>
              </a:ext>
            </a:extLst>
          </p:cNvPr>
          <p:cNvSpPr>
            <a:spLocks noChangeArrowheads="1"/>
          </p:cNvSpPr>
          <p:nvPr/>
        </p:nvSpPr>
        <p:spPr bwMode="auto">
          <a:xfrm>
            <a:off x="2484438" y="6581775"/>
            <a:ext cx="8932862"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1200" b="1">
                <a:solidFill>
                  <a:srgbClr val="C00000"/>
                </a:solidFill>
                <a:latin typeface="Sitka Text" panose="02000505000000020004" pitchFamily="2" charset="0"/>
                <a:ea typeface="Times New Roman" panose="02020603050405020304" pitchFamily="18" charset="0"/>
                <a:cs typeface="Calibri" panose="020F0502020204030204" pitchFamily="34" charset="0"/>
              </a:rPr>
              <a:t>Approved by AICTE |Affiliated to VTU | Recognized by UGC with 2(f) &amp; 12(B) status |Accredited by NBA and NAAC</a:t>
            </a:r>
            <a:endParaRPr lang="en-US" altLang="en-US" sz="3600">
              <a:solidFill>
                <a:srgbClr val="C00000"/>
              </a:solidFill>
              <a:latin typeface="Arial" panose="020B0604020202020204" pitchFamily="34" charset="0"/>
              <a:ea typeface="Times New Roman" panose="02020603050405020304" pitchFamily="18" charset="0"/>
              <a:cs typeface="Calibri" panose="020F0502020204030204" pitchFamily="34" charset="0"/>
            </a:endParaRPr>
          </a:p>
        </p:txBody>
      </p:sp>
      <p:pic>
        <p:nvPicPr>
          <p:cNvPr id="149507" name="Picture 1">
            <a:extLst>
              <a:ext uri="{FF2B5EF4-FFF2-40B4-BE49-F238E27FC236}">
                <a16:creationId xmlns:a16="http://schemas.microsoft.com/office/drawing/2014/main" xmlns="" id="{6BAF090C-0295-4CD2-A746-4BF061DC96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715000"/>
            <a:ext cx="19812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9508" name="Title 3">
            <a:extLst>
              <a:ext uri="{FF2B5EF4-FFF2-40B4-BE49-F238E27FC236}">
                <a16:creationId xmlns:a16="http://schemas.microsoft.com/office/drawing/2014/main" xmlns="" id="{A309DCB7-34FF-40C9-AECD-44BCD1961EC4}"/>
              </a:ext>
            </a:extLst>
          </p:cNvPr>
          <p:cNvSpPr txBox="1">
            <a:spLocks/>
          </p:cNvSpPr>
          <p:nvPr/>
        </p:nvSpPr>
        <p:spPr bwMode="auto">
          <a:xfrm>
            <a:off x="463550" y="852488"/>
            <a:ext cx="11353800"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chemeClr val="tx1"/>
                </a:solidFill>
                <a:latin typeface="Calibri" panose="020F0502020204030204" pitchFamily="34" charset="0"/>
              </a:defRPr>
            </a:lvl9pPr>
          </a:lstStyle>
          <a:p>
            <a:pPr algn="ct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endParaRPr lang="en-IN" altLang="en-US" sz="5400" b="1">
              <a:latin typeface="Times New Roman" panose="02020603050405020304" pitchFamily="18" charset="0"/>
              <a:cs typeface="Times New Roman" panose="02020603050405020304" pitchFamily="18" charset="0"/>
            </a:endParaRPr>
          </a:p>
          <a:p>
            <a:pPr algn="ctr" eaLnBrk="1" hangingPunct="1">
              <a:lnSpc>
                <a:spcPct val="101000"/>
              </a:lnSpc>
              <a:spcBef>
                <a:spcPct val="0"/>
              </a:spcBef>
              <a:buFontTx/>
              <a:buNone/>
            </a:pPr>
            <a:r>
              <a:rPr lang="en-IN" altLang="en-US" sz="5400" b="1">
                <a:latin typeface="Times New Roman" panose="02020603050405020304" pitchFamily="18" charset="0"/>
                <a:cs typeface="Times New Roman" panose="02020603050405020304" pitchFamily="18" charset="0"/>
              </a:rPr>
              <a:t>THANK YOU</a:t>
            </a:r>
          </a:p>
        </p:txBody>
      </p:sp>
      <p:sp>
        <p:nvSpPr>
          <p:cNvPr id="149509" name="Rectangle 2">
            <a:extLst>
              <a:ext uri="{FF2B5EF4-FFF2-40B4-BE49-F238E27FC236}">
                <a16:creationId xmlns:a16="http://schemas.microsoft.com/office/drawing/2014/main" xmlns="" id="{2A74F615-6744-44FC-8552-9288F2C1F741}"/>
              </a:ext>
            </a:extLst>
          </p:cNvPr>
          <p:cNvSpPr txBox="1">
            <a:spLocks noChangeArrowheads="1"/>
          </p:cNvSpPr>
          <p:nvPr/>
        </p:nvSpPr>
        <p:spPr bwMode="auto">
          <a:xfrm>
            <a:off x="1330325" y="246063"/>
            <a:ext cx="10225088" cy="606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eaLnBrk="1" hangingPunct="1">
              <a:lnSpc>
                <a:spcPct val="100000"/>
              </a:lnSpc>
              <a:spcBef>
                <a:spcPct val="0"/>
              </a:spcBef>
              <a:buFontTx/>
              <a:buNone/>
            </a:pPr>
            <a:endParaRPr lang="en-US" altLang="en-US" sz="4400" b="1">
              <a:latin typeface="Calibri Light" panose="020F0302020204030204" pitchFamily="34" charset="0"/>
            </a:endParaRPr>
          </a:p>
        </p:txBody>
      </p:sp>
    </p:spTree>
  </p:cSld>
  <p:clrMapOvr>
    <a:masterClrMapping/>
  </p:clrMapOvr>
  <p:transition spd="slow">
    <p:wip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9929</TotalTime>
  <Words>12272</Words>
  <Application>Microsoft Office PowerPoint</Application>
  <PresentationFormat>Widescreen</PresentationFormat>
  <Paragraphs>1464</Paragraphs>
  <Slides>151</Slides>
  <Notes>5</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151</vt:i4>
      </vt:variant>
    </vt:vector>
  </HeadingPairs>
  <TitlesOfParts>
    <vt:vector size="164" baseType="lpstr">
      <vt:lpstr>MS PGothic</vt:lpstr>
      <vt:lpstr>Arial</vt:lpstr>
      <vt:lpstr>ArialMT</vt:lpstr>
      <vt:lpstr>Calibri</vt:lpstr>
      <vt:lpstr>Calibri Light</vt:lpstr>
      <vt:lpstr>Franklin Gothic Medium</vt:lpstr>
      <vt:lpstr>Georgia</vt:lpstr>
      <vt:lpstr>Sitka Text</vt:lpstr>
      <vt:lpstr>Tahoma</vt:lpstr>
      <vt:lpstr>Times New Roman</vt:lpstr>
      <vt:lpstr>Wingdings</vt:lpstr>
      <vt:lpstr>Wingdings 2</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1.3 Characteristics of the Database Approach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 of Using the Database Approach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DBMS Languages</vt:lpstr>
      <vt:lpstr>DBMS Languages</vt:lpstr>
      <vt:lpstr>DBMS Languages</vt:lpstr>
      <vt:lpstr>Types of DML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Conceptual Modeling</vt:lpstr>
      <vt:lpstr>MCQs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Types of Attributes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Displaying an Entity type</vt:lpstr>
      <vt:lpstr>Draw an ER Diagram Representation for car</vt:lpstr>
      <vt:lpstr>PowerPoint Presentation</vt:lpstr>
      <vt:lpstr>PowerPoint Presentation</vt:lpstr>
      <vt:lpstr>PowerPoint Presentation</vt:lpstr>
      <vt:lpstr>PowerPoint Presentation</vt:lpstr>
      <vt:lpstr>PowerPoint Presentation</vt:lpstr>
      <vt:lpstr>Initial Design of Entity Types for the COMPANY Database Schema</vt:lpstr>
      <vt:lpstr>Department </vt:lpstr>
      <vt:lpstr>PROJECT</vt:lpstr>
      <vt:lpstr>EMPLOYEE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Manages (an employee manages a department)</vt:lpstr>
      <vt:lpstr>CONTROLS (between DEPARTMENT, PROJECT)</vt:lpstr>
      <vt:lpstr>PowerPoint Presentation</vt:lpstr>
      <vt:lpstr>PowerPoint Presentation</vt:lpstr>
      <vt:lpstr>PowerPoint Presentation</vt:lpstr>
      <vt:lpstr>DEPENDENTS_OF - Identifying Relation </vt:lpstr>
      <vt:lpstr>PowerPoint Presentation</vt:lpstr>
      <vt:lpstr>Works_For</vt:lpstr>
      <vt:lpstr>Works_on</vt:lpstr>
      <vt:lpstr>Manages</vt:lpstr>
      <vt:lpstr>CONTROLS</vt:lpstr>
      <vt:lpstr>SUPERVISION</vt:lpstr>
      <vt:lpstr>DEPENDENT_OF</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SANCHARI SAHA</dc:creator>
  <cp:lastModifiedBy>Jasmitha V.S.</cp:lastModifiedBy>
  <cp:revision>456</cp:revision>
  <dcterms:modified xsi:type="dcterms:W3CDTF">2025-03-07T00:39:35Z</dcterms:modified>
</cp:coreProperties>
</file>